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7"/>
  </p:notesMasterIdLst>
  <p:sldIdLst>
    <p:sldId id="349" r:id="rId2"/>
    <p:sldId id="369" r:id="rId3"/>
    <p:sldId id="371" r:id="rId4"/>
    <p:sldId id="370" r:id="rId5"/>
    <p:sldId id="342" r:id="rId6"/>
    <p:sldId id="343" r:id="rId7"/>
    <p:sldId id="344" r:id="rId8"/>
    <p:sldId id="345" r:id="rId9"/>
    <p:sldId id="347" r:id="rId10"/>
    <p:sldId id="346" r:id="rId11"/>
    <p:sldId id="348" r:id="rId12"/>
    <p:sldId id="373" r:id="rId13"/>
    <p:sldId id="374" r:id="rId14"/>
    <p:sldId id="375" r:id="rId15"/>
    <p:sldId id="376" r:id="rId16"/>
    <p:sldId id="377" r:id="rId17"/>
    <p:sldId id="378" r:id="rId18"/>
    <p:sldId id="379" r:id="rId19"/>
    <p:sldId id="380" r:id="rId20"/>
    <p:sldId id="381" r:id="rId21"/>
    <p:sldId id="382" r:id="rId22"/>
    <p:sldId id="277" r:id="rId23"/>
    <p:sldId id="280" r:id="rId24"/>
    <p:sldId id="383" r:id="rId25"/>
    <p:sldId id="281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yoti" initials="j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DD6EF"/>
    <a:srgbClr val="CFBFCD"/>
    <a:srgbClr val="C8DB0F"/>
    <a:srgbClr val="66FFCC"/>
    <a:srgbClr val="000000"/>
    <a:srgbClr val="EEE9A4"/>
    <a:srgbClr val="F5F5C1"/>
    <a:srgbClr val="F7F4D1"/>
    <a:srgbClr val="F1EDB5"/>
    <a:srgbClr val="0EADC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375" autoAdjust="0"/>
    <p:restoredTop sz="95232" autoAdjust="0"/>
  </p:normalViewPr>
  <p:slideViewPr>
    <p:cSldViewPr>
      <p:cViewPr varScale="1">
        <p:scale>
          <a:sx n="65" d="100"/>
          <a:sy n="65" d="100"/>
        </p:scale>
        <p:origin x="1002" y="7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6984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diagram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diagrams/_rels/drawing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8746B35-B052-4FEF-8E7D-946D1069C367}" type="doc">
      <dgm:prSet loTypeId="urn:microsoft.com/office/officeart/2005/8/layout/default" loCatId="list" qsTypeId="urn:microsoft.com/office/officeart/2005/8/quickstyle/simple3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C675A92F-D588-43A3-BA58-8BE911E62CBC}">
      <dgm:prSet phldrT="[Text]"/>
      <dgm:spPr>
        <a:solidFill>
          <a:srgbClr val="92D050"/>
        </a:solidFill>
      </dgm:spPr>
      <dgm:t>
        <a:bodyPr/>
        <a:lstStyle/>
        <a:p>
          <a:r>
            <a:rPr lang="en-US" dirty="0"/>
            <a:t>A</a:t>
          </a:r>
        </a:p>
      </dgm:t>
    </dgm:pt>
    <dgm:pt modelId="{C2FE3867-6367-4884-9001-5D39DD3CBC91}" type="parTrans" cxnId="{1A5993F5-5E8E-426C-9EE2-AFC9CEBF8CA3}">
      <dgm:prSet/>
      <dgm:spPr/>
      <dgm:t>
        <a:bodyPr/>
        <a:lstStyle/>
        <a:p>
          <a:endParaRPr lang="en-US"/>
        </a:p>
      </dgm:t>
    </dgm:pt>
    <dgm:pt modelId="{C7ADADEA-90CF-4729-BD88-1DE318820BDD}" type="sibTrans" cxnId="{1A5993F5-5E8E-426C-9EE2-AFC9CEBF8CA3}">
      <dgm:prSet/>
      <dgm:spPr/>
      <dgm:t>
        <a:bodyPr/>
        <a:lstStyle/>
        <a:p>
          <a:endParaRPr lang="en-US"/>
        </a:p>
      </dgm:t>
    </dgm:pt>
    <dgm:pt modelId="{FBF652E6-A7B5-46BC-B1E4-5180A4D344F3}">
      <dgm:prSet phldrT="[Text]"/>
      <dgm:spPr/>
      <dgm:t>
        <a:bodyPr/>
        <a:lstStyle/>
        <a:p>
          <a:r>
            <a:rPr lang="en-US" dirty="0"/>
            <a:t>B</a:t>
          </a:r>
        </a:p>
      </dgm:t>
    </dgm:pt>
    <dgm:pt modelId="{AE4A4876-6A06-41C1-B105-EDB870144E64}" type="parTrans" cxnId="{FCE40732-2497-4D5E-975A-4014862B16B4}">
      <dgm:prSet/>
      <dgm:spPr/>
      <dgm:t>
        <a:bodyPr/>
        <a:lstStyle/>
        <a:p>
          <a:endParaRPr lang="en-US"/>
        </a:p>
      </dgm:t>
    </dgm:pt>
    <dgm:pt modelId="{2A4D1773-9FB4-41B0-AF3B-6F39757B13FB}" type="sibTrans" cxnId="{FCE40732-2497-4D5E-975A-4014862B16B4}">
      <dgm:prSet/>
      <dgm:spPr/>
      <dgm:t>
        <a:bodyPr/>
        <a:lstStyle/>
        <a:p>
          <a:endParaRPr lang="en-US"/>
        </a:p>
      </dgm:t>
    </dgm:pt>
    <dgm:pt modelId="{CA2F1893-EC5A-456B-A975-C54ED0273F04}">
      <dgm:prSet phldrT="[Text]"/>
      <dgm:spPr/>
      <dgm:t>
        <a:bodyPr/>
        <a:lstStyle/>
        <a:p>
          <a:r>
            <a:rPr lang="en-US" dirty="0"/>
            <a:t>C</a:t>
          </a:r>
        </a:p>
      </dgm:t>
    </dgm:pt>
    <dgm:pt modelId="{A2168CF4-920D-4634-BE32-A7DD382B1FAC}" type="parTrans" cxnId="{B03B02D8-30C5-4B93-A72A-C1501231974E}">
      <dgm:prSet/>
      <dgm:spPr/>
      <dgm:t>
        <a:bodyPr/>
        <a:lstStyle/>
        <a:p>
          <a:endParaRPr lang="en-US"/>
        </a:p>
      </dgm:t>
    </dgm:pt>
    <dgm:pt modelId="{3E831614-C2F8-406D-8DDD-30DC15304733}" type="sibTrans" cxnId="{B03B02D8-30C5-4B93-A72A-C1501231974E}">
      <dgm:prSet/>
      <dgm:spPr/>
      <dgm:t>
        <a:bodyPr/>
        <a:lstStyle/>
        <a:p>
          <a:endParaRPr lang="en-US"/>
        </a:p>
      </dgm:t>
    </dgm:pt>
    <dgm:pt modelId="{D4D00B5F-F310-4826-A299-769CFB09A0D1}" type="pres">
      <dgm:prSet presAssocID="{A8746B35-B052-4FEF-8E7D-946D1069C367}" presName="diagram" presStyleCnt="0">
        <dgm:presLayoutVars>
          <dgm:dir/>
          <dgm:resizeHandles val="exact"/>
        </dgm:presLayoutVars>
      </dgm:prSet>
      <dgm:spPr/>
    </dgm:pt>
    <dgm:pt modelId="{86FEB483-B96D-41BD-9DB6-3A88AC545F9B}" type="pres">
      <dgm:prSet presAssocID="{C675A92F-D588-43A3-BA58-8BE911E62CBC}" presName="node" presStyleLbl="node1" presStyleIdx="0" presStyleCnt="3" custScaleX="22500" custScaleY="15278" custLinFactNeighborX="30000" custLinFactNeighborY="-39583">
        <dgm:presLayoutVars>
          <dgm:bulletEnabled val="1"/>
        </dgm:presLayoutVars>
      </dgm:prSet>
      <dgm:spPr/>
    </dgm:pt>
    <dgm:pt modelId="{D04F0FC7-6E1D-47B4-84C2-A90315F6077C}" type="pres">
      <dgm:prSet presAssocID="{C7ADADEA-90CF-4729-BD88-1DE318820BDD}" presName="sibTrans" presStyleCnt="0"/>
      <dgm:spPr/>
    </dgm:pt>
    <dgm:pt modelId="{E97F3F83-AB32-4CD8-8AD8-818AFBF3BBBE}" type="pres">
      <dgm:prSet presAssocID="{FBF652E6-A7B5-46BC-B1E4-5180A4D344F3}" presName="node" presStyleLbl="node1" presStyleIdx="1" presStyleCnt="3" custScaleX="22500" custScaleY="15278" custLinFactNeighborX="-2500">
        <dgm:presLayoutVars>
          <dgm:bulletEnabled val="1"/>
        </dgm:presLayoutVars>
      </dgm:prSet>
      <dgm:spPr/>
    </dgm:pt>
    <dgm:pt modelId="{C04D5863-343D-4C9F-9410-C52AAEE6FE04}" type="pres">
      <dgm:prSet presAssocID="{2A4D1773-9FB4-41B0-AF3B-6F39757B13FB}" presName="sibTrans" presStyleCnt="0"/>
      <dgm:spPr/>
    </dgm:pt>
    <dgm:pt modelId="{C8C366CE-E2D8-4E43-A256-8F718A0711AB}" type="pres">
      <dgm:prSet presAssocID="{CA2F1893-EC5A-456B-A975-C54ED0273F04}" presName="node" presStyleLbl="node1" presStyleIdx="2" presStyleCnt="3" custScaleX="22500" custScaleY="15278" custLinFactNeighborX="-35000" custLinFactNeighborY="41667">
        <dgm:presLayoutVars>
          <dgm:bulletEnabled val="1"/>
        </dgm:presLayoutVars>
      </dgm:prSet>
      <dgm:spPr/>
    </dgm:pt>
  </dgm:ptLst>
  <dgm:cxnLst>
    <dgm:cxn modelId="{C7CA371B-BDAF-49CC-960C-F10BE13A8C7E}" type="presOf" srcId="{CA2F1893-EC5A-456B-A975-C54ED0273F04}" destId="{C8C366CE-E2D8-4E43-A256-8F718A0711AB}" srcOrd="0" destOrd="0" presId="urn:microsoft.com/office/officeart/2005/8/layout/default"/>
    <dgm:cxn modelId="{5906FF1C-C207-44DE-BCFD-D1A97B024230}" type="presOf" srcId="{C675A92F-D588-43A3-BA58-8BE911E62CBC}" destId="{86FEB483-B96D-41BD-9DB6-3A88AC545F9B}" srcOrd="0" destOrd="0" presId="urn:microsoft.com/office/officeart/2005/8/layout/default"/>
    <dgm:cxn modelId="{FCE40732-2497-4D5E-975A-4014862B16B4}" srcId="{A8746B35-B052-4FEF-8E7D-946D1069C367}" destId="{FBF652E6-A7B5-46BC-B1E4-5180A4D344F3}" srcOrd="1" destOrd="0" parTransId="{AE4A4876-6A06-41C1-B105-EDB870144E64}" sibTransId="{2A4D1773-9FB4-41B0-AF3B-6F39757B13FB}"/>
    <dgm:cxn modelId="{83F38CA4-913E-4FA2-82B9-5E35E3356A70}" type="presOf" srcId="{FBF652E6-A7B5-46BC-B1E4-5180A4D344F3}" destId="{E97F3F83-AB32-4CD8-8AD8-818AFBF3BBBE}" srcOrd="0" destOrd="0" presId="urn:microsoft.com/office/officeart/2005/8/layout/default"/>
    <dgm:cxn modelId="{B03B02D8-30C5-4B93-A72A-C1501231974E}" srcId="{A8746B35-B052-4FEF-8E7D-946D1069C367}" destId="{CA2F1893-EC5A-456B-A975-C54ED0273F04}" srcOrd="2" destOrd="0" parTransId="{A2168CF4-920D-4634-BE32-A7DD382B1FAC}" sibTransId="{3E831614-C2F8-406D-8DDD-30DC15304733}"/>
    <dgm:cxn modelId="{1A5993F5-5E8E-426C-9EE2-AFC9CEBF8CA3}" srcId="{A8746B35-B052-4FEF-8E7D-946D1069C367}" destId="{C675A92F-D588-43A3-BA58-8BE911E62CBC}" srcOrd="0" destOrd="0" parTransId="{C2FE3867-6367-4884-9001-5D39DD3CBC91}" sibTransId="{C7ADADEA-90CF-4729-BD88-1DE318820BDD}"/>
    <dgm:cxn modelId="{A5D96FFD-6DDC-47D7-B4D0-FD2157CAB8B1}" type="presOf" srcId="{A8746B35-B052-4FEF-8E7D-946D1069C367}" destId="{D4D00B5F-F310-4826-A299-769CFB09A0D1}" srcOrd="0" destOrd="0" presId="urn:microsoft.com/office/officeart/2005/8/layout/default"/>
    <dgm:cxn modelId="{142F7344-ABD2-4E3F-AC89-E56A17EA761D}" type="presParOf" srcId="{D4D00B5F-F310-4826-A299-769CFB09A0D1}" destId="{86FEB483-B96D-41BD-9DB6-3A88AC545F9B}" srcOrd="0" destOrd="0" presId="urn:microsoft.com/office/officeart/2005/8/layout/default"/>
    <dgm:cxn modelId="{438582A4-EFA1-466E-B78D-BDC5CFC1D97D}" type="presParOf" srcId="{D4D00B5F-F310-4826-A299-769CFB09A0D1}" destId="{D04F0FC7-6E1D-47B4-84C2-A90315F6077C}" srcOrd="1" destOrd="0" presId="urn:microsoft.com/office/officeart/2005/8/layout/default"/>
    <dgm:cxn modelId="{AA76EE1B-04C1-4D8E-89C2-78A5883E8B52}" type="presParOf" srcId="{D4D00B5F-F310-4826-A299-769CFB09A0D1}" destId="{E97F3F83-AB32-4CD8-8AD8-818AFBF3BBBE}" srcOrd="2" destOrd="0" presId="urn:microsoft.com/office/officeart/2005/8/layout/default"/>
    <dgm:cxn modelId="{36A8A544-04A1-4EFF-955C-AB54942435D1}" type="presParOf" srcId="{D4D00B5F-F310-4826-A299-769CFB09A0D1}" destId="{C04D5863-343D-4C9F-9410-C52AAEE6FE04}" srcOrd="3" destOrd="0" presId="urn:microsoft.com/office/officeart/2005/8/layout/default"/>
    <dgm:cxn modelId="{C627E34F-5546-48A6-8A15-1A158E81B940}" type="presParOf" srcId="{D4D00B5F-F310-4826-A299-769CFB09A0D1}" destId="{C8C366CE-E2D8-4E43-A256-8F718A0711AB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8746B35-B052-4FEF-8E7D-946D1069C367}" type="doc">
      <dgm:prSet loTypeId="urn:microsoft.com/office/officeart/2005/8/layout/default" loCatId="list" qsTypeId="urn:microsoft.com/office/officeart/2005/8/quickstyle/simple3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C675A92F-D588-43A3-BA58-8BE911E62CBC}">
      <dgm:prSet phldrT="[Text]"/>
      <dgm:spPr>
        <a:solidFill>
          <a:srgbClr val="92D050"/>
        </a:solidFill>
      </dgm:spPr>
      <dgm:t>
        <a:bodyPr/>
        <a:lstStyle/>
        <a:p>
          <a:r>
            <a:rPr lang="en-US" dirty="0"/>
            <a:t>A</a:t>
          </a:r>
        </a:p>
      </dgm:t>
    </dgm:pt>
    <dgm:pt modelId="{C2FE3867-6367-4884-9001-5D39DD3CBC91}" type="parTrans" cxnId="{1A5993F5-5E8E-426C-9EE2-AFC9CEBF8CA3}">
      <dgm:prSet/>
      <dgm:spPr/>
      <dgm:t>
        <a:bodyPr/>
        <a:lstStyle/>
        <a:p>
          <a:endParaRPr lang="en-US"/>
        </a:p>
      </dgm:t>
    </dgm:pt>
    <dgm:pt modelId="{C7ADADEA-90CF-4729-BD88-1DE318820BDD}" type="sibTrans" cxnId="{1A5993F5-5E8E-426C-9EE2-AFC9CEBF8CA3}">
      <dgm:prSet/>
      <dgm:spPr/>
      <dgm:t>
        <a:bodyPr/>
        <a:lstStyle/>
        <a:p>
          <a:endParaRPr lang="en-US"/>
        </a:p>
      </dgm:t>
    </dgm:pt>
    <dgm:pt modelId="{FBF652E6-A7B5-46BC-B1E4-5180A4D344F3}">
      <dgm:prSet phldrT="[Text]"/>
      <dgm:spPr/>
      <dgm:t>
        <a:bodyPr/>
        <a:lstStyle/>
        <a:p>
          <a:r>
            <a:rPr lang="en-US" dirty="0"/>
            <a:t>B</a:t>
          </a:r>
        </a:p>
      </dgm:t>
    </dgm:pt>
    <dgm:pt modelId="{AE4A4876-6A06-41C1-B105-EDB870144E64}" type="parTrans" cxnId="{FCE40732-2497-4D5E-975A-4014862B16B4}">
      <dgm:prSet/>
      <dgm:spPr/>
      <dgm:t>
        <a:bodyPr/>
        <a:lstStyle/>
        <a:p>
          <a:endParaRPr lang="en-US"/>
        </a:p>
      </dgm:t>
    </dgm:pt>
    <dgm:pt modelId="{2A4D1773-9FB4-41B0-AF3B-6F39757B13FB}" type="sibTrans" cxnId="{FCE40732-2497-4D5E-975A-4014862B16B4}">
      <dgm:prSet/>
      <dgm:spPr/>
      <dgm:t>
        <a:bodyPr/>
        <a:lstStyle/>
        <a:p>
          <a:endParaRPr lang="en-US"/>
        </a:p>
      </dgm:t>
    </dgm:pt>
    <dgm:pt modelId="{CA2F1893-EC5A-456B-A975-C54ED0273F04}">
      <dgm:prSet phldrT="[Text]"/>
      <dgm:spPr/>
      <dgm:t>
        <a:bodyPr/>
        <a:lstStyle/>
        <a:p>
          <a:r>
            <a:rPr lang="en-US" dirty="0"/>
            <a:t>C</a:t>
          </a:r>
        </a:p>
      </dgm:t>
    </dgm:pt>
    <dgm:pt modelId="{A2168CF4-920D-4634-BE32-A7DD382B1FAC}" type="parTrans" cxnId="{B03B02D8-30C5-4B93-A72A-C1501231974E}">
      <dgm:prSet/>
      <dgm:spPr/>
      <dgm:t>
        <a:bodyPr/>
        <a:lstStyle/>
        <a:p>
          <a:endParaRPr lang="en-US"/>
        </a:p>
      </dgm:t>
    </dgm:pt>
    <dgm:pt modelId="{3E831614-C2F8-406D-8DDD-30DC15304733}" type="sibTrans" cxnId="{B03B02D8-30C5-4B93-A72A-C1501231974E}">
      <dgm:prSet/>
      <dgm:spPr/>
      <dgm:t>
        <a:bodyPr/>
        <a:lstStyle/>
        <a:p>
          <a:endParaRPr lang="en-US"/>
        </a:p>
      </dgm:t>
    </dgm:pt>
    <dgm:pt modelId="{D4D00B5F-F310-4826-A299-769CFB09A0D1}" type="pres">
      <dgm:prSet presAssocID="{A8746B35-B052-4FEF-8E7D-946D1069C367}" presName="diagram" presStyleCnt="0">
        <dgm:presLayoutVars>
          <dgm:dir/>
          <dgm:resizeHandles val="exact"/>
        </dgm:presLayoutVars>
      </dgm:prSet>
      <dgm:spPr/>
    </dgm:pt>
    <dgm:pt modelId="{86FEB483-B96D-41BD-9DB6-3A88AC545F9B}" type="pres">
      <dgm:prSet presAssocID="{C675A92F-D588-43A3-BA58-8BE911E62CBC}" presName="node" presStyleLbl="node1" presStyleIdx="0" presStyleCnt="3" custScaleX="22500" custScaleY="15278" custLinFactNeighborX="30000" custLinFactNeighborY="-39583">
        <dgm:presLayoutVars>
          <dgm:bulletEnabled val="1"/>
        </dgm:presLayoutVars>
      </dgm:prSet>
      <dgm:spPr/>
    </dgm:pt>
    <dgm:pt modelId="{D04F0FC7-6E1D-47B4-84C2-A90315F6077C}" type="pres">
      <dgm:prSet presAssocID="{C7ADADEA-90CF-4729-BD88-1DE318820BDD}" presName="sibTrans" presStyleCnt="0"/>
      <dgm:spPr/>
    </dgm:pt>
    <dgm:pt modelId="{E97F3F83-AB32-4CD8-8AD8-818AFBF3BBBE}" type="pres">
      <dgm:prSet presAssocID="{FBF652E6-A7B5-46BC-B1E4-5180A4D344F3}" presName="node" presStyleLbl="node1" presStyleIdx="1" presStyleCnt="3" custScaleX="22500" custScaleY="15278" custLinFactNeighborX="-2500">
        <dgm:presLayoutVars>
          <dgm:bulletEnabled val="1"/>
        </dgm:presLayoutVars>
      </dgm:prSet>
      <dgm:spPr/>
    </dgm:pt>
    <dgm:pt modelId="{C04D5863-343D-4C9F-9410-C52AAEE6FE04}" type="pres">
      <dgm:prSet presAssocID="{2A4D1773-9FB4-41B0-AF3B-6F39757B13FB}" presName="sibTrans" presStyleCnt="0"/>
      <dgm:spPr/>
    </dgm:pt>
    <dgm:pt modelId="{C8C366CE-E2D8-4E43-A256-8F718A0711AB}" type="pres">
      <dgm:prSet presAssocID="{CA2F1893-EC5A-456B-A975-C54ED0273F04}" presName="node" presStyleLbl="node1" presStyleIdx="2" presStyleCnt="3" custScaleX="22500" custScaleY="15278" custLinFactNeighborX="-35000" custLinFactNeighborY="41667">
        <dgm:presLayoutVars>
          <dgm:bulletEnabled val="1"/>
        </dgm:presLayoutVars>
      </dgm:prSet>
      <dgm:spPr/>
    </dgm:pt>
  </dgm:ptLst>
  <dgm:cxnLst>
    <dgm:cxn modelId="{C7CA371B-BDAF-49CC-960C-F10BE13A8C7E}" type="presOf" srcId="{CA2F1893-EC5A-456B-A975-C54ED0273F04}" destId="{C8C366CE-E2D8-4E43-A256-8F718A0711AB}" srcOrd="0" destOrd="0" presId="urn:microsoft.com/office/officeart/2005/8/layout/default"/>
    <dgm:cxn modelId="{5906FF1C-C207-44DE-BCFD-D1A97B024230}" type="presOf" srcId="{C675A92F-D588-43A3-BA58-8BE911E62CBC}" destId="{86FEB483-B96D-41BD-9DB6-3A88AC545F9B}" srcOrd="0" destOrd="0" presId="urn:microsoft.com/office/officeart/2005/8/layout/default"/>
    <dgm:cxn modelId="{FCE40732-2497-4D5E-975A-4014862B16B4}" srcId="{A8746B35-B052-4FEF-8E7D-946D1069C367}" destId="{FBF652E6-A7B5-46BC-B1E4-5180A4D344F3}" srcOrd="1" destOrd="0" parTransId="{AE4A4876-6A06-41C1-B105-EDB870144E64}" sibTransId="{2A4D1773-9FB4-41B0-AF3B-6F39757B13FB}"/>
    <dgm:cxn modelId="{83F38CA4-913E-4FA2-82B9-5E35E3356A70}" type="presOf" srcId="{FBF652E6-A7B5-46BC-B1E4-5180A4D344F3}" destId="{E97F3F83-AB32-4CD8-8AD8-818AFBF3BBBE}" srcOrd="0" destOrd="0" presId="urn:microsoft.com/office/officeart/2005/8/layout/default"/>
    <dgm:cxn modelId="{B03B02D8-30C5-4B93-A72A-C1501231974E}" srcId="{A8746B35-B052-4FEF-8E7D-946D1069C367}" destId="{CA2F1893-EC5A-456B-A975-C54ED0273F04}" srcOrd="2" destOrd="0" parTransId="{A2168CF4-920D-4634-BE32-A7DD382B1FAC}" sibTransId="{3E831614-C2F8-406D-8DDD-30DC15304733}"/>
    <dgm:cxn modelId="{1A5993F5-5E8E-426C-9EE2-AFC9CEBF8CA3}" srcId="{A8746B35-B052-4FEF-8E7D-946D1069C367}" destId="{C675A92F-D588-43A3-BA58-8BE911E62CBC}" srcOrd="0" destOrd="0" parTransId="{C2FE3867-6367-4884-9001-5D39DD3CBC91}" sibTransId="{C7ADADEA-90CF-4729-BD88-1DE318820BDD}"/>
    <dgm:cxn modelId="{A5D96FFD-6DDC-47D7-B4D0-FD2157CAB8B1}" type="presOf" srcId="{A8746B35-B052-4FEF-8E7D-946D1069C367}" destId="{D4D00B5F-F310-4826-A299-769CFB09A0D1}" srcOrd="0" destOrd="0" presId="urn:microsoft.com/office/officeart/2005/8/layout/default"/>
    <dgm:cxn modelId="{142F7344-ABD2-4E3F-AC89-E56A17EA761D}" type="presParOf" srcId="{D4D00B5F-F310-4826-A299-769CFB09A0D1}" destId="{86FEB483-B96D-41BD-9DB6-3A88AC545F9B}" srcOrd="0" destOrd="0" presId="urn:microsoft.com/office/officeart/2005/8/layout/default"/>
    <dgm:cxn modelId="{438582A4-EFA1-466E-B78D-BDC5CFC1D97D}" type="presParOf" srcId="{D4D00B5F-F310-4826-A299-769CFB09A0D1}" destId="{D04F0FC7-6E1D-47B4-84C2-A90315F6077C}" srcOrd="1" destOrd="0" presId="urn:microsoft.com/office/officeart/2005/8/layout/default"/>
    <dgm:cxn modelId="{AA76EE1B-04C1-4D8E-89C2-78A5883E8B52}" type="presParOf" srcId="{D4D00B5F-F310-4826-A299-769CFB09A0D1}" destId="{E97F3F83-AB32-4CD8-8AD8-818AFBF3BBBE}" srcOrd="2" destOrd="0" presId="urn:microsoft.com/office/officeart/2005/8/layout/default"/>
    <dgm:cxn modelId="{36A8A544-04A1-4EFF-955C-AB54942435D1}" type="presParOf" srcId="{D4D00B5F-F310-4826-A299-769CFB09A0D1}" destId="{C04D5863-343D-4C9F-9410-C52AAEE6FE04}" srcOrd="3" destOrd="0" presId="urn:microsoft.com/office/officeart/2005/8/layout/default"/>
    <dgm:cxn modelId="{C627E34F-5546-48A6-8A15-1A158E81B940}" type="presParOf" srcId="{D4D00B5F-F310-4826-A299-769CFB09A0D1}" destId="{C8C366CE-E2D8-4E43-A256-8F718A0711AB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6FEB483-B96D-41BD-9DB6-3A88AC545F9B}">
      <dsp:nvSpPr>
        <dsp:cNvPr id="0" name=""/>
        <dsp:cNvSpPr/>
      </dsp:nvSpPr>
      <dsp:spPr>
        <a:xfrm>
          <a:off x="3922395" y="0"/>
          <a:ext cx="2434590" cy="991884"/>
        </a:xfrm>
        <a:prstGeom prst="rect">
          <a:avLst/>
        </a:prstGeom>
        <a:solidFill>
          <a:srgbClr val="92D050"/>
        </a:solidFill>
        <a:ln>
          <a:noFill/>
        </a:ln>
        <a:effectLst>
          <a:outerShdw blurRad="38100" dist="25400" dir="5400000" algn="t" rotWithShape="0">
            <a:srgbClr val="000000">
              <a:alpha val="50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79070" tIns="179070" rIns="179070" bIns="179070" numCol="1" spcCol="1270" anchor="ctr" anchorCtr="0">
          <a:noAutofit/>
        </a:bodyPr>
        <a:lstStyle/>
        <a:p>
          <a:pPr marL="0" lvl="0" indent="0" algn="ctr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700" kern="1200" dirty="0"/>
            <a:t>A</a:t>
          </a:r>
        </a:p>
      </dsp:txBody>
      <dsp:txXfrm>
        <a:off x="3922395" y="0"/>
        <a:ext cx="2434590" cy="991884"/>
      </dsp:txXfrm>
    </dsp:sp>
    <dsp:sp modelId="{E97F3F83-AB32-4CD8-8AD8-818AFBF3BBBE}">
      <dsp:nvSpPr>
        <dsp:cNvPr id="0" name=""/>
        <dsp:cNvSpPr/>
      </dsp:nvSpPr>
      <dsp:spPr>
        <a:xfrm>
          <a:off x="3922395" y="1790057"/>
          <a:ext cx="2434590" cy="991884"/>
        </a:xfrm>
        <a:prstGeom prst="rect">
          <a:avLst/>
        </a:prstGeom>
        <a:blipFill>
          <a:blip xmlns:r="http://schemas.openxmlformats.org/officeDocument/2006/relationships" r:embed="rId1">
            <a:duotone>
              <a:schemeClr val="accent2">
                <a:hueOff val="953895"/>
                <a:satOff val="-21764"/>
                <a:lumOff val="8039"/>
                <a:alphaOff val="0"/>
                <a:tint val="30000"/>
                <a:satMod val="300000"/>
              </a:schemeClr>
              <a:schemeClr val="accent2">
                <a:hueOff val="953895"/>
                <a:satOff val="-21764"/>
                <a:lumOff val="8039"/>
                <a:alphaOff val="0"/>
                <a:tint val="40000"/>
                <a:satMod val="200000"/>
              </a:schemeClr>
            </a:duotone>
          </a:blip>
          <a:tile tx="0" ty="0" sx="70000" sy="70000" flip="none" algn="ctr"/>
        </a:blipFill>
        <a:ln>
          <a:noFill/>
        </a:ln>
        <a:effectLst>
          <a:outerShdw blurRad="38100" dist="25400" dir="5400000" algn="t" rotWithShape="0">
            <a:srgbClr val="000000">
              <a:alpha val="50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79070" tIns="179070" rIns="179070" bIns="179070" numCol="1" spcCol="1270" anchor="ctr" anchorCtr="0">
          <a:noAutofit/>
        </a:bodyPr>
        <a:lstStyle/>
        <a:p>
          <a:pPr marL="0" lvl="0" indent="0" algn="ctr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700" kern="1200" dirty="0"/>
            <a:t>B</a:t>
          </a:r>
        </a:p>
      </dsp:txBody>
      <dsp:txXfrm>
        <a:off x="3922395" y="1790057"/>
        <a:ext cx="2434590" cy="991884"/>
      </dsp:txXfrm>
    </dsp:sp>
    <dsp:sp modelId="{C8C366CE-E2D8-4E43-A256-8F718A0711AB}">
      <dsp:nvSpPr>
        <dsp:cNvPr id="0" name=""/>
        <dsp:cNvSpPr/>
      </dsp:nvSpPr>
      <dsp:spPr>
        <a:xfrm>
          <a:off x="3922395" y="3580115"/>
          <a:ext cx="2434590" cy="991884"/>
        </a:xfrm>
        <a:prstGeom prst="rect">
          <a:avLst/>
        </a:prstGeom>
        <a:blipFill>
          <a:blip xmlns:r="http://schemas.openxmlformats.org/officeDocument/2006/relationships" r:embed="rId1">
            <a:duotone>
              <a:schemeClr val="accent2">
                <a:hueOff val="1907789"/>
                <a:satOff val="-43528"/>
                <a:lumOff val="16079"/>
                <a:alphaOff val="0"/>
                <a:tint val="30000"/>
                <a:satMod val="300000"/>
              </a:schemeClr>
              <a:schemeClr val="accent2">
                <a:hueOff val="1907789"/>
                <a:satOff val="-43528"/>
                <a:lumOff val="16079"/>
                <a:alphaOff val="0"/>
                <a:tint val="40000"/>
                <a:satMod val="200000"/>
              </a:schemeClr>
            </a:duotone>
          </a:blip>
          <a:tile tx="0" ty="0" sx="70000" sy="70000" flip="none" algn="ctr"/>
        </a:blipFill>
        <a:ln>
          <a:noFill/>
        </a:ln>
        <a:effectLst>
          <a:outerShdw blurRad="38100" dist="25400" dir="5400000" algn="t" rotWithShape="0">
            <a:srgbClr val="000000">
              <a:alpha val="50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79070" tIns="179070" rIns="179070" bIns="179070" numCol="1" spcCol="1270" anchor="ctr" anchorCtr="0">
          <a:noAutofit/>
        </a:bodyPr>
        <a:lstStyle/>
        <a:p>
          <a:pPr marL="0" lvl="0" indent="0" algn="ctr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700" kern="1200" dirty="0"/>
            <a:t>C</a:t>
          </a:r>
        </a:p>
      </dsp:txBody>
      <dsp:txXfrm>
        <a:off x="3922395" y="3580115"/>
        <a:ext cx="2434590" cy="99188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6FEB483-B96D-41BD-9DB6-3A88AC545F9B}">
      <dsp:nvSpPr>
        <dsp:cNvPr id="0" name=""/>
        <dsp:cNvSpPr/>
      </dsp:nvSpPr>
      <dsp:spPr>
        <a:xfrm>
          <a:off x="3922395" y="0"/>
          <a:ext cx="2434590" cy="991884"/>
        </a:xfrm>
        <a:prstGeom prst="rect">
          <a:avLst/>
        </a:prstGeom>
        <a:solidFill>
          <a:srgbClr val="92D050"/>
        </a:solidFill>
        <a:ln>
          <a:noFill/>
        </a:ln>
        <a:effectLst>
          <a:outerShdw blurRad="38100" dist="25400" dir="5400000" algn="t" rotWithShape="0">
            <a:srgbClr val="000000">
              <a:alpha val="50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79070" tIns="179070" rIns="179070" bIns="179070" numCol="1" spcCol="1270" anchor="ctr" anchorCtr="0">
          <a:noAutofit/>
        </a:bodyPr>
        <a:lstStyle/>
        <a:p>
          <a:pPr marL="0" lvl="0" indent="0" algn="ctr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700" kern="1200" dirty="0"/>
            <a:t>A</a:t>
          </a:r>
        </a:p>
      </dsp:txBody>
      <dsp:txXfrm>
        <a:off x="3922395" y="0"/>
        <a:ext cx="2434590" cy="991884"/>
      </dsp:txXfrm>
    </dsp:sp>
    <dsp:sp modelId="{E97F3F83-AB32-4CD8-8AD8-818AFBF3BBBE}">
      <dsp:nvSpPr>
        <dsp:cNvPr id="0" name=""/>
        <dsp:cNvSpPr/>
      </dsp:nvSpPr>
      <dsp:spPr>
        <a:xfrm>
          <a:off x="3922395" y="1790057"/>
          <a:ext cx="2434590" cy="991884"/>
        </a:xfrm>
        <a:prstGeom prst="rect">
          <a:avLst/>
        </a:prstGeom>
        <a:blipFill>
          <a:blip xmlns:r="http://schemas.openxmlformats.org/officeDocument/2006/relationships" r:embed="rId1">
            <a:duotone>
              <a:schemeClr val="accent2">
                <a:hueOff val="953895"/>
                <a:satOff val="-21764"/>
                <a:lumOff val="8039"/>
                <a:alphaOff val="0"/>
                <a:tint val="30000"/>
                <a:satMod val="300000"/>
              </a:schemeClr>
              <a:schemeClr val="accent2">
                <a:hueOff val="953895"/>
                <a:satOff val="-21764"/>
                <a:lumOff val="8039"/>
                <a:alphaOff val="0"/>
                <a:tint val="40000"/>
                <a:satMod val="200000"/>
              </a:schemeClr>
            </a:duotone>
          </a:blip>
          <a:tile tx="0" ty="0" sx="70000" sy="70000" flip="none" algn="ctr"/>
        </a:blipFill>
        <a:ln>
          <a:noFill/>
        </a:ln>
        <a:effectLst>
          <a:outerShdw blurRad="38100" dist="25400" dir="5400000" algn="t" rotWithShape="0">
            <a:srgbClr val="000000">
              <a:alpha val="50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79070" tIns="179070" rIns="179070" bIns="179070" numCol="1" spcCol="1270" anchor="ctr" anchorCtr="0">
          <a:noAutofit/>
        </a:bodyPr>
        <a:lstStyle/>
        <a:p>
          <a:pPr marL="0" lvl="0" indent="0" algn="ctr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700" kern="1200" dirty="0"/>
            <a:t>B</a:t>
          </a:r>
        </a:p>
      </dsp:txBody>
      <dsp:txXfrm>
        <a:off x="3922395" y="1790057"/>
        <a:ext cx="2434590" cy="991884"/>
      </dsp:txXfrm>
    </dsp:sp>
    <dsp:sp modelId="{C8C366CE-E2D8-4E43-A256-8F718A0711AB}">
      <dsp:nvSpPr>
        <dsp:cNvPr id="0" name=""/>
        <dsp:cNvSpPr/>
      </dsp:nvSpPr>
      <dsp:spPr>
        <a:xfrm>
          <a:off x="3922395" y="3580115"/>
          <a:ext cx="2434590" cy="991884"/>
        </a:xfrm>
        <a:prstGeom prst="rect">
          <a:avLst/>
        </a:prstGeom>
        <a:blipFill>
          <a:blip xmlns:r="http://schemas.openxmlformats.org/officeDocument/2006/relationships" r:embed="rId1">
            <a:duotone>
              <a:schemeClr val="accent2">
                <a:hueOff val="1907789"/>
                <a:satOff val="-43528"/>
                <a:lumOff val="16079"/>
                <a:alphaOff val="0"/>
                <a:tint val="30000"/>
                <a:satMod val="300000"/>
              </a:schemeClr>
              <a:schemeClr val="accent2">
                <a:hueOff val="1907789"/>
                <a:satOff val="-43528"/>
                <a:lumOff val="16079"/>
                <a:alphaOff val="0"/>
                <a:tint val="40000"/>
                <a:satMod val="200000"/>
              </a:schemeClr>
            </a:duotone>
          </a:blip>
          <a:tile tx="0" ty="0" sx="70000" sy="70000" flip="none" algn="ctr"/>
        </a:blipFill>
        <a:ln>
          <a:noFill/>
        </a:ln>
        <a:effectLst>
          <a:outerShdw blurRad="38100" dist="25400" dir="5400000" algn="t" rotWithShape="0">
            <a:srgbClr val="000000">
              <a:alpha val="50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79070" tIns="179070" rIns="179070" bIns="179070" numCol="1" spcCol="1270" anchor="ctr" anchorCtr="0">
          <a:noAutofit/>
        </a:bodyPr>
        <a:lstStyle/>
        <a:p>
          <a:pPr marL="0" lvl="0" indent="0" algn="ctr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700" kern="1200" dirty="0"/>
            <a:t>C</a:t>
          </a:r>
        </a:p>
      </dsp:txBody>
      <dsp:txXfrm>
        <a:off x="3922395" y="3580115"/>
        <a:ext cx="2434590" cy="99188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0E5EB6-5DAF-4980-B446-9539BF1CFFAB}" type="datetimeFigureOut">
              <a:rPr lang="en-US" smtClean="0"/>
              <a:pPr/>
              <a:t>9/11/2024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FDF2B1-43BD-482C-9E62-B39F4B6BEB8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38938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sz="1800"/>
          </a:p>
        </p:txBody>
      </p:sp>
      <p:sp useBgFill="1">
        <p:nvSpPr>
          <p:cNvPr id="13" name="Rounded Rectangle 12"/>
          <p:cNvSpPr/>
          <p:nvPr/>
        </p:nvSpPr>
        <p:spPr>
          <a:xfrm>
            <a:off x="87084" y="69756"/>
            <a:ext cx="12017829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727200" y="3200400"/>
            <a:ext cx="85344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8AC21-961D-4603-9B78-D77ED18E7A74}" type="datetimeFigureOut">
              <a:rPr lang="en-US" smtClean="0"/>
              <a:pPr/>
              <a:t>9/11/2024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E09A66A1-C760-4BFC-894E-C0032962BE0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83909" y="1449304"/>
            <a:ext cx="12028716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0" name="Rectangle 9"/>
          <p:cNvSpPr/>
          <p:nvPr/>
        </p:nvSpPr>
        <p:spPr>
          <a:xfrm>
            <a:off x="83909" y="1396720"/>
            <a:ext cx="12028716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1" name="Rectangle 10"/>
          <p:cNvSpPr/>
          <p:nvPr/>
        </p:nvSpPr>
        <p:spPr>
          <a:xfrm>
            <a:off x="83909" y="2976649"/>
            <a:ext cx="12028716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609600" y="1505931"/>
            <a:ext cx="109728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8AC21-961D-4603-9B78-D77ED18E7A74}" type="datetimeFigureOut">
              <a:rPr lang="en-US" smtClean="0"/>
              <a:pPr/>
              <a:t>9/11/2024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A66A1-C760-4BFC-894E-C0032962BE0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1219200" y="1447800"/>
            <a:ext cx="1036320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sz="1800"/>
          </a:p>
        </p:txBody>
      </p:sp>
      <p:sp useBgFill="1">
        <p:nvSpPr>
          <p:cNvPr id="10" name="Rounded Rectangle 9"/>
          <p:cNvSpPr/>
          <p:nvPr/>
        </p:nvSpPr>
        <p:spPr>
          <a:xfrm>
            <a:off x="87084" y="69756"/>
            <a:ext cx="12017829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952501"/>
            <a:ext cx="103632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547938"/>
            <a:ext cx="103632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8AC21-961D-4603-9B78-D77ED18E7A74}" type="datetimeFigureOut">
              <a:rPr lang="en-US" smtClean="0"/>
              <a:pPr/>
              <a:t>9/11/2024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066800" y="6172200"/>
            <a:ext cx="53340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 flipV="1">
            <a:off x="92550" y="2376830"/>
            <a:ext cx="1201802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8" name="Rectangle 7"/>
          <p:cNvSpPr/>
          <p:nvPr/>
        </p:nvSpPr>
        <p:spPr>
          <a:xfrm>
            <a:off x="92195" y="2341476"/>
            <a:ext cx="12018375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9" name="Rectangle 8"/>
          <p:cNvSpPr/>
          <p:nvPr/>
        </p:nvSpPr>
        <p:spPr>
          <a:xfrm>
            <a:off x="91075" y="2468880"/>
            <a:ext cx="12019495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95072" y="6208776"/>
            <a:ext cx="609600" cy="457200"/>
          </a:xfrm>
        </p:spPr>
        <p:txBody>
          <a:bodyPr/>
          <a:lstStyle/>
          <a:p>
            <a:fld id="{E09A66A1-C760-4BFC-894E-C0032962BE0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8AC21-961D-4603-9B78-D77ED18E7A74}" type="datetimeFigureOut">
              <a:rPr lang="en-US" smtClean="0"/>
              <a:pPr/>
              <a:t>9/11/2024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A66A1-C760-4BFC-894E-C0032962BE0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1219200" y="1447800"/>
            <a:ext cx="499872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578600" y="1447800"/>
            <a:ext cx="499872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73050"/>
            <a:ext cx="103632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9200" y="1447800"/>
            <a:ext cx="49784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604000" y="1447800"/>
            <a:ext cx="49784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8AC21-961D-4603-9B78-D77ED18E7A74}" type="datetimeFigureOut">
              <a:rPr lang="en-US" smtClean="0"/>
              <a:pPr/>
              <a:t>9/11/2024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A66A1-C760-4BFC-894E-C0032962BE0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1219200" y="2247900"/>
            <a:ext cx="4978400" cy="38862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6604000" y="2247900"/>
            <a:ext cx="4978400" cy="38862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8AC21-961D-4603-9B78-D77ED18E7A74}" type="datetimeFigureOut">
              <a:rPr lang="en-US" smtClean="0"/>
              <a:pPr/>
              <a:t>9/11/2024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A66A1-C760-4BFC-894E-C0032962BE0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8AC21-961D-4603-9B78-D77ED18E7A74}" type="datetimeFigureOut">
              <a:rPr lang="en-US" smtClean="0"/>
              <a:pPr/>
              <a:t>9/11/2024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A66A1-C760-4BFC-894E-C0032962BE0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 useBgFill="1">
        <p:nvSpPr>
          <p:cNvPr id="9" name="Rounded Rectangle 8"/>
          <p:cNvSpPr/>
          <p:nvPr/>
        </p:nvSpPr>
        <p:spPr>
          <a:xfrm>
            <a:off x="85344" y="69755"/>
            <a:ext cx="12017829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73050"/>
            <a:ext cx="103632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1219200" y="1600200"/>
            <a:ext cx="2540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8AC21-961D-4603-9B78-D77ED18E7A74}" type="datetimeFigureOut">
              <a:rPr lang="en-US" smtClean="0"/>
              <a:pPr/>
              <a:t>9/11/2024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A66A1-C760-4BFC-894E-C0032962BE0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3962400" y="1600200"/>
            <a:ext cx="7620000" cy="44958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4900550"/>
            <a:ext cx="97536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9200" y="5445825"/>
            <a:ext cx="97536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8AC21-961D-4603-9B78-D77ED18E7A74}" type="datetimeFigureOut">
              <a:rPr lang="en-US" smtClean="0"/>
              <a:pPr/>
              <a:t>9/11/2024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219200" y="6172200"/>
            <a:ext cx="51816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95072" y="6208776"/>
            <a:ext cx="609600" cy="457200"/>
          </a:xfrm>
        </p:spPr>
        <p:txBody>
          <a:bodyPr/>
          <a:lstStyle/>
          <a:p>
            <a:fld id="{E09A66A1-C760-4BFC-894E-C0032962BE0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 flipV="1">
            <a:off x="91076" y="4683555"/>
            <a:ext cx="1200912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2" name="Rectangle 11"/>
          <p:cNvSpPr/>
          <p:nvPr/>
        </p:nvSpPr>
        <p:spPr>
          <a:xfrm>
            <a:off x="91345" y="4650475"/>
            <a:ext cx="12008852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3" name="Rectangle 12"/>
          <p:cNvSpPr/>
          <p:nvPr/>
        </p:nvSpPr>
        <p:spPr>
          <a:xfrm>
            <a:off x="91348" y="4773225"/>
            <a:ext cx="12008849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91078" y="66676"/>
            <a:ext cx="12002497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8AC21-961D-4603-9B78-D77ED18E7A74}" type="datetimeFigureOut">
              <a:rPr lang="en-US" smtClean="0"/>
              <a:pPr/>
              <a:t>9/11/2024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A66A1-C760-4BFC-894E-C0032962BE0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2"/>
            <a:ext cx="268224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9200" y="274641"/>
            <a:ext cx="7416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8AC21-961D-4603-9B78-D77ED18E7A74}" type="datetimeFigureOut">
              <a:rPr lang="en-US" smtClean="0"/>
              <a:pPr/>
              <a:t>9/11/2024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A66A1-C760-4BFC-894E-C0032962BE0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sz="1800"/>
          </a:p>
        </p:txBody>
      </p:sp>
      <p:sp useBgFill="1">
        <p:nvSpPr>
          <p:cNvPr id="8" name="Rounded Rectangle 7"/>
          <p:cNvSpPr/>
          <p:nvPr/>
        </p:nvSpPr>
        <p:spPr>
          <a:xfrm>
            <a:off x="85344" y="69755"/>
            <a:ext cx="12017829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1219200" y="274638"/>
            <a:ext cx="103632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1219200" y="1447800"/>
            <a:ext cx="103632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8229600" y="6191250"/>
            <a:ext cx="33020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9578AC21-961D-4603-9B78-D77ED18E7A74}" type="datetimeFigureOut">
              <a:rPr lang="en-US" smtClean="0"/>
              <a:pPr/>
              <a:t>9/11/2024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219200" y="6172200"/>
            <a:ext cx="52832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95072" y="6210300"/>
            <a:ext cx="6096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E09A66A1-C760-4BFC-894E-C0032962BE07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A260A53-96E9-4339-BBEF-E2E097013407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447800" y="3345325"/>
            <a:ext cx="10363200" cy="1447800"/>
          </a:xfrm>
          <a:solidFill>
            <a:srgbClr val="0EADC2"/>
          </a:solidFill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000" b="1" dirty="0"/>
              <a:t>UNIT :- IV</a:t>
            </a:r>
          </a:p>
          <a:p>
            <a:pPr marL="0" indent="0" algn="ctr">
              <a:buNone/>
            </a:pPr>
            <a:r>
              <a:rPr lang="en-US" sz="4000" b="1" dirty="0">
                <a:highlight>
                  <a:srgbClr val="FFFF00"/>
                </a:highlight>
              </a:rPr>
              <a:t>Interface and Packages in JAVA</a:t>
            </a:r>
            <a:endParaRPr lang="en-US" sz="4000" dirty="0">
              <a:highlight>
                <a:srgbClr val="FFFF00"/>
              </a:highlight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98159E7-3EA1-4FD7-B5A0-D4EFABBD414E}"/>
              </a:ext>
            </a:extLst>
          </p:cNvPr>
          <p:cNvSpPr txBox="1">
            <a:spLocks/>
          </p:cNvSpPr>
          <p:nvPr/>
        </p:nvSpPr>
        <p:spPr>
          <a:xfrm>
            <a:off x="3657600" y="1767689"/>
            <a:ext cx="7002634" cy="715964"/>
          </a:xfrm>
          <a:prstGeom prst="rect">
            <a:avLst/>
          </a:prstGeom>
          <a:solidFill>
            <a:srgbClr val="0EADC2"/>
          </a:solidFill>
          <a:ln w="38100" cap="flat" cmpd="sng" algn="ctr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>
            <a:normAutofit fontScale="85000" lnSpcReduction="10000"/>
          </a:bodyPr>
          <a:lstStyle>
            <a:lvl1pPr marL="274320" indent="-274320" algn="l" rtl="0" eaLnBrk="1" latinLnBrk="0" hangingPunct="1">
              <a:spcBef>
                <a:spcPts val="58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5486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SzPct val="85000"/>
              <a:buFont typeface="Wingdings 2"/>
              <a:buChar char=""/>
              <a:defRPr kumimoji="0"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SzPct val="80000"/>
              <a:buFont typeface="Wingdings 2"/>
              <a:buChar char=""/>
              <a:defRPr kumimoji="0"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FontTx/>
              <a:buChar char="o"/>
              <a:defRPr kumimoji="0"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 2"/>
              <a:buNone/>
            </a:pPr>
            <a:r>
              <a:rPr lang="en-US" sz="4000" b="1" dirty="0">
                <a:highlight>
                  <a:srgbClr val="00FF00"/>
                </a:highlight>
              </a:rPr>
              <a:t>Fundamental of JAVA Programming </a:t>
            </a:r>
            <a:endParaRPr lang="en-US" sz="4000" dirty="0">
              <a:highlight>
                <a:srgbClr val="00FF00"/>
              </a:highlight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FA590F3-CF26-41B4-AE97-C299C3E7ED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1615582"/>
            <a:ext cx="1318341" cy="1280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89994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27653" y="1143000"/>
            <a:ext cx="11154747" cy="1447800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dirty="0"/>
              <a:t>Java two most innovative features are packages and Interfaces</a:t>
            </a:r>
          </a:p>
          <a:p>
            <a:r>
              <a:rPr lang="en-US" dirty="0">
                <a:highlight>
                  <a:srgbClr val="FFFF00"/>
                </a:highlight>
              </a:rPr>
              <a:t>Package is the set of collection of classes and / or interfaces</a:t>
            </a:r>
          </a:p>
          <a:p>
            <a:r>
              <a:rPr lang="en-US" dirty="0"/>
              <a:t>It act as a container for classes that are used.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E3CA47-E8E0-45C8-8864-FD8DC0852F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653" y="245200"/>
            <a:ext cx="937341" cy="646786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D3EDCA38-5D93-44D3-B19B-19096EA79A2B}"/>
              </a:ext>
            </a:extLst>
          </p:cNvPr>
          <p:cNvSpPr txBox="1">
            <a:spLocks/>
          </p:cNvSpPr>
          <p:nvPr/>
        </p:nvSpPr>
        <p:spPr>
          <a:xfrm>
            <a:off x="1447800" y="304800"/>
            <a:ext cx="10287000" cy="646786"/>
          </a:xfrm>
          <a:prstGeom prst="rect">
            <a:avLst/>
          </a:prstGeom>
          <a:solidFill>
            <a:srgbClr val="0EADC2"/>
          </a:solidFill>
          <a:ln w="38100" cap="flat" cmpd="sng" algn="ctr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bIns="91440" anchor="b" anchorCtr="0">
            <a:normAutofit lnSpcReduction="10000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dirty="0">
                <a:solidFill>
                  <a:schemeClr val="bg1"/>
                </a:solidFill>
              </a:rPr>
              <a:t>Packages</a:t>
            </a:r>
          </a:p>
        </p:txBody>
      </p:sp>
      <p:sp>
        <p:nvSpPr>
          <p:cNvPr id="6" name="Rectangle 5"/>
          <p:cNvSpPr/>
          <p:nvPr/>
        </p:nvSpPr>
        <p:spPr>
          <a:xfrm>
            <a:off x="896323" y="3124200"/>
            <a:ext cx="10152677" cy="19812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  <a:highlight>
                  <a:srgbClr val="00FFFF"/>
                </a:highlight>
              </a:rPr>
              <a:t>Why Packages ?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  <a:highlight>
                  <a:srgbClr val="FFFF00"/>
                </a:highlight>
              </a:rPr>
              <a:t>Limitation to reusing the classes within a program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  <a:highlight>
                  <a:srgbClr val="FFFF00"/>
                </a:highlight>
              </a:rPr>
              <a:t>If we need to use classes from other programs without physically copying them into the program under development?</a:t>
            </a:r>
          </a:p>
          <a:p>
            <a:pPr algn="ctr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1585138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896323" y="1447800"/>
            <a:ext cx="10686077" cy="3962400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>
                <a:highlight>
                  <a:srgbClr val="FFFF00"/>
                </a:highlight>
              </a:rPr>
              <a:t>Code Reusability :- </a:t>
            </a:r>
            <a:r>
              <a:rPr lang="en-US" dirty="0"/>
              <a:t>Because package contain the group of classes (</a:t>
            </a:r>
            <a:r>
              <a:rPr lang="en-US" dirty="0" err="1"/>
              <a:t>i.e</a:t>
            </a:r>
            <a:r>
              <a:rPr lang="en-US" dirty="0"/>
              <a:t> Reusability and Maintainability)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highlight>
                  <a:srgbClr val="FFFF00"/>
                </a:highlight>
              </a:rPr>
              <a:t>Resolving Name Collision :- </a:t>
            </a:r>
            <a:r>
              <a:rPr lang="en-US" dirty="0"/>
              <a:t>when multiple packages have classes with the same name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Package also provides the </a:t>
            </a:r>
            <a:r>
              <a:rPr lang="en-US" dirty="0">
                <a:highlight>
                  <a:srgbClr val="FFFF00"/>
                </a:highlight>
              </a:rPr>
              <a:t>hiding of class facility </a:t>
            </a:r>
            <a:r>
              <a:rPr lang="en-US" dirty="0"/>
              <a:t>(</a:t>
            </a:r>
            <a:r>
              <a:rPr lang="en-US" dirty="0" err="1"/>
              <a:t>i.e</a:t>
            </a:r>
            <a:r>
              <a:rPr lang="en-US" dirty="0"/>
              <a:t> other programs can not use the class from hidden packages)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highlight>
                  <a:srgbClr val="FFFF00"/>
                </a:highlight>
              </a:rPr>
              <a:t>Access Limitation </a:t>
            </a:r>
            <a:r>
              <a:rPr lang="en-US" dirty="0"/>
              <a:t>can be applied with the help of package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highlight>
                  <a:srgbClr val="FFFF00"/>
                </a:highlight>
              </a:rPr>
              <a:t>Nesting of package 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E3CA47-E8E0-45C8-8864-FD8DC0852F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653" y="245200"/>
            <a:ext cx="937341" cy="646786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D3EDCA38-5D93-44D3-B19B-19096EA79A2B}"/>
              </a:ext>
            </a:extLst>
          </p:cNvPr>
          <p:cNvSpPr txBox="1">
            <a:spLocks/>
          </p:cNvSpPr>
          <p:nvPr/>
        </p:nvSpPr>
        <p:spPr>
          <a:xfrm>
            <a:off x="1447800" y="304800"/>
            <a:ext cx="10287000" cy="646786"/>
          </a:xfrm>
          <a:prstGeom prst="rect">
            <a:avLst/>
          </a:prstGeom>
          <a:solidFill>
            <a:srgbClr val="0EADC2"/>
          </a:solidFill>
          <a:ln w="38100" cap="flat" cmpd="sng" algn="ctr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bIns="91440" anchor="b" anchorCtr="0">
            <a:normAutofit lnSpcReduction="10000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dirty="0">
                <a:solidFill>
                  <a:schemeClr val="bg1"/>
                </a:solidFill>
              </a:rPr>
              <a:t>Advantages of Packages</a:t>
            </a:r>
          </a:p>
        </p:txBody>
      </p:sp>
    </p:spTree>
    <p:extLst>
      <p:ext uri="{BB962C8B-B14F-4D97-AF65-F5344CB8AC3E}">
        <p14:creationId xmlns:p14="http://schemas.microsoft.com/office/powerpoint/2010/main" val="8908507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4801" y="990600"/>
            <a:ext cx="5181599" cy="4953000"/>
          </a:xfrm>
        </p:spPr>
        <p:txBody>
          <a:bodyPr>
            <a:normAutofit/>
          </a:bodyPr>
          <a:lstStyle/>
          <a:p>
            <a:r>
              <a:rPr lang="en-US" dirty="0"/>
              <a:t>In Java, already many predefined packages are available those are to help programmers to develop their software in any easy ways.</a:t>
            </a:r>
          </a:p>
          <a:p>
            <a:r>
              <a:rPr lang="en-US" dirty="0"/>
              <a:t>E.g. </a:t>
            </a:r>
            <a:r>
              <a:rPr lang="en-US" dirty="0" err="1"/>
              <a:t>java.swing</a:t>
            </a:r>
            <a:r>
              <a:rPr lang="en-US" dirty="0"/>
              <a:t> ,</a:t>
            </a:r>
            <a:r>
              <a:rPr lang="en-US" dirty="0" err="1"/>
              <a:t>java.lang</a:t>
            </a:r>
            <a:r>
              <a:rPr lang="en-US" dirty="0"/>
              <a:t>- </a:t>
            </a:r>
          </a:p>
          <a:p>
            <a:r>
              <a:rPr lang="en-US" dirty="0"/>
              <a:t>All build in package are bundle called API bundled with the JDK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E3CA47-E8E0-45C8-8864-FD8DC0852F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653" y="208806"/>
            <a:ext cx="937341" cy="646786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D3EDCA38-5D93-44D3-B19B-19096EA79A2B}"/>
              </a:ext>
            </a:extLst>
          </p:cNvPr>
          <p:cNvSpPr txBox="1">
            <a:spLocks/>
          </p:cNvSpPr>
          <p:nvPr/>
        </p:nvSpPr>
        <p:spPr>
          <a:xfrm>
            <a:off x="1447800" y="153755"/>
            <a:ext cx="10287000" cy="646786"/>
          </a:xfrm>
          <a:prstGeom prst="rect">
            <a:avLst/>
          </a:prstGeom>
          <a:solidFill>
            <a:srgbClr val="0EADC2"/>
          </a:solidFill>
          <a:ln w="38100" cap="flat" cmpd="sng" algn="ctr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bIns="91440" anchor="b" anchorCtr="0">
            <a:normAutofit lnSpcReduction="10000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dirty="0">
                <a:solidFill>
                  <a:schemeClr val="bg1"/>
                </a:solidFill>
              </a:rPr>
              <a:t>Packages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B8EB28D-A3A4-4FC0-A6B9-109CBB2EED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6400" y="1266825"/>
            <a:ext cx="6629400" cy="495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75094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>
              <a:buNone/>
            </a:pPr>
            <a:r>
              <a:rPr lang="en-US" dirty="0">
                <a:solidFill>
                  <a:schemeClr val="tx1"/>
                </a:solidFill>
                <a:highlight>
                  <a:srgbClr val="00FFFF"/>
                </a:highlight>
              </a:rPr>
              <a:t>package</a:t>
            </a:r>
            <a:r>
              <a:rPr lang="en-US" dirty="0">
                <a:highlight>
                  <a:srgbClr val="00FFFF"/>
                </a:highlight>
              </a:rPr>
              <a:t> </a:t>
            </a:r>
            <a:r>
              <a:rPr lang="en-US" dirty="0" err="1">
                <a:highlight>
                  <a:srgbClr val="00FFFF"/>
                </a:highlight>
              </a:rPr>
              <a:t>mypack</a:t>
            </a:r>
            <a:r>
              <a:rPr lang="en-US" dirty="0">
                <a:highlight>
                  <a:srgbClr val="00FFFF"/>
                </a:highlight>
              </a:rPr>
              <a:t>;</a:t>
            </a:r>
          </a:p>
          <a:p>
            <a:pPr>
              <a:buNone/>
            </a:pPr>
            <a:r>
              <a:rPr lang="en-US" dirty="0">
                <a:highlight>
                  <a:srgbClr val="FFFF00"/>
                </a:highlight>
              </a:rPr>
              <a:t>  public class Simple</a:t>
            </a:r>
          </a:p>
          <a:p>
            <a:pPr>
              <a:buNone/>
            </a:pPr>
            <a:r>
              <a:rPr lang="en-US" dirty="0">
                <a:highlight>
                  <a:srgbClr val="FFFF00"/>
                </a:highlight>
              </a:rPr>
              <a:t>  { </a:t>
            </a:r>
          </a:p>
          <a:p>
            <a:pPr>
              <a:buNone/>
            </a:pPr>
            <a:r>
              <a:rPr lang="en-US" dirty="0">
                <a:highlight>
                  <a:srgbClr val="FFFF00"/>
                </a:highlight>
              </a:rPr>
              <a:t>     public static void main(String </a:t>
            </a:r>
            <a:r>
              <a:rPr lang="en-US" dirty="0" err="1">
                <a:highlight>
                  <a:srgbClr val="FFFF00"/>
                </a:highlight>
              </a:rPr>
              <a:t>args</a:t>
            </a:r>
            <a:r>
              <a:rPr lang="en-US" dirty="0">
                <a:highlight>
                  <a:srgbClr val="FFFF00"/>
                </a:highlight>
              </a:rPr>
              <a:t>[])</a:t>
            </a:r>
          </a:p>
          <a:p>
            <a:pPr>
              <a:buNone/>
            </a:pPr>
            <a:r>
              <a:rPr lang="en-US" dirty="0">
                <a:highlight>
                  <a:srgbClr val="FFFF00"/>
                </a:highlight>
              </a:rPr>
              <a:t>       {      </a:t>
            </a:r>
          </a:p>
          <a:p>
            <a:pPr>
              <a:buNone/>
            </a:pPr>
            <a:r>
              <a:rPr lang="en-US" dirty="0">
                <a:highlight>
                  <a:srgbClr val="FFFF00"/>
                </a:highlight>
              </a:rPr>
              <a:t>          </a:t>
            </a:r>
            <a:r>
              <a:rPr lang="en-US" dirty="0" err="1">
                <a:highlight>
                  <a:srgbClr val="FFFF00"/>
                </a:highlight>
              </a:rPr>
              <a:t>System.out.println</a:t>
            </a:r>
            <a:r>
              <a:rPr lang="en-US" dirty="0">
                <a:highlight>
                  <a:srgbClr val="FFFF00"/>
                </a:highlight>
              </a:rPr>
              <a:t>("Welcome to package");</a:t>
            </a:r>
          </a:p>
          <a:p>
            <a:pPr>
              <a:buNone/>
            </a:pPr>
            <a:r>
              <a:rPr lang="en-US" dirty="0">
                <a:highlight>
                  <a:srgbClr val="FFFF00"/>
                </a:highlight>
              </a:rPr>
              <a:t>      }</a:t>
            </a:r>
          </a:p>
          <a:p>
            <a:pPr>
              <a:buNone/>
            </a:pPr>
            <a:r>
              <a:rPr lang="en-US" dirty="0">
                <a:highlight>
                  <a:srgbClr val="FFFF00"/>
                </a:highlight>
              </a:rPr>
              <a:t>  }  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77C135E-AB8D-4CED-BA46-9F501CB4D0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283" y="462540"/>
            <a:ext cx="937341" cy="646786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DC3EDF7D-C468-444A-9573-A4512F5861FC}"/>
              </a:ext>
            </a:extLst>
          </p:cNvPr>
          <p:cNvSpPr txBox="1">
            <a:spLocks/>
          </p:cNvSpPr>
          <p:nvPr/>
        </p:nvSpPr>
        <p:spPr>
          <a:xfrm>
            <a:off x="1447800" y="462540"/>
            <a:ext cx="10287000" cy="646786"/>
          </a:xfrm>
          <a:prstGeom prst="rect">
            <a:avLst/>
          </a:prstGeom>
          <a:solidFill>
            <a:srgbClr val="0EADC2"/>
          </a:solidFill>
          <a:ln w="38100" cap="flat" cmpd="sng" algn="ctr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bIns="91440" anchor="b" anchorCtr="0">
            <a:normAutofit lnSpcReduction="10000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b="1" dirty="0"/>
              <a:t>Simple example of java package</a:t>
            </a:r>
            <a:endParaRPr lang="en-US" sz="36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838200" y="1600200"/>
            <a:ext cx="9372600" cy="4572000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r>
              <a:rPr lang="en-US" dirty="0"/>
              <a:t>There are three ways to access the package from outside</a:t>
            </a:r>
          </a:p>
          <a:p>
            <a:pPr>
              <a:buNone/>
            </a:pPr>
            <a:r>
              <a:rPr lang="en-US" dirty="0"/>
              <a:t>   </a:t>
            </a:r>
            <a:r>
              <a:rPr lang="en-US" dirty="0">
                <a:highlight>
                  <a:srgbClr val="FFFF00"/>
                </a:highlight>
              </a:rPr>
              <a:t>1. import package.*;</a:t>
            </a:r>
          </a:p>
          <a:p>
            <a:pPr>
              <a:buNone/>
            </a:pPr>
            <a:r>
              <a:rPr lang="en-US" dirty="0">
                <a:highlight>
                  <a:srgbClr val="FFFF00"/>
                </a:highlight>
              </a:rPr>
              <a:t>   2.import </a:t>
            </a:r>
            <a:r>
              <a:rPr lang="en-US" dirty="0" err="1">
                <a:highlight>
                  <a:srgbClr val="FFFF00"/>
                </a:highlight>
              </a:rPr>
              <a:t>package.classname</a:t>
            </a:r>
            <a:r>
              <a:rPr lang="en-US" dirty="0">
                <a:highlight>
                  <a:srgbClr val="FFFF00"/>
                </a:highlight>
              </a:rPr>
              <a:t>;</a:t>
            </a:r>
          </a:p>
          <a:p>
            <a:pPr>
              <a:buNone/>
            </a:pPr>
            <a:r>
              <a:rPr lang="en-US" dirty="0">
                <a:highlight>
                  <a:srgbClr val="FFFF00"/>
                </a:highlight>
              </a:rPr>
              <a:t>   3.fully qualified name.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35D8BFD-DEAA-4AE4-ADD9-543C76A4DD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653" y="208806"/>
            <a:ext cx="937341" cy="646786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135C4534-1A0F-4AFE-A9EE-158A6CB58CC7}"/>
              </a:ext>
            </a:extLst>
          </p:cNvPr>
          <p:cNvSpPr txBox="1">
            <a:spLocks/>
          </p:cNvSpPr>
          <p:nvPr/>
        </p:nvSpPr>
        <p:spPr>
          <a:xfrm>
            <a:off x="1447800" y="153755"/>
            <a:ext cx="10287000" cy="646786"/>
          </a:xfrm>
          <a:prstGeom prst="rect">
            <a:avLst/>
          </a:prstGeom>
          <a:solidFill>
            <a:srgbClr val="0EADC2"/>
          </a:solidFill>
          <a:ln w="38100" cap="flat" cmpd="sng" algn="ctr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bIns="91440" anchor="b" anchorCtr="0">
            <a:normAutofit lnSpcReduction="10000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b="1" dirty="0"/>
              <a:t>How to access package from another package?</a:t>
            </a:r>
            <a:endParaRPr lang="en-US" sz="36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834920" y="1893332"/>
            <a:ext cx="3720634" cy="304698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400" dirty="0">
                <a:highlight>
                  <a:srgbClr val="FFFF00"/>
                </a:highlight>
              </a:rPr>
              <a:t>package pack; </a:t>
            </a:r>
          </a:p>
          <a:p>
            <a:r>
              <a:rPr lang="en-US" sz="2400" dirty="0">
                <a:highlight>
                  <a:srgbClr val="FFFF00"/>
                </a:highlight>
              </a:rPr>
              <a:t> public class A</a:t>
            </a:r>
          </a:p>
          <a:p>
            <a:r>
              <a:rPr lang="en-US" sz="2400" dirty="0">
                <a:highlight>
                  <a:srgbClr val="FFFF00"/>
                </a:highlight>
              </a:rPr>
              <a:t>{ </a:t>
            </a:r>
          </a:p>
          <a:p>
            <a:r>
              <a:rPr lang="en-US" sz="2400" dirty="0">
                <a:highlight>
                  <a:srgbClr val="FFFF00"/>
                </a:highlight>
              </a:rPr>
              <a:t>   public void </a:t>
            </a:r>
            <a:r>
              <a:rPr lang="en-US" sz="2400" dirty="0" err="1">
                <a:highlight>
                  <a:srgbClr val="FFFF00"/>
                </a:highlight>
              </a:rPr>
              <a:t>msg</a:t>
            </a:r>
            <a:r>
              <a:rPr lang="en-US" sz="2400" dirty="0">
                <a:highlight>
                  <a:srgbClr val="FFFF00"/>
                </a:highlight>
              </a:rPr>
              <a:t>()</a:t>
            </a:r>
          </a:p>
          <a:p>
            <a:r>
              <a:rPr lang="en-US" sz="2400" dirty="0">
                <a:highlight>
                  <a:srgbClr val="FFFF00"/>
                </a:highlight>
              </a:rPr>
              <a:t>   {</a:t>
            </a:r>
          </a:p>
          <a:p>
            <a:r>
              <a:rPr lang="en-US" sz="2400" dirty="0">
                <a:highlight>
                  <a:srgbClr val="FFFF00"/>
                </a:highlight>
              </a:rPr>
              <a:t>    </a:t>
            </a:r>
            <a:r>
              <a:rPr lang="en-US" sz="2400" dirty="0" err="1">
                <a:highlight>
                  <a:srgbClr val="FFFF00"/>
                </a:highlight>
              </a:rPr>
              <a:t>System.out.println</a:t>
            </a:r>
            <a:r>
              <a:rPr lang="en-US" sz="2400" dirty="0">
                <a:highlight>
                  <a:srgbClr val="FFFF00"/>
                </a:highlight>
              </a:rPr>
              <a:t>("Hello");</a:t>
            </a:r>
          </a:p>
          <a:p>
            <a:r>
              <a:rPr lang="en-US" sz="2400" dirty="0">
                <a:highlight>
                  <a:srgbClr val="FFFF00"/>
                </a:highlight>
              </a:rPr>
              <a:t>   }</a:t>
            </a:r>
          </a:p>
          <a:p>
            <a:r>
              <a:rPr lang="en-US" sz="2400" dirty="0">
                <a:highlight>
                  <a:srgbClr val="FFFF00"/>
                </a:highlight>
              </a:rPr>
              <a:t>  }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1893332"/>
            <a:ext cx="4610878" cy="378565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400" dirty="0">
                <a:highlight>
                  <a:srgbClr val="00FF00"/>
                </a:highlight>
              </a:rPr>
              <a:t>package </a:t>
            </a:r>
            <a:r>
              <a:rPr lang="en-US" sz="2400" dirty="0" err="1">
                <a:highlight>
                  <a:srgbClr val="00FF00"/>
                </a:highlight>
              </a:rPr>
              <a:t>mypack</a:t>
            </a:r>
            <a:r>
              <a:rPr lang="en-US" sz="2400" dirty="0">
                <a:highlight>
                  <a:srgbClr val="00FF00"/>
                </a:highlight>
              </a:rPr>
              <a:t>;  </a:t>
            </a:r>
          </a:p>
          <a:p>
            <a:r>
              <a:rPr lang="en-US" sz="2400" dirty="0">
                <a:solidFill>
                  <a:srgbClr val="FF0000"/>
                </a:solidFill>
                <a:highlight>
                  <a:srgbClr val="FFFF00"/>
                </a:highlight>
              </a:rPr>
              <a:t>import pack.*; </a:t>
            </a:r>
          </a:p>
          <a:p>
            <a:r>
              <a:rPr lang="en-US" sz="2400" dirty="0">
                <a:highlight>
                  <a:srgbClr val="00FF00"/>
                </a:highlight>
              </a:rPr>
              <a:t>   class B</a:t>
            </a:r>
          </a:p>
          <a:p>
            <a:r>
              <a:rPr lang="en-US" sz="2400" dirty="0">
                <a:highlight>
                  <a:srgbClr val="00FF00"/>
                </a:highlight>
              </a:rPr>
              <a:t>   {</a:t>
            </a:r>
          </a:p>
          <a:p>
            <a:r>
              <a:rPr lang="en-US" sz="2400" dirty="0">
                <a:highlight>
                  <a:srgbClr val="00FF00"/>
                </a:highlight>
              </a:rPr>
              <a:t>      public static void main(String </a:t>
            </a:r>
            <a:r>
              <a:rPr lang="en-US" sz="2400" dirty="0" err="1">
                <a:highlight>
                  <a:srgbClr val="00FF00"/>
                </a:highlight>
              </a:rPr>
              <a:t>args</a:t>
            </a:r>
            <a:r>
              <a:rPr lang="en-US" sz="2400" dirty="0">
                <a:highlight>
                  <a:srgbClr val="00FF00"/>
                </a:highlight>
              </a:rPr>
              <a:t>[])</a:t>
            </a:r>
          </a:p>
          <a:p>
            <a:r>
              <a:rPr lang="en-US" sz="2400" dirty="0">
                <a:highlight>
                  <a:srgbClr val="00FF00"/>
                </a:highlight>
              </a:rPr>
              <a:t>    {</a:t>
            </a:r>
          </a:p>
          <a:p>
            <a:r>
              <a:rPr lang="en-US" sz="2400" dirty="0">
                <a:highlight>
                  <a:srgbClr val="00FF00"/>
                </a:highlight>
              </a:rPr>
              <a:t>       A </a:t>
            </a:r>
            <a:r>
              <a:rPr lang="en-US" sz="2400" dirty="0" err="1">
                <a:highlight>
                  <a:srgbClr val="00FF00"/>
                </a:highlight>
              </a:rPr>
              <a:t>obj</a:t>
            </a:r>
            <a:r>
              <a:rPr lang="en-US" sz="2400" dirty="0">
                <a:highlight>
                  <a:srgbClr val="00FF00"/>
                </a:highlight>
              </a:rPr>
              <a:t> = new A();  </a:t>
            </a:r>
          </a:p>
          <a:p>
            <a:r>
              <a:rPr lang="en-US" sz="2400" dirty="0">
                <a:highlight>
                  <a:srgbClr val="00FF00"/>
                </a:highlight>
              </a:rPr>
              <a:t>      obj.msg();   </a:t>
            </a:r>
          </a:p>
          <a:p>
            <a:r>
              <a:rPr lang="en-US" sz="2400" dirty="0">
                <a:highlight>
                  <a:srgbClr val="00FF00"/>
                </a:highlight>
              </a:rPr>
              <a:t>    }</a:t>
            </a:r>
          </a:p>
          <a:p>
            <a:r>
              <a:rPr lang="en-US" sz="2400" dirty="0">
                <a:highlight>
                  <a:srgbClr val="00FF00"/>
                </a:highlight>
              </a:rPr>
              <a:t>   }  </a:t>
            </a:r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3086100" y="3619500"/>
            <a:ext cx="5181600" cy="76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85121568-D943-464F-9C23-E726A7F765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653" y="208806"/>
            <a:ext cx="937341" cy="646786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0B215C68-BF0B-4AB1-9565-1132C0577E0A}"/>
              </a:ext>
            </a:extLst>
          </p:cNvPr>
          <p:cNvSpPr txBox="1">
            <a:spLocks/>
          </p:cNvSpPr>
          <p:nvPr/>
        </p:nvSpPr>
        <p:spPr>
          <a:xfrm>
            <a:off x="1447800" y="153755"/>
            <a:ext cx="10287000" cy="646786"/>
          </a:xfrm>
          <a:prstGeom prst="rect">
            <a:avLst/>
          </a:prstGeom>
          <a:solidFill>
            <a:srgbClr val="0EADC2"/>
          </a:solidFill>
          <a:ln w="38100" cap="flat" cmpd="sng" algn="ctr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bIns="91440" anchor="b" anchorCtr="0">
            <a:normAutofit lnSpcReduction="10000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b="1" dirty="0"/>
              <a:t>Usingpackagename.*</a:t>
            </a:r>
            <a:endParaRPr lang="en-US" sz="3600" dirty="0">
              <a:solidFill>
                <a:schemeClr val="bg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447800" y="1066800"/>
            <a:ext cx="2057400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File Name:-A.java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86600" y="1066800"/>
            <a:ext cx="2057400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File Name:-B.java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220054" y="1849398"/>
            <a:ext cx="3720634" cy="304698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400" dirty="0">
                <a:highlight>
                  <a:srgbClr val="FFFF00"/>
                </a:highlight>
              </a:rPr>
              <a:t>package pack; </a:t>
            </a:r>
          </a:p>
          <a:p>
            <a:r>
              <a:rPr lang="en-US" sz="2400" dirty="0">
                <a:highlight>
                  <a:srgbClr val="FFFF00"/>
                </a:highlight>
              </a:rPr>
              <a:t> public class A</a:t>
            </a:r>
          </a:p>
          <a:p>
            <a:r>
              <a:rPr lang="en-US" sz="2400" dirty="0">
                <a:highlight>
                  <a:srgbClr val="FFFF00"/>
                </a:highlight>
              </a:rPr>
              <a:t>{ </a:t>
            </a:r>
          </a:p>
          <a:p>
            <a:r>
              <a:rPr lang="en-US" sz="2400" dirty="0">
                <a:highlight>
                  <a:srgbClr val="FFFF00"/>
                </a:highlight>
              </a:rPr>
              <a:t>   public void </a:t>
            </a:r>
            <a:r>
              <a:rPr lang="en-US" sz="2400" dirty="0" err="1">
                <a:highlight>
                  <a:srgbClr val="FFFF00"/>
                </a:highlight>
              </a:rPr>
              <a:t>msg</a:t>
            </a:r>
            <a:r>
              <a:rPr lang="en-US" sz="2400" dirty="0">
                <a:highlight>
                  <a:srgbClr val="FFFF00"/>
                </a:highlight>
              </a:rPr>
              <a:t>()</a:t>
            </a:r>
          </a:p>
          <a:p>
            <a:r>
              <a:rPr lang="en-US" sz="2400" dirty="0">
                <a:highlight>
                  <a:srgbClr val="FFFF00"/>
                </a:highlight>
              </a:rPr>
              <a:t>   {</a:t>
            </a:r>
          </a:p>
          <a:p>
            <a:r>
              <a:rPr lang="en-US" sz="2400" dirty="0">
                <a:highlight>
                  <a:srgbClr val="FFFF00"/>
                </a:highlight>
              </a:rPr>
              <a:t>    </a:t>
            </a:r>
            <a:r>
              <a:rPr lang="en-US" sz="2400" dirty="0" err="1">
                <a:highlight>
                  <a:srgbClr val="FFFF00"/>
                </a:highlight>
              </a:rPr>
              <a:t>System.out.println</a:t>
            </a:r>
            <a:r>
              <a:rPr lang="en-US" sz="2400" dirty="0">
                <a:highlight>
                  <a:srgbClr val="FFFF00"/>
                </a:highlight>
              </a:rPr>
              <a:t>("Hello");</a:t>
            </a:r>
          </a:p>
          <a:p>
            <a:r>
              <a:rPr lang="en-US" sz="2400" dirty="0">
                <a:highlight>
                  <a:srgbClr val="FFFF00"/>
                </a:highlight>
              </a:rPr>
              <a:t>   }</a:t>
            </a:r>
          </a:p>
          <a:p>
            <a:r>
              <a:rPr lang="en-US" sz="2400" dirty="0">
                <a:highlight>
                  <a:srgbClr val="FFFF00"/>
                </a:highlight>
              </a:rPr>
              <a:t>  }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19800" y="1764774"/>
            <a:ext cx="4610878" cy="378565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400" dirty="0">
                <a:highlight>
                  <a:srgbClr val="00FF00"/>
                </a:highlight>
              </a:rPr>
              <a:t>package </a:t>
            </a:r>
            <a:r>
              <a:rPr lang="en-US" sz="2400" dirty="0" err="1">
                <a:highlight>
                  <a:srgbClr val="00FF00"/>
                </a:highlight>
              </a:rPr>
              <a:t>mypack</a:t>
            </a:r>
            <a:r>
              <a:rPr lang="en-US" sz="2400" dirty="0">
                <a:highlight>
                  <a:srgbClr val="00FF00"/>
                </a:highlight>
              </a:rPr>
              <a:t>;  </a:t>
            </a:r>
          </a:p>
          <a:p>
            <a:r>
              <a:rPr lang="en-US" sz="2400" dirty="0">
                <a:solidFill>
                  <a:srgbClr val="FF0000"/>
                </a:solidFill>
                <a:highlight>
                  <a:srgbClr val="FFFF00"/>
                </a:highlight>
              </a:rPr>
              <a:t>import </a:t>
            </a:r>
            <a:r>
              <a:rPr lang="en-US" sz="2400" dirty="0" err="1">
                <a:solidFill>
                  <a:srgbClr val="FF0000"/>
                </a:solidFill>
                <a:highlight>
                  <a:srgbClr val="FFFF00"/>
                </a:highlight>
              </a:rPr>
              <a:t>pack.A</a:t>
            </a:r>
            <a:r>
              <a:rPr lang="en-US" sz="2400" dirty="0">
                <a:solidFill>
                  <a:srgbClr val="FF0000"/>
                </a:solidFill>
                <a:highlight>
                  <a:srgbClr val="FFFF00"/>
                </a:highlight>
              </a:rPr>
              <a:t>; </a:t>
            </a:r>
          </a:p>
          <a:p>
            <a:r>
              <a:rPr lang="en-US" sz="2400" dirty="0">
                <a:highlight>
                  <a:srgbClr val="00FF00"/>
                </a:highlight>
              </a:rPr>
              <a:t>   class B</a:t>
            </a:r>
          </a:p>
          <a:p>
            <a:r>
              <a:rPr lang="en-US" sz="2400" dirty="0">
                <a:highlight>
                  <a:srgbClr val="00FF00"/>
                </a:highlight>
              </a:rPr>
              <a:t>   {</a:t>
            </a:r>
          </a:p>
          <a:p>
            <a:r>
              <a:rPr lang="en-US" sz="2400" dirty="0">
                <a:highlight>
                  <a:srgbClr val="00FF00"/>
                </a:highlight>
              </a:rPr>
              <a:t>      public static void main(String </a:t>
            </a:r>
            <a:r>
              <a:rPr lang="en-US" sz="2400" dirty="0" err="1">
                <a:highlight>
                  <a:srgbClr val="00FF00"/>
                </a:highlight>
              </a:rPr>
              <a:t>args</a:t>
            </a:r>
            <a:r>
              <a:rPr lang="en-US" sz="2400" dirty="0">
                <a:highlight>
                  <a:srgbClr val="00FF00"/>
                </a:highlight>
              </a:rPr>
              <a:t>[])</a:t>
            </a:r>
          </a:p>
          <a:p>
            <a:r>
              <a:rPr lang="en-US" sz="2400" dirty="0">
                <a:highlight>
                  <a:srgbClr val="00FF00"/>
                </a:highlight>
              </a:rPr>
              <a:t>    {</a:t>
            </a:r>
          </a:p>
          <a:p>
            <a:r>
              <a:rPr lang="en-US" sz="2400" dirty="0">
                <a:highlight>
                  <a:srgbClr val="00FF00"/>
                </a:highlight>
              </a:rPr>
              <a:t>       A </a:t>
            </a:r>
            <a:r>
              <a:rPr lang="en-US" sz="2400" dirty="0" err="1">
                <a:highlight>
                  <a:srgbClr val="00FF00"/>
                </a:highlight>
              </a:rPr>
              <a:t>obj</a:t>
            </a:r>
            <a:r>
              <a:rPr lang="en-US" sz="2400" dirty="0">
                <a:highlight>
                  <a:srgbClr val="00FF00"/>
                </a:highlight>
              </a:rPr>
              <a:t> = new A();  </a:t>
            </a:r>
          </a:p>
          <a:p>
            <a:r>
              <a:rPr lang="en-US" sz="2400" dirty="0">
                <a:highlight>
                  <a:srgbClr val="00FF00"/>
                </a:highlight>
              </a:rPr>
              <a:t>      obj.msg();   </a:t>
            </a:r>
          </a:p>
          <a:p>
            <a:r>
              <a:rPr lang="en-US" sz="2400" dirty="0">
                <a:highlight>
                  <a:srgbClr val="00FF00"/>
                </a:highlight>
              </a:rPr>
              <a:t>    }</a:t>
            </a:r>
          </a:p>
          <a:p>
            <a:r>
              <a:rPr lang="en-US" sz="2400" dirty="0">
                <a:highlight>
                  <a:srgbClr val="00FF00"/>
                </a:highlight>
              </a:rPr>
              <a:t>   }  </a:t>
            </a:r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3086100" y="3619500"/>
            <a:ext cx="5181600" cy="76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4EF79965-40B6-41DC-94C3-67D0306394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653" y="208806"/>
            <a:ext cx="937341" cy="646786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27DAAEF2-1548-4F2A-8C5D-978F0E0CAC5C}"/>
              </a:ext>
            </a:extLst>
          </p:cNvPr>
          <p:cNvSpPr txBox="1">
            <a:spLocks/>
          </p:cNvSpPr>
          <p:nvPr/>
        </p:nvSpPr>
        <p:spPr>
          <a:xfrm>
            <a:off x="1447800" y="153755"/>
            <a:ext cx="10287000" cy="646786"/>
          </a:xfrm>
          <a:prstGeom prst="rect">
            <a:avLst/>
          </a:prstGeom>
          <a:solidFill>
            <a:srgbClr val="0EADC2"/>
          </a:solidFill>
          <a:ln w="38100" cap="flat" cmpd="sng" algn="ctr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bIns="91440" anchor="b" anchorCtr="0">
            <a:normAutofit lnSpcReduction="10000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b="1" dirty="0"/>
              <a:t>Using </a:t>
            </a:r>
            <a:r>
              <a:rPr lang="en-US" sz="3600" b="1" dirty="0" err="1"/>
              <a:t>packagename.classname</a:t>
            </a:r>
            <a:endParaRPr lang="en-US" sz="3600" dirty="0">
              <a:solidFill>
                <a:schemeClr val="bg1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447800" y="1066800"/>
            <a:ext cx="2057400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File Name:-A.java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62800" y="1066800"/>
            <a:ext cx="2057400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File Name:-B.java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066800" y="1828800"/>
            <a:ext cx="3720634" cy="304698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400" dirty="0">
                <a:highlight>
                  <a:srgbClr val="FFFF00"/>
                </a:highlight>
              </a:rPr>
              <a:t>package pack; </a:t>
            </a:r>
          </a:p>
          <a:p>
            <a:r>
              <a:rPr lang="en-US" sz="2400" dirty="0">
                <a:highlight>
                  <a:srgbClr val="FFFF00"/>
                </a:highlight>
              </a:rPr>
              <a:t> public class A</a:t>
            </a:r>
          </a:p>
          <a:p>
            <a:r>
              <a:rPr lang="en-US" sz="2400" dirty="0">
                <a:highlight>
                  <a:srgbClr val="FFFF00"/>
                </a:highlight>
              </a:rPr>
              <a:t>{ </a:t>
            </a:r>
          </a:p>
          <a:p>
            <a:r>
              <a:rPr lang="en-US" sz="2400" dirty="0">
                <a:highlight>
                  <a:srgbClr val="FFFF00"/>
                </a:highlight>
              </a:rPr>
              <a:t>   public void </a:t>
            </a:r>
            <a:r>
              <a:rPr lang="en-US" sz="2400" dirty="0" err="1">
                <a:highlight>
                  <a:srgbClr val="FFFF00"/>
                </a:highlight>
              </a:rPr>
              <a:t>msg</a:t>
            </a:r>
            <a:r>
              <a:rPr lang="en-US" sz="2400" dirty="0">
                <a:highlight>
                  <a:srgbClr val="FFFF00"/>
                </a:highlight>
              </a:rPr>
              <a:t>()</a:t>
            </a:r>
          </a:p>
          <a:p>
            <a:r>
              <a:rPr lang="en-US" sz="2400" dirty="0">
                <a:highlight>
                  <a:srgbClr val="FFFF00"/>
                </a:highlight>
              </a:rPr>
              <a:t>   {</a:t>
            </a:r>
          </a:p>
          <a:p>
            <a:r>
              <a:rPr lang="en-US" sz="2400" dirty="0">
                <a:highlight>
                  <a:srgbClr val="FFFF00"/>
                </a:highlight>
              </a:rPr>
              <a:t>    </a:t>
            </a:r>
            <a:r>
              <a:rPr lang="en-US" sz="2400" dirty="0" err="1">
                <a:highlight>
                  <a:srgbClr val="FFFF00"/>
                </a:highlight>
              </a:rPr>
              <a:t>System.out.println</a:t>
            </a:r>
            <a:r>
              <a:rPr lang="en-US" sz="2400" dirty="0">
                <a:highlight>
                  <a:srgbClr val="FFFF00"/>
                </a:highlight>
              </a:rPr>
              <a:t>("Hello");</a:t>
            </a:r>
          </a:p>
          <a:p>
            <a:r>
              <a:rPr lang="en-US" sz="2400" dirty="0">
                <a:highlight>
                  <a:srgbClr val="FFFF00"/>
                </a:highlight>
              </a:rPr>
              <a:t>   }</a:t>
            </a:r>
          </a:p>
          <a:p>
            <a:r>
              <a:rPr lang="en-US" sz="2400" dirty="0">
                <a:highlight>
                  <a:srgbClr val="FFFF00"/>
                </a:highlight>
              </a:rPr>
              <a:t>  }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67483" y="1812878"/>
            <a:ext cx="4610878" cy="563231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400" dirty="0">
                <a:highlight>
                  <a:srgbClr val="00FF00"/>
                </a:highlight>
              </a:rPr>
              <a:t>package </a:t>
            </a:r>
            <a:r>
              <a:rPr lang="en-US" sz="2400" dirty="0" err="1">
                <a:highlight>
                  <a:srgbClr val="00FF00"/>
                </a:highlight>
              </a:rPr>
              <a:t>mypack</a:t>
            </a:r>
            <a:r>
              <a:rPr lang="en-US" sz="2400" dirty="0">
                <a:highlight>
                  <a:srgbClr val="00FF00"/>
                </a:highlight>
              </a:rPr>
              <a:t>;  </a:t>
            </a:r>
            <a:endParaRPr lang="en-US" sz="2400" dirty="0">
              <a:solidFill>
                <a:srgbClr val="FF0000"/>
              </a:solidFill>
              <a:highlight>
                <a:srgbClr val="00FF00"/>
              </a:highlight>
            </a:endParaRPr>
          </a:p>
          <a:p>
            <a:r>
              <a:rPr lang="en-US" sz="2400" dirty="0">
                <a:highlight>
                  <a:srgbClr val="00FF00"/>
                </a:highlight>
              </a:rPr>
              <a:t>   class A</a:t>
            </a:r>
          </a:p>
          <a:p>
            <a:r>
              <a:rPr lang="en-US" sz="2400" dirty="0">
                <a:highlight>
                  <a:srgbClr val="00FF00"/>
                </a:highlight>
              </a:rPr>
              <a:t>   {</a:t>
            </a:r>
          </a:p>
          <a:p>
            <a:r>
              <a:rPr lang="en-US" sz="2400" dirty="0">
                <a:highlight>
                  <a:srgbClr val="00FF00"/>
                </a:highlight>
              </a:rPr>
              <a:t>      public static void main(String </a:t>
            </a:r>
            <a:r>
              <a:rPr lang="en-US" sz="2400" dirty="0" err="1">
                <a:highlight>
                  <a:srgbClr val="00FF00"/>
                </a:highlight>
              </a:rPr>
              <a:t>args</a:t>
            </a:r>
            <a:r>
              <a:rPr lang="en-US" sz="2400" dirty="0">
                <a:highlight>
                  <a:srgbClr val="00FF00"/>
                </a:highlight>
              </a:rPr>
              <a:t>[])</a:t>
            </a:r>
          </a:p>
          <a:p>
            <a:r>
              <a:rPr lang="en-US" sz="2400" dirty="0">
                <a:highlight>
                  <a:srgbClr val="00FF00"/>
                </a:highlight>
              </a:rPr>
              <a:t>    {</a:t>
            </a:r>
            <a:endParaRPr lang="en-US" sz="2400" dirty="0">
              <a:solidFill>
                <a:srgbClr val="FF0000"/>
              </a:solidFill>
              <a:highlight>
                <a:srgbClr val="00FF00"/>
              </a:highlight>
            </a:endParaRPr>
          </a:p>
          <a:p>
            <a:r>
              <a:rPr lang="en-US" sz="2400" dirty="0">
                <a:highlight>
                  <a:srgbClr val="00FF00"/>
                </a:highlight>
              </a:rPr>
              <a:t>         </a:t>
            </a:r>
            <a:r>
              <a:rPr lang="en-US" sz="2400" b="1" dirty="0" err="1">
                <a:solidFill>
                  <a:srgbClr val="800080"/>
                </a:solidFill>
                <a:highlight>
                  <a:srgbClr val="00FF00"/>
                </a:highlight>
              </a:rPr>
              <a:t>pack.A</a:t>
            </a:r>
            <a:r>
              <a:rPr lang="en-US" sz="2400" b="1" dirty="0">
                <a:solidFill>
                  <a:srgbClr val="800080"/>
                </a:solidFill>
                <a:highlight>
                  <a:srgbClr val="00FF00"/>
                </a:highlight>
              </a:rPr>
              <a:t> </a:t>
            </a:r>
            <a:r>
              <a:rPr lang="en-US" sz="2400" b="1" dirty="0" err="1">
                <a:solidFill>
                  <a:srgbClr val="800080"/>
                </a:solidFill>
                <a:highlight>
                  <a:srgbClr val="00FF00"/>
                </a:highlight>
              </a:rPr>
              <a:t>obj</a:t>
            </a:r>
            <a:r>
              <a:rPr lang="en-US" sz="2400" b="1" dirty="0">
                <a:solidFill>
                  <a:srgbClr val="800080"/>
                </a:solidFill>
                <a:highlight>
                  <a:srgbClr val="00FF00"/>
                </a:highlight>
              </a:rPr>
              <a:t> = new </a:t>
            </a:r>
            <a:r>
              <a:rPr lang="en-US" sz="2400" b="1" dirty="0" err="1">
                <a:solidFill>
                  <a:srgbClr val="800080"/>
                </a:solidFill>
                <a:highlight>
                  <a:srgbClr val="00FF00"/>
                </a:highlight>
              </a:rPr>
              <a:t>pack.A</a:t>
            </a:r>
            <a:r>
              <a:rPr lang="en-US" sz="2400" b="1" dirty="0">
                <a:solidFill>
                  <a:srgbClr val="800080"/>
                </a:solidFill>
                <a:highlight>
                  <a:srgbClr val="00FF00"/>
                </a:highlight>
              </a:rPr>
              <a:t>();</a:t>
            </a:r>
          </a:p>
          <a:p>
            <a:r>
              <a:rPr lang="en-US" sz="2400" b="1" dirty="0">
                <a:solidFill>
                  <a:srgbClr val="800080"/>
                </a:solidFill>
                <a:highlight>
                  <a:srgbClr val="00FF00"/>
                </a:highlight>
              </a:rPr>
              <a:t>         obj.msg(); </a:t>
            </a:r>
            <a:r>
              <a:rPr lang="en-US" sz="2400" dirty="0">
                <a:highlight>
                  <a:srgbClr val="00FF00"/>
                </a:highlight>
              </a:rPr>
              <a:t>  </a:t>
            </a:r>
          </a:p>
          <a:p>
            <a:r>
              <a:rPr lang="en-US" sz="2400" dirty="0">
                <a:highlight>
                  <a:srgbClr val="00FF00"/>
                </a:highlight>
              </a:rPr>
              <a:t>obj1=new A (); </a:t>
            </a:r>
          </a:p>
          <a:p>
            <a:r>
              <a:rPr lang="en-US" sz="2400" dirty="0">
                <a:highlight>
                  <a:srgbClr val="00FF00"/>
                </a:highlight>
              </a:rPr>
              <a:t>        o A bj1.display();</a:t>
            </a:r>
          </a:p>
          <a:p>
            <a:r>
              <a:rPr lang="en-US" sz="2400" dirty="0">
                <a:highlight>
                  <a:srgbClr val="00FF00"/>
                </a:highlight>
              </a:rPr>
              <a:t>    }</a:t>
            </a:r>
          </a:p>
          <a:p>
            <a:r>
              <a:rPr lang="en-US" sz="2400" dirty="0">
                <a:highlight>
                  <a:srgbClr val="00FF00"/>
                </a:highlight>
              </a:rPr>
              <a:t>  void display()</a:t>
            </a:r>
          </a:p>
          <a:p>
            <a:r>
              <a:rPr lang="en-US" sz="2400" dirty="0">
                <a:highlight>
                  <a:srgbClr val="00FF00"/>
                </a:highlight>
              </a:rPr>
              <a:t>{</a:t>
            </a:r>
          </a:p>
          <a:p>
            <a:r>
              <a:rPr lang="en-US" sz="2400" dirty="0">
                <a:highlight>
                  <a:srgbClr val="00FF00"/>
                </a:highlight>
              </a:rPr>
              <a:t>}</a:t>
            </a:r>
          </a:p>
          <a:p>
            <a:endParaRPr lang="en-US" sz="2400" dirty="0">
              <a:highlight>
                <a:srgbClr val="00FF00"/>
              </a:highlight>
            </a:endParaRPr>
          </a:p>
          <a:p>
            <a:r>
              <a:rPr lang="en-US" sz="2400" dirty="0">
                <a:highlight>
                  <a:srgbClr val="00FF00"/>
                </a:highlight>
              </a:rPr>
              <a:t>   }  </a:t>
            </a:r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3086100" y="3619500"/>
            <a:ext cx="5181600" cy="76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5B1B69AB-EBF1-4FD0-B5A0-5093797CF5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653" y="208806"/>
            <a:ext cx="937341" cy="646786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B16756AF-DDD3-4869-BCCD-8E9EB9F211CC}"/>
              </a:ext>
            </a:extLst>
          </p:cNvPr>
          <p:cNvSpPr txBox="1">
            <a:spLocks/>
          </p:cNvSpPr>
          <p:nvPr/>
        </p:nvSpPr>
        <p:spPr>
          <a:xfrm>
            <a:off x="1447800" y="153755"/>
            <a:ext cx="10287000" cy="646786"/>
          </a:xfrm>
          <a:prstGeom prst="rect">
            <a:avLst/>
          </a:prstGeom>
          <a:solidFill>
            <a:srgbClr val="0EADC2"/>
          </a:solidFill>
          <a:ln w="38100" cap="flat" cmpd="sng" algn="ctr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bIns="91440" anchor="b" anchorCtr="0">
            <a:normAutofit lnSpcReduction="10000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b="1" dirty="0"/>
              <a:t>Using fully qualified name</a:t>
            </a:r>
            <a:endParaRPr lang="en-US" sz="3600" dirty="0">
              <a:solidFill>
                <a:schemeClr val="bg1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447800" y="1066800"/>
            <a:ext cx="2057400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File Name:-A.java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66969" y="1066800"/>
            <a:ext cx="2057400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File Name:-B.java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There are 4 types of java access modifiers:</a:t>
            </a:r>
          </a:p>
          <a:p>
            <a:pPr>
              <a:buNone/>
            </a:pPr>
            <a:r>
              <a:rPr lang="en-US" dirty="0"/>
              <a:t>1.private</a:t>
            </a:r>
          </a:p>
          <a:p>
            <a:pPr>
              <a:buNone/>
            </a:pPr>
            <a:r>
              <a:rPr lang="en-US" dirty="0"/>
              <a:t>2.default</a:t>
            </a:r>
          </a:p>
          <a:p>
            <a:pPr>
              <a:buNone/>
            </a:pPr>
            <a:r>
              <a:rPr lang="en-US" dirty="0"/>
              <a:t>3.protected</a:t>
            </a:r>
          </a:p>
          <a:p>
            <a:pPr>
              <a:buNone/>
            </a:pPr>
            <a:r>
              <a:rPr lang="en-US" dirty="0"/>
              <a:t>4.public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A93A4D-4945-4AAF-918E-864069CECD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653" y="208806"/>
            <a:ext cx="937341" cy="646786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C5BCA106-7C35-4121-8EE8-086D61ADCB2B}"/>
              </a:ext>
            </a:extLst>
          </p:cNvPr>
          <p:cNvSpPr txBox="1">
            <a:spLocks/>
          </p:cNvSpPr>
          <p:nvPr/>
        </p:nvSpPr>
        <p:spPr>
          <a:xfrm>
            <a:off x="1447800" y="153755"/>
            <a:ext cx="10287000" cy="646786"/>
          </a:xfrm>
          <a:prstGeom prst="rect">
            <a:avLst/>
          </a:prstGeom>
          <a:solidFill>
            <a:srgbClr val="0EADC2"/>
          </a:solidFill>
          <a:ln w="38100" cap="flat" cmpd="sng" algn="ctr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bIns="91440" anchor="b" anchorCtr="0">
            <a:normAutofit lnSpcReduction="10000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b="1" dirty="0"/>
              <a:t>Access Modifiers in java</a:t>
            </a:r>
            <a:endParaRPr lang="en-US" sz="36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09600" y="914400"/>
            <a:ext cx="9677400" cy="55626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/>
              <a:t>1) private access modifier</a:t>
            </a:r>
          </a:p>
          <a:p>
            <a:pPr>
              <a:buNone/>
            </a:pPr>
            <a:r>
              <a:rPr lang="en-US" dirty="0"/>
              <a:t>       The private access modifier is accessible only within class.</a:t>
            </a:r>
          </a:p>
          <a:p>
            <a:pPr>
              <a:buNone/>
            </a:pPr>
            <a:r>
              <a:rPr lang="en-US" b="1" dirty="0"/>
              <a:t>2) default access modifier</a:t>
            </a:r>
          </a:p>
          <a:p>
            <a:pPr>
              <a:buNone/>
            </a:pPr>
            <a:r>
              <a:rPr lang="en-US" dirty="0"/>
              <a:t>   If you don't use any modifier, it is treated as </a:t>
            </a:r>
            <a:r>
              <a:rPr lang="en-US" b="1" dirty="0"/>
              <a:t>default</a:t>
            </a:r>
            <a:r>
              <a:rPr lang="en-US" dirty="0"/>
              <a:t> by default. The default modifier is accessible only within package.</a:t>
            </a:r>
          </a:p>
          <a:p>
            <a:pPr>
              <a:buNone/>
            </a:pPr>
            <a:r>
              <a:rPr lang="en-US" b="1" dirty="0"/>
              <a:t>3) protected access modifier</a:t>
            </a:r>
          </a:p>
          <a:p>
            <a:pPr>
              <a:buNone/>
            </a:pPr>
            <a:r>
              <a:rPr lang="en-US" dirty="0"/>
              <a:t>     The </a:t>
            </a:r>
            <a:r>
              <a:rPr lang="en-US" b="1" dirty="0"/>
              <a:t>protected access modifier</a:t>
            </a:r>
            <a:r>
              <a:rPr lang="en-US" dirty="0"/>
              <a:t> is accessible within package and outside the package but through inheritance only. </a:t>
            </a:r>
          </a:p>
          <a:p>
            <a:pPr>
              <a:buNone/>
            </a:pPr>
            <a:r>
              <a:rPr lang="en-US" b="1" dirty="0"/>
              <a:t> 4) public access modifier</a:t>
            </a:r>
          </a:p>
          <a:p>
            <a:pPr>
              <a:buNone/>
            </a:pPr>
            <a:r>
              <a:rPr lang="en-US" dirty="0"/>
              <a:t>     The </a:t>
            </a:r>
            <a:r>
              <a:rPr lang="en-US" b="1" dirty="0"/>
              <a:t>public access modifier</a:t>
            </a:r>
            <a:r>
              <a:rPr lang="en-US" dirty="0"/>
              <a:t> is accessible everywhere. It has the widest scope among all other modifiers</a:t>
            </a:r>
          </a:p>
          <a:p>
            <a:pPr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689552-5A21-461B-B745-86CCBEDD04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653" y="208806"/>
            <a:ext cx="937341" cy="646786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0A50E1CB-3C19-44EE-B80D-CA0B5E22269F}"/>
              </a:ext>
            </a:extLst>
          </p:cNvPr>
          <p:cNvSpPr txBox="1">
            <a:spLocks/>
          </p:cNvSpPr>
          <p:nvPr/>
        </p:nvSpPr>
        <p:spPr>
          <a:xfrm>
            <a:off x="1447800" y="153755"/>
            <a:ext cx="10287000" cy="646786"/>
          </a:xfrm>
          <a:prstGeom prst="rect">
            <a:avLst/>
          </a:prstGeom>
          <a:solidFill>
            <a:srgbClr val="0EADC2"/>
          </a:solidFill>
          <a:ln w="38100" cap="flat" cmpd="sng" algn="ctr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bIns="91440" anchor="b" anchorCtr="0">
            <a:normAutofit lnSpcReduction="10000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dirty="0">
                <a:solidFill>
                  <a:schemeClr val="bg1"/>
                </a:solidFill>
              </a:rPr>
              <a:t>Access Modifier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3505200" y="4953000"/>
            <a:ext cx="7315200" cy="12954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507144547"/>
              </p:ext>
            </p:extLst>
          </p:nvPr>
        </p:nvGraphicFramePr>
        <p:xfrm>
          <a:off x="838199" y="914400"/>
          <a:ext cx="10668000" cy="5669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4340">
                <a:tc>
                  <a:txBody>
                    <a:bodyPr/>
                    <a:lstStyle/>
                    <a:p>
                      <a:r>
                        <a:rPr lang="en-US" sz="2400" dirty="0"/>
                        <a:t>    Access    </a:t>
                      </a:r>
                    </a:p>
                    <a:p>
                      <a:r>
                        <a:rPr lang="en-US" sz="2400" dirty="0"/>
                        <a:t>       Modifier</a:t>
                      </a:r>
                    </a:p>
                    <a:p>
                      <a:r>
                        <a:rPr lang="en-US" sz="2400" dirty="0"/>
                        <a:t>Access</a:t>
                      </a:r>
                      <a:r>
                        <a:rPr lang="en-US" sz="2400" baseline="0" dirty="0"/>
                        <a:t> </a:t>
                      </a:r>
                    </a:p>
                    <a:p>
                      <a:r>
                        <a:rPr lang="en-US" sz="2400" baseline="0" dirty="0"/>
                        <a:t>Location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Public</a:t>
                      </a:r>
                      <a:r>
                        <a:rPr lang="en-US" sz="2400" baseline="0" dirty="0"/>
                        <a:t> 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Protected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Default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Private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r>
                        <a:rPr lang="en-US" sz="2400" dirty="0">
                          <a:highlight>
                            <a:srgbClr val="00FF00"/>
                          </a:highlight>
                        </a:rPr>
                        <a:t>Same Class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Yes</a:t>
                      </a:r>
                    </a:p>
                    <a:p>
                      <a:pPr algn="ctr"/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Yes</a:t>
                      </a:r>
                    </a:p>
                    <a:p>
                      <a:pPr algn="ctr"/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Yes</a:t>
                      </a:r>
                    </a:p>
                    <a:p>
                      <a:pPr algn="ctr"/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r>
                        <a:rPr lang="en-US" sz="2400" dirty="0">
                          <a:highlight>
                            <a:srgbClr val="00FF00"/>
                          </a:highlight>
                        </a:rPr>
                        <a:t>Subclass</a:t>
                      </a:r>
                      <a:r>
                        <a:rPr lang="en-US" sz="2400" baseline="0" dirty="0">
                          <a:highlight>
                            <a:srgbClr val="00FF00"/>
                          </a:highlight>
                        </a:rPr>
                        <a:t> in Same Package</a:t>
                      </a:r>
                      <a:endParaRPr lang="en-US" sz="24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Yes</a:t>
                      </a:r>
                    </a:p>
                    <a:p>
                      <a:pPr algn="ctr"/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Yes</a:t>
                      </a:r>
                    </a:p>
                    <a:p>
                      <a:pPr algn="ctr"/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Yes</a:t>
                      </a:r>
                    </a:p>
                    <a:p>
                      <a:pPr algn="ctr"/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No</a:t>
                      </a:r>
                    </a:p>
                    <a:p>
                      <a:pPr algn="ctr"/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r>
                        <a:rPr lang="en-US" sz="2400" dirty="0">
                          <a:highlight>
                            <a:srgbClr val="00FF00"/>
                          </a:highlight>
                        </a:rPr>
                        <a:t>Non Subclasses in same</a:t>
                      </a:r>
                      <a:r>
                        <a:rPr lang="en-US" sz="2400" baseline="0" dirty="0">
                          <a:highlight>
                            <a:srgbClr val="00FF00"/>
                          </a:highlight>
                        </a:rPr>
                        <a:t> package</a:t>
                      </a:r>
                      <a:endParaRPr lang="en-US" sz="24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Yes</a:t>
                      </a:r>
                    </a:p>
                    <a:p>
                      <a:pPr algn="ctr"/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Yes</a:t>
                      </a:r>
                    </a:p>
                    <a:p>
                      <a:pPr algn="ctr"/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Yes</a:t>
                      </a:r>
                    </a:p>
                    <a:p>
                      <a:pPr algn="ctr"/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No</a:t>
                      </a:r>
                    </a:p>
                    <a:p>
                      <a:pPr algn="ctr"/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r>
                        <a:rPr lang="en-US" sz="2400" dirty="0">
                          <a:highlight>
                            <a:srgbClr val="00FF00"/>
                          </a:highlight>
                        </a:rPr>
                        <a:t>Subclass</a:t>
                      </a:r>
                      <a:r>
                        <a:rPr lang="en-US" sz="2400" baseline="0" dirty="0">
                          <a:highlight>
                            <a:srgbClr val="00FF00"/>
                          </a:highlight>
                        </a:rPr>
                        <a:t> in Different Packages</a:t>
                      </a:r>
                      <a:endParaRPr lang="en-US" sz="24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Yes</a:t>
                      </a:r>
                    </a:p>
                    <a:p>
                      <a:pPr algn="ctr"/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highlight>
                            <a:srgbClr val="00FFFF"/>
                          </a:highlight>
                        </a:rPr>
                        <a:t>No</a:t>
                      </a:r>
                    </a:p>
                    <a:p>
                      <a:pPr algn="ctr"/>
                      <a:endParaRPr lang="en-US" sz="2400" dirty="0">
                        <a:highlight>
                          <a:srgbClr val="00FFFF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highlight>
                            <a:srgbClr val="00FFFF"/>
                          </a:highlight>
                        </a:rPr>
                        <a:t>No</a:t>
                      </a:r>
                    </a:p>
                    <a:p>
                      <a:pPr algn="ctr"/>
                      <a:endParaRPr lang="en-US" sz="2400" dirty="0">
                        <a:highlight>
                          <a:srgbClr val="00FFFF"/>
                        </a:highlight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r>
                        <a:rPr lang="en-US" sz="2400" dirty="0">
                          <a:highlight>
                            <a:srgbClr val="00FF00"/>
                          </a:highlight>
                        </a:rPr>
                        <a:t>Non Subclasses in Different</a:t>
                      </a:r>
                      <a:r>
                        <a:rPr lang="en-US" sz="2400" baseline="0" dirty="0">
                          <a:highlight>
                            <a:srgbClr val="00FF00"/>
                          </a:highlight>
                        </a:rPr>
                        <a:t> packages</a:t>
                      </a:r>
                      <a:endParaRPr lang="en-US" sz="24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Yes</a:t>
                      </a:r>
                    </a:p>
                    <a:p>
                      <a:pPr algn="ctr"/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highlight>
                            <a:srgbClr val="00FFFF"/>
                          </a:highlight>
                        </a:rP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highlight>
                            <a:srgbClr val="00FFFF"/>
                          </a:highlight>
                        </a:rPr>
                        <a:t>No</a:t>
                      </a:r>
                    </a:p>
                    <a:p>
                      <a:pPr algn="ctr"/>
                      <a:endParaRPr lang="en-US" sz="2400" dirty="0">
                        <a:highlight>
                          <a:srgbClr val="00FFFF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highlight>
                            <a:srgbClr val="00FFFF"/>
                          </a:highlight>
                        </a:rPr>
                        <a:t>No</a:t>
                      </a:r>
                    </a:p>
                    <a:p>
                      <a:pPr algn="ctr"/>
                      <a:endParaRPr lang="en-US" sz="2400" dirty="0">
                        <a:highlight>
                          <a:srgbClr val="00FFFF"/>
                        </a:highlight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cxnSp>
        <p:nvCxnSpPr>
          <p:cNvPr id="7" name="Straight Connector 6"/>
          <p:cNvCxnSpPr/>
          <p:nvPr/>
        </p:nvCxnSpPr>
        <p:spPr>
          <a:xfrm>
            <a:off x="844484" y="1447800"/>
            <a:ext cx="2340864" cy="762000"/>
          </a:xfrm>
          <a:prstGeom prst="line">
            <a:avLst/>
          </a:prstGeom>
          <a:ln w="5715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5B1B69AB-EBF1-4FD0-B5A0-5093797CF5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529" y="153755"/>
            <a:ext cx="937341" cy="646786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B16756AF-DDD3-4869-BCCD-8E9EB9F211CC}"/>
              </a:ext>
            </a:extLst>
          </p:cNvPr>
          <p:cNvSpPr txBox="1">
            <a:spLocks/>
          </p:cNvSpPr>
          <p:nvPr/>
        </p:nvSpPr>
        <p:spPr>
          <a:xfrm>
            <a:off x="1447800" y="211125"/>
            <a:ext cx="10287000" cy="532045"/>
          </a:xfrm>
          <a:prstGeom prst="rect">
            <a:avLst/>
          </a:prstGeom>
          <a:solidFill>
            <a:srgbClr val="0EADC2"/>
          </a:solidFill>
          <a:ln w="38100" cap="flat" cmpd="sng" algn="ctr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bIns="91440" anchor="b" anchorCtr="0">
            <a:normAutofit fontScale="77500" lnSpcReduction="20000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b="1" dirty="0">
                <a:solidFill>
                  <a:schemeClr val="tx1"/>
                </a:solidFill>
                <a:highlight>
                  <a:srgbClr val="FFFF00"/>
                </a:highlight>
              </a:rPr>
              <a:t>Access Protection</a:t>
            </a:r>
            <a:endParaRPr lang="en-US" sz="3600" dirty="0">
              <a:solidFill>
                <a:schemeClr val="tx1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1967680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85800" y="990600"/>
            <a:ext cx="11277600" cy="53340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Java does not support multiple inheritance </a:t>
            </a:r>
          </a:p>
          <a:p>
            <a:r>
              <a:rPr lang="en-US" dirty="0"/>
              <a:t>Classes in Java can not have more than one superclass</a:t>
            </a:r>
          </a:p>
          <a:p>
            <a:pPr marL="0" indent="0">
              <a:buNone/>
            </a:pPr>
            <a:r>
              <a:rPr lang="en-US" dirty="0"/>
              <a:t>E.g.  </a:t>
            </a:r>
            <a:r>
              <a:rPr lang="en-US" dirty="0">
                <a:highlight>
                  <a:srgbClr val="00FFFF"/>
                </a:highlight>
              </a:rPr>
              <a:t>class A extends B extends C</a:t>
            </a:r>
          </a:p>
          <a:p>
            <a:pPr marL="0" indent="0">
              <a:buNone/>
            </a:pPr>
            <a:r>
              <a:rPr lang="en-US" dirty="0">
                <a:highlight>
                  <a:srgbClr val="00FFFF"/>
                </a:highlight>
              </a:rPr>
              <a:t>       {</a:t>
            </a:r>
          </a:p>
          <a:p>
            <a:pPr marL="0" indent="0">
              <a:buNone/>
            </a:pPr>
            <a:r>
              <a:rPr lang="en-US" dirty="0">
                <a:highlight>
                  <a:srgbClr val="00FFFF"/>
                </a:highlight>
              </a:rPr>
              <a:t>            ----------------</a:t>
            </a:r>
          </a:p>
          <a:p>
            <a:pPr marL="0" indent="0">
              <a:buNone/>
            </a:pPr>
            <a:r>
              <a:rPr lang="en-US" dirty="0">
                <a:highlight>
                  <a:srgbClr val="00FFFF"/>
                </a:highlight>
              </a:rPr>
              <a:t>             ----------------</a:t>
            </a:r>
          </a:p>
          <a:p>
            <a:pPr marL="0" indent="0">
              <a:buNone/>
            </a:pPr>
            <a:r>
              <a:rPr lang="en-US" dirty="0">
                <a:highlight>
                  <a:srgbClr val="00FFFF"/>
                </a:highlight>
              </a:rPr>
              <a:t>          }</a:t>
            </a:r>
          </a:p>
          <a:p>
            <a:r>
              <a:rPr lang="en-US" dirty="0"/>
              <a:t>Is not permitted in Java</a:t>
            </a:r>
          </a:p>
          <a:p>
            <a:r>
              <a:rPr lang="en-US" dirty="0"/>
              <a:t>Large number of real life applications require the use of multiple inheritance </a:t>
            </a:r>
          </a:p>
          <a:p>
            <a:r>
              <a:rPr lang="en-US" dirty="0"/>
              <a:t>In C++ , implementation of multiple inheritance proves difficult and adds complexity to the language.</a:t>
            </a:r>
          </a:p>
          <a:p>
            <a:r>
              <a:rPr lang="en-US" dirty="0"/>
              <a:t>But Java provides an alternate approach known as interfaces to support the concept of multiple inheritance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88556EE-C154-4123-913B-1528EEAC40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529" y="153755"/>
            <a:ext cx="937341" cy="646786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8B559EA8-27E4-43E7-833F-5F9F0910FEE3}"/>
              </a:ext>
            </a:extLst>
          </p:cNvPr>
          <p:cNvSpPr txBox="1">
            <a:spLocks/>
          </p:cNvSpPr>
          <p:nvPr/>
        </p:nvSpPr>
        <p:spPr>
          <a:xfrm>
            <a:off x="1447800" y="211125"/>
            <a:ext cx="10287000" cy="532045"/>
          </a:xfrm>
          <a:prstGeom prst="rect">
            <a:avLst/>
          </a:prstGeom>
          <a:solidFill>
            <a:srgbClr val="0EADC2"/>
          </a:solidFill>
          <a:ln w="38100" cap="flat" cmpd="sng" algn="ctr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bIns="91440" anchor="b" anchorCtr="0">
            <a:normAutofit fontScale="77500" lnSpcReduction="20000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b="1" dirty="0">
                <a:solidFill>
                  <a:schemeClr val="tx1"/>
                </a:solidFill>
                <a:highlight>
                  <a:srgbClr val="FFFF00"/>
                </a:highlight>
              </a:rPr>
              <a:t>Multiple Inheritance </a:t>
            </a:r>
            <a:endParaRPr lang="en-US" sz="3600" dirty="0">
              <a:solidFill>
                <a:schemeClr val="tx1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3478221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96621D-FDED-4DBE-A5F3-D4A2EA54087C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09600" y="990600"/>
            <a:ext cx="10972800" cy="5029200"/>
          </a:xfrm>
        </p:spPr>
        <p:txBody>
          <a:bodyPr/>
          <a:lstStyle/>
          <a:p>
            <a:r>
              <a:rPr lang="en-IN" dirty="0">
                <a:highlight>
                  <a:srgbClr val="00FF00"/>
                </a:highlight>
              </a:rPr>
              <a:t>Basically it is a kind of class</a:t>
            </a:r>
          </a:p>
          <a:p>
            <a:r>
              <a:rPr lang="en-IN" dirty="0">
                <a:highlight>
                  <a:srgbClr val="00FF00"/>
                </a:highlight>
              </a:rPr>
              <a:t>Like classes, interface contain methods and variables but with a major difference </a:t>
            </a:r>
          </a:p>
          <a:p>
            <a:r>
              <a:rPr lang="en-IN" dirty="0">
                <a:highlight>
                  <a:srgbClr val="00FF00"/>
                </a:highlight>
              </a:rPr>
              <a:t>Difference is that interfaces define only abstract methods and final fields</a:t>
            </a:r>
          </a:p>
          <a:p>
            <a:r>
              <a:rPr lang="en-IN" dirty="0"/>
              <a:t>This means that interfaces do not specify any code to implement these methods and data fields contain only constants</a:t>
            </a:r>
          </a:p>
          <a:p>
            <a:r>
              <a:rPr lang="en-IN" dirty="0">
                <a:highlight>
                  <a:srgbClr val="00FFFF"/>
                </a:highlight>
              </a:rPr>
              <a:t>Responsibility of the class that implements an interface </a:t>
            </a:r>
            <a:r>
              <a:rPr lang="en-IN" dirty="0"/>
              <a:t>to define the code for implementation of these methods.</a:t>
            </a:r>
          </a:p>
          <a:p>
            <a:r>
              <a:rPr lang="en-IN" dirty="0"/>
              <a:t>Syntax for defining an interface is very similar to that for defining a class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D7F8A90-E811-4EF4-8785-8019F4D11C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529" y="153755"/>
            <a:ext cx="937341" cy="646786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4DE15AD6-FA4F-40EF-9574-BC29E78A8CC0}"/>
              </a:ext>
            </a:extLst>
          </p:cNvPr>
          <p:cNvSpPr txBox="1">
            <a:spLocks/>
          </p:cNvSpPr>
          <p:nvPr/>
        </p:nvSpPr>
        <p:spPr>
          <a:xfrm>
            <a:off x="1447800" y="211125"/>
            <a:ext cx="10287000" cy="532045"/>
          </a:xfrm>
          <a:prstGeom prst="rect">
            <a:avLst/>
          </a:prstGeom>
          <a:solidFill>
            <a:srgbClr val="0EADC2"/>
          </a:solidFill>
          <a:ln w="38100" cap="flat" cmpd="sng" algn="ctr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bIns="91440" anchor="b" anchorCtr="0">
            <a:normAutofit fontScale="77500" lnSpcReduction="20000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b="1" dirty="0">
                <a:solidFill>
                  <a:schemeClr val="tx1"/>
                </a:solidFill>
                <a:highlight>
                  <a:srgbClr val="FFFF00"/>
                </a:highlight>
              </a:rPr>
              <a:t>Interface </a:t>
            </a:r>
            <a:endParaRPr lang="en-US" sz="3600" dirty="0">
              <a:solidFill>
                <a:schemeClr val="tx1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8071287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210A09F-DE5F-4B6A-A69D-698231ECEF9E}"/>
              </a:ext>
            </a:extLst>
          </p:cNvPr>
          <p:cNvSpPr/>
          <p:nvPr/>
        </p:nvSpPr>
        <p:spPr>
          <a:xfrm>
            <a:off x="6096000" y="3962400"/>
            <a:ext cx="5181600" cy="762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357A97C-EB96-439C-9565-BD558EA70ECA}"/>
              </a:ext>
            </a:extLst>
          </p:cNvPr>
          <p:cNvSpPr/>
          <p:nvPr/>
        </p:nvSpPr>
        <p:spPr>
          <a:xfrm>
            <a:off x="5829299" y="1799253"/>
            <a:ext cx="4610101" cy="762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8AAE866-9F8E-47C4-89B2-70149DF6ED01}"/>
              </a:ext>
            </a:extLst>
          </p:cNvPr>
          <p:cNvSpPr/>
          <p:nvPr/>
        </p:nvSpPr>
        <p:spPr>
          <a:xfrm>
            <a:off x="1447800" y="2180253"/>
            <a:ext cx="3581400" cy="24384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79C126-4E46-412D-A3BA-4018F856E1BD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228601" y="1066799"/>
            <a:ext cx="11506200" cy="5637445"/>
          </a:xfrm>
        </p:spPr>
        <p:txBody>
          <a:bodyPr numCol="2">
            <a:normAutofit/>
          </a:bodyPr>
          <a:lstStyle/>
          <a:p>
            <a:r>
              <a:rPr lang="en-IN" sz="2400" dirty="0"/>
              <a:t>General form of an interface definition is </a:t>
            </a:r>
          </a:p>
          <a:p>
            <a:pPr marL="0" indent="0">
              <a:buNone/>
            </a:pPr>
            <a:r>
              <a:rPr lang="en-IN" sz="2400" dirty="0"/>
              <a:t>                             </a:t>
            </a:r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r>
              <a:rPr lang="en-IN" sz="2400" dirty="0"/>
              <a:t>                       interface </a:t>
            </a:r>
            <a:r>
              <a:rPr lang="en-IN" sz="2400" dirty="0" err="1"/>
              <a:t>InterfaceName</a:t>
            </a:r>
            <a:endParaRPr lang="en-IN" sz="2400" dirty="0"/>
          </a:p>
          <a:p>
            <a:pPr marL="0" indent="0">
              <a:buNone/>
            </a:pPr>
            <a:r>
              <a:rPr lang="en-IN" sz="2400" dirty="0"/>
              <a:t>                       {</a:t>
            </a:r>
          </a:p>
          <a:p>
            <a:pPr marL="0" indent="0">
              <a:buNone/>
            </a:pPr>
            <a:r>
              <a:rPr lang="en-IN" sz="2400" dirty="0"/>
              <a:t>                           variable declaration;</a:t>
            </a:r>
          </a:p>
          <a:p>
            <a:pPr marL="0" indent="0">
              <a:buNone/>
            </a:pPr>
            <a:r>
              <a:rPr lang="en-IN" sz="2400" dirty="0"/>
              <a:t>                           method declaration; </a:t>
            </a:r>
          </a:p>
          <a:p>
            <a:pPr marL="0" indent="0">
              <a:buNone/>
            </a:pPr>
            <a:r>
              <a:rPr lang="en-IN" sz="2400" dirty="0"/>
              <a:t>                       }</a:t>
            </a:r>
          </a:p>
          <a:p>
            <a:pPr marL="0" indent="0">
              <a:buNone/>
            </a:pPr>
            <a:endParaRPr lang="en-IN" sz="2400" dirty="0"/>
          </a:p>
          <a:p>
            <a:pPr marL="0" indent="0" algn="ctr">
              <a:buNone/>
            </a:pPr>
            <a:r>
              <a:rPr lang="en-IN" sz="2400" dirty="0"/>
              <a:t>Interface is just keyword</a:t>
            </a:r>
          </a:p>
          <a:p>
            <a:endParaRPr lang="en-IN" sz="2400" dirty="0"/>
          </a:p>
          <a:p>
            <a:endParaRPr lang="en-IN" sz="2400" dirty="0"/>
          </a:p>
          <a:p>
            <a:r>
              <a:rPr lang="en-IN" sz="2400" dirty="0"/>
              <a:t>Variables are declared as </a:t>
            </a:r>
          </a:p>
          <a:p>
            <a:endParaRPr lang="en-IN" sz="2400" dirty="0"/>
          </a:p>
          <a:p>
            <a:pPr marL="0" indent="0">
              <a:buNone/>
            </a:pPr>
            <a:r>
              <a:rPr lang="en-IN" sz="2400" dirty="0"/>
              <a:t>    </a:t>
            </a:r>
            <a:r>
              <a:rPr lang="en-IN" sz="2400" dirty="0">
                <a:highlight>
                  <a:srgbClr val="00FFFF"/>
                </a:highlight>
              </a:rPr>
              <a:t>static final type </a:t>
            </a:r>
            <a:r>
              <a:rPr lang="en-IN" sz="2400" dirty="0" err="1">
                <a:highlight>
                  <a:srgbClr val="00FFFF"/>
                </a:highlight>
              </a:rPr>
              <a:t>variablename</a:t>
            </a:r>
            <a:r>
              <a:rPr lang="en-IN" sz="2400" dirty="0">
                <a:highlight>
                  <a:srgbClr val="00FFFF"/>
                </a:highlight>
              </a:rPr>
              <a:t>= value;</a:t>
            </a:r>
          </a:p>
          <a:p>
            <a:pPr marL="0" indent="0">
              <a:buNone/>
            </a:pPr>
            <a:endParaRPr lang="en-IN" sz="2400" dirty="0"/>
          </a:p>
          <a:p>
            <a:r>
              <a:rPr lang="en-IN" sz="2400" dirty="0"/>
              <a:t>Methods declaration will contain only a list of methods without any body statements </a:t>
            </a:r>
          </a:p>
          <a:p>
            <a:endParaRPr lang="en-IN" sz="2400" dirty="0"/>
          </a:p>
          <a:p>
            <a:pPr marL="0" indent="0">
              <a:buNone/>
            </a:pPr>
            <a:r>
              <a:rPr lang="en-IN" sz="2400" dirty="0"/>
              <a:t>  </a:t>
            </a:r>
            <a:r>
              <a:rPr lang="en-IN" sz="2400" dirty="0">
                <a:highlight>
                  <a:srgbClr val="00FFFF"/>
                </a:highlight>
              </a:rPr>
              <a:t>return type methodsname1 (</a:t>
            </a:r>
            <a:r>
              <a:rPr lang="en-IN" sz="2400" dirty="0" err="1">
                <a:highlight>
                  <a:srgbClr val="00FFFF"/>
                </a:highlight>
              </a:rPr>
              <a:t>parameter_list</a:t>
            </a:r>
            <a:r>
              <a:rPr lang="en-IN" sz="2400" dirty="0">
                <a:highlight>
                  <a:srgbClr val="00FFFF"/>
                </a:highlight>
              </a:rPr>
              <a:t>);</a:t>
            </a:r>
          </a:p>
          <a:p>
            <a:pPr marL="0" indent="0">
              <a:buNone/>
            </a:pPr>
            <a:endParaRPr lang="en-IN" sz="2400" dirty="0">
              <a:highlight>
                <a:srgbClr val="00FFFF"/>
              </a:highlight>
            </a:endParaRPr>
          </a:p>
          <a:p>
            <a:pPr marL="0" indent="0">
              <a:buNone/>
            </a:pPr>
            <a:r>
              <a:rPr lang="en-IN" sz="2400" dirty="0">
                <a:highlight>
                  <a:srgbClr val="00FFFF"/>
                </a:highlight>
              </a:rPr>
              <a:t> 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429CFEE-8C37-4B37-8B3E-B11A6054ED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529" y="153755"/>
            <a:ext cx="937341" cy="646786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42A2E11E-7EF9-44D4-BD0A-82A290CAA4AC}"/>
              </a:ext>
            </a:extLst>
          </p:cNvPr>
          <p:cNvSpPr txBox="1">
            <a:spLocks/>
          </p:cNvSpPr>
          <p:nvPr/>
        </p:nvSpPr>
        <p:spPr>
          <a:xfrm>
            <a:off x="1447800" y="211125"/>
            <a:ext cx="10287000" cy="532045"/>
          </a:xfrm>
          <a:prstGeom prst="rect">
            <a:avLst/>
          </a:prstGeom>
          <a:solidFill>
            <a:srgbClr val="0EADC2"/>
          </a:solidFill>
          <a:ln w="38100" cap="flat" cmpd="sng" algn="ctr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bIns="91440" anchor="b" anchorCtr="0">
            <a:normAutofit fontScale="77500" lnSpcReduction="20000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b="1" dirty="0">
                <a:solidFill>
                  <a:schemeClr val="tx1"/>
                </a:solidFill>
                <a:highlight>
                  <a:srgbClr val="FFFF00"/>
                </a:highlight>
              </a:rPr>
              <a:t>Syntax for Interface </a:t>
            </a:r>
            <a:endParaRPr lang="en-US" sz="3600" dirty="0">
              <a:solidFill>
                <a:schemeClr val="tx1"/>
              </a:solidFill>
              <a:highlight>
                <a:srgbClr val="FFFF00"/>
              </a:highlight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EF4B2AF-CA1A-41EA-BDE0-BAD5F1D82B23}"/>
              </a:ext>
            </a:extLst>
          </p:cNvPr>
          <p:cNvSpPr/>
          <p:nvPr/>
        </p:nvSpPr>
        <p:spPr>
          <a:xfrm>
            <a:off x="6096000" y="4849854"/>
            <a:ext cx="5181600" cy="18543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000" dirty="0" err="1">
                <a:solidFill>
                  <a:schemeClr val="tx1"/>
                </a:solidFill>
                <a:highlight>
                  <a:srgbClr val="00FF00"/>
                </a:highlight>
              </a:rPr>
              <a:t>Intreface</a:t>
            </a:r>
            <a:r>
              <a:rPr lang="en-IN" sz="2000" dirty="0">
                <a:solidFill>
                  <a:schemeClr val="tx1"/>
                </a:solidFill>
                <a:highlight>
                  <a:srgbClr val="00FF00"/>
                </a:highlight>
              </a:rPr>
              <a:t> Area</a:t>
            </a:r>
          </a:p>
          <a:p>
            <a:r>
              <a:rPr lang="en-IN" sz="2000" dirty="0">
                <a:solidFill>
                  <a:schemeClr val="tx1"/>
                </a:solidFill>
                <a:highlight>
                  <a:srgbClr val="00FF00"/>
                </a:highlight>
              </a:rPr>
              <a:t>{</a:t>
            </a:r>
          </a:p>
          <a:p>
            <a:r>
              <a:rPr lang="en-IN" sz="2000" dirty="0">
                <a:solidFill>
                  <a:schemeClr val="tx1"/>
                </a:solidFill>
                <a:highlight>
                  <a:srgbClr val="00FF00"/>
                </a:highlight>
              </a:rPr>
              <a:t>       final static float pi=3.142F;</a:t>
            </a:r>
          </a:p>
          <a:p>
            <a:r>
              <a:rPr lang="en-IN" sz="2000" dirty="0">
                <a:solidFill>
                  <a:schemeClr val="tx1"/>
                </a:solidFill>
                <a:highlight>
                  <a:srgbClr val="00FF00"/>
                </a:highlight>
              </a:rPr>
              <a:t>       float </a:t>
            </a:r>
            <a:r>
              <a:rPr lang="en-IN" sz="2000" dirty="0" err="1">
                <a:solidFill>
                  <a:schemeClr val="tx1"/>
                </a:solidFill>
                <a:highlight>
                  <a:srgbClr val="00FF00"/>
                </a:highlight>
              </a:rPr>
              <a:t>a_calculate</a:t>
            </a:r>
            <a:r>
              <a:rPr lang="en-IN" sz="2000" dirty="0">
                <a:solidFill>
                  <a:schemeClr val="tx1"/>
                </a:solidFill>
                <a:highlight>
                  <a:srgbClr val="00FF00"/>
                </a:highlight>
              </a:rPr>
              <a:t> ( float x, float y);</a:t>
            </a:r>
          </a:p>
          <a:p>
            <a:r>
              <a:rPr lang="en-IN" sz="2000" dirty="0">
                <a:solidFill>
                  <a:schemeClr val="tx1"/>
                </a:solidFill>
                <a:highlight>
                  <a:srgbClr val="00FF00"/>
                </a:highlight>
              </a:rPr>
              <a:t>       void show();</a:t>
            </a:r>
          </a:p>
          <a:p>
            <a:r>
              <a:rPr lang="en-IN" sz="2000" dirty="0">
                <a:solidFill>
                  <a:schemeClr val="tx1"/>
                </a:solidFill>
                <a:highlight>
                  <a:srgbClr val="00FF00"/>
                </a:highlight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9495912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473AC7D-EDB1-4CFA-8E59-2B45445E8E7C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762000" y="914400"/>
            <a:ext cx="10515600" cy="54102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2DC24C0-86ED-4D38-9940-F61B3E2101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529" y="153755"/>
            <a:ext cx="937341" cy="646786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C00D197D-1392-4AE1-8F9F-CDF41EF57A19}"/>
              </a:ext>
            </a:extLst>
          </p:cNvPr>
          <p:cNvSpPr txBox="1">
            <a:spLocks/>
          </p:cNvSpPr>
          <p:nvPr/>
        </p:nvSpPr>
        <p:spPr>
          <a:xfrm>
            <a:off x="1447800" y="211125"/>
            <a:ext cx="10287000" cy="532045"/>
          </a:xfrm>
          <a:prstGeom prst="rect">
            <a:avLst/>
          </a:prstGeom>
          <a:solidFill>
            <a:srgbClr val="0EADC2"/>
          </a:solidFill>
          <a:ln w="38100" cap="flat" cmpd="sng" algn="ctr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bIns="91440" anchor="b" anchorCtr="0">
            <a:normAutofit fontScale="77500" lnSpcReduction="20000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b="1" dirty="0">
                <a:solidFill>
                  <a:schemeClr val="tx1"/>
                </a:solidFill>
                <a:highlight>
                  <a:srgbClr val="FFFF00"/>
                </a:highlight>
              </a:rPr>
              <a:t>Difference Between Class and Interface </a:t>
            </a:r>
            <a:endParaRPr lang="en-US" sz="3600" dirty="0">
              <a:solidFill>
                <a:schemeClr val="tx1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40704579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FA60B17-91F3-4A00-B2EA-B20093FFEB3B}"/>
              </a:ext>
            </a:extLst>
          </p:cNvPr>
          <p:cNvSpPr/>
          <p:nvPr/>
        </p:nvSpPr>
        <p:spPr>
          <a:xfrm>
            <a:off x="3886200" y="3886200"/>
            <a:ext cx="4572000" cy="1905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7992C4-6C77-4755-BA67-91677803C7BE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066800"/>
            <a:ext cx="11125200" cy="4953000"/>
          </a:xfrm>
        </p:spPr>
        <p:txBody>
          <a:bodyPr>
            <a:normAutofit lnSpcReduction="10000"/>
          </a:bodyPr>
          <a:lstStyle/>
          <a:p>
            <a:pPr>
              <a:defRPr/>
            </a:pPr>
            <a:r>
              <a:rPr lang="en-US" dirty="0"/>
              <a:t>As like classes, we can apply </a:t>
            </a:r>
            <a:r>
              <a:rPr lang="en-US" dirty="0">
                <a:highlight>
                  <a:srgbClr val="00FFFF"/>
                </a:highlight>
              </a:rPr>
              <a:t>reusability concept on existing interface to create new interface.</a:t>
            </a:r>
          </a:p>
          <a:p>
            <a:pPr>
              <a:defRPr/>
            </a:pPr>
            <a:r>
              <a:rPr lang="en-US" dirty="0"/>
              <a:t>That is, an </a:t>
            </a:r>
            <a:r>
              <a:rPr lang="en-US" dirty="0">
                <a:highlight>
                  <a:srgbClr val="00FFFF"/>
                </a:highlight>
              </a:rPr>
              <a:t>interface can be sub-interfaced from existing interface.</a:t>
            </a:r>
          </a:p>
          <a:p>
            <a:pPr>
              <a:defRPr/>
            </a:pPr>
            <a:r>
              <a:rPr lang="en-US" dirty="0"/>
              <a:t>So this </a:t>
            </a:r>
            <a:r>
              <a:rPr lang="en-US" dirty="0">
                <a:highlight>
                  <a:srgbClr val="00FFFF"/>
                </a:highlight>
              </a:rPr>
              <a:t>existing interface is called </a:t>
            </a:r>
            <a:r>
              <a:rPr lang="en-US" dirty="0" err="1">
                <a:highlight>
                  <a:srgbClr val="00FFFF"/>
                </a:highlight>
              </a:rPr>
              <a:t>superinterface</a:t>
            </a:r>
            <a:r>
              <a:rPr lang="en-US" dirty="0"/>
              <a:t>.</a:t>
            </a:r>
          </a:p>
          <a:p>
            <a:pPr>
              <a:defRPr/>
            </a:pPr>
            <a:r>
              <a:rPr lang="en-US" dirty="0"/>
              <a:t>The new </a:t>
            </a:r>
            <a:r>
              <a:rPr lang="en-US" dirty="0" err="1"/>
              <a:t>subinterface</a:t>
            </a:r>
            <a:r>
              <a:rPr lang="en-US" dirty="0"/>
              <a:t> will inherit all the characteristics of </a:t>
            </a:r>
            <a:r>
              <a:rPr lang="en-US" dirty="0" err="1"/>
              <a:t>superinterface</a:t>
            </a:r>
            <a:r>
              <a:rPr lang="en-US" dirty="0"/>
              <a:t> in the manner similar to subclass.</a:t>
            </a:r>
          </a:p>
          <a:p>
            <a:pPr>
              <a:defRPr/>
            </a:pPr>
            <a:r>
              <a:rPr lang="en-US" dirty="0"/>
              <a:t>Syntax for this is:</a:t>
            </a:r>
          </a:p>
          <a:p>
            <a:pPr algn="ctr">
              <a:buNone/>
              <a:defRPr/>
            </a:pPr>
            <a:r>
              <a:rPr lang="en-US" dirty="0"/>
              <a:t>      </a:t>
            </a:r>
            <a:r>
              <a:rPr lang="en-US" b="1" dirty="0"/>
              <a:t>interface </a:t>
            </a:r>
            <a:r>
              <a:rPr lang="en-US" i="1" dirty="0"/>
              <a:t>name2 </a:t>
            </a:r>
            <a:r>
              <a:rPr lang="en-US" dirty="0"/>
              <a:t> </a:t>
            </a:r>
            <a:r>
              <a:rPr lang="en-US" b="1" dirty="0"/>
              <a:t>extends </a:t>
            </a:r>
            <a:r>
              <a:rPr lang="en-US" i="1" dirty="0"/>
              <a:t>name1</a:t>
            </a:r>
          </a:p>
          <a:p>
            <a:pPr>
              <a:buNone/>
              <a:defRPr/>
            </a:pPr>
            <a:r>
              <a:rPr lang="en-US" i="1" dirty="0"/>
              <a:t>                                                 {</a:t>
            </a:r>
          </a:p>
          <a:p>
            <a:pPr>
              <a:buNone/>
              <a:defRPr/>
            </a:pPr>
            <a:r>
              <a:rPr lang="en-US" i="1" dirty="0"/>
              <a:t>                                                          body of name2;</a:t>
            </a:r>
          </a:p>
          <a:p>
            <a:pPr>
              <a:buNone/>
              <a:defRPr/>
            </a:pPr>
            <a:r>
              <a:rPr lang="en-US" i="1" dirty="0"/>
              <a:t>                                                  }</a:t>
            </a:r>
            <a:r>
              <a:rPr lang="en-US" dirty="0"/>
              <a:t> 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85ED9D4-F606-4C61-A824-DC0A69C6CA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529" y="153755"/>
            <a:ext cx="937341" cy="646786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17B7C973-C8CA-4049-9109-FD93204DD3DA}"/>
              </a:ext>
            </a:extLst>
          </p:cNvPr>
          <p:cNvSpPr txBox="1">
            <a:spLocks/>
          </p:cNvSpPr>
          <p:nvPr/>
        </p:nvSpPr>
        <p:spPr>
          <a:xfrm>
            <a:off x="1447800" y="211125"/>
            <a:ext cx="10287000" cy="532045"/>
          </a:xfrm>
          <a:prstGeom prst="rect">
            <a:avLst/>
          </a:prstGeom>
          <a:solidFill>
            <a:srgbClr val="0EADC2"/>
          </a:solidFill>
          <a:ln w="38100" cap="flat" cmpd="sng" algn="ctr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bIns="91440" anchor="b" anchorCtr="0">
            <a:normAutofit fontScale="77500" lnSpcReduction="20000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b="1" dirty="0">
                <a:solidFill>
                  <a:schemeClr val="tx1"/>
                </a:solidFill>
                <a:highlight>
                  <a:srgbClr val="FFFF00"/>
                </a:highlight>
              </a:rPr>
              <a:t>Extending Interface </a:t>
            </a:r>
            <a:endParaRPr lang="en-US" sz="3600" dirty="0">
              <a:solidFill>
                <a:schemeClr val="tx1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6765441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1A9F563-67A2-4F4E-80C9-CF2BE99A8B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529" y="153755"/>
            <a:ext cx="937341" cy="646786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92F4552E-78D7-466B-B3FD-E237E3C3D443}"/>
              </a:ext>
            </a:extLst>
          </p:cNvPr>
          <p:cNvSpPr txBox="1">
            <a:spLocks/>
          </p:cNvSpPr>
          <p:nvPr/>
        </p:nvSpPr>
        <p:spPr>
          <a:xfrm>
            <a:off x="1447800" y="211125"/>
            <a:ext cx="10287000" cy="532045"/>
          </a:xfrm>
          <a:prstGeom prst="rect">
            <a:avLst/>
          </a:prstGeom>
          <a:solidFill>
            <a:srgbClr val="0EADC2"/>
          </a:solidFill>
          <a:ln w="38100" cap="flat" cmpd="sng" algn="ctr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bIns="91440" anchor="b" anchorCtr="0">
            <a:normAutofit fontScale="77500" lnSpcReduction="20000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b="1" dirty="0">
                <a:solidFill>
                  <a:schemeClr val="tx1"/>
                </a:solidFill>
                <a:highlight>
                  <a:srgbClr val="FFFF00"/>
                </a:highlight>
              </a:rPr>
              <a:t>Extending Interface </a:t>
            </a:r>
            <a:endParaRPr lang="en-US" sz="3600" dirty="0">
              <a:solidFill>
                <a:schemeClr val="tx1"/>
              </a:solidFill>
              <a:highlight>
                <a:srgbClr val="FFFF00"/>
              </a:highlight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84F0BDF-6FBE-4887-B87B-A8711939286F}"/>
              </a:ext>
            </a:extLst>
          </p:cNvPr>
          <p:cNvSpPr/>
          <p:nvPr/>
        </p:nvSpPr>
        <p:spPr>
          <a:xfrm>
            <a:off x="228600" y="990600"/>
            <a:ext cx="4648200" cy="3505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dirty="0">
                <a:solidFill>
                  <a:schemeClr val="tx1"/>
                </a:solidFill>
                <a:highlight>
                  <a:srgbClr val="00FF00"/>
                </a:highlight>
              </a:rPr>
              <a:t>interface </a:t>
            </a:r>
            <a:r>
              <a:rPr lang="en-IN" sz="2400" dirty="0" err="1">
                <a:solidFill>
                  <a:schemeClr val="tx1"/>
                </a:solidFill>
                <a:highlight>
                  <a:srgbClr val="00FF00"/>
                </a:highlight>
              </a:rPr>
              <a:t>Itemconstants</a:t>
            </a:r>
            <a:endParaRPr lang="en-IN" sz="2400" dirty="0">
              <a:solidFill>
                <a:schemeClr val="tx1"/>
              </a:solidFill>
              <a:highlight>
                <a:srgbClr val="00FF00"/>
              </a:highlight>
            </a:endParaRPr>
          </a:p>
          <a:p>
            <a:r>
              <a:rPr lang="en-IN" sz="2400" dirty="0">
                <a:solidFill>
                  <a:schemeClr val="tx1"/>
                </a:solidFill>
                <a:highlight>
                  <a:srgbClr val="00FF00"/>
                </a:highlight>
              </a:rPr>
              <a:t>{</a:t>
            </a:r>
          </a:p>
          <a:p>
            <a:r>
              <a:rPr lang="en-IN" sz="2400" dirty="0">
                <a:solidFill>
                  <a:schemeClr val="tx1"/>
                </a:solidFill>
                <a:highlight>
                  <a:srgbClr val="00FF00"/>
                </a:highlight>
              </a:rPr>
              <a:t>    int code=1001;</a:t>
            </a:r>
          </a:p>
          <a:p>
            <a:r>
              <a:rPr lang="en-IN" sz="2400" dirty="0">
                <a:solidFill>
                  <a:schemeClr val="tx1"/>
                </a:solidFill>
                <a:highlight>
                  <a:srgbClr val="00FF00"/>
                </a:highlight>
              </a:rPr>
              <a:t>    string name=“Fan”;</a:t>
            </a:r>
          </a:p>
          <a:p>
            <a:r>
              <a:rPr lang="en-IN" sz="2400" dirty="0">
                <a:solidFill>
                  <a:schemeClr val="tx1"/>
                </a:solidFill>
                <a:highlight>
                  <a:srgbClr val="00FF00"/>
                </a:highlight>
              </a:rPr>
              <a:t>}</a:t>
            </a:r>
          </a:p>
          <a:p>
            <a:r>
              <a:rPr lang="en-IN" sz="2400" dirty="0">
                <a:solidFill>
                  <a:schemeClr val="tx1"/>
                </a:solidFill>
                <a:highlight>
                  <a:srgbClr val="00FF00"/>
                </a:highlight>
              </a:rPr>
              <a:t>interface Item extends </a:t>
            </a:r>
            <a:r>
              <a:rPr lang="en-IN" sz="2400" dirty="0" err="1">
                <a:solidFill>
                  <a:schemeClr val="tx1"/>
                </a:solidFill>
                <a:highlight>
                  <a:srgbClr val="00FF00"/>
                </a:highlight>
              </a:rPr>
              <a:t>ItemConstants</a:t>
            </a:r>
            <a:endParaRPr lang="en-IN" sz="2400" dirty="0">
              <a:solidFill>
                <a:schemeClr val="tx1"/>
              </a:solidFill>
              <a:highlight>
                <a:srgbClr val="00FF00"/>
              </a:highlight>
            </a:endParaRPr>
          </a:p>
          <a:p>
            <a:r>
              <a:rPr lang="en-IN" sz="2400" dirty="0">
                <a:solidFill>
                  <a:schemeClr val="tx1"/>
                </a:solidFill>
                <a:highlight>
                  <a:srgbClr val="00FF00"/>
                </a:highlight>
              </a:rPr>
              <a:t>{</a:t>
            </a:r>
          </a:p>
          <a:p>
            <a:r>
              <a:rPr lang="en-IN" sz="2400" dirty="0">
                <a:solidFill>
                  <a:schemeClr val="tx1"/>
                </a:solidFill>
                <a:highlight>
                  <a:srgbClr val="00FF00"/>
                </a:highlight>
              </a:rPr>
              <a:t>   void display();</a:t>
            </a:r>
          </a:p>
          <a:p>
            <a:r>
              <a:rPr lang="en-IN" sz="2400" dirty="0">
                <a:solidFill>
                  <a:schemeClr val="tx1"/>
                </a:solidFill>
                <a:highlight>
                  <a:srgbClr val="00FF00"/>
                </a:highlight>
              </a:rPr>
              <a:t>}</a:t>
            </a:r>
          </a:p>
          <a:p>
            <a:pPr algn="ctr"/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D9EE2B7-3029-47A0-9639-00559FE2FC21}"/>
              </a:ext>
            </a:extLst>
          </p:cNvPr>
          <p:cNvSpPr/>
          <p:nvPr/>
        </p:nvSpPr>
        <p:spPr>
          <a:xfrm>
            <a:off x="6096000" y="990600"/>
            <a:ext cx="6019800" cy="5486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dirty="0"/>
              <a:t>interface </a:t>
            </a:r>
            <a:r>
              <a:rPr lang="en-IN" sz="2400" dirty="0" err="1"/>
              <a:t>Itemconstants</a:t>
            </a:r>
            <a:endParaRPr lang="en-IN" sz="2400" dirty="0"/>
          </a:p>
          <a:p>
            <a:r>
              <a:rPr lang="en-IN" sz="2400" dirty="0"/>
              <a:t>{</a:t>
            </a:r>
          </a:p>
          <a:p>
            <a:r>
              <a:rPr lang="en-IN" sz="2400" dirty="0"/>
              <a:t>    int code=1001;</a:t>
            </a:r>
          </a:p>
          <a:p>
            <a:r>
              <a:rPr lang="en-IN" sz="2400" dirty="0"/>
              <a:t>    string name=“Fan”;</a:t>
            </a:r>
          </a:p>
          <a:p>
            <a:r>
              <a:rPr lang="en-IN" sz="2400" dirty="0"/>
              <a:t>}</a:t>
            </a:r>
          </a:p>
          <a:p>
            <a:r>
              <a:rPr lang="en-IN" sz="2400" dirty="0"/>
              <a:t>interface </a:t>
            </a:r>
            <a:r>
              <a:rPr lang="en-IN" sz="2400" dirty="0" err="1"/>
              <a:t>ItemMethods</a:t>
            </a:r>
            <a:r>
              <a:rPr lang="en-IN" sz="2400" dirty="0"/>
              <a:t> extends </a:t>
            </a:r>
            <a:r>
              <a:rPr lang="en-IN" sz="2400" dirty="0" err="1"/>
              <a:t>ItemConstants</a:t>
            </a:r>
            <a:endParaRPr lang="en-IN" sz="2400" dirty="0"/>
          </a:p>
          <a:p>
            <a:r>
              <a:rPr lang="en-IN" sz="2400" dirty="0"/>
              <a:t>{</a:t>
            </a:r>
          </a:p>
          <a:p>
            <a:r>
              <a:rPr lang="en-IN" sz="2400" dirty="0"/>
              <a:t>   void display();</a:t>
            </a:r>
          </a:p>
          <a:p>
            <a:r>
              <a:rPr lang="en-IN" sz="2400" dirty="0"/>
              <a:t>}</a:t>
            </a:r>
          </a:p>
          <a:p>
            <a:r>
              <a:rPr lang="en-IN" sz="2400" dirty="0">
                <a:solidFill>
                  <a:schemeClr val="tx1"/>
                </a:solidFill>
                <a:highlight>
                  <a:srgbClr val="00FF00"/>
                </a:highlight>
              </a:rPr>
              <a:t>Interfaces Item extends </a:t>
            </a:r>
            <a:r>
              <a:rPr lang="en-IN" sz="2400" dirty="0" err="1">
                <a:solidFill>
                  <a:schemeClr val="tx1"/>
                </a:solidFill>
                <a:highlight>
                  <a:srgbClr val="00FF00"/>
                </a:highlight>
              </a:rPr>
              <a:t>ItemConstants,ItemMethods</a:t>
            </a:r>
            <a:endParaRPr lang="en-IN" sz="2400" dirty="0">
              <a:solidFill>
                <a:schemeClr val="tx1"/>
              </a:solidFill>
              <a:highlight>
                <a:srgbClr val="00FF00"/>
              </a:highlight>
            </a:endParaRPr>
          </a:p>
          <a:p>
            <a:r>
              <a:rPr lang="en-IN" sz="2400" dirty="0">
                <a:solidFill>
                  <a:schemeClr val="tx1"/>
                </a:solidFill>
                <a:highlight>
                  <a:srgbClr val="00FF00"/>
                </a:highlight>
              </a:rPr>
              <a:t>{</a:t>
            </a:r>
          </a:p>
          <a:p>
            <a:r>
              <a:rPr lang="en-IN" sz="2400" dirty="0">
                <a:solidFill>
                  <a:schemeClr val="tx1"/>
                </a:solidFill>
                <a:highlight>
                  <a:srgbClr val="00FF00"/>
                </a:highlight>
              </a:rPr>
              <a:t>      ----------------</a:t>
            </a:r>
          </a:p>
          <a:p>
            <a:r>
              <a:rPr lang="en-IN" sz="2400" dirty="0">
                <a:solidFill>
                  <a:schemeClr val="tx1"/>
                </a:solidFill>
                <a:highlight>
                  <a:srgbClr val="00FF00"/>
                </a:highlight>
              </a:rPr>
              <a:t>      -----------------</a:t>
            </a:r>
          </a:p>
          <a:p>
            <a:r>
              <a:rPr lang="en-IN" sz="2400" dirty="0">
                <a:solidFill>
                  <a:schemeClr val="tx1"/>
                </a:solidFill>
                <a:highlight>
                  <a:srgbClr val="00FF00"/>
                </a:highlight>
              </a:rPr>
              <a:t>}</a:t>
            </a:r>
          </a:p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pic>
        <p:nvPicPr>
          <p:cNvPr id="8" name="Picture 3">
            <a:extLst>
              <a:ext uri="{FF2B5EF4-FFF2-40B4-BE49-F238E27FC236}">
                <a16:creationId xmlns:a16="http://schemas.microsoft.com/office/drawing/2014/main" id="{0FC4F74C-7914-4C9F-9918-CE69369AC1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28600" y="4600575"/>
            <a:ext cx="5867400" cy="1876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3101034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F6809D-F59D-40C9-AD00-8D0E5A282705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85800" y="1219200"/>
            <a:ext cx="10896600" cy="1066800"/>
          </a:xfrm>
        </p:spPr>
        <p:txBody>
          <a:bodyPr/>
          <a:lstStyle/>
          <a:p>
            <a:r>
              <a:rPr lang="en-IN" dirty="0">
                <a:highlight>
                  <a:srgbClr val="00FFFF"/>
                </a:highlight>
              </a:rPr>
              <a:t>Interfaces are used as “</a:t>
            </a:r>
            <a:r>
              <a:rPr lang="en-IN" dirty="0" err="1">
                <a:highlight>
                  <a:srgbClr val="00FFFF"/>
                </a:highlight>
              </a:rPr>
              <a:t>Superclasses</a:t>
            </a:r>
            <a:r>
              <a:rPr lang="en-IN" dirty="0">
                <a:highlight>
                  <a:srgbClr val="00FFFF"/>
                </a:highlight>
              </a:rPr>
              <a:t>” whose properties are inherited by classes</a:t>
            </a:r>
            <a:r>
              <a:rPr lang="en-IN" dirty="0"/>
              <a:t>. </a:t>
            </a:r>
          </a:p>
          <a:p>
            <a:r>
              <a:rPr lang="en-IN" dirty="0"/>
              <a:t>Therefore necessary to create a class that inherits the given interface 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0D10946-06EC-4462-92D2-546FDB71D9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529" y="153755"/>
            <a:ext cx="937341" cy="646786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BC05E693-5B2A-454A-B342-4675DED06B54}"/>
              </a:ext>
            </a:extLst>
          </p:cNvPr>
          <p:cNvSpPr txBox="1">
            <a:spLocks/>
          </p:cNvSpPr>
          <p:nvPr/>
        </p:nvSpPr>
        <p:spPr>
          <a:xfrm>
            <a:off x="1447800" y="211125"/>
            <a:ext cx="10287000" cy="532045"/>
          </a:xfrm>
          <a:prstGeom prst="rect">
            <a:avLst/>
          </a:prstGeom>
          <a:solidFill>
            <a:srgbClr val="0EADC2"/>
          </a:solidFill>
          <a:ln w="38100" cap="flat" cmpd="sng" algn="ctr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bIns="91440" anchor="b" anchorCtr="0">
            <a:normAutofit fontScale="77500" lnSpcReduction="20000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b="1" dirty="0">
                <a:solidFill>
                  <a:schemeClr val="tx1"/>
                </a:solidFill>
                <a:highlight>
                  <a:srgbClr val="FFFF00"/>
                </a:highlight>
              </a:rPr>
              <a:t>Implementing Interfaces </a:t>
            </a:r>
            <a:endParaRPr lang="en-US" sz="3600" dirty="0">
              <a:solidFill>
                <a:schemeClr val="tx1"/>
              </a:solidFill>
              <a:highlight>
                <a:srgbClr val="FFFF00"/>
              </a:highlight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1419FA1-7623-42AA-A647-B9593C8506E4}"/>
              </a:ext>
            </a:extLst>
          </p:cNvPr>
          <p:cNvSpPr/>
          <p:nvPr/>
        </p:nvSpPr>
        <p:spPr>
          <a:xfrm>
            <a:off x="990600" y="2362200"/>
            <a:ext cx="6096000" cy="1752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dirty="0">
                <a:solidFill>
                  <a:schemeClr val="tx1"/>
                </a:solidFill>
                <a:highlight>
                  <a:srgbClr val="FFFF00"/>
                </a:highlight>
              </a:rPr>
              <a:t>Class  </a:t>
            </a:r>
            <a:r>
              <a:rPr lang="en-IN" sz="2400" dirty="0" err="1">
                <a:solidFill>
                  <a:schemeClr val="tx1"/>
                </a:solidFill>
                <a:highlight>
                  <a:srgbClr val="FFFF00"/>
                </a:highlight>
              </a:rPr>
              <a:t>classname</a:t>
            </a:r>
            <a:r>
              <a:rPr lang="en-IN" sz="2400" dirty="0">
                <a:solidFill>
                  <a:schemeClr val="tx1"/>
                </a:solidFill>
                <a:highlight>
                  <a:srgbClr val="FFFF00"/>
                </a:highlight>
              </a:rPr>
              <a:t> implements </a:t>
            </a:r>
            <a:r>
              <a:rPr lang="en-IN" sz="2400" dirty="0" err="1">
                <a:solidFill>
                  <a:schemeClr val="tx1"/>
                </a:solidFill>
                <a:highlight>
                  <a:srgbClr val="FFFF00"/>
                </a:highlight>
              </a:rPr>
              <a:t>interfacename</a:t>
            </a:r>
            <a:endParaRPr lang="en-IN" sz="2400" dirty="0">
              <a:solidFill>
                <a:schemeClr val="tx1"/>
              </a:solidFill>
              <a:highlight>
                <a:srgbClr val="FFFF00"/>
              </a:highlight>
            </a:endParaRPr>
          </a:p>
          <a:p>
            <a:r>
              <a:rPr lang="en-IN" sz="2400" dirty="0">
                <a:solidFill>
                  <a:schemeClr val="tx1"/>
                </a:solidFill>
                <a:highlight>
                  <a:srgbClr val="FFFF00"/>
                </a:highlight>
              </a:rPr>
              <a:t>{</a:t>
            </a:r>
          </a:p>
          <a:p>
            <a:r>
              <a:rPr lang="en-IN" sz="2400" dirty="0">
                <a:solidFill>
                  <a:schemeClr val="tx1"/>
                </a:solidFill>
                <a:highlight>
                  <a:srgbClr val="FFFF00"/>
                </a:highlight>
              </a:rPr>
              <a:t>       Body of </a:t>
            </a:r>
            <a:r>
              <a:rPr lang="en-IN" sz="2400" dirty="0" err="1">
                <a:solidFill>
                  <a:schemeClr val="tx1"/>
                </a:solidFill>
                <a:highlight>
                  <a:srgbClr val="FFFF00"/>
                </a:highlight>
              </a:rPr>
              <a:t>classname</a:t>
            </a:r>
            <a:endParaRPr lang="en-IN" sz="2400" dirty="0">
              <a:solidFill>
                <a:schemeClr val="tx1"/>
              </a:solidFill>
              <a:highlight>
                <a:srgbClr val="FFFF00"/>
              </a:highlight>
            </a:endParaRPr>
          </a:p>
          <a:p>
            <a:r>
              <a:rPr lang="en-IN" sz="2400" dirty="0">
                <a:solidFill>
                  <a:schemeClr val="tx1"/>
                </a:solidFill>
                <a:highlight>
                  <a:srgbClr val="FFFF00"/>
                </a:highlight>
              </a:rPr>
              <a:t> }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5D6D0F7-A7B9-46DD-9E12-516FDB301475}"/>
              </a:ext>
            </a:extLst>
          </p:cNvPr>
          <p:cNvSpPr/>
          <p:nvPr/>
        </p:nvSpPr>
        <p:spPr>
          <a:xfrm>
            <a:off x="990600" y="4419600"/>
            <a:ext cx="7620000" cy="2057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sz="2400" dirty="0">
              <a:solidFill>
                <a:schemeClr val="tx1"/>
              </a:solidFill>
              <a:highlight>
                <a:srgbClr val="FFFF00"/>
              </a:highlight>
            </a:endParaRPr>
          </a:p>
          <a:p>
            <a:r>
              <a:rPr lang="en-IN" sz="2400" dirty="0">
                <a:solidFill>
                  <a:schemeClr val="tx1"/>
                </a:solidFill>
                <a:highlight>
                  <a:srgbClr val="FFFF00"/>
                </a:highlight>
              </a:rPr>
              <a:t>Class  </a:t>
            </a:r>
            <a:r>
              <a:rPr lang="en-IN" sz="2400" dirty="0" err="1">
                <a:solidFill>
                  <a:schemeClr val="tx1"/>
                </a:solidFill>
                <a:highlight>
                  <a:srgbClr val="FFFF00"/>
                </a:highlight>
              </a:rPr>
              <a:t>classname</a:t>
            </a:r>
            <a:r>
              <a:rPr lang="en-IN" sz="2400" dirty="0">
                <a:solidFill>
                  <a:schemeClr val="tx1"/>
                </a:solidFill>
                <a:highlight>
                  <a:srgbClr val="FFFF00"/>
                </a:highlight>
              </a:rPr>
              <a:t> extends superclass</a:t>
            </a:r>
          </a:p>
          <a:p>
            <a:r>
              <a:rPr lang="en-IN" sz="2400" dirty="0">
                <a:solidFill>
                  <a:schemeClr val="tx1"/>
                </a:solidFill>
                <a:highlight>
                  <a:srgbClr val="FFFF00"/>
                </a:highlight>
              </a:rPr>
              <a:t>             implements interfacename1,interfacename2,……..</a:t>
            </a:r>
          </a:p>
          <a:p>
            <a:r>
              <a:rPr lang="en-IN" sz="2400" dirty="0">
                <a:solidFill>
                  <a:schemeClr val="tx1"/>
                </a:solidFill>
                <a:highlight>
                  <a:srgbClr val="FFFF00"/>
                </a:highlight>
              </a:rPr>
              <a:t>{</a:t>
            </a:r>
          </a:p>
          <a:p>
            <a:r>
              <a:rPr lang="en-IN" sz="2400" dirty="0">
                <a:solidFill>
                  <a:schemeClr val="tx1"/>
                </a:solidFill>
                <a:highlight>
                  <a:srgbClr val="FFFF00"/>
                </a:highlight>
              </a:rPr>
              <a:t>       Body of </a:t>
            </a:r>
            <a:r>
              <a:rPr lang="en-IN" sz="2400" dirty="0" err="1">
                <a:solidFill>
                  <a:schemeClr val="tx1"/>
                </a:solidFill>
                <a:highlight>
                  <a:srgbClr val="FFFF00"/>
                </a:highlight>
              </a:rPr>
              <a:t>classname</a:t>
            </a:r>
            <a:endParaRPr lang="en-IN" sz="2400" dirty="0">
              <a:solidFill>
                <a:schemeClr val="tx1"/>
              </a:solidFill>
              <a:highlight>
                <a:srgbClr val="FFFF00"/>
              </a:highlight>
            </a:endParaRPr>
          </a:p>
          <a:p>
            <a:r>
              <a:rPr lang="en-IN" sz="2400" dirty="0">
                <a:solidFill>
                  <a:schemeClr val="tx1"/>
                </a:solidFill>
                <a:highlight>
                  <a:srgbClr val="FFFF00"/>
                </a:highlight>
              </a:rPr>
              <a:t> }</a:t>
            </a:r>
          </a:p>
          <a:p>
            <a:endParaRPr lang="en-IN" sz="2400" dirty="0">
              <a:solidFill>
                <a:schemeClr val="tx1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033744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308BE5F-FC50-4313-A37C-F1D16C83D4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529" y="153755"/>
            <a:ext cx="937341" cy="646786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E4593C6E-1E06-4697-B1EE-90CE68ABF96B}"/>
              </a:ext>
            </a:extLst>
          </p:cNvPr>
          <p:cNvSpPr txBox="1">
            <a:spLocks/>
          </p:cNvSpPr>
          <p:nvPr/>
        </p:nvSpPr>
        <p:spPr>
          <a:xfrm>
            <a:off x="1447800" y="211125"/>
            <a:ext cx="10287000" cy="532045"/>
          </a:xfrm>
          <a:prstGeom prst="rect">
            <a:avLst/>
          </a:prstGeom>
          <a:solidFill>
            <a:srgbClr val="0EADC2"/>
          </a:solidFill>
          <a:ln w="38100" cap="flat" cmpd="sng" algn="ctr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bIns="91440" anchor="b" anchorCtr="0">
            <a:normAutofit fontScale="77500" lnSpcReduction="20000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b="1" dirty="0">
                <a:solidFill>
                  <a:schemeClr val="tx1"/>
                </a:solidFill>
                <a:highlight>
                  <a:srgbClr val="FFFF00"/>
                </a:highlight>
              </a:rPr>
              <a:t>Various forms of  Interface Implementation </a:t>
            </a:r>
            <a:endParaRPr lang="en-US" sz="3600" dirty="0">
              <a:solidFill>
                <a:schemeClr val="tx1"/>
              </a:solidFill>
              <a:highlight>
                <a:srgbClr val="FFFF00"/>
              </a:highlight>
            </a:endParaRP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230C0807-140C-41E5-A6E4-E039416189BA}"/>
              </a:ext>
            </a:extLst>
          </p:cNvPr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3313891626"/>
              </p:ext>
            </p:extLst>
          </p:nvPr>
        </p:nvGraphicFramePr>
        <p:xfrm>
          <a:off x="762000" y="1447800"/>
          <a:ext cx="10820400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9" name="Arrow: Down 8">
            <a:extLst>
              <a:ext uri="{FF2B5EF4-FFF2-40B4-BE49-F238E27FC236}">
                <a16:creationId xmlns:a16="http://schemas.microsoft.com/office/drawing/2014/main" id="{F0AC520C-338C-4109-9A6D-529A44F9CC36}"/>
              </a:ext>
            </a:extLst>
          </p:cNvPr>
          <p:cNvSpPr/>
          <p:nvPr/>
        </p:nvSpPr>
        <p:spPr>
          <a:xfrm>
            <a:off x="5638800" y="2477277"/>
            <a:ext cx="457200" cy="78065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A671D0E6-F702-44B5-8EB1-79D786444F93}"/>
              </a:ext>
            </a:extLst>
          </p:cNvPr>
          <p:cNvSpPr/>
          <p:nvPr/>
        </p:nvSpPr>
        <p:spPr>
          <a:xfrm>
            <a:off x="5638800" y="4248538"/>
            <a:ext cx="457200" cy="78066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0888EF0-2EF6-4BAB-B3D0-AC223DFECAF6}"/>
              </a:ext>
            </a:extLst>
          </p:cNvPr>
          <p:cNvSpPr/>
          <p:nvPr/>
        </p:nvSpPr>
        <p:spPr>
          <a:xfrm>
            <a:off x="2819400" y="1600200"/>
            <a:ext cx="1447800" cy="5320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tx1"/>
                </a:solidFill>
                <a:highlight>
                  <a:srgbClr val="FFFF00"/>
                </a:highlight>
              </a:rPr>
              <a:t>Interface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9EE7F7D-D51E-4E95-9FFA-078A770D8045}"/>
              </a:ext>
            </a:extLst>
          </p:cNvPr>
          <p:cNvSpPr/>
          <p:nvPr/>
        </p:nvSpPr>
        <p:spPr>
          <a:xfrm>
            <a:off x="7391400" y="2601583"/>
            <a:ext cx="2133600" cy="65635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tx1"/>
                </a:solidFill>
                <a:highlight>
                  <a:srgbClr val="FFFF00"/>
                </a:highlight>
              </a:rPr>
              <a:t>Implementation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71C199B-CD23-47C0-B0DE-E33C76EA3CA1}"/>
              </a:ext>
            </a:extLst>
          </p:cNvPr>
          <p:cNvSpPr/>
          <p:nvPr/>
        </p:nvSpPr>
        <p:spPr>
          <a:xfrm>
            <a:off x="2831841" y="3418114"/>
            <a:ext cx="1447800" cy="5320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tx1"/>
                </a:solidFill>
                <a:highlight>
                  <a:srgbClr val="FFFF00"/>
                </a:highlight>
              </a:rPr>
              <a:t>Class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7E04D5F-9429-4063-A1C0-041BA840146F}"/>
              </a:ext>
            </a:extLst>
          </p:cNvPr>
          <p:cNvSpPr/>
          <p:nvPr/>
        </p:nvSpPr>
        <p:spPr>
          <a:xfrm>
            <a:off x="2866831" y="5257800"/>
            <a:ext cx="1447800" cy="5320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tx1"/>
                </a:solidFill>
                <a:highlight>
                  <a:srgbClr val="FFFF00"/>
                </a:highlight>
              </a:rPr>
              <a:t>Class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67A1BDE-D1FD-4511-A116-5607D4A33FD0}"/>
              </a:ext>
            </a:extLst>
          </p:cNvPr>
          <p:cNvSpPr/>
          <p:nvPr/>
        </p:nvSpPr>
        <p:spPr>
          <a:xfrm>
            <a:off x="7543800" y="4287411"/>
            <a:ext cx="1676400" cy="5320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tx1"/>
                </a:solidFill>
                <a:highlight>
                  <a:srgbClr val="FFFF00"/>
                </a:highlight>
              </a:rPr>
              <a:t>Extension</a:t>
            </a:r>
          </a:p>
        </p:txBody>
      </p:sp>
    </p:spTree>
    <p:extLst>
      <p:ext uri="{BB962C8B-B14F-4D97-AF65-F5344CB8AC3E}">
        <p14:creationId xmlns:p14="http://schemas.microsoft.com/office/powerpoint/2010/main" val="36404865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308BE5F-FC50-4313-A37C-F1D16C83D4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529" y="153755"/>
            <a:ext cx="937341" cy="646786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E4593C6E-1E06-4697-B1EE-90CE68ABF96B}"/>
              </a:ext>
            </a:extLst>
          </p:cNvPr>
          <p:cNvSpPr txBox="1">
            <a:spLocks/>
          </p:cNvSpPr>
          <p:nvPr/>
        </p:nvSpPr>
        <p:spPr>
          <a:xfrm>
            <a:off x="1447800" y="211125"/>
            <a:ext cx="10287000" cy="532045"/>
          </a:xfrm>
          <a:prstGeom prst="rect">
            <a:avLst/>
          </a:prstGeom>
          <a:solidFill>
            <a:srgbClr val="0EADC2"/>
          </a:solidFill>
          <a:ln w="38100" cap="flat" cmpd="sng" algn="ctr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bIns="91440" anchor="b" anchorCtr="0">
            <a:normAutofit fontScale="77500" lnSpcReduction="20000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b="1" dirty="0">
                <a:solidFill>
                  <a:schemeClr val="tx1"/>
                </a:solidFill>
                <a:highlight>
                  <a:srgbClr val="FFFF00"/>
                </a:highlight>
              </a:rPr>
              <a:t>Various forms of  Interface Implementation </a:t>
            </a:r>
            <a:endParaRPr lang="en-US" sz="3600" dirty="0">
              <a:solidFill>
                <a:schemeClr val="tx1"/>
              </a:solidFill>
              <a:highlight>
                <a:srgbClr val="FFFF00"/>
              </a:highlight>
            </a:endParaRP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230C0807-140C-41E5-A6E4-E039416189BA}"/>
              </a:ext>
            </a:extLst>
          </p:cNvPr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718001312"/>
              </p:ext>
            </p:extLst>
          </p:nvPr>
        </p:nvGraphicFramePr>
        <p:xfrm>
          <a:off x="-1475792" y="1572208"/>
          <a:ext cx="10820400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9" name="Arrow: Down 8">
            <a:extLst>
              <a:ext uri="{FF2B5EF4-FFF2-40B4-BE49-F238E27FC236}">
                <a16:creationId xmlns:a16="http://schemas.microsoft.com/office/drawing/2014/main" id="{F0AC520C-338C-4109-9A6D-529A44F9CC36}"/>
              </a:ext>
            </a:extLst>
          </p:cNvPr>
          <p:cNvSpPr/>
          <p:nvPr/>
        </p:nvSpPr>
        <p:spPr>
          <a:xfrm>
            <a:off x="3477208" y="2565866"/>
            <a:ext cx="457200" cy="78065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A671D0E6-F702-44B5-8EB1-79D786444F93}"/>
              </a:ext>
            </a:extLst>
          </p:cNvPr>
          <p:cNvSpPr/>
          <p:nvPr/>
        </p:nvSpPr>
        <p:spPr>
          <a:xfrm>
            <a:off x="3484984" y="4340183"/>
            <a:ext cx="457200" cy="78066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0888EF0-2EF6-4BAB-B3D0-AC223DFECAF6}"/>
              </a:ext>
            </a:extLst>
          </p:cNvPr>
          <p:cNvSpPr/>
          <p:nvPr/>
        </p:nvSpPr>
        <p:spPr>
          <a:xfrm>
            <a:off x="723900" y="1828800"/>
            <a:ext cx="1447800" cy="5320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tx1"/>
                </a:solidFill>
                <a:highlight>
                  <a:srgbClr val="FFFF00"/>
                </a:highlight>
              </a:rPr>
              <a:t>Interface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9EE7F7D-D51E-4E95-9FFA-078A770D8045}"/>
              </a:ext>
            </a:extLst>
          </p:cNvPr>
          <p:cNvSpPr/>
          <p:nvPr/>
        </p:nvSpPr>
        <p:spPr>
          <a:xfrm>
            <a:off x="4495022" y="2660468"/>
            <a:ext cx="2133600" cy="65635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tx1"/>
                </a:solidFill>
                <a:highlight>
                  <a:srgbClr val="FFFF00"/>
                </a:highlight>
              </a:rPr>
              <a:t>Implementation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71C199B-CD23-47C0-B0DE-E33C76EA3CA1}"/>
              </a:ext>
            </a:extLst>
          </p:cNvPr>
          <p:cNvSpPr/>
          <p:nvPr/>
        </p:nvSpPr>
        <p:spPr>
          <a:xfrm>
            <a:off x="582970" y="3592185"/>
            <a:ext cx="1447800" cy="5320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tx1"/>
                </a:solidFill>
                <a:highlight>
                  <a:srgbClr val="FFFF00"/>
                </a:highlight>
              </a:rPr>
              <a:t>Class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7E04D5F-9429-4063-A1C0-041BA840146F}"/>
              </a:ext>
            </a:extLst>
          </p:cNvPr>
          <p:cNvSpPr/>
          <p:nvPr/>
        </p:nvSpPr>
        <p:spPr>
          <a:xfrm>
            <a:off x="601631" y="5285792"/>
            <a:ext cx="1447800" cy="5320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tx1"/>
                </a:solidFill>
                <a:highlight>
                  <a:srgbClr val="FFFF00"/>
                </a:highlight>
              </a:rPr>
              <a:t>Class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67A1BDE-D1FD-4511-A116-5607D4A33FD0}"/>
              </a:ext>
            </a:extLst>
          </p:cNvPr>
          <p:cNvSpPr/>
          <p:nvPr/>
        </p:nvSpPr>
        <p:spPr>
          <a:xfrm>
            <a:off x="4478694" y="4464492"/>
            <a:ext cx="1676400" cy="5320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tx1"/>
                </a:solidFill>
                <a:highlight>
                  <a:srgbClr val="FFFF00"/>
                </a:highlight>
              </a:rPr>
              <a:t>Extension</a:t>
            </a:r>
          </a:p>
        </p:txBody>
      </p:sp>
    </p:spTree>
    <p:extLst>
      <p:ext uri="{BB962C8B-B14F-4D97-AF65-F5344CB8AC3E}">
        <p14:creationId xmlns:p14="http://schemas.microsoft.com/office/powerpoint/2010/main" val="12662555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45867"/>
            <a:ext cx="7772400" cy="731838"/>
          </a:xfrm>
          <a:solidFill>
            <a:srgbClr val="00B0F0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tx1"/>
                </a:solidFill>
                <a:highlight>
                  <a:srgbClr val="FFFF00"/>
                </a:highlight>
              </a:rPr>
              <a:t>Default Method in Interface</a:t>
            </a:r>
            <a:endParaRPr lang="en-US" dirty="0">
              <a:solidFill>
                <a:schemeClr val="tx1"/>
              </a:solidFill>
              <a:highlight>
                <a:srgbClr val="FFFF00"/>
              </a:highligh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752600" y="1143000"/>
            <a:ext cx="4495800" cy="5410200"/>
          </a:xfrm>
        </p:spPr>
        <p:txBody>
          <a:bodyPr>
            <a:normAutofit fontScale="92500"/>
          </a:bodyPr>
          <a:lstStyle/>
          <a:p>
            <a:pPr>
              <a:buNone/>
            </a:pPr>
            <a:r>
              <a:rPr lang="en-US" dirty="0"/>
              <a:t> interface </a:t>
            </a:r>
            <a:r>
              <a:rPr lang="en-US" dirty="0" err="1"/>
              <a:t>Drawable</a:t>
            </a:r>
            <a:endParaRPr lang="en-US" dirty="0"/>
          </a:p>
          <a:p>
            <a:pPr>
              <a:buNone/>
            </a:pPr>
            <a:r>
              <a:rPr lang="en-US" dirty="0"/>
              <a:t>{</a:t>
            </a:r>
          </a:p>
          <a:p>
            <a:pPr>
              <a:buNone/>
            </a:pPr>
            <a:r>
              <a:rPr lang="en-US" dirty="0"/>
              <a:t>   void draw(); </a:t>
            </a:r>
          </a:p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 default void </a:t>
            </a:r>
            <a:r>
              <a:rPr lang="en-US" dirty="0" err="1">
                <a:solidFill>
                  <a:srgbClr val="FF0000"/>
                </a:solidFill>
              </a:rPr>
              <a:t>msg</a:t>
            </a:r>
            <a:r>
              <a:rPr lang="en-US" dirty="0">
                <a:solidFill>
                  <a:srgbClr val="FF0000"/>
                </a:solidFill>
              </a:rPr>
              <a:t>()</a:t>
            </a:r>
          </a:p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{</a:t>
            </a:r>
          </a:p>
          <a:p>
            <a:pPr>
              <a:buNone/>
            </a:pPr>
            <a:r>
              <a:rPr lang="en-US" dirty="0" err="1">
                <a:solidFill>
                  <a:srgbClr val="FF0000"/>
                </a:solidFill>
              </a:rPr>
              <a:t>s.o.p</a:t>
            </a:r>
            <a:r>
              <a:rPr lang="en-US" dirty="0">
                <a:solidFill>
                  <a:srgbClr val="FF0000"/>
                </a:solidFill>
              </a:rPr>
              <a:t>("default method");</a:t>
            </a:r>
          </a:p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} </a:t>
            </a:r>
            <a:r>
              <a:rPr lang="en-US" dirty="0"/>
              <a:t> } </a:t>
            </a:r>
          </a:p>
          <a:p>
            <a:pPr>
              <a:buNone/>
            </a:pPr>
            <a:r>
              <a:rPr lang="en-US" dirty="0"/>
              <a:t> class Rectangle implements </a:t>
            </a:r>
            <a:r>
              <a:rPr lang="en-US" dirty="0" err="1"/>
              <a:t>Drawable</a:t>
            </a:r>
            <a:endParaRPr lang="en-US" dirty="0"/>
          </a:p>
          <a:p>
            <a:pPr>
              <a:buNone/>
            </a:pPr>
            <a:r>
              <a:rPr lang="en-US" dirty="0"/>
              <a:t>{  </a:t>
            </a:r>
          </a:p>
          <a:p>
            <a:pPr>
              <a:buNone/>
            </a:pPr>
            <a:r>
              <a:rPr lang="en-US" dirty="0"/>
              <a:t>public void draw()</a:t>
            </a:r>
          </a:p>
          <a:p>
            <a:pPr>
              <a:buNone/>
            </a:pPr>
            <a:r>
              <a:rPr lang="en-US" dirty="0"/>
              <a:t>{</a:t>
            </a:r>
            <a:r>
              <a:rPr lang="en-US" dirty="0" err="1"/>
              <a:t>s.o.p</a:t>
            </a:r>
            <a:r>
              <a:rPr lang="en-US" dirty="0"/>
              <a:t>("drawing rectangle");</a:t>
            </a:r>
          </a:p>
          <a:p>
            <a:pPr>
              <a:buNone/>
            </a:pPr>
            <a:r>
              <a:rPr lang="en-US" dirty="0"/>
              <a:t>}  }  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6248400" y="1066800"/>
            <a:ext cx="4419600" cy="502920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marL="274320" indent="-274320">
              <a:spcBef>
                <a:spcPts val="580"/>
              </a:spcBef>
              <a:buClr>
                <a:srgbClr val="D34817"/>
              </a:buClr>
              <a:buSzPct val="85000"/>
            </a:pPr>
            <a:r>
              <a:rPr lang="en-US" sz="2800" dirty="0">
                <a:solidFill>
                  <a:prstClr val="black"/>
                </a:solidFill>
                <a:latin typeface="Perpetua"/>
              </a:rPr>
              <a:t>class </a:t>
            </a:r>
            <a:r>
              <a:rPr lang="en-US" sz="2800" dirty="0" err="1">
                <a:solidFill>
                  <a:prstClr val="black"/>
                </a:solidFill>
                <a:latin typeface="Perpetua"/>
              </a:rPr>
              <a:t>TestInterfaceDefault</a:t>
            </a:r>
            <a:r>
              <a:rPr lang="en-US" sz="2800" dirty="0">
                <a:solidFill>
                  <a:prstClr val="black"/>
                </a:solidFill>
                <a:latin typeface="Perpetua"/>
              </a:rPr>
              <a:t>{  </a:t>
            </a:r>
          </a:p>
          <a:p>
            <a:pPr marL="274320" indent="-274320">
              <a:spcBef>
                <a:spcPts val="580"/>
              </a:spcBef>
              <a:buClr>
                <a:srgbClr val="D34817"/>
              </a:buClr>
              <a:buSzPct val="85000"/>
            </a:pPr>
            <a:r>
              <a:rPr lang="en-US" sz="2800" dirty="0" err="1">
                <a:solidFill>
                  <a:prstClr val="black"/>
                </a:solidFill>
                <a:latin typeface="Perpetua"/>
              </a:rPr>
              <a:t>p.s.v.m</a:t>
            </a:r>
            <a:r>
              <a:rPr lang="en-US" sz="2800" dirty="0">
                <a:solidFill>
                  <a:prstClr val="black"/>
                </a:solidFill>
                <a:latin typeface="Perpetua"/>
              </a:rPr>
              <a:t>.(String </a:t>
            </a:r>
            <a:r>
              <a:rPr lang="en-US" sz="2800" dirty="0" err="1">
                <a:solidFill>
                  <a:prstClr val="black"/>
                </a:solidFill>
                <a:latin typeface="Perpetua"/>
              </a:rPr>
              <a:t>args</a:t>
            </a:r>
            <a:r>
              <a:rPr lang="en-US" sz="2800" dirty="0">
                <a:solidFill>
                  <a:prstClr val="black"/>
                </a:solidFill>
                <a:latin typeface="Perpetua"/>
              </a:rPr>
              <a:t>[])</a:t>
            </a:r>
          </a:p>
          <a:p>
            <a:pPr marL="274320" indent="-274320">
              <a:spcBef>
                <a:spcPts val="580"/>
              </a:spcBef>
              <a:buClr>
                <a:srgbClr val="D34817"/>
              </a:buClr>
              <a:buSzPct val="85000"/>
            </a:pPr>
            <a:r>
              <a:rPr lang="en-US" sz="2800" dirty="0">
                <a:solidFill>
                  <a:prstClr val="black"/>
                </a:solidFill>
                <a:latin typeface="Perpetua"/>
              </a:rPr>
              <a:t>  {</a:t>
            </a:r>
          </a:p>
          <a:p>
            <a:pPr marL="274320" indent="-274320">
              <a:spcBef>
                <a:spcPts val="580"/>
              </a:spcBef>
              <a:buClr>
                <a:srgbClr val="D34817"/>
              </a:buClr>
              <a:buSzPct val="85000"/>
            </a:pPr>
            <a:r>
              <a:rPr lang="en-US" sz="2800" dirty="0">
                <a:solidFill>
                  <a:prstClr val="black"/>
                </a:solidFill>
                <a:latin typeface="Perpetua"/>
              </a:rPr>
              <a:t>  </a:t>
            </a:r>
            <a:r>
              <a:rPr lang="en-US" sz="2800" dirty="0" err="1">
                <a:solidFill>
                  <a:prstClr val="black"/>
                </a:solidFill>
                <a:latin typeface="Perpetua"/>
              </a:rPr>
              <a:t>Drawable</a:t>
            </a:r>
            <a:r>
              <a:rPr lang="en-US" sz="2800" dirty="0">
                <a:solidFill>
                  <a:prstClr val="black"/>
                </a:solidFill>
                <a:latin typeface="Perpetua"/>
              </a:rPr>
              <a:t> d=new Rectangle();  </a:t>
            </a:r>
          </a:p>
          <a:p>
            <a:pPr marL="274320" indent="-274320">
              <a:spcBef>
                <a:spcPts val="580"/>
              </a:spcBef>
              <a:buClr>
                <a:srgbClr val="D34817"/>
              </a:buClr>
              <a:buSzPct val="85000"/>
            </a:pPr>
            <a:r>
              <a:rPr lang="en-US" sz="2800" dirty="0" err="1">
                <a:solidFill>
                  <a:prstClr val="black"/>
                </a:solidFill>
                <a:latin typeface="Perpetua"/>
              </a:rPr>
              <a:t>d.draw</a:t>
            </a:r>
            <a:r>
              <a:rPr lang="en-US" sz="2800" dirty="0">
                <a:solidFill>
                  <a:prstClr val="black"/>
                </a:solidFill>
                <a:latin typeface="Perpetua"/>
              </a:rPr>
              <a:t>(); </a:t>
            </a:r>
          </a:p>
          <a:p>
            <a:pPr marL="274320" indent="-274320">
              <a:spcBef>
                <a:spcPts val="580"/>
              </a:spcBef>
              <a:buClr>
                <a:srgbClr val="D34817"/>
              </a:buClr>
              <a:buSzPct val="85000"/>
            </a:pPr>
            <a:r>
              <a:rPr lang="en-US" sz="2800" dirty="0">
                <a:solidFill>
                  <a:prstClr val="black"/>
                </a:solidFill>
                <a:latin typeface="Perpetua"/>
              </a:rPr>
              <a:t> d.msg(); </a:t>
            </a:r>
          </a:p>
          <a:p>
            <a:pPr marL="274320" indent="-274320">
              <a:spcBef>
                <a:spcPts val="580"/>
              </a:spcBef>
              <a:buClr>
                <a:srgbClr val="D34817"/>
              </a:buClr>
              <a:buSzPct val="85000"/>
            </a:pPr>
            <a:r>
              <a:rPr lang="en-US" sz="2800" dirty="0">
                <a:solidFill>
                  <a:prstClr val="black"/>
                </a:solidFill>
                <a:latin typeface="Perpetua"/>
              </a:rPr>
              <a:t> }</a:t>
            </a:r>
          </a:p>
          <a:p>
            <a:pPr marL="274320" indent="-274320">
              <a:spcBef>
                <a:spcPts val="580"/>
              </a:spcBef>
              <a:buClr>
                <a:srgbClr val="D34817"/>
              </a:buClr>
              <a:buSzPct val="85000"/>
            </a:pPr>
            <a:r>
              <a:rPr lang="en-US" sz="2800" dirty="0">
                <a:solidFill>
                  <a:prstClr val="black"/>
                </a:solidFill>
                <a:latin typeface="Perpetua"/>
              </a:rPr>
              <a:t>}   </a:t>
            </a:r>
            <a:r>
              <a:rPr lang="en-US" sz="2600" dirty="0">
                <a:solidFill>
                  <a:prstClr val="black"/>
                </a:solidFill>
                <a:latin typeface="Perpetua"/>
              </a:rPr>
              <a:t>  </a:t>
            </a:r>
          </a:p>
        </p:txBody>
      </p:sp>
      <p:cxnSp>
        <p:nvCxnSpPr>
          <p:cNvPr id="7" name="Straight Connector 6"/>
          <p:cNvCxnSpPr/>
          <p:nvPr/>
        </p:nvCxnSpPr>
        <p:spPr>
          <a:xfrm rot="5400000">
            <a:off x="3429794" y="3809206"/>
            <a:ext cx="54864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752600" y="4265612"/>
            <a:ext cx="3962400" cy="158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362200" y="334962"/>
            <a:ext cx="7772400" cy="731838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bIns="91440" anchor="b" anchorCtr="0">
            <a:normAutofit fontScale="97500"/>
          </a:bodyPr>
          <a:lstStyle/>
          <a:p>
            <a:r>
              <a:rPr lang="en-US" sz="4000" b="1" dirty="0">
                <a:highlight>
                  <a:srgbClr val="FFFF00"/>
                </a:highlight>
                <a:latin typeface="Perpetua"/>
              </a:rPr>
              <a:t>Static Method in Interface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752600" y="1143000"/>
            <a:ext cx="4495800" cy="5410200"/>
          </a:xfrm>
          <a:prstGeom prst="rect">
            <a:avLst/>
          </a:prstGeom>
        </p:spPr>
        <p:txBody>
          <a:bodyPr vert="horz">
            <a:normAutofit fontScale="85000" lnSpcReduction="10000"/>
          </a:bodyPr>
          <a:lstStyle/>
          <a:p>
            <a:pPr marL="274320" indent="-274320">
              <a:spcBef>
                <a:spcPts val="580"/>
              </a:spcBef>
              <a:buClr>
                <a:srgbClr val="D34817"/>
              </a:buClr>
              <a:buSzPct val="85000"/>
            </a:pPr>
            <a:r>
              <a:rPr lang="en-US" sz="2600" dirty="0">
                <a:solidFill>
                  <a:prstClr val="black"/>
                </a:solidFill>
                <a:latin typeface="Perpetua"/>
              </a:rPr>
              <a:t> </a:t>
            </a:r>
            <a:r>
              <a:rPr lang="en-US" sz="2800" dirty="0">
                <a:solidFill>
                  <a:srgbClr val="FF0000"/>
                </a:solidFill>
                <a:latin typeface="Perpetua"/>
              </a:rPr>
              <a:t>interface </a:t>
            </a:r>
            <a:r>
              <a:rPr lang="en-US" sz="2800" dirty="0" err="1">
                <a:solidFill>
                  <a:srgbClr val="FF0000"/>
                </a:solidFill>
                <a:latin typeface="Perpetua"/>
              </a:rPr>
              <a:t>Drawable</a:t>
            </a:r>
            <a:endParaRPr lang="en-US" sz="2800" dirty="0">
              <a:solidFill>
                <a:srgbClr val="FF0000"/>
              </a:solidFill>
              <a:latin typeface="Perpetua"/>
            </a:endParaRPr>
          </a:p>
          <a:p>
            <a:pPr marL="274320" indent="-274320">
              <a:spcBef>
                <a:spcPts val="580"/>
              </a:spcBef>
              <a:buClr>
                <a:srgbClr val="D34817"/>
              </a:buClr>
              <a:buSzPct val="85000"/>
            </a:pPr>
            <a:r>
              <a:rPr lang="en-US" sz="2800" dirty="0">
                <a:solidFill>
                  <a:srgbClr val="FF0000"/>
                </a:solidFill>
                <a:latin typeface="Perpetua"/>
              </a:rPr>
              <a:t> {</a:t>
            </a:r>
          </a:p>
          <a:p>
            <a:pPr marL="274320" indent="-274320">
              <a:spcBef>
                <a:spcPts val="580"/>
              </a:spcBef>
              <a:buClr>
                <a:srgbClr val="D34817"/>
              </a:buClr>
              <a:buSzPct val="85000"/>
            </a:pPr>
            <a:r>
              <a:rPr lang="en-US" sz="2800" dirty="0">
                <a:solidFill>
                  <a:srgbClr val="FF0000"/>
                </a:solidFill>
                <a:latin typeface="Perpetua"/>
              </a:rPr>
              <a:t>  void draw();</a:t>
            </a:r>
          </a:p>
          <a:p>
            <a:pPr marL="274320" indent="-274320">
              <a:spcBef>
                <a:spcPts val="580"/>
              </a:spcBef>
              <a:buClr>
                <a:srgbClr val="D34817"/>
              </a:buClr>
              <a:buSzPct val="85000"/>
            </a:pPr>
            <a:r>
              <a:rPr lang="en-US" sz="2800" dirty="0">
                <a:solidFill>
                  <a:srgbClr val="FF0000"/>
                </a:solidFill>
                <a:latin typeface="Perpetua"/>
              </a:rPr>
              <a:t>  static </a:t>
            </a:r>
            <a:r>
              <a:rPr lang="en-US" sz="2800" dirty="0" err="1">
                <a:solidFill>
                  <a:srgbClr val="FF0000"/>
                </a:solidFill>
                <a:latin typeface="Perpetua"/>
              </a:rPr>
              <a:t>int</a:t>
            </a:r>
            <a:r>
              <a:rPr lang="en-US" sz="2800" dirty="0">
                <a:solidFill>
                  <a:srgbClr val="FF0000"/>
                </a:solidFill>
                <a:latin typeface="Perpetua"/>
              </a:rPr>
              <a:t> cube(</a:t>
            </a:r>
            <a:r>
              <a:rPr lang="en-US" sz="2800" dirty="0" err="1">
                <a:solidFill>
                  <a:srgbClr val="FF0000"/>
                </a:solidFill>
                <a:latin typeface="Perpetua"/>
              </a:rPr>
              <a:t>int</a:t>
            </a:r>
            <a:r>
              <a:rPr lang="en-US" sz="2800" dirty="0">
                <a:solidFill>
                  <a:srgbClr val="FF0000"/>
                </a:solidFill>
                <a:latin typeface="Perpetua"/>
              </a:rPr>
              <a:t> x)</a:t>
            </a:r>
          </a:p>
          <a:p>
            <a:pPr marL="274320" indent="-274320">
              <a:spcBef>
                <a:spcPts val="580"/>
              </a:spcBef>
              <a:buClr>
                <a:srgbClr val="D34817"/>
              </a:buClr>
              <a:buSzPct val="85000"/>
            </a:pPr>
            <a:r>
              <a:rPr lang="en-US" sz="2800" dirty="0">
                <a:solidFill>
                  <a:srgbClr val="FF0000"/>
                </a:solidFill>
                <a:latin typeface="Perpetua"/>
              </a:rPr>
              <a:t>{return x*x*x;} </a:t>
            </a:r>
          </a:p>
          <a:p>
            <a:pPr marL="274320" indent="-274320">
              <a:spcBef>
                <a:spcPts val="580"/>
              </a:spcBef>
              <a:buClr>
                <a:srgbClr val="D34817"/>
              </a:buClr>
              <a:buSzPct val="85000"/>
            </a:pPr>
            <a:r>
              <a:rPr lang="en-US" sz="2800" dirty="0">
                <a:solidFill>
                  <a:srgbClr val="FF0000"/>
                </a:solidFill>
                <a:latin typeface="Perpetua"/>
              </a:rPr>
              <a:t> }</a:t>
            </a:r>
          </a:p>
          <a:p>
            <a:pPr marL="274320" indent="-274320">
              <a:spcBef>
                <a:spcPts val="580"/>
              </a:spcBef>
              <a:buClr>
                <a:srgbClr val="D34817"/>
              </a:buClr>
              <a:buSzPct val="85000"/>
            </a:pPr>
            <a:r>
              <a:rPr lang="en-US" sz="2800" dirty="0">
                <a:solidFill>
                  <a:prstClr val="black"/>
                </a:solidFill>
                <a:latin typeface="Perpetua"/>
              </a:rPr>
              <a:t>  </a:t>
            </a:r>
            <a:r>
              <a:rPr lang="en-US" sz="2800" dirty="0">
                <a:solidFill>
                  <a:srgbClr val="0070C0"/>
                </a:solidFill>
                <a:latin typeface="Perpetua"/>
              </a:rPr>
              <a:t>class Rectangle implements </a:t>
            </a:r>
            <a:r>
              <a:rPr lang="en-US" sz="2800" dirty="0" err="1">
                <a:solidFill>
                  <a:srgbClr val="0070C0"/>
                </a:solidFill>
                <a:latin typeface="Perpetua"/>
              </a:rPr>
              <a:t>Drawable</a:t>
            </a:r>
            <a:endParaRPr lang="en-US" sz="2800" dirty="0">
              <a:solidFill>
                <a:srgbClr val="0070C0"/>
              </a:solidFill>
              <a:latin typeface="Perpetua"/>
            </a:endParaRPr>
          </a:p>
          <a:p>
            <a:pPr marL="274320" indent="-274320">
              <a:spcBef>
                <a:spcPts val="580"/>
              </a:spcBef>
              <a:buClr>
                <a:srgbClr val="D34817"/>
              </a:buClr>
              <a:buSzPct val="85000"/>
            </a:pPr>
            <a:r>
              <a:rPr lang="en-US" sz="2800" dirty="0">
                <a:solidFill>
                  <a:srgbClr val="0070C0"/>
                </a:solidFill>
                <a:latin typeface="Perpetua"/>
              </a:rPr>
              <a:t>{ </a:t>
            </a:r>
          </a:p>
          <a:p>
            <a:pPr marL="274320" indent="-274320">
              <a:spcBef>
                <a:spcPts val="580"/>
              </a:spcBef>
              <a:buClr>
                <a:srgbClr val="D34817"/>
              </a:buClr>
              <a:buSzPct val="85000"/>
            </a:pPr>
            <a:r>
              <a:rPr lang="en-US" sz="2800" dirty="0">
                <a:solidFill>
                  <a:srgbClr val="0070C0"/>
                </a:solidFill>
                <a:latin typeface="Perpetua"/>
              </a:rPr>
              <a:t> public void draw()</a:t>
            </a:r>
          </a:p>
          <a:p>
            <a:pPr marL="274320" indent="-274320">
              <a:spcBef>
                <a:spcPts val="580"/>
              </a:spcBef>
              <a:buClr>
                <a:srgbClr val="D34817"/>
              </a:buClr>
              <a:buSzPct val="85000"/>
            </a:pPr>
            <a:r>
              <a:rPr lang="en-US" sz="2800" dirty="0">
                <a:solidFill>
                  <a:srgbClr val="0070C0"/>
                </a:solidFill>
                <a:latin typeface="Perpetua"/>
              </a:rPr>
              <a:t>{</a:t>
            </a:r>
          </a:p>
          <a:p>
            <a:pPr marL="274320" indent="-274320">
              <a:spcBef>
                <a:spcPts val="580"/>
              </a:spcBef>
              <a:buClr>
                <a:srgbClr val="D34817"/>
              </a:buClr>
              <a:buSzPct val="85000"/>
            </a:pPr>
            <a:r>
              <a:rPr lang="en-US" sz="2800" dirty="0" err="1">
                <a:solidFill>
                  <a:srgbClr val="0070C0"/>
                </a:solidFill>
                <a:latin typeface="Perpetua"/>
              </a:rPr>
              <a:t>s.o.p</a:t>
            </a:r>
            <a:r>
              <a:rPr lang="en-US" sz="2800" dirty="0">
                <a:solidFill>
                  <a:srgbClr val="0070C0"/>
                </a:solidFill>
                <a:latin typeface="Perpetua"/>
              </a:rPr>
              <a:t>("drawing rectangle");</a:t>
            </a:r>
          </a:p>
          <a:p>
            <a:pPr marL="274320" indent="-274320">
              <a:spcBef>
                <a:spcPts val="580"/>
              </a:spcBef>
              <a:buClr>
                <a:srgbClr val="D34817"/>
              </a:buClr>
              <a:buSzPct val="85000"/>
            </a:pPr>
            <a:r>
              <a:rPr lang="en-US" sz="2800" dirty="0">
                <a:solidFill>
                  <a:srgbClr val="0070C0"/>
                </a:solidFill>
                <a:latin typeface="Perpetua"/>
              </a:rPr>
              <a:t>}</a:t>
            </a:r>
          </a:p>
          <a:p>
            <a:pPr marL="274320" indent="-274320">
              <a:spcBef>
                <a:spcPts val="580"/>
              </a:spcBef>
              <a:buClr>
                <a:srgbClr val="D34817"/>
              </a:buClr>
              <a:buSzPct val="85000"/>
            </a:pPr>
            <a:r>
              <a:rPr lang="en-US" sz="2800" dirty="0">
                <a:solidFill>
                  <a:srgbClr val="0070C0"/>
                </a:solidFill>
                <a:latin typeface="Perpetua"/>
              </a:rPr>
              <a:t>  }   </a:t>
            </a:r>
            <a:r>
              <a:rPr lang="en-US" sz="2600" dirty="0">
                <a:solidFill>
                  <a:srgbClr val="0070C0"/>
                </a:solidFill>
                <a:latin typeface="Perpetua"/>
              </a:rPr>
              <a:t> 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6248400" y="1066800"/>
            <a:ext cx="4419600" cy="502920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marL="274320" indent="-274320">
              <a:spcBef>
                <a:spcPts val="580"/>
              </a:spcBef>
              <a:buClr>
                <a:srgbClr val="D34817"/>
              </a:buClr>
              <a:buSzPct val="85000"/>
            </a:pPr>
            <a:r>
              <a:rPr lang="en-US" sz="2800" dirty="0">
                <a:solidFill>
                  <a:prstClr val="black"/>
                </a:solidFill>
                <a:latin typeface="Perpetua"/>
              </a:rPr>
              <a:t>class </a:t>
            </a:r>
            <a:r>
              <a:rPr lang="en-US" sz="2800" dirty="0" err="1">
                <a:solidFill>
                  <a:prstClr val="black"/>
                </a:solidFill>
                <a:latin typeface="Perpetua"/>
              </a:rPr>
              <a:t>TestInterfaceStatic</a:t>
            </a:r>
            <a:endParaRPr lang="en-US" sz="2800" dirty="0">
              <a:solidFill>
                <a:prstClr val="black"/>
              </a:solidFill>
              <a:latin typeface="Perpetua"/>
            </a:endParaRPr>
          </a:p>
          <a:p>
            <a:pPr marL="274320" indent="-274320">
              <a:spcBef>
                <a:spcPts val="580"/>
              </a:spcBef>
              <a:buClr>
                <a:srgbClr val="D34817"/>
              </a:buClr>
              <a:buSzPct val="85000"/>
            </a:pPr>
            <a:r>
              <a:rPr lang="en-US" sz="2800" dirty="0">
                <a:solidFill>
                  <a:prstClr val="black"/>
                </a:solidFill>
                <a:latin typeface="Perpetua"/>
              </a:rPr>
              <a:t>{ </a:t>
            </a:r>
          </a:p>
          <a:p>
            <a:pPr marL="274320" indent="-274320">
              <a:spcBef>
                <a:spcPts val="580"/>
              </a:spcBef>
              <a:buClr>
                <a:srgbClr val="D34817"/>
              </a:buClr>
              <a:buSzPct val="85000"/>
            </a:pPr>
            <a:r>
              <a:rPr lang="en-US" sz="2800" dirty="0">
                <a:solidFill>
                  <a:prstClr val="black"/>
                </a:solidFill>
                <a:latin typeface="Perpetua"/>
              </a:rPr>
              <a:t> </a:t>
            </a:r>
            <a:r>
              <a:rPr lang="en-US" sz="2800" dirty="0" err="1">
                <a:solidFill>
                  <a:prstClr val="black"/>
                </a:solidFill>
                <a:latin typeface="Perpetua"/>
              </a:rPr>
              <a:t>psvm</a:t>
            </a:r>
            <a:r>
              <a:rPr lang="en-US" sz="2800" dirty="0">
                <a:solidFill>
                  <a:prstClr val="black"/>
                </a:solidFill>
                <a:latin typeface="Perpetua"/>
              </a:rPr>
              <a:t>(String </a:t>
            </a:r>
            <a:r>
              <a:rPr lang="en-US" sz="2800" dirty="0" err="1">
                <a:solidFill>
                  <a:prstClr val="black"/>
                </a:solidFill>
                <a:latin typeface="Perpetua"/>
              </a:rPr>
              <a:t>args</a:t>
            </a:r>
            <a:r>
              <a:rPr lang="en-US" sz="2800" dirty="0">
                <a:solidFill>
                  <a:prstClr val="black"/>
                </a:solidFill>
                <a:latin typeface="Perpetua"/>
              </a:rPr>
              <a:t>[])</a:t>
            </a:r>
          </a:p>
          <a:p>
            <a:pPr marL="274320" indent="-274320">
              <a:spcBef>
                <a:spcPts val="580"/>
              </a:spcBef>
              <a:buClr>
                <a:srgbClr val="D34817"/>
              </a:buClr>
              <a:buSzPct val="85000"/>
            </a:pPr>
            <a:r>
              <a:rPr lang="en-US" sz="2800" dirty="0">
                <a:solidFill>
                  <a:prstClr val="black"/>
                </a:solidFill>
                <a:latin typeface="Perpetua"/>
              </a:rPr>
              <a:t>{</a:t>
            </a:r>
          </a:p>
          <a:p>
            <a:pPr marL="274320" indent="-274320">
              <a:spcBef>
                <a:spcPts val="580"/>
              </a:spcBef>
              <a:buClr>
                <a:srgbClr val="D34817"/>
              </a:buClr>
              <a:buSzPct val="85000"/>
            </a:pPr>
            <a:r>
              <a:rPr lang="en-US" sz="2800" dirty="0">
                <a:solidFill>
                  <a:prstClr val="black"/>
                </a:solidFill>
                <a:latin typeface="Perpetua"/>
              </a:rPr>
              <a:t>  </a:t>
            </a:r>
            <a:r>
              <a:rPr lang="en-US" sz="2800" dirty="0" err="1">
                <a:solidFill>
                  <a:prstClr val="black"/>
                </a:solidFill>
                <a:latin typeface="Perpetua"/>
              </a:rPr>
              <a:t>Drawable</a:t>
            </a:r>
            <a:r>
              <a:rPr lang="en-US" sz="2800" dirty="0">
                <a:solidFill>
                  <a:prstClr val="black"/>
                </a:solidFill>
                <a:latin typeface="Perpetua"/>
              </a:rPr>
              <a:t> d=new Rectangle();  </a:t>
            </a:r>
            <a:r>
              <a:rPr lang="en-US" sz="2800" dirty="0" err="1">
                <a:solidFill>
                  <a:prstClr val="black"/>
                </a:solidFill>
                <a:latin typeface="Perpetua"/>
              </a:rPr>
              <a:t>d.draw</a:t>
            </a:r>
            <a:r>
              <a:rPr lang="en-US" sz="2800" dirty="0">
                <a:solidFill>
                  <a:prstClr val="black"/>
                </a:solidFill>
                <a:latin typeface="Perpetua"/>
              </a:rPr>
              <a:t>();</a:t>
            </a:r>
          </a:p>
          <a:p>
            <a:pPr marL="274320" indent="-274320">
              <a:spcBef>
                <a:spcPts val="580"/>
              </a:spcBef>
              <a:buClr>
                <a:srgbClr val="D34817"/>
              </a:buClr>
              <a:buSzPct val="85000"/>
            </a:pPr>
            <a:r>
              <a:rPr lang="en-US" sz="2800" b="1" dirty="0">
                <a:solidFill>
                  <a:srgbClr val="0070C0"/>
                </a:solidFill>
                <a:latin typeface="Perpetua"/>
              </a:rPr>
              <a:t>   </a:t>
            </a:r>
            <a:r>
              <a:rPr lang="en-US" sz="2800" b="1" dirty="0" err="1">
                <a:solidFill>
                  <a:srgbClr val="0070C0"/>
                </a:solidFill>
                <a:latin typeface="Perpetua"/>
              </a:rPr>
              <a:t>s.o.p</a:t>
            </a:r>
            <a:r>
              <a:rPr lang="en-US" sz="2800" b="1" dirty="0">
                <a:solidFill>
                  <a:srgbClr val="0070C0"/>
                </a:solidFill>
                <a:latin typeface="Perpetua"/>
              </a:rPr>
              <a:t>( </a:t>
            </a:r>
            <a:r>
              <a:rPr lang="en-US" sz="2800" b="1" dirty="0" err="1">
                <a:solidFill>
                  <a:srgbClr val="0070C0"/>
                </a:solidFill>
                <a:latin typeface="Perpetua"/>
              </a:rPr>
              <a:t>Drawable.cube</a:t>
            </a:r>
            <a:r>
              <a:rPr lang="en-US" sz="2800" b="1" dirty="0">
                <a:solidFill>
                  <a:srgbClr val="0070C0"/>
                </a:solidFill>
                <a:latin typeface="Perpetua"/>
              </a:rPr>
              <a:t>(3) );</a:t>
            </a:r>
            <a:r>
              <a:rPr lang="en-US" sz="2800" dirty="0">
                <a:solidFill>
                  <a:prstClr val="black"/>
                </a:solidFill>
                <a:latin typeface="Perpetua"/>
              </a:rPr>
              <a:t>  </a:t>
            </a:r>
          </a:p>
          <a:p>
            <a:pPr marL="274320" indent="-274320">
              <a:spcBef>
                <a:spcPts val="580"/>
              </a:spcBef>
              <a:buClr>
                <a:srgbClr val="D34817"/>
              </a:buClr>
              <a:buSzPct val="85000"/>
            </a:pPr>
            <a:r>
              <a:rPr lang="en-US" sz="2800" dirty="0">
                <a:solidFill>
                  <a:prstClr val="black"/>
                </a:solidFill>
                <a:latin typeface="Perpetua"/>
              </a:rPr>
              <a:t>}</a:t>
            </a:r>
          </a:p>
          <a:p>
            <a:pPr marL="274320" indent="-274320">
              <a:spcBef>
                <a:spcPts val="580"/>
              </a:spcBef>
              <a:buClr>
                <a:srgbClr val="D34817"/>
              </a:buClr>
              <a:buSzPct val="85000"/>
            </a:pPr>
            <a:r>
              <a:rPr lang="en-US" sz="2800" dirty="0">
                <a:solidFill>
                  <a:prstClr val="black"/>
                </a:solidFill>
                <a:latin typeface="Perpetua"/>
              </a:rPr>
              <a:t>} </a:t>
            </a:r>
            <a:endParaRPr lang="en-US" sz="2600" dirty="0">
              <a:solidFill>
                <a:prstClr val="black"/>
              </a:solidFill>
              <a:latin typeface="Perpetua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 rot="5400000">
            <a:off x="3429794" y="3809206"/>
            <a:ext cx="54864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1676400" y="3581400"/>
            <a:ext cx="3962400" cy="158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58861-E87D-4FF1-BCEE-4EF85BC385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03D271-1CE0-A76E-E141-D44F905516A1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C0C965-DC9C-0509-28D0-00163973DD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1017028"/>
            <a:ext cx="10287000" cy="5048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272793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828800" y="228601"/>
          <a:ext cx="8610600" cy="6400798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419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1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519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ABSTRACT</a:t>
                      </a:r>
                      <a:r>
                        <a:rPr lang="en-US" baseline="0" dirty="0"/>
                        <a:t> CLASS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INTERFACE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26017">
                <a:tc>
                  <a:txBody>
                    <a:bodyPr/>
                    <a:lstStyle/>
                    <a:p>
                      <a:r>
                        <a:rPr lang="en-US" dirty="0"/>
                        <a:t>1) Abstract class can have abstract and non-abstract methods.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Interface can have only abstract methods. Since Java 8, it can have default and static methods also.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20013">
                <a:tc>
                  <a:txBody>
                    <a:bodyPr/>
                    <a:lstStyle/>
                    <a:p>
                      <a:r>
                        <a:rPr lang="en-US"/>
                        <a:t>2) Abstract class doesn't support multiple inheritance.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Interface supports multiple inheritance.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20013">
                <a:tc>
                  <a:txBody>
                    <a:bodyPr/>
                    <a:lstStyle/>
                    <a:p>
                      <a:r>
                        <a:rPr lang="en-US"/>
                        <a:t>3) Abstract class can have final, non-final, static and non-static variables.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Interface has only static and final variables.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0008">
                <a:tc>
                  <a:txBody>
                    <a:bodyPr/>
                    <a:lstStyle/>
                    <a:p>
                      <a:r>
                        <a:rPr lang="en-US" dirty="0"/>
                        <a:t>4) Abstract class can provide the implementation of interface.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Interface can't provide the implementation of abstract class.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67745">
                <a:tc>
                  <a:txBody>
                    <a:bodyPr/>
                    <a:lstStyle/>
                    <a:p>
                      <a:r>
                        <a:rPr lang="en-US"/>
                        <a:t>5) The abstract keyword is used to declare abstract class.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The interface keyword is used to declare interface.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201807">
                <a:tc>
                  <a:txBody>
                    <a:bodyPr/>
                    <a:lstStyle/>
                    <a:p>
                      <a:r>
                        <a:rPr lang="en-US" dirty="0"/>
                        <a:t>6) Example:</a:t>
                      </a:r>
                      <a:br>
                        <a:rPr lang="en-US" dirty="0"/>
                      </a:br>
                      <a:r>
                        <a:rPr lang="en-US" dirty="0"/>
                        <a:t>public abstract class Shape{</a:t>
                      </a:r>
                      <a:br>
                        <a:rPr lang="en-US" dirty="0"/>
                      </a:br>
                      <a:r>
                        <a:rPr lang="en-US" dirty="0"/>
                        <a:t>public abstract void draw();}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Example:</a:t>
                      </a:r>
                      <a:br>
                        <a:rPr lang="en-US" dirty="0"/>
                      </a:br>
                      <a:r>
                        <a:rPr lang="en-US" dirty="0"/>
                        <a:t>public interface </a:t>
                      </a:r>
                      <a:r>
                        <a:rPr lang="en-US" dirty="0" err="1"/>
                        <a:t>Drawable</a:t>
                      </a:r>
                      <a:r>
                        <a:rPr lang="en-US" dirty="0"/>
                        <a:t>{</a:t>
                      </a:r>
                      <a:br>
                        <a:rPr lang="en-US" dirty="0"/>
                      </a:br>
                      <a:r>
                        <a:rPr lang="en-US" dirty="0"/>
                        <a:t>void draw();}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3970</TotalTime>
  <Words>1515</Words>
  <Application>Microsoft Office PowerPoint</Application>
  <PresentationFormat>Widescreen</PresentationFormat>
  <Paragraphs>322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Calibri</vt:lpstr>
      <vt:lpstr>Franklin Gothic Book</vt:lpstr>
      <vt:lpstr>Perpetua</vt:lpstr>
      <vt:lpstr>Wingdings</vt:lpstr>
      <vt:lpstr>Wingdings 2</vt:lpstr>
      <vt:lpstr>Equity</vt:lpstr>
      <vt:lpstr>PowerPoint Presentation</vt:lpstr>
      <vt:lpstr>PowerPoint Presentation</vt:lpstr>
      <vt:lpstr>PowerPoint Presentation</vt:lpstr>
      <vt:lpstr>PowerPoint Presentation</vt:lpstr>
      <vt:lpstr>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Default Method in Interface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Zac</dc:creator>
  <cp:lastModifiedBy>ICEI 2022</cp:lastModifiedBy>
  <cp:revision>321</cp:revision>
  <dcterms:created xsi:type="dcterms:W3CDTF">2017-03-01T00:01:16Z</dcterms:created>
  <dcterms:modified xsi:type="dcterms:W3CDTF">2024-09-11T10:15:35Z</dcterms:modified>
</cp:coreProperties>
</file>