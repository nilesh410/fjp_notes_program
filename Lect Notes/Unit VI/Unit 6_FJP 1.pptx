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58" r:id="rId3"/>
    <p:sldId id="514" r:id="rId4"/>
    <p:sldId id="515" r:id="rId5"/>
    <p:sldId id="516" r:id="rId6"/>
    <p:sldId id="517" r:id="rId7"/>
    <p:sldId id="518" r:id="rId8"/>
    <p:sldId id="542" r:id="rId9"/>
    <p:sldId id="519" r:id="rId10"/>
    <p:sldId id="531" r:id="rId11"/>
    <p:sldId id="520" r:id="rId12"/>
    <p:sldId id="521" r:id="rId13"/>
    <p:sldId id="522" r:id="rId14"/>
    <p:sldId id="523" r:id="rId15"/>
    <p:sldId id="524" r:id="rId16"/>
    <p:sldId id="525" r:id="rId17"/>
    <p:sldId id="526" r:id="rId18"/>
    <p:sldId id="527" r:id="rId19"/>
    <p:sldId id="528" r:id="rId20"/>
    <p:sldId id="529" r:id="rId21"/>
    <p:sldId id="530" r:id="rId22"/>
    <p:sldId id="532" r:id="rId23"/>
    <p:sldId id="533" r:id="rId24"/>
    <p:sldId id="534" r:id="rId25"/>
    <p:sldId id="535" r:id="rId26"/>
    <p:sldId id="536" r:id="rId27"/>
    <p:sldId id="537" r:id="rId28"/>
    <p:sldId id="538" r:id="rId29"/>
    <p:sldId id="539" r:id="rId30"/>
    <p:sldId id="540" r:id="rId31"/>
    <p:sldId id="541" r:id="rId32"/>
    <p:sldId id="543" r:id="rId33"/>
    <p:sldId id="544" r:id="rId34"/>
    <p:sldId id="545" r:id="rId35"/>
    <p:sldId id="546" r:id="rId36"/>
    <p:sldId id="547" r:id="rId37"/>
    <p:sldId id="548" r:id="rId38"/>
    <p:sldId id="549" r:id="rId39"/>
    <p:sldId id="570" r:id="rId40"/>
    <p:sldId id="550" r:id="rId41"/>
    <p:sldId id="551" r:id="rId42"/>
    <p:sldId id="552" r:id="rId43"/>
    <p:sldId id="553" r:id="rId44"/>
    <p:sldId id="554" r:id="rId45"/>
    <p:sldId id="555" r:id="rId46"/>
    <p:sldId id="556" r:id="rId47"/>
    <p:sldId id="557" r:id="rId48"/>
    <p:sldId id="558" r:id="rId49"/>
    <p:sldId id="559" r:id="rId50"/>
    <p:sldId id="560" r:id="rId51"/>
    <p:sldId id="561" r:id="rId52"/>
    <p:sldId id="562" r:id="rId53"/>
    <p:sldId id="563" r:id="rId54"/>
    <p:sldId id="564" r:id="rId55"/>
    <p:sldId id="565" r:id="rId56"/>
    <p:sldId id="566" r:id="rId57"/>
    <p:sldId id="567" r:id="rId58"/>
    <p:sldId id="568" r:id="rId59"/>
    <p:sldId id="569" r:id="rId60"/>
    <p:sldId id="51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57" autoAdjust="0"/>
    <p:restoredTop sz="93792" autoAdjust="0"/>
  </p:normalViewPr>
  <p:slideViewPr>
    <p:cSldViewPr snapToGrid="0">
      <p:cViewPr varScale="1">
        <p:scale>
          <a:sx n="72" d="100"/>
          <a:sy n="72" d="100"/>
        </p:scale>
        <p:origin x="74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2B48D9-A11B-4787-A441-6446B2E185AF}" type="datetimeFigureOut">
              <a:rPr lang="en-IN" smtClean="0"/>
              <a:t>03-11-2022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DD16F3-807E-4787-8426-9E07EE7A54F4}" type="slidenum">
              <a:rPr lang="en-IN" smtClean="0"/>
              <a:t>‹#›</a:t>
            </a:fld>
            <a:endParaRPr lang="en-IN"/>
          </a:p>
        </p:txBody>
      </p:sp>
    </p:spTree>
    <p:extLst>
      <p:ext uri="{BB962C8B-B14F-4D97-AF65-F5344CB8AC3E}">
        <p14:creationId xmlns:p14="http://schemas.microsoft.com/office/powerpoint/2010/main" val="3617529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F92E-6701-6E71-3556-3748FBA811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B17E1C-98F5-E4DF-5EB3-EC521F893E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D567B3-9733-5AA9-D50B-60BAE25025A9}"/>
              </a:ext>
            </a:extLst>
          </p:cNvPr>
          <p:cNvSpPr>
            <a:spLocks noGrp="1"/>
          </p:cNvSpPr>
          <p:nvPr>
            <p:ph type="dt" sz="half" idx="10"/>
          </p:nvPr>
        </p:nvSpPr>
        <p:spPr/>
        <p:txBody>
          <a:bodyPr/>
          <a:lstStyle/>
          <a:p>
            <a:fld id="{EE195804-7E38-4FB3-B6A2-EB10EBB98059}" type="datetime1">
              <a:rPr lang="en-IN" smtClean="0"/>
              <a:t>03-11-2022</a:t>
            </a:fld>
            <a:endParaRPr lang="en-IN"/>
          </a:p>
        </p:txBody>
      </p:sp>
      <p:sp>
        <p:nvSpPr>
          <p:cNvPr id="5" name="Footer Placeholder 4">
            <a:extLst>
              <a:ext uri="{FF2B5EF4-FFF2-40B4-BE49-F238E27FC236}">
                <a16:creationId xmlns:a16="http://schemas.microsoft.com/office/drawing/2014/main" id="{D9EE923C-0B98-B2F3-872A-35D1DDB15FAA}"/>
              </a:ext>
            </a:extLst>
          </p:cNvPr>
          <p:cNvSpPr>
            <a:spLocks noGrp="1"/>
          </p:cNvSpPr>
          <p:nvPr>
            <p:ph type="ftr" sz="quarter" idx="11"/>
          </p:nvPr>
        </p:nvSpPr>
        <p:spPr/>
        <p:txBody>
          <a:bodyPr/>
          <a:lstStyle/>
          <a:p>
            <a:r>
              <a:rPr lang="en-US"/>
              <a:t>Department of Electronics &amp; Telecommunication Engg. </a:t>
            </a:r>
            <a:endParaRPr lang="en-IN"/>
          </a:p>
        </p:txBody>
      </p:sp>
      <p:sp>
        <p:nvSpPr>
          <p:cNvPr id="6" name="Slide Number Placeholder 5">
            <a:extLst>
              <a:ext uri="{FF2B5EF4-FFF2-40B4-BE49-F238E27FC236}">
                <a16:creationId xmlns:a16="http://schemas.microsoft.com/office/drawing/2014/main" id="{238C9AAD-9566-1398-B789-BB4C4F169941}"/>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3363040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3B6BF19E-5F61-670E-ACBC-FCED453CA7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70841"/>
            <a:ext cx="919757" cy="919757"/>
          </a:xfrm>
          <a:prstGeom prst="rect">
            <a:avLst/>
          </a:prstGeom>
        </p:spPr>
      </p:pic>
      <p:sp>
        <p:nvSpPr>
          <p:cNvPr id="2" name="Title 1">
            <a:extLst>
              <a:ext uri="{FF2B5EF4-FFF2-40B4-BE49-F238E27FC236}">
                <a16:creationId xmlns:a16="http://schemas.microsoft.com/office/drawing/2014/main" id="{DB0F4C4A-CF19-744E-C32D-F0A666EFD2CC}"/>
              </a:ext>
            </a:extLst>
          </p:cNvPr>
          <p:cNvSpPr>
            <a:spLocks noGrp="1"/>
          </p:cNvSpPr>
          <p:nvPr>
            <p:ph type="title"/>
          </p:nvPr>
        </p:nvSpPr>
        <p:spPr>
          <a:xfrm>
            <a:off x="1047750" y="219076"/>
            <a:ext cx="10267949" cy="565147"/>
          </a:xfrm>
        </p:spPr>
        <p:txBody>
          <a:bodyPr>
            <a:normAutofit/>
          </a:bodyPr>
          <a:lstStyle>
            <a:lvl1pPr>
              <a:defRPr sz="2800" b="1">
                <a:solidFill>
                  <a:srgbClr val="002060"/>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9A01F4EB-4C47-CBB8-7A0F-64916F5A635A}"/>
              </a:ext>
            </a:extLst>
          </p:cNvPr>
          <p:cNvSpPr>
            <a:spLocks noGrp="1"/>
          </p:cNvSpPr>
          <p:nvPr>
            <p:ph idx="1"/>
          </p:nvPr>
        </p:nvSpPr>
        <p:spPr>
          <a:xfrm>
            <a:off x="1219200" y="1282402"/>
            <a:ext cx="10515600" cy="4623100"/>
          </a:xfrm>
        </p:spPr>
        <p:txBody>
          <a:bodyPr>
            <a:normAutofit/>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L-Shape 7">
            <a:extLst>
              <a:ext uri="{FF2B5EF4-FFF2-40B4-BE49-F238E27FC236}">
                <a16:creationId xmlns:a16="http://schemas.microsoft.com/office/drawing/2014/main" id="{21263DCB-5E69-0E27-B351-14673941B5BB}"/>
              </a:ext>
            </a:extLst>
          </p:cNvPr>
          <p:cNvSpPr/>
          <p:nvPr userDrawn="1"/>
        </p:nvSpPr>
        <p:spPr>
          <a:xfrm rot="5400000">
            <a:off x="3600449" y="-1752600"/>
            <a:ext cx="5838827" cy="11344274"/>
          </a:xfrm>
          <a:prstGeom prst="corner">
            <a:avLst>
              <a:gd name="adj1" fmla="val 1261"/>
              <a:gd name="adj2" fmla="val 1456"/>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 name="Footer Placeholder 4">
            <a:extLst>
              <a:ext uri="{FF2B5EF4-FFF2-40B4-BE49-F238E27FC236}">
                <a16:creationId xmlns:a16="http://schemas.microsoft.com/office/drawing/2014/main" id="{0CFA702E-1D59-966D-445B-285F928AFF15}"/>
              </a:ext>
            </a:extLst>
          </p:cNvPr>
          <p:cNvSpPr txBox="1">
            <a:spLocks/>
          </p:cNvSpPr>
          <p:nvPr userDrawn="1"/>
        </p:nvSpPr>
        <p:spPr>
          <a:xfrm rot="16200000">
            <a:off x="-2015036" y="3538243"/>
            <a:ext cx="4962525" cy="431801"/>
          </a:xfrm>
          <a:prstGeom prst="rect">
            <a:avLst/>
          </a:prstGeom>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lstStyle>
            <a:defPPr>
              <a:defRPr lang="en-US"/>
            </a:defPPr>
            <a:lvl1pPr marL="0" algn="ctr" defTabSz="914400" rtl="0" eaLnBrk="1" latinLnBrk="0" hangingPunct="1">
              <a:defRPr sz="1400" b="1" kern="1200">
                <a:solidFill>
                  <a:srgbClr val="002060"/>
                </a:solidFill>
                <a:latin typeface="Cambria" panose="02040503050406030204" pitchFamily="18" charset="0"/>
                <a:ea typeface="Cambria"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chemeClr val="bg1"/>
                </a:solidFill>
              </a:rPr>
              <a:t>Pune Institute of Computer Technology, Pune</a:t>
            </a:r>
            <a:endParaRPr lang="en-IN" sz="1800" b="1" dirty="0">
              <a:solidFill>
                <a:schemeClr val="bg1"/>
              </a:solidFill>
            </a:endParaRPr>
          </a:p>
        </p:txBody>
      </p:sp>
      <p:sp>
        <p:nvSpPr>
          <p:cNvPr id="12" name="Footer Placeholder 3">
            <a:extLst>
              <a:ext uri="{FF2B5EF4-FFF2-40B4-BE49-F238E27FC236}">
                <a16:creationId xmlns:a16="http://schemas.microsoft.com/office/drawing/2014/main" id="{D313F969-E652-5AD2-D5F7-253C6BBC2365}"/>
              </a:ext>
            </a:extLst>
          </p:cNvPr>
          <p:cNvSpPr txBox="1">
            <a:spLocks/>
          </p:cNvSpPr>
          <p:nvPr userDrawn="1"/>
        </p:nvSpPr>
        <p:spPr>
          <a:xfrm>
            <a:off x="1219200" y="6231937"/>
            <a:ext cx="5819776" cy="517522"/>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latin typeface="Times New Roman" panose="02020603050405020304" pitchFamily="18" charset="0"/>
                <a:cs typeface="Times New Roman" panose="02020603050405020304" pitchFamily="18" charset="0"/>
              </a:rPr>
              <a:t>This ppt is created as a reference material (only for the academic purpose) for the students of PICT. It is restricted only for the internal use and any circulation is strictly prohibited.</a:t>
            </a:r>
            <a:endParaRPr lang="en-IN" sz="1200" dirty="0">
              <a:latin typeface="Times New Roman" panose="02020603050405020304" pitchFamily="18" charset="0"/>
              <a:cs typeface="Times New Roman" panose="02020603050405020304" pitchFamily="18" charset="0"/>
            </a:endParaRPr>
          </a:p>
        </p:txBody>
      </p:sp>
      <p:sp>
        <p:nvSpPr>
          <p:cNvPr id="17" name="Footer Placeholder 12">
            <a:extLst>
              <a:ext uri="{FF2B5EF4-FFF2-40B4-BE49-F238E27FC236}">
                <a16:creationId xmlns:a16="http://schemas.microsoft.com/office/drawing/2014/main" id="{733113C7-96DA-5A1D-2FD0-E53801735DEF}"/>
              </a:ext>
            </a:extLst>
          </p:cNvPr>
          <p:cNvSpPr>
            <a:spLocks noGrp="1"/>
          </p:cNvSpPr>
          <p:nvPr>
            <p:ph type="ftr" sz="quarter" idx="11"/>
          </p:nvPr>
        </p:nvSpPr>
        <p:spPr>
          <a:xfrm>
            <a:off x="7410451" y="6325598"/>
            <a:ext cx="4600575" cy="330200"/>
          </a:xfrm>
        </p:spPr>
        <p:txBody>
          <a:bodyPr/>
          <a:lstStyle>
            <a:lvl1pPr>
              <a:defRPr sz="1200">
                <a:latin typeface="Times New Roman" panose="02020603050405020304" pitchFamily="18" charset="0"/>
                <a:cs typeface="Times New Roman" panose="02020603050405020304" pitchFamily="18" charset="0"/>
              </a:defRPr>
            </a:lvl1pPr>
          </a:lstStyle>
          <a:p>
            <a:r>
              <a:rPr lang="en-US"/>
              <a:t>Department of Electronics &amp; Telecommunication Engg. </a:t>
            </a:r>
            <a:endParaRPr lang="en-IN" dirty="0"/>
          </a:p>
        </p:txBody>
      </p:sp>
    </p:spTree>
    <p:extLst>
      <p:ext uri="{BB962C8B-B14F-4D97-AF65-F5344CB8AC3E}">
        <p14:creationId xmlns:p14="http://schemas.microsoft.com/office/powerpoint/2010/main" val="3420602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4345C-7F29-CE9F-12A4-6B6C69C576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C26E53-C487-E993-BAC6-9DB5C79DE5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CDF88B-588F-9409-D360-8E31D9838500}"/>
              </a:ext>
            </a:extLst>
          </p:cNvPr>
          <p:cNvSpPr>
            <a:spLocks noGrp="1"/>
          </p:cNvSpPr>
          <p:nvPr>
            <p:ph type="dt" sz="half" idx="10"/>
          </p:nvPr>
        </p:nvSpPr>
        <p:spPr/>
        <p:txBody>
          <a:bodyPr/>
          <a:lstStyle/>
          <a:p>
            <a:fld id="{C6726356-BBAB-478D-A28B-15CBBD587514}" type="datetime1">
              <a:rPr lang="en-IN" smtClean="0"/>
              <a:t>03-11-2022</a:t>
            </a:fld>
            <a:endParaRPr lang="en-IN"/>
          </a:p>
        </p:txBody>
      </p:sp>
      <p:sp>
        <p:nvSpPr>
          <p:cNvPr id="5" name="Footer Placeholder 4">
            <a:extLst>
              <a:ext uri="{FF2B5EF4-FFF2-40B4-BE49-F238E27FC236}">
                <a16:creationId xmlns:a16="http://schemas.microsoft.com/office/drawing/2014/main" id="{A40176E7-5C01-6B72-EAB5-8B06303E6024}"/>
              </a:ext>
            </a:extLst>
          </p:cNvPr>
          <p:cNvSpPr>
            <a:spLocks noGrp="1"/>
          </p:cNvSpPr>
          <p:nvPr>
            <p:ph type="ftr" sz="quarter" idx="11"/>
          </p:nvPr>
        </p:nvSpPr>
        <p:spPr/>
        <p:txBody>
          <a:bodyPr/>
          <a:lstStyle/>
          <a:p>
            <a:r>
              <a:rPr lang="en-US"/>
              <a:t>Department of Electronics &amp; Telecommunication Engg. </a:t>
            </a:r>
            <a:endParaRPr lang="en-IN"/>
          </a:p>
        </p:txBody>
      </p:sp>
      <p:sp>
        <p:nvSpPr>
          <p:cNvPr id="6" name="Slide Number Placeholder 5">
            <a:extLst>
              <a:ext uri="{FF2B5EF4-FFF2-40B4-BE49-F238E27FC236}">
                <a16:creationId xmlns:a16="http://schemas.microsoft.com/office/drawing/2014/main" id="{7DDA3F86-D240-0348-151F-1A73A1EC7C24}"/>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2765827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D9B47-9F71-C9EB-089C-5C9314759C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5660DD-A533-2481-5F27-F1059D6935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B5BCDE-EA3A-81BE-E8F0-5AD73E1361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8A47B6-0DC9-1D86-7BFC-87F31054461B}"/>
              </a:ext>
            </a:extLst>
          </p:cNvPr>
          <p:cNvSpPr>
            <a:spLocks noGrp="1"/>
          </p:cNvSpPr>
          <p:nvPr>
            <p:ph type="dt" sz="half" idx="10"/>
          </p:nvPr>
        </p:nvSpPr>
        <p:spPr/>
        <p:txBody>
          <a:bodyPr/>
          <a:lstStyle/>
          <a:p>
            <a:fld id="{0F8A5EDF-B8C0-4A08-81A9-C6CFEE8A9423}" type="datetime1">
              <a:rPr lang="en-IN" smtClean="0"/>
              <a:t>03-11-2022</a:t>
            </a:fld>
            <a:endParaRPr lang="en-IN"/>
          </a:p>
        </p:txBody>
      </p:sp>
      <p:sp>
        <p:nvSpPr>
          <p:cNvPr id="6" name="Footer Placeholder 5">
            <a:extLst>
              <a:ext uri="{FF2B5EF4-FFF2-40B4-BE49-F238E27FC236}">
                <a16:creationId xmlns:a16="http://schemas.microsoft.com/office/drawing/2014/main" id="{43F0C357-1E3B-5F47-73E3-24320AEBCB66}"/>
              </a:ext>
            </a:extLst>
          </p:cNvPr>
          <p:cNvSpPr>
            <a:spLocks noGrp="1"/>
          </p:cNvSpPr>
          <p:nvPr>
            <p:ph type="ftr" sz="quarter" idx="11"/>
          </p:nvPr>
        </p:nvSpPr>
        <p:spPr/>
        <p:txBody>
          <a:bodyPr/>
          <a:lstStyle/>
          <a:p>
            <a:r>
              <a:rPr lang="en-US"/>
              <a:t>Department of Electronics &amp; Telecommunication Engg. </a:t>
            </a:r>
            <a:endParaRPr lang="en-IN"/>
          </a:p>
        </p:txBody>
      </p:sp>
      <p:sp>
        <p:nvSpPr>
          <p:cNvPr id="7" name="Slide Number Placeholder 6">
            <a:extLst>
              <a:ext uri="{FF2B5EF4-FFF2-40B4-BE49-F238E27FC236}">
                <a16:creationId xmlns:a16="http://schemas.microsoft.com/office/drawing/2014/main" id="{01945DF5-E723-0095-3367-149556E9F875}"/>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1466136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FD835-A914-ED78-2768-3E4EF6CC3D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C5B571-7E92-866A-943A-B88B4E3A8B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724E15-BD93-D9A0-1C3B-79F049E0BF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2802B2-D017-082E-4BD5-A8170E0083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EC6B03-B92A-E1EE-D6AD-8BF8DC4F4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58EAE5-FBCE-3EFD-F5E2-C6B1888327DA}"/>
              </a:ext>
            </a:extLst>
          </p:cNvPr>
          <p:cNvSpPr>
            <a:spLocks noGrp="1"/>
          </p:cNvSpPr>
          <p:nvPr>
            <p:ph type="dt" sz="half" idx="10"/>
          </p:nvPr>
        </p:nvSpPr>
        <p:spPr/>
        <p:txBody>
          <a:bodyPr/>
          <a:lstStyle/>
          <a:p>
            <a:fld id="{7D875669-CFEE-439A-AD96-9BFECC4D2828}" type="datetime1">
              <a:rPr lang="en-IN" smtClean="0"/>
              <a:t>03-11-2022</a:t>
            </a:fld>
            <a:endParaRPr lang="en-IN"/>
          </a:p>
        </p:txBody>
      </p:sp>
      <p:sp>
        <p:nvSpPr>
          <p:cNvPr id="8" name="Footer Placeholder 7">
            <a:extLst>
              <a:ext uri="{FF2B5EF4-FFF2-40B4-BE49-F238E27FC236}">
                <a16:creationId xmlns:a16="http://schemas.microsoft.com/office/drawing/2014/main" id="{B21DF609-7F83-756A-DB48-597BB5B1C9F9}"/>
              </a:ext>
            </a:extLst>
          </p:cNvPr>
          <p:cNvSpPr>
            <a:spLocks noGrp="1"/>
          </p:cNvSpPr>
          <p:nvPr>
            <p:ph type="ftr" sz="quarter" idx="11"/>
          </p:nvPr>
        </p:nvSpPr>
        <p:spPr/>
        <p:txBody>
          <a:bodyPr/>
          <a:lstStyle/>
          <a:p>
            <a:r>
              <a:rPr lang="en-US"/>
              <a:t>Department of Electronics &amp; Telecommunication Engg. </a:t>
            </a:r>
            <a:endParaRPr lang="en-IN"/>
          </a:p>
        </p:txBody>
      </p:sp>
      <p:sp>
        <p:nvSpPr>
          <p:cNvPr id="9" name="Slide Number Placeholder 8">
            <a:extLst>
              <a:ext uri="{FF2B5EF4-FFF2-40B4-BE49-F238E27FC236}">
                <a16:creationId xmlns:a16="http://schemas.microsoft.com/office/drawing/2014/main" id="{6BFF6A66-510F-F8FF-02A1-0E87D085D67F}"/>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881347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26A18-440C-51F1-F2D2-8FEE159CC0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09DD12-8472-B75A-3418-2E2442EC970A}"/>
              </a:ext>
            </a:extLst>
          </p:cNvPr>
          <p:cNvSpPr>
            <a:spLocks noGrp="1"/>
          </p:cNvSpPr>
          <p:nvPr>
            <p:ph type="dt" sz="half" idx="10"/>
          </p:nvPr>
        </p:nvSpPr>
        <p:spPr/>
        <p:txBody>
          <a:bodyPr/>
          <a:lstStyle/>
          <a:p>
            <a:fld id="{CCF20DEE-BB6B-420E-B610-4E60AE6E8C41}" type="datetime1">
              <a:rPr lang="en-IN" smtClean="0"/>
              <a:t>03-11-2022</a:t>
            </a:fld>
            <a:endParaRPr lang="en-IN"/>
          </a:p>
        </p:txBody>
      </p:sp>
      <p:sp>
        <p:nvSpPr>
          <p:cNvPr id="4" name="Footer Placeholder 3">
            <a:extLst>
              <a:ext uri="{FF2B5EF4-FFF2-40B4-BE49-F238E27FC236}">
                <a16:creationId xmlns:a16="http://schemas.microsoft.com/office/drawing/2014/main" id="{9C9E09DE-D221-5BA4-1985-FDFF8F67C14B}"/>
              </a:ext>
            </a:extLst>
          </p:cNvPr>
          <p:cNvSpPr>
            <a:spLocks noGrp="1"/>
          </p:cNvSpPr>
          <p:nvPr>
            <p:ph type="ftr" sz="quarter" idx="11"/>
          </p:nvPr>
        </p:nvSpPr>
        <p:spPr/>
        <p:txBody>
          <a:bodyPr/>
          <a:lstStyle/>
          <a:p>
            <a:r>
              <a:rPr lang="en-US"/>
              <a:t>Department of Electronics &amp; Telecommunication Engg. </a:t>
            </a:r>
            <a:endParaRPr lang="en-IN"/>
          </a:p>
        </p:txBody>
      </p:sp>
      <p:sp>
        <p:nvSpPr>
          <p:cNvPr id="5" name="Slide Number Placeholder 4">
            <a:extLst>
              <a:ext uri="{FF2B5EF4-FFF2-40B4-BE49-F238E27FC236}">
                <a16:creationId xmlns:a16="http://schemas.microsoft.com/office/drawing/2014/main" id="{81C37293-E74F-72BF-B75D-1411FF86E4DE}"/>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425715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B68AD2-7148-AB2B-0897-866086C1FA8A}"/>
              </a:ext>
            </a:extLst>
          </p:cNvPr>
          <p:cNvSpPr>
            <a:spLocks noGrp="1"/>
          </p:cNvSpPr>
          <p:nvPr>
            <p:ph type="dt" sz="half" idx="10"/>
          </p:nvPr>
        </p:nvSpPr>
        <p:spPr/>
        <p:txBody>
          <a:bodyPr/>
          <a:lstStyle/>
          <a:p>
            <a:fld id="{17CD8E1A-6E5A-4049-B3D9-08CC33E96F55}" type="datetime1">
              <a:rPr lang="en-IN" smtClean="0"/>
              <a:t>03-11-2022</a:t>
            </a:fld>
            <a:endParaRPr lang="en-IN"/>
          </a:p>
        </p:txBody>
      </p:sp>
      <p:sp>
        <p:nvSpPr>
          <p:cNvPr id="3" name="Footer Placeholder 2">
            <a:extLst>
              <a:ext uri="{FF2B5EF4-FFF2-40B4-BE49-F238E27FC236}">
                <a16:creationId xmlns:a16="http://schemas.microsoft.com/office/drawing/2014/main" id="{35EE0A96-83B5-FDAD-5356-6063EAD43937}"/>
              </a:ext>
            </a:extLst>
          </p:cNvPr>
          <p:cNvSpPr>
            <a:spLocks noGrp="1"/>
          </p:cNvSpPr>
          <p:nvPr>
            <p:ph type="ftr" sz="quarter" idx="11"/>
          </p:nvPr>
        </p:nvSpPr>
        <p:spPr/>
        <p:txBody>
          <a:bodyPr/>
          <a:lstStyle/>
          <a:p>
            <a:r>
              <a:rPr lang="en-US"/>
              <a:t>Department of Electronics &amp; Telecommunication Engg. </a:t>
            </a:r>
            <a:endParaRPr lang="en-IN"/>
          </a:p>
        </p:txBody>
      </p:sp>
      <p:sp>
        <p:nvSpPr>
          <p:cNvPr id="4" name="Slide Number Placeholder 3">
            <a:extLst>
              <a:ext uri="{FF2B5EF4-FFF2-40B4-BE49-F238E27FC236}">
                <a16:creationId xmlns:a16="http://schemas.microsoft.com/office/drawing/2014/main" id="{E94ED8BD-3189-0898-1347-A6EF22E1E7C9}"/>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635178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8CB1E-4AAB-EF02-AE0C-C4B4A4F597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6DB9B2-FB0D-B405-F5F8-E4C4FF33EC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5B5CAA-CBAB-4826-8BE9-3B07B8C82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6F860-FE91-3313-2B42-5D8785DDF76F}"/>
              </a:ext>
            </a:extLst>
          </p:cNvPr>
          <p:cNvSpPr>
            <a:spLocks noGrp="1"/>
          </p:cNvSpPr>
          <p:nvPr>
            <p:ph type="dt" sz="half" idx="10"/>
          </p:nvPr>
        </p:nvSpPr>
        <p:spPr/>
        <p:txBody>
          <a:bodyPr/>
          <a:lstStyle/>
          <a:p>
            <a:fld id="{1A72969D-33DE-4143-9BE7-E7E4D7A1A50B}" type="datetime1">
              <a:rPr lang="en-IN" smtClean="0"/>
              <a:t>03-11-2022</a:t>
            </a:fld>
            <a:endParaRPr lang="en-IN"/>
          </a:p>
        </p:txBody>
      </p:sp>
      <p:sp>
        <p:nvSpPr>
          <p:cNvPr id="6" name="Footer Placeholder 5">
            <a:extLst>
              <a:ext uri="{FF2B5EF4-FFF2-40B4-BE49-F238E27FC236}">
                <a16:creationId xmlns:a16="http://schemas.microsoft.com/office/drawing/2014/main" id="{F248045C-C179-5466-4220-0902B89C8C35}"/>
              </a:ext>
            </a:extLst>
          </p:cNvPr>
          <p:cNvSpPr>
            <a:spLocks noGrp="1"/>
          </p:cNvSpPr>
          <p:nvPr>
            <p:ph type="ftr" sz="quarter" idx="11"/>
          </p:nvPr>
        </p:nvSpPr>
        <p:spPr/>
        <p:txBody>
          <a:bodyPr/>
          <a:lstStyle/>
          <a:p>
            <a:r>
              <a:rPr lang="en-US"/>
              <a:t>Department of Electronics &amp; Telecommunication Engg. </a:t>
            </a:r>
            <a:endParaRPr lang="en-IN"/>
          </a:p>
        </p:txBody>
      </p:sp>
      <p:sp>
        <p:nvSpPr>
          <p:cNvPr id="7" name="Slide Number Placeholder 6">
            <a:extLst>
              <a:ext uri="{FF2B5EF4-FFF2-40B4-BE49-F238E27FC236}">
                <a16:creationId xmlns:a16="http://schemas.microsoft.com/office/drawing/2014/main" id="{C0D50D33-AAFE-8893-511B-B35492F67270}"/>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3331945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822B6-FD07-D9D4-782A-D1D3B6ACE9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036EC83-4ECD-7F56-663C-E5FD2ED31C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A49976-4975-491F-313B-A3C3F1CCA9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6778D-750B-A591-A6ED-F2FE63E79E7D}"/>
              </a:ext>
            </a:extLst>
          </p:cNvPr>
          <p:cNvSpPr>
            <a:spLocks noGrp="1"/>
          </p:cNvSpPr>
          <p:nvPr>
            <p:ph type="dt" sz="half" idx="10"/>
          </p:nvPr>
        </p:nvSpPr>
        <p:spPr/>
        <p:txBody>
          <a:bodyPr/>
          <a:lstStyle/>
          <a:p>
            <a:fld id="{B6C7E0BC-9B49-4E38-B5C0-87CDF707F893}" type="datetime1">
              <a:rPr lang="en-IN" smtClean="0"/>
              <a:t>03-11-2022</a:t>
            </a:fld>
            <a:endParaRPr lang="en-IN"/>
          </a:p>
        </p:txBody>
      </p:sp>
      <p:sp>
        <p:nvSpPr>
          <p:cNvPr id="6" name="Footer Placeholder 5">
            <a:extLst>
              <a:ext uri="{FF2B5EF4-FFF2-40B4-BE49-F238E27FC236}">
                <a16:creationId xmlns:a16="http://schemas.microsoft.com/office/drawing/2014/main" id="{59C52DA7-C817-BC0F-F4A5-174DBF0B5E4B}"/>
              </a:ext>
            </a:extLst>
          </p:cNvPr>
          <p:cNvSpPr>
            <a:spLocks noGrp="1"/>
          </p:cNvSpPr>
          <p:nvPr>
            <p:ph type="ftr" sz="quarter" idx="11"/>
          </p:nvPr>
        </p:nvSpPr>
        <p:spPr/>
        <p:txBody>
          <a:bodyPr/>
          <a:lstStyle/>
          <a:p>
            <a:r>
              <a:rPr lang="en-US"/>
              <a:t>Department of Electronics &amp; Telecommunication Engg. </a:t>
            </a:r>
            <a:endParaRPr lang="en-IN"/>
          </a:p>
        </p:txBody>
      </p:sp>
      <p:sp>
        <p:nvSpPr>
          <p:cNvPr id="7" name="Slide Number Placeholder 6">
            <a:extLst>
              <a:ext uri="{FF2B5EF4-FFF2-40B4-BE49-F238E27FC236}">
                <a16:creationId xmlns:a16="http://schemas.microsoft.com/office/drawing/2014/main" id="{34A33216-1032-F804-1059-FE74DFB1AF1F}"/>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675188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BD94C-89C4-C44D-5843-1ADE609AB5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FB4018-04C5-FEE8-4DE2-EA2513882C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79B97E-4FB3-9029-5F32-627B45A53B67}"/>
              </a:ext>
            </a:extLst>
          </p:cNvPr>
          <p:cNvSpPr>
            <a:spLocks noGrp="1"/>
          </p:cNvSpPr>
          <p:nvPr>
            <p:ph type="dt" sz="half" idx="10"/>
          </p:nvPr>
        </p:nvSpPr>
        <p:spPr/>
        <p:txBody>
          <a:bodyPr/>
          <a:lstStyle/>
          <a:p>
            <a:fld id="{68233BFC-B426-488E-9416-F388FA955D9E}" type="datetime1">
              <a:rPr lang="en-IN" smtClean="0"/>
              <a:t>03-11-2022</a:t>
            </a:fld>
            <a:endParaRPr lang="en-IN"/>
          </a:p>
        </p:txBody>
      </p:sp>
      <p:sp>
        <p:nvSpPr>
          <p:cNvPr id="5" name="Footer Placeholder 4">
            <a:extLst>
              <a:ext uri="{FF2B5EF4-FFF2-40B4-BE49-F238E27FC236}">
                <a16:creationId xmlns:a16="http://schemas.microsoft.com/office/drawing/2014/main" id="{272D394E-F30C-497E-DFFA-1CF9C03D4D41}"/>
              </a:ext>
            </a:extLst>
          </p:cNvPr>
          <p:cNvSpPr>
            <a:spLocks noGrp="1"/>
          </p:cNvSpPr>
          <p:nvPr>
            <p:ph type="ftr" sz="quarter" idx="11"/>
          </p:nvPr>
        </p:nvSpPr>
        <p:spPr/>
        <p:txBody>
          <a:bodyPr/>
          <a:lstStyle/>
          <a:p>
            <a:r>
              <a:rPr lang="en-US"/>
              <a:t>Department of Electronics &amp; Telecommunication Engg. </a:t>
            </a:r>
            <a:endParaRPr lang="en-IN"/>
          </a:p>
        </p:txBody>
      </p:sp>
      <p:sp>
        <p:nvSpPr>
          <p:cNvPr id="6" name="Slide Number Placeholder 5">
            <a:extLst>
              <a:ext uri="{FF2B5EF4-FFF2-40B4-BE49-F238E27FC236}">
                <a16:creationId xmlns:a16="http://schemas.microsoft.com/office/drawing/2014/main" id="{7D2E83EA-5C42-F5E6-FEBC-17C57D7FC9AD}"/>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2630107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B76E4F-52F5-A12A-4A4E-603AC7B5D1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E6B977-6613-6066-9919-CBAFAA0002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00F9BF-1810-D6E4-DC2B-467520B2389E}"/>
              </a:ext>
            </a:extLst>
          </p:cNvPr>
          <p:cNvSpPr>
            <a:spLocks noGrp="1"/>
          </p:cNvSpPr>
          <p:nvPr>
            <p:ph type="dt" sz="half" idx="10"/>
          </p:nvPr>
        </p:nvSpPr>
        <p:spPr/>
        <p:txBody>
          <a:bodyPr/>
          <a:lstStyle/>
          <a:p>
            <a:fld id="{23B10C32-5DEC-468A-A0EC-42FDC802185D}" type="datetime1">
              <a:rPr lang="en-IN" smtClean="0"/>
              <a:t>03-11-2022</a:t>
            </a:fld>
            <a:endParaRPr lang="en-IN"/>
          </a:p>
        </p:txBody>
      </p:sp>
      <p:sp>
        <p:nvSpPr>
          <p:cNvPr id="5" name="Footer Placeholder 4">
            <a:extLst>
              <a:ext uri="{FF2B5EF4-FFF2-40B4-BE49-F238E27FC236}">
                <a16:creationId xmlns:a16="http://schemas.microsoft.com/office/drawing/2014/main" id="{4BC484B4-2F4F-2468-E210-944124B7CE04}"/>
              </a:ext>
            </a:extLst>
          </p:cNvPr>
          <p:cNvSpPr>
            <a:spLocks noGrp="1"/>
          </p:cNvSpPr>
          <p:nvPr>
            <p:ph type="ftr" sz="quarter" idx="11"/>
          </p:nvPr>
        </p:nvSpPr>
        <p:spPr/>
        <p:txBody>
          <a:bodyPr/>
          <a:lstStyle/>
          <a:p>
            <a:r>
              <a:rPr lang="en-US"/>
              <a:t>Department of Electronics &amp; Telecommunication Engg. </a:t>
            </a:r>
            <a:endParaRPr lang="en-IN"/>
          </a:p>
        </p:txBody>
      </p:sp>
      <p:sp>
        <p:nvSpPr>
          <p:cNvPr id="6" name="Slide Number Placeholder 5">
            <a:extLst>
              <a:ext uri="{FF2B5EF4-FFF2-40B4-BE49-F238E27FC236}">
                <a16:creationId xmlns:a16="http://schemas.microsoft.com/office/drawing/2014/main" id="{CF6F01F2-3E51-68C7-6E5D-C3499BBF895F}"/>
              </a:ext>
            </a:extLst>
          </p:cNvPr>
          <p:cNvSpPr>
            <a:spLocks noGrp="1"/>
          </p:cNvSpPr>
          <p:nvPr>
            <p:ph type="sldNum" sz="quarter" idx="12"/>
          </p:nvPr>
        </p:nvSpPr>
        <p:spPr/>
        <p:txBody>
          <a:bodyPr/>
          <a:lstStyle/>
          <a:p>
            <a:fld id="{7CC8E2C8-EAA1-4C5F-AAAF-F254DAB64BBB}" type="slidenum">
              <a:rPr lang="en-IN" smtClean="0"/>
              <a:t>‹#›</a:t>
            </a:fld>
            <a:endParaRPr lang="en-IN"/>
          </a:p>
        </p:txBody>
      </p:sp>
    </p:spTree>
    <p:extLst>
      <p:ext uri="{BB962C8B-B14F-4D97-AF65-F5344CB8AC3E}">
        <p14:creationId xmlns:p14="http://schemas.microsoft.com/office/powerpoint/2010/main" val="563650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F413BD-DAFC-53F1-2139-D0E0C7EA74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2A3F71-8952-041D-4B41-D6F9F3619E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136D05-1DE7-B22D-CEE3-82762B9BD1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AFC291-34C4-4C50-8A91-0528A4456AE8}" type="datetime1">
              <a:rPr lang="en-IN" smtClean="0"/>
              <a:t>03-11-2022</a:t>
            </a:fld>
            <a:endParaRPr lang="en-IN"/>
          </a:p>
        </p:txBody>
      </p:sp>
      <p:sp>
        <p:nvSpPr>
          <p:cNvPr id="5" name="Footer Placeholder 4">
            <a:extLst>
              <a:ext uri="{FF2B5EF4-FFF2-40B4-BE49-F238E27FC236}">
                <a16:creationId xmlns:a16="http://schemas.microsoft.com/office/drawing/2014/main" id="{869A1E8B-1578-3DC1-67A2-082445E736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Electronics &amp; Telecommunication Engg. </a:t>
            </a:r>
            <a:endParaRPr lang="en-IN"/>
          </a:p>
        </p:txBody>
      </p:sp>
      <p:sp>
        <p:nvSpPr>
          <p:cNvPr id="6" name="Slide Number Placeholder 5">
            <a:extLst>
              <a:ext uri="{FF2B5EF4-FFF2-40B4-BE49-F238E27FC236}">
                <a16:creationId xmlns:a16="http://schemas.microsoft.com/office/drawing/2014/main" id="{B64684A3-5D29-6E88-675C-B7A785E3E4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C8E2C8-EAA1-4C5F-AAAF-F254DAB64BBB}" type="slidenum">
              <a:rPr lang="en-IN" smtClean="0"/>
              <a:t>‹#›</a:t>
            </a:fld>
            <a:endParaRPr lang="en-IN"/>
          </a:p>
        </p:txBody>
      </p:sp>
    </p:spTree>
    <p:extLst>
      <p:ext uri="{BB962C8B-B14F-4D97-AF65-F5344CB8AC3E}">
        <p14:creationId xmlns:p14="http://schemas.microsoft.com/office/powerpoint/2010/main" val="663472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javatpoint.com/java-constructor"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www.geeksforgeeks.org/" TargetMode="External"/><Relationship Id="rId2" Type="http://schemas.openxmlformats.org/officeDocument/2006/relationships/hyperlink" Target="https://www.tutorialspoint.com/" TargetMode="External"/><Relationship Id="rId1" Type="http://schemas.openxmlformats.org/officeDocument/2006/relationships/slideLayout" Target="../slideLayouts/slideLayout2.xml"/><Relationship Id="rId4" Type="http://schemas.openxmlformats.org/officeDocument/2006/relationships/hyperlink" Target="https://www.javatpoin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76CF-6E17-A6A1-9E83-33C9AEE5682D}"/>
              </a:ext>
            </a:extLst>
          </p:cNvPr>
          <p:cNvSpPr>
            <a:spLocks noGrp="1"/>
          </p:cNvSpPr>
          <p:nvPr>
            <p:ph type="ctrTitle"/>
          </p:nvPr>
        </p:nvSpPr>
        <p:spPr>
          <a:xfrm>
            <a:off x="7173146" y="2400651"/>
            <a:ext cx="4708337" cy="2416566"/>
          </a:xfrm>
        </p:spPr>
        <p:txBody>
          <a:bodyPr anchor="b">
            <a:normAutofit fontScale="90000"/>
          </a:bodyPr>
          <a:lstStyle/>
          <a:p>
            <a:r>
              <a:rPr lang="en-US" sz="3700" b="1" dirty="0">
                <a:latin typeface="Cambria" panose="02040503050406030204" pitchFamily="18" charset="0"/>
                <a:ea typeface="Cambria" panose="02040503050406030204" pitchFamily="18" charset="0"/>
              </a:rPr>
              <a:t>304185C </a:t>
            </a:r>
            <a:br>
              <a:rPr lang="en-US" sz="3700" b="1" dirty="0">
                <a:latin typeface="Cambria" panose="02040503050406030204" pitchFamily="18" charset="0"/>
                <a:ea typeface="Cambria" panose="02040503050406030204" pitchFamily="18" charset="0"/>
              </a:rPr>
            </a:br>
            <a:br>
              <a:rPr lang="en-US" sz="3700" b="1" dirty="0">
                <a:latin typeface="Cambria" panose="02040503050406030204" pitchFamily="18" charset="0"/>
                <a:ea typeface="Cambria" panose="02040503050406030204" pitchFamily="18" charset="0"/>
              </a:rPr>
            </a:br>
            <a:r>
              <a:rPr lang="en-US" sz="3700" b="1" dirty="0">
                <a:latin typeface="Cambria" panose="02040503050406030204" pitchFamily="18" charset="0"/>
                <a:ea typeface="Cambria" panose="02040503050406030204" pitchFamily="18" charset="0"/>
              </a:rPr>
              <a:t> Unit 6: </a:t>
            </a:r>
            <a:br>
              <a:rPr lang="en-US" sz="3700" b="1" dirty="0">
                <a:latin typeface="Cambria" panose="02040503050406030204" pitchFamily="18" charset="0"/>
                <a:ea typeface="Cambria" panose="02040503050406030204" pitchFamily="18" charset="0"/>
              </a:rPr>
            </a:br>
            <a:r>
              <a:rPr lang="en-US" sz="3700" b="1" dirty="0">
                <a:latin typeface="Cambria" panose="02040503050406030204" pitchFamily="18" charset="0"/>
                <a:ea typeface="Cambria" panose="02040503050406030204" pitchFamily="18" charset="0"/>
              </a:rPr>
              <a:t>Graphics Programming  &amp; File Handling</a:t>
            </a:r>
            <a:endParaRPr lang="en-IN" sz="3700" b="1" dirty="0">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868411C6-B583-EC3E-8D9C-70B8FD63B282}"/>
              </a:ext>
            </a:extLst>
          </p:cNvPr>
          <p:cNvSpPr>
            <a:spLocks noGrp="1"/>
          </p:cNvSpPr>
          <p:nvPr>
            <p:ph type="subTitle" idx="1"/>
          </p:nvPr>
        </p:nvSpPr>
        <p:spPr>
          <a:xfrm>
            <a:off x="8620946" y="4998544"/>
            <a:ext cx="1812738" cy="554532"/>
          </a:xfrm>
        </p:spPr>
        <p:txBody>
          <a:bodyPr anchor="t">
            <a:normAutofit/>
          </a:bodyPr>
          <a:lstStyle/>
          <a:p>
            <a:pPr algn="l"/>
            <a:r>
              <a:rPr lang="en-US" sz="3200" b="1" dirty="0">
                <a:latin typeface="Cambria" panose="02040503050406030204" pitchFamily="18" charset="0"/>
                <a:ea typeface="Cambria" panose="02040503050406030204" pitchFamily="18" charset="0"/>
              </a:rPr>
              <a:t>TE E&amp;TE</a:t>
            </a:r>
            <a:endParaRPr lang="en-IN" sz="3200" b="1" dirty="0">
              <a:latin typeface="Cambria" panose="02040503050406030204" pitchFamily="18" charset="0"/>
              <a:ea typeface="Cambria" panose="02040503050406030204" pitchFamily="18" charset="0"/>
            </a:endParaRPr>
          </a:p>
        </p:txBody>
      </p:sp>
      <p:sp>
        <p:nvSpPr>
          <p:cNvPr id="18" name="Freeform: Shape 13">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Computer script on a screen">
            <a:extLst>
              <a:ext uri="{FF2B5EF4-FFF2-40B4-BE49-F238E27FC236}">
                <a16:creationId xmlns:a16="http://schemas.microsoft.com/office/drawing/2014/main" id="{E4D3D2A5-233C-BAB2-F8D7-5B0B175421CC}"/>
              </a:ext>
            </a:extLst>
          </p:cNvPr>
          <p:cNvPicPr>
            <a:picLocks noChangeAspect="1"/>
          </p:cNvPicPr>
          <p:nvPr/>
        </p:nvPicPr>
        <p:blipFill rotWithShape="1">
          <a:blip r:embed="rId2"/>
          <a:srcRect r="31589"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pic>
        <p:nvPicPr>
          <p:cNvPr id="6" name="Picture 2" descr="Java (programming language) - Wikipedia">
            <a:extLst>
              <a:ext uri="{FF2B5EF4-FFF2-40B4-BE49-F238E27FC236}">
                <a16:creationId xmlns:a16="http://schemas.microsoft.com/office/drawing/2014/main" id="{C18BA8A7-0E82-3C68-25FA-D1C7DB77E6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9188"/>
          <a:stretch/>
        </p:blipFill>
        <p:spPr bwMode="auto">
          <a:xfrm>
            <a:off x="8817606" y="381000"/>
            <a:ext cx="1419418"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78425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636D3-A814-3B42-2EF0-548759A75A24}"/>
              </a:ext>
            </a:extLst>
          </p:cNvPr>
          <p:cNvSpPr>
            <a:spLocks noGrp="1"/>
          </p:cNvSpPr>
          <p:nvPr>
            <p:ph type="title"/>
          </p:nvPr>
        </p:nvSpPr>
        <p:spPr/>
        <p:txBody>
          <a:bodyPr/>
          <a:lstStyle/>
          <a:p>
            <a:r>
              <a:rPr lang="en-US" dirty="0"/>
              <a:t>Syllabus</a:t>
            </a:r>
            <a:endParaRPr lang="en-IN" dirty="0"/>
          </a:p>
        </p:txBody>
      </p:sp>
      <p:sp>
        <p:nvSpPr>
          <p:cNvPr id="3" name="Content Placeholder 2">
            <a:extLst>
              <a:ext uri="{FF2B5EF4-FFF2-40B4-BE49-F238E27FC236}">
                <a16:creationId xmlns:a16="http://schemas.microsoft.com/office/drawing/2014/main" id="{1AF1E61B-C7B6-542B-AE46-FA680BA4E504}"/>
              </a:ext>
            </a:extLst>
          </p:cNvPr>
          <p:cNvSpPr>
            <a:spLocks noGrp="1"/>
          </p:cNvSpPr>
          <p:nvPr>
            <p:ph idx="1"/>
          </p:nvPr>
        </p:nvSpPr>
        <p:spPr>
          <a:xfrm>
            <a:off x="1047750" y="1117450"/>
            <a:ext cx="10515600" cy="4623100"/>
          </a:xfrm>
        </p:spPr>
        <p:txBody>
          <a:bodyPr>
            <a:normAutofit/>
          </a:bodyPr>
          <a:lstStyle/>
          <a:p>
            <a:pPr algn="just">
              <a:lnSpc>
                <a:spcPct val="150000"/>
              </a:lnSpc>
              <a:spcBef>
                <a:spcPts val="0"/>
              </a:spcBef>
            </a:pPr>
            <a:r>
              <a:rPr lang="en-US" dirty="0"/>
              <a:t>Graphics class, Introduction to AWT packages, Handling events on AWT components, Introduction to Swing package, components and containers. </a:t>
            </a:r>
          </a:p>
          <a:p>
            <a:pPr algn="just">
              <a:lnSpc>
                <a:spcPct val="150000"/>
              </a:lnSpc>
              <a:spcBef>
                <a:spcPts val="0"/>
              </a:spcBef>
            </a:pPr>
            <a:r>
              <a:rPr lang="en-US" dirty="0"/>
              <a:t>Managing input/output files: Concept of streams, Stream Classes, Byte stream, Character stream, Using Stream, creation of files, reading or writing characters / bytes, Concatenating and buffering files, Random access files.</a:t>
            </a:r>
            <a:endParaRPr lang="en-IN" dirty="0"/>
          </a:p>
        </p:txBody>
      </p:sp>
      <p:sp>
        <p:nvSpPr>
          <p:cNvPr id="4" name="Footer Placeholder 3">
            <a:extLst>
              <a:ext uri="{FF2B5EF4-FFF2-40B4-BE49-F238E27FC236}">
                <a16:creationId xmlns:a16="http://schemas.microsoft.com/office/drawing/2014/main" id="{D7AA507E-D574-086E-47D8-2A56615F5B31}"/>
              </a:ext>
            </a:extLst>
          </p:cNvPr>
          <p:cNvSpPr>
            <a:spLocks noGrp="1"/>
          </p:cNvSpPr>
          <p:nvPr>
            <p:ph type="ftr" sz="quarter" idx="11"/>
          </p:nvPr>
        </p:nvSpPr>
        <p:spPr>
          <a:xfrm>
            <a:off x="7620000" y="6357939"/>
            <a:ext cx="4114800" cy="365125"/>
          </a:xfrm>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2606830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3B28-2D75-E7A4-9BD5-BA36AF84200F}"/>
              </a:ext>
            </a:extLst>
          </p:cNvPr>
          <p:cNvSpPr>
            <a:spLocks noGrp="1"/>
          </p:cNvSpPr>
          <p:nvPr>
            <p:ph type="title"/>
          </p:nvPr>
        </p:nvSpPr>
        <p:spPr/>
        <p:txBody>
          <a:bodyPr/>
          <a:lstStyle/>
          <a:p>
            <a:r>
              <a:rPr lang="en-US" dirty="0"/>
              <a:t>Graphics Class in JAVA</a:t>
            </a:r>
            <a:endParaRPr lang="en-IN" dirty="0"/>
          </a:p>
        </p:txBody>
      </p:sp>
      <p:sp>
        <p:nvSpPr>
          <p:cNvPr id="3" name="Content Placeholder 2">
            <a:extLst>
              <a:ext uri="{FF2B5EF4-FFF2-40B4-BE49-F238E27FC236}">
                <a16:creationId xmlns:a16="http://schemas.microsoft.com/office/drawing/2014/main" id="{193098B2-CB99-ADC3-B1E1-5E7EB3668CA1}"/>
              </a:ext>
            </a:extLst>
          </p:cNvPr>
          <p:cNvSpPr>
            <a:spLocks noGrp="1"/>
          </p:cNvSpPr>
          <p:nvPr>
            <p:ph idx="1"/>
          </p:nvPr>
        </p:nvSpPr>
        <p:spPr>
          <a:xfrm>
            <a:off x="1129748" y="1243360"/>
            <a:ext cx="10515600" cy="4623100"/>
          </a:xfrm>
        </p:spPr>
        <p:txBody>
          <a:bodyPr/>
          <a:lstStyle/>
          <a:p>
            <a:pPr marL="0" indent="0" algn="just">
              <a:lnSpc>
                <a:spcPct val="150000"/>
              </a:lnSpc>
              <a:buNone/>
            </a:pPr>
            <a:r>
              <a:rPr lang="en-IN" i="1" dirty="0"/>
              <a:t>public abstract class Graphics extends Object</a:t>
            </a:r>
          </a:p>
          <a:p>
            <a:pPr algn="just">
              <a:lnSpc>
                <a:spcPct val="150000"/>
              </a:lnSpc>
            </a:pPr>
            <a:r>
              <a:rPr lang="en-US" dirty="0"/>
              <a:t>The Graphics class is the abstract base class for all graphics contexts that allow an application to draw onto components that are realized on various devices, as well as onto off-screen images.</a:t>
            </a:r>
          </a:p>
          <a:p>
            <a:pPr algn="just">
              <a:lnSpc>
                <a:spcPct val="150000"/>
              </a:lnSpc>
            </a:pPr>
            <a:r>
              <a:rPr lang="en-US" dirty="0"/>
              <a:t>A Graphics object encapsulates state information needed for the basic rendering operations that Java supports</a:t>
            </a:r>
            <a:r>
              <a:rPr lang="en-US" i="1" dirty="0"/>
              <a:t>. </a:t>
            </a:r>
            <a:endParaRPr lang="en-IN" i="1" dirty="0"/>
          </a:p>
        </p:txBody>
      </p:sp>
      <p:sp>
        <p:nvSpPr>
          <p:cNvPr id="4" name="Footer Placeholder 3">
            <a:extLst>
              <a:ext uri="{FF2B5EF4-FFF2-40B4-BE49-F238E27FC236}">
                <a16:creationId xmlns:a16="http://schemas.microsoft.com/office/drawing/2014/main" id="{4427EAE8-F727-1F93-7C54-7295078518B1}"/>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411206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E4EAE-8601-7B8F-39FB-5AFC5CA74619}"/>
              </a:ext>
            </a:extLst>
          </p:cNvPr>
          <p:cNvSpPr>
            <a:spLocks noGrp="1"/>
          </p:cNvSpPr>
          <p:nvPr>
            <p:ph type="title"/>
          </p:nvPr>
        </p:nvSpPr>
        <p:spPr/>
        <p:txBody>
          <a:bodyPr/>
          <a:lstStyle/>
          <a:p>
            <a:r>
              <a:rPr lang="en-US" dirty="0"/>
              <a:t>Graphics Class</a:t>
            </a:r>
            <a:endParaRPr lang="en-IN" dirty="0"/>
          </a:p>
        </p:txBody>
      </p:sp>
      <p:sp>
        <p:nvSpPr>
          <p:cNvPr id="3" name="Content Placeholder 2">
            <a:extLst>
              <a:ext uri="{FF2B5EF4-FFF2-40B4-BE49-F238E27FC236}">
                <a16:creationId xmlns:a16="http://schemas.microsoft.com/office/drawing/2014/main" id="{F1F3A49A-ED86-1518-555A-CD0566E139E7}"/>
              </a:ext>
            </a:extLst>
          </p:cNvPr>
          <p:cNvSpPr>
            <a:spLocks noGrp="1"/>
          </p:cNvSpPr>
          <p:nvPr>
            <p:ph idx="1"/>
          </p:nvPr>
        </p:nvSpPr>
        <p:spPr/>
        <p:txBody>
          <a:bodyPr/>
          <a:lstStyle/>
          <a:p>
            <a:pPr marL="0" indent="0">
              <a:buNone/>
            </a:pPr>
            <a:r>
              <a:rPr lang="en-US" dirty="0"/>
              <a:t>This state information includes the following properties:</a:t>
            </a:r>
          </a:p>
          <a:p>
            <a:pPr marL="0" indent="0">
              <a:buNone/>
            </a:pPr>
            <a:r>
              <a:rPr lang="en-US" dirty="0"/>
              <a:t>The Component object on which to draw.</a:t>
            </a:r>
          </a:p>
          <a:p>
            <a:r>
              <a:rPr lang="en-US" dirty="0"/>
              <a:t>A translation origin for rendering and clipping coordinates.</a:t>
            </a:r>
          </a:p>
          <a:p>
            <a:r>
              <a:rPr lang="en-US" dirty="0"/>
              <a:t>The current clip.</a:t>
            </a:r>
          </a:p>
          <a:p>
            <a:r>
              <a:rPr lang="en-US" dirty="0"/>
              <a:t>The current color.</a:t>
            </a:r>
          </a:p>
          <a:p>
            <a:r>
              <a:rPr lang="en-US" dirty="0"/>
              <a:t>The current font.</a:t>
            </a:r>
          </a:p>
          <a:p>
            <a:r>
              <a:rPr lang="en-US" dirty="0"/>
              <a:t>The current logical pixel operation function (XOR or Paint).</a:t>
            </a:r>
          </a:p>
          <a:p>
            <a:r>
              <a:rPr lang="en-US" dirty="0"/>
              <a:t>The current XOR alternation color (</a:t>
            </a:r>
            <a:r>
              <a:rPr lang="en-US" dirty="0" err="1"/>
              <a:t>setXORMode</a:t>
            </a:r>
            <a:r>
              <a:rPr lang="en-US" dirty="0"/>
              <a:t>(</a:t>
            </a:r>
            <a:r>
              <a:rPr lang="en-US" dirty="0" err="1"/>
              <a:t>java.awt.Color</a:t>
            </a:r>
            <a:r>
              <a:rPr lang="en-US" dirty="0"/>
              <a:t>))</a:t>
            </a:r>
            <a:endParaRPr lang="en-IN" dirty="0"/>
          </a:p>
        </p:txBody>
      </p:sp>
      <p:sp>
        <p:nvSpPr>
          <p:cNvPr id="4" name="Footer Placeholder 3">
            <a:extLst>
              <a:ext uri="{FF2B5EF4-FFF2-40B4-BE49-F238E27FC236}">
                <a16:creationId xmlns:a16="http://schemas.microsoft.com/office/drawing/2014/main" id="{B1A76B2B-1AFE-1C4F-C0E7-6318A537235A}"/>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421919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6AA09-DE8E-B812-BD4B-6FBA5A4465A8}"/>
              </a:ext>
            </a:extLst>
          </p:cNvPr>
          <p:cNvSpPr>
            <a:spLocks noGrp="1"/>
          </p:cNvSpPr>
          <p:nvPr>
            <p:ph type="title"/>
          </p:nvPr>
        </p:nvSpPr>
        <p:spPr/>
        <p:txBody>
          <a:bodyPr/>
          <a:lstStyle/>
          <a:p>
            <a:r>
              <a:rPr lang="en-US" dirty="0"/>
              <a:t>Java AWT</a:t>
            </a:r>
            <a:endParaRPr lang="en-IN" dirty="0"/>
          </a:p>
        </p:txBody>
      </p:sp>
      <p:sp>
        <p:nvSpPr>
          <p:cNvPr id="3" name="Content Placeholder 2">
            <a:extLst>
              <a:ext uri="{FF2B5EF4-FFF2-40B4-BE49-F238E27FC236}">
                <a16:creationId xmlns:a16="http://schemas.microsoft.com/office/drawing/2014/main" id="{66176B46-E4BF-2AB1-5CBA-5979D5FB05AD}"/>
              </a:ext>
            </a:extLst>
          </p:cNvPr>
          <p:cNvSpPr>
            <a:spLocks noGrp="1"/>
          </p:cNvSpPr>
          <p:nvPr>
            <p:ph idx="1"/>
          </p:nvPr>
        </p:nvSpPr>
        <p:spPr>
          <a:xfrm>
            <a:off x="1047750" y="1117450"/>
            <a:ext cx="10515600" cy="4623100"/>
          </a:xfrm>
        </p:spPr>
        <p:txBody>
          <a:bodyPr>
            <a:normAutofit/>
          </a:bodyPr>
          <a:lstStyle/>
          <a:p>
            <a:pPr algn="just">
              <a:lnSpc>
                <a:spcPct val="150000"/>
              </a:lnSpc>
            </a:pPr>
            <a:r>
              <a:rPr lang="en-IN" dirty="0"/>
              <a:t>Java AWT (Abstract Window Toolkit) is an API to develop Graphical User Interface (GUI) or windows-based applications in Java.</a:t>
            </a:r>
          </a:p>
          <a:p>
            <a:pPr algn="just">
              <a:lnSpc>
                <a:spcPct val="150000"/>
              </a:lnSpc>
            </a:pPr>
            <a:r>
              <a:rPr lang="en-IN" dirty="0"/>
              <a:t>Java AWT components are platform-dependent i.e. components are displayed according to the view of operating system. AWT is heavy weight i.e. its components are using the resources of underlying operating system (OS).</a:t>
            </a:r>
          </a:p>
          <a:p>
            <a:pPr algn="just">
              <a:lnSpc>
                <a:spcPct val="150000"/>
              </a:lnSpc>
            </a:pPr>
            <a:r>
              <a:rPr lang="en-IN" dirty="0"/>
              <a:t>The </a:t>
            </a:r>
            <a:r>
              <a:rPr lang="en-IN" dirty="0" err="1"/>
              <a:t>java.awt</a:t>
            </a:r>
            <a:r>
              <a:rPr lang="en-IN" dirty="0"/>
              <a:t> package provides classes for AWT API such as </a:t>
            </a:r>
            <a:r>
              <a:rPr lang="en-IN" dirty="0" err="1"/>
              <a:t>TextField</a:t>
            </a:r>
            <a:r>
              <a:rPr lang="en-IN" dirty="0"/>
              <a:t>, Label, </a:t>
            </a:r>
            <a:r>
              <a:rPr lang="en-IN" dirty="0" err="1"/>
              <a:t>TextArea</a:t>
            </a:r>
            <a:r>
              <a:rPr lang="en-IN" dirty="0"/>
              <a:t>, </a:t>
            </a:r>
            <a:r>
              <a:rPr lang="en-IN" dirty="0" err="1"/>
              <a:t>RadioButton</a:t>
            </a:r>
            <a:r>
              <a:rPr lang="en-IN" dirty="0"/>
              <a:t>, </a:t>
            </a:r>
            <a:r>
              <a:rPr lang="en-IN" dirty="0" err="1"/>
              <a:t>CheckBox</a:t>
            </a:r>
            <a:r>
              <a:rPr lang="en-IN" dirty="0"/>
              <a:t>, Choice, List etc.</a:t>
            </a:r>
          </a:p>
        </p:txBody>
      </p:sp>
      <p:sp>
        <p:nvSpPr>
          <p:cNvPr id="4" name="Footer Placeholder 3">
            <a:extLst>
              <a:ext uri="{FF2B5EF4-FFF2-40B4-BE49-F238E27FC236}">
                <a16:creationId xmlns:a16="http://schemas.microsoft.com/office/drawing/2014/main" id="{91148A4D-BD8A-94D9-AB7E-6B6FE804B948}"/>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4068771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3C144-B1C1-CCCD-2B16-08501DE12FC0}"/>
              </a:ext>
            </a:extLst>
          </p:cNvPr>
          <p:cNvSpPr>
            <a:spLocks noGrp="1"/>
          </p:cNvSpPr>
          <p:nvPr>
            <p:ph type="title"/>
          </p:nvPr>
        </p:nvSpPr>
        <p:spPr/>
        <p:txBody>
          <a:bodyPr/>
          <a:lstStyle/>
          <a:p>
            <a:r>
              <a:rPr lang="en-US" dirty="0"/>
              <a:t>Java AWT is Platform Independent</a:t>
            </a:r>
            <a:endParaRPr lang="en-IN" dirty="0"/>
          </a:p>
        </p:txBody>
      </p:sp>
      <p:sp>
        <p:nvSpPr>
          <p:cNvPr id="3" name="Content Placeholder 2">
            <a:extLst>
              <a:ext uri="{FF2B5EF4-FFF2-40B4-BE49-F238E27FC236}">
                <a16:creationId xmlns:a16="http://schemas.microsoft.com/office/drawing/2014/main" id="{5DF6D6BA-0299-B3D1-5F9A-1A76910352BA}"/>
              </a:ext>
            </a:extLst>
          </p:cNvPr>
          <p:cNvSpPr>
            <a:spLocks noGrp="1"/>
          </p:cNvSpPr>
          <p:nvPr>
            <p:ph idx="1"/>
          </p:nvPr>
        </p:nvSpPr>
        <p:spPr>
          <a:xfrm>
            <a:off x="1047750" y="1117450"/>
            <a:ext cx="10515600" cy="4623100"/>
          </a:xfrm>
        </p:spPr>
        <p:txBody>
          <a:bodyPr/>
          <a:lstStyle/>
          <a:p>
            <a:pPr algn="just">
              <a:lnSpc>
                <a:spcPct val="150000"/>
              </a:lnSpc>
            </a:pPr>
            <a:r>
              <a:rPr lang="en-US" dirty="0"/>
              <a:t>Java AWT calls the native platform calls the native platform (operating systems) subroutine for creating API components like </a:t>
            </a:r>
            <a:r>
              <a:rPr lang="en-US" dirty="0" err="1"/>
              <a:t>TextField</a:t>
            </a:r>
            <a:r>
              <a:rPr lang="en-US" dirty="0"/>
              <a:t>, </a:t>
            </a:r>
            <a:r>
              <a:rPr lang="en-US" dirty="0" err="1"/>
              <a:t>ChechBox</a:t>
            </a:r>
            <a:r>
              <a:rPr lang="en-US" dirty="0"/>
              <a:t>, button, etc.</a:t>
            </a:r>
          </a:p>
          <a:p>
            <a:pPr algn="just">
              <a:lnSpc>
                <a:spcPct val="150000"/>
              </a:lnSpc>
            </a:pPr>
            <a:r>
              <a:rPr lang="en-US" dirty="0"/>
              <a:t>For example, an AWT GUI with components like </a:t>
            </a:r>
            <a:r>
              <a:rPr lang="en-US" dirty="0" err="1"/>
              <a:t>TextField</a:t>
            </a:r>
            <a:r>
              <a:rPr lang="en-US" dirty="0"/>
              <a:t>, label and button will have different look and feel for the different platforms like Windows, MAC OS, and Unix. The reason for this is the platforms have different view for their native components and AWT directly calls the native subroutine that creates those components.</a:t>
            </a:r>
          </a:p>
          <a:p>
            <a:pPr algn="just">
              <a:lnSpc>
                <a:spcPct val="150000"/>
              </a:lnSpc>
            </a:pPr>
            <a:r>
              <a:rPr lang="en-US" dirty="0"/>
              <a:t>In simple words, an AWT application will look like a windows application in Windows OS whereas it will look like a Mac application in the MAC OS.</a:t>
            </a:r>
            <a:endParaRPr lang="en-IN" dirty="0"/>
          </a:p>
        </p:txBody>
      </p:sp>
      <p:sp>
        <p:nvSpPr>
          <p:cNvPr id="4" name="Footer Placeholder 3">
            <a:extLst>
              <a:ext uri="{FF2B5EF4-FFF2-40B4-BE49-F238E27FC236}">
                <a16:creationId xmlns:a16="http://schemas.microsoft.com/office/drawing/2014/main" id="{1BC7182C-60C8-E808-23EE-4710AB99CA58}"/>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2661483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CE7C-3BB6-370A-EC59-3FC3BD118A9A}"/>
              </a:ext>
            </a:extLst>
          </p:cNvPr>
          <p:cNvSpPr>
            <a:spLocks noGrp="1"/>
          </p:cNvSpPr>
          <p:nvPr>
            <p:ph type="title"/>
          </p:nvPr>
        </p:nvSpPr>
        <p:spPr/>
        <p:txBody>
          <a:bodyPr/>
          <a:lstStyle/>
          <a:p>
            <a:r>
              <a:rPr lang="en-US" dirty="0"/>
              <a:t>Java AWT Hierarchy</a:t>
            </a:r>
            <a:endParaRPr lang="en-IN" dirty="0"/>
          </a:p>
        </p:txBody>
      </p:sp>
      <p:sp>
        <p:nvSpPr>
          <p:cNvPr id="4" name="Footer Placeholder 3">
            <a:extLst>
              <a:ext uri="{FF2B5EF4-FFF2-40B4-BE49-F238E27FC236}">
                <a16:creationId xmlns:a16="http://schemas.microsoft.com/office/drawing/2014/main" id="{BECEB943-80C4-0D53-9365-71BB710CD487}"/>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3074" name="Picture 2" descr="Java AWT Tutorial">
            <a:extLst>
              <a:ext uri="{FF2B5EF4-FFF2-40B4-BE49-F238E27FC236}">
                <a16:creationId xmlns:a16="http://schemas.microsoft.com/office/drawing/2014/main" id="{035B70AD-B390-1103-FBBE-662F329ABDE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2905125" y="1190625"/>
            <a:ext cx="5391150" cy="48735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48ED4B7-9A95-A174-8686-660BEAFD840E}"/>
              </a:ext>
            </a:extLst>
          </p:cNvPr>
          <p:cNvSpPr txBox="1"/>
          <p:nvPr/>
        </p:nvSpPr>
        <p:spPr>
          <a:xfrm>
            <a:off x="8634413" y="5823102"/>
            <a:ext cx="3043237" cy="307777"/>
          </a:xfrm>
          <a:prstGeom prst="rect">
            <a:avLst/>
          </a:prstGeom>
          <a:noFill/>
        </p:spPr>
        <p:txBody>
          <a:bodyPr wrap="square">
            <a:spAutoFit/>
          </a:bodyPr>
          <a:lstStyle/>
          <a:p>
            <a:r>
              <a:rPr lang="en-IN" sz="1400" dirty="0"/>
              <a:t>https://www.javatpoint.com/java-awt</a:t>
            </a:r>
          </a:p>
        </p:txBody>
      </p:sp>
    </p:spTree>
    <p:extLst>
      <p:ext uri="{BB962C8B-B14F-4D97-AF65-F5344CB8AC3E}">
        <p14:creationId xmlns:p14="http://schemas.microsoft.com/office/powerpoint/2010/main" val="1353465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3F06D-90C0-0646-BD55-FA1A1C3E15CA}"/>
              </a:ext>
            </a:extLst>
          </p:cNvPr>
          <p:cNvSpPr>
            <a:spLocks noGrp="1"/>
          </p:cNvSpPr>
          <p:nvPr>
            <p:ph type="title"/>
          </p:nvPr>
        </p:nvSpPr>
        <p:spPr/>
        <p:txBody>
          <a:bodyPr/>
          <a:lstStyle/>
          <a:p>
            <a:r>
              <a:rPr lang="en-US" dirty="0"/>
              <a:t>Component Class</a:t>
            </a:r>
            <a:endParaRPr lang="en-IN" dirty="0"/>
          </a:p>
        </p:txBody>
      </p:sp>
      <p:sp>
        <p:nvSpPr>
          <p:cNvPr id="3" name="Content Placeholder 2">
            <a:extLst>
              <a:ext uri="{FF2B5EF4-FFF2-40B4-BE49-F238E27FC236}">
                <a16:creationId xmlns:a16="http://schemas.microsoft.com/office/drawing/2014/main" id="{5B2F79B9-124E-BD0B-6B78-6C2BBCCB5706}"/>
              </a:ext>
            </a:extLst>
          </p:cNvPr>
          <p:cNvSpPr>
            <a:spLocks noGrp="1"/>
          </p:cNvSpPr>
          <p:nvPr>
            <p:ph idx="1"/>
          </p:nvPr>
        </p:nvSpPr>
        <p:spPr>
          <a:xfrm>
            <a:off x="1047750" y="1117450"/>
            <a:ext cx="10515600" cy="5208148"/>
          </a:xfrm>
        </p:spPr>
        <p:txBody>
          <a:bodyPr>
            <a:normAutofit/>
          </a:bodyPr>
          <a:lstStyle/>
          <a:p>
            <a:pPr algn="just">
              <a:lnSpc>
                <a:spcPct val="130000"/>
              </a:lnSpc>
              <a:spcBef>
                <a:spcPts val="0"/>
              </a:spcBef>
            </a:pPr>
            <a:r>
              <a:rPr lang="en-US" sz="2000" dirty="0"/>
              <a:t>The Component class is the superclass of all components. </a:t>
            </a:r>
          </a:p>
          <a:p>
            <a:pPr algn="just">
              <a:lnSpc>
                <a:spcPct val="130000"/>
              </a:lnSpc>
              <a:spcBef>
                <a:spcPts val="0"/>
              </a:spcBef>
            </a:pPr>
            <a:r>
              <a:rPr lang="en-US" sz="2000" dirty="0"/>
              <a:t>A component class can be linked with a page, components of web applications. Component is the graphical representation of an Object.</a:t>
            </a:r>
          </a:p>
          <a:p>
            <a:pPr algn="just">
              <a:lnSpc>
                <a:spcPct val="130000"/>
              </a:lnSpc>
              <a:spcBef>
                <a:spcPts val="0"/>
              </a:spcBef>
            </a:pPr>
            <a:r>
              <a:rPr lang="en-US" sz="2000" i="0" dirty="0">
                <a:solidFill>
                  <a:srgbClr val="273239"/>
                </a:solidFill>
                <a:effectLst/>
              </a:rPr>
              <a:t>Types of Components in Component Class</a:t>
            </a:r>
          </a:p>
          <a:p>
            <a:pPr lvl="1" algn="just" fontAlgn="base">
              <a:lnSpc>
                <a:spcPct val="130000"/>
              </a:lnSpc>
              <a:spcBef>
                <a:spcPts val="0"/>
              </a:spcBef>
            </a:pPr>
            <a:r>
              <a:rPr lang="en-US" sz="2000" i="0" dirty="0">
                <a:solidFill>
                  <a:srgbClr val="273239"/>
                </a:solidFill>
                <a:effectLst/>
              </a:rPr>
              <a:t>Container</a:t>
            </a:r>
          </a:p>
          <a:p>
            <a:pPr lvl="1" algn="just" fontAlgn="base">
              <a:lnSpc>
                <a:spcPct val="130000"/>
              </a:lnSpc>
              <a:spcBef>
                <a:spcPts val="0"/>
              </a:spcBef>
            </a:pPr>
            <a:r>
              <a:rPr lang="en-US" sz="2000" i="0" dirty="0">
                <a:solidFill>
                  <a:srgbClr val="273239"/>
                </a:solidFill>
                <a:effectLst/>
              </a:rPr>
              <a:t>Button</a:t>
            </a:r>
          </a:p>
          <a:p>
            <a:pPr lvl="1" algn="just" fontAlgn="base">
              <a:lnSpc>
                <a:spcPct val="130000"/>
              </a:lnSpc>
              <a:spcBef>
                <a:spcPts val="0"/>
              </a:spcBef>
            </a:pPr>
            <a:r>
              <a:rPr lang="en-US" sz="2000" i="0" dirty="0">
                <a:solidFill>
                  <a:srgbClr val="273239"/>
                </a:solidFill>
                <a:effectLst/>
              </a:rPr>
              <a:t>Label</a:t>
            </a:r>
          </a:p>
          <a:p>
            <a:pPr lvl="1" algn="just" fontAlgn="base">
              <a:lnSpc>
                <a:spcPct val="130000"/>
              </a:lnSpc>
              <a:spcBef>
                <a:spcPts val="0"/>
              </a:spcBef>
            </a:pPr>
            <a:r>
              <a:rPr lang="en-US" sz="2000" i="0" dirty="0">
                <a:solidFill>
                  <a:srgbClr val="273239"/>
                </a:solidFill>
                <a:effectLst/>
              </a:rPr>
              <a:t>Checkbox</a:t>
            </a:r>
          </a:p>
          <a:p>
            <a:pPr lvl="1" algn="just" fontAlgn="base">
              <a:lnSpc>
                <a:spcPct val="130000"/>
              </a:lnSpc>
              <a:spcBef>
                <a:spcPts val="0"/>
              </a:spcBef>
            </a:pPr>
            <a:r>
              <a:rPr lang="en-US" sz="2000" i="0" dirty="0">
                <a:solidFill>
                  <a:srgbClr val="273239"/>
                </a:solidFill>
                <a:effectLst/>
              </a:rPr>
              <a:t>Choice</a:t>
            </a:r>
          </a:p>
          <a:p>
            <a:pPr lvl="1" algn="just" fontAlgn="base">
              <a:lnSpc>
                <a:spcPct val="130000"/>
              </a:lnSpc>
              <a:spcBef>
                <a:spcPts val="0"/>
              </a:spcBef>
            </a:pPr>
            <a:r>
              <a:rPr lang="en-US" sz="2000" i="0" dirty="0">
                <a:solidFill>
                  <a:srgbClr val="273239"/>
                </a:solidFill>
                <a:effectLst/>
              </a:rPr>
              <a:t>List</a:t>
            </a:r>
          </a:p>
          <a:p>
            <a:pPr algn="just">
              <a:lnSpc>
                <a:spcPct val="130000"/>
              </a:lnSpc>
              <a:spcBef>
                <a:spcPts val="0"/>
              </a:spcBef>
            </a:pPr>
            <a:r>
              <a:rPr lang="en-US" sz="2000" b="0" i="0" dirty="0">
                <a:solidFill>
                  <a:srgbClr val="273239"/>
                </a:solidFill>
                <a:effectLst/>
              </a:rPr>
              <a:t>All these components are present in </a:t>
            </a:r>
            <a:r>
              <a:rPr lang="en-US" sz="2000" b="1" i="0" dirty="0" err="1">
                <a:solidFill>
                  <a:srgbClr val="273239"/>
                </a:solidFill>
                <a:effectLst/>
              </a:rPr>
              <a:t>java.awt</a:t>
            </a:r>
            <a:r>
              <a:rPr lang="en-US" sz="2000" b="1" i="0" dirty="0">
                <a:solidFill>
                  <a:srgbClr val="273239"/>
                </a:solidFill>
                <a:effectLst/>
              </a:rPr>
              <a:t> </a:t>
            </a:r>
            <a:r>
              <a:rPr lang="en-US" sz="2000" b="0" i="0" dirty="0">
                <a:solidFill>
                  <a:srgbClr val="273239"/>
                </a:solidFill>
                <a:effectLst/>
              </a:rPr>
              <a:t>package. We can import each of the components individually i.e., </a:t>
            </a:r>
            <a:r>
              <a:rPr lang="en-US" sz="2000" b="1" i="0" dirty="0">
                <a:solidFill>
                  <a:srgbClr val="273239"/>
                </a:solidFill>
                <a:effectLst/>
              </a:rPr>
              <a:t>import </a:t>
            </a:r>
            <a:r>
              <a:rPr lang="en-US" sz="2000" b="1" i="0" dirty="0" err="1">
                <a:solidFill>
                  <a:srgbClr val="273239"/>
                </a:solidFill>
                <a:effectLst/>
              </a:rPr>
              <a:t>java.awt.Button</a:t>
            </a:r>
            <a:r>
              <a:rPr lang="en-US" sz="2000" b="0" i="0" dirty="0">
                <a:solidFill>
                  <a:srgbClr val="273239"/>
                </a:solidFill>
                <a:effectLst/>
              </a:rPr>
              <a:t>, </a:t>
            </a:r>
            <a:r>
              <a:rPr lang="en-US" sz="2000" b="1" i="0" dirty="0">
                <a:solidFill>
                  <a:srgbClr val="273239"/>
                </a:solidFill>
                <a:effectLst/>
              </a:rPr>
              <a:t>import </a:t>
            </a:r>
            <a:r>
              <a:rPr lang="en-US" sz="2000" b="1" i="0" dirty="0" err="1">
                <a:solidFill>
                  <a:srgbClr val="273239"/>
                </a:solidFill>
                <a:effectLst/>
              </a:rPr>
              <a:t>java.awt.Container</a:t>
            </a:r>
            <a:r>
              <a:rPr lang="en-US" sz="2000" b="0" i="0" dirty="0">
                <a:solidFill>
                  <a:srgbClr val="273239"/>
                </a:solidFill>
                <a:effectLst/>
              </a:rPr>
              <a:t> etc. </a:t>
            </a:r>
            <a:endParaRPr lang="en-IN" sz="2000" dirty="0"/>
          </a:p>
        </p:txBody>
      </p:sp>
      <p:sp>
        <p:nvSpPr>
          <p:cNvPr id="4" name="Footer Placeholder 3">
            <a:extLst>
              <a:ext uri="{FF2B5EF4-FFF2-40B4-BE49-F238E27FC236}">
                <a16:creationId xmlns:a16="http://schemas.microsoft.com/office/drawing/2014/main" id="{9F5780C8-36A1-F33A-0C59-736C6AF7EBBD}"/>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926334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7EEF2-5A2F-727D-FEE8-F88BDA4D2B1A}"/>
              </a:ext>
            </a:extLst>
          </p:cNvPr>
          <p:cNvSpPr>
            <a:spLocks noGrp="1"/>
          </p:cNvSpPr>
          <p:nvPr>
            <p:ph type="title"/>
          </p:nvPr>
        </p:nvSpPr>
        <p:spPr/>
        <p:txBody>
          <a:bodyPr/>
          <a:lstStyle/>
          <a:p>
            <a:r>
              <a:rPr lang="en-US" dirty="0"/>
              <a:t>Java AWT Controls</a:t>
            </a:r>
            <a:endParaRPr lang="en-IN" dirty="0"/>
          </a:p>
        </p:txBody>
      </p:sp>
      <p:sp>
        <p:nvSpPr>
          <p:cNvPr id="3" name="Content Placeholder 2">
            <a:extLst>
              <a:ext uri="{FF2B5EF4-FFF2-40B4-BE49-F238E27FC236}">
                <a16:creationId xmlns:a16="http://schemas.microsoft.com/office/drawing/2014/main" id="{4F420D0B-EA49-E7C0-70A7-C3567EA72921}"/>
              </a:ext>
            </a:extLst>
          </p:cNvPr>
          <p:cNvSpPr>
            <a:spLocks noGrp="1"/>
          </p:cNvSpPr>
          <p:nvPr>
            <p:ph idx="1"/>
          </p:nvPr>
        </p:nvSpPr>
        <p:spPr>
          <a:xfrm>
            <a:off x="1047750" y="1117450"/>
            <a:ext cx="10515600" cy="4921400"/>
          </a:xfrm>
        </p:spPr>
        <p:txBody>
          <a:bodyPr>
            <a:normAutofit lnSpcReduction="10000"/>
          </a:bodyPr>
          <a:lstStyle/>
          <a:p>
            <a:pPr>
              <a:lnSpc>
                <a:spcPct val="150000"/>
              </a:lnSpc>
            </a:pPr>
            <a:r>
              <a:rPr lang="en-US" b="1" dirty="0"/>
              <a:t>Container: </a:t>
            </a:r>
            <a:r>
              <a:rPr lang="en-US" dirty="0"/>
              <a:t>The Container is a component in AWT that can contain another components like buttons, </a:t>
            </a:r>
            <a:r>
              <a:rPr lang="en-US" dirty="0" err="1"/>
              <a:t>textfields</a:t>
            </a:r>
            <a:r>
              <a:rPr lang="en-US" dirty="0"/>
              <a:t>, labels etc. The classes that extends Container class are known as container such as Frame, Dialog and Panel.</a:t>
            </a:r>
          </a:p>
          <a:p>
            <a:pPr>
              <a:lnSpc>
                <a:spcPct val="150000"/>
              </a:lnSpc>
            </a:pPr>
            <a:r>
              <a:rPr lang="en-US" b="1" dirty="0"/>
              <a:t>Window: </a:t>
            </a:r>
            <a:r>
              <a:rPr lang="en-US" dirty="0"/>
              <a:t>The window is the container that have no borders and menu bars. You must use frame, dialog or another window for creating a window.</a:t>
            </a:r>
          </a:p>
          <a:p>
            <a:pPr>
              <a:lnSpc>
                <a:spcPct val="150000"/>
              </a:lnSpc>
            </a:pPr>
            <a:r>
              <a:rPr lang="en-US" b="1" dirty="0"/>
              <a:t>Panel: </a:t>
            </a:r>
            <a:r>
              <a:rPr lang="en-US" dirty="0"/>
              <a:t>The Panel is the container that doesn't contain title bar and menu bars. It can have other components like button, </a:t>
            </a:r>
            <a:r>
              <a:rPr lang="en-US" dirty="0" err="1"/>
              <a:t>textfield</a:t>
            </a:r>
            <a:r>
              <a:rPr lang="en-US" dirty="0"/>
              <a:t> etc.</a:t>
            </a:r>
          </a:p>
          <a:p>
            <a:pPr>
              <a:lnSpc>
                <a:spcPct val="150000"/>
              </a:lnSpc>
            </a:pPr>
            <a:r>
              <a:rPr lang="en-US" b="1" dirty="0"/>
              <a:t>Frame: </a:t>
            </a:r>
            <a:r>
              <a:rPr lang="en-US" dirty="0"/>
              <a:t>The Frame is the container that contain title bar and can have menu bars. It can have other components like button, </a:t>
            </a:r>
            <a:r>
              <a:rPr lang="en-US" dirty="0" err="1"/>
              <a:t>textfield</a:t>
            </a:r>
            <a:r>
              <a:rPr lang="en-US" dirty="0"/>
              <a:t> etc.</a:t>
            </a:r>
            <a:endParaRPr lang="en-IN" dirty="0"/>
          </a:p>
        </p:txBody>
      </p:sp>
      <p:sp>
        <p:nvSpPr>
          <p:cNvPr id="4" name="Footer Placeholder 3">
            <a:extLst>
              <a:ext uri="{FF2B5EF4-FFF2-40B4-BE49-F238E27FC236}">
                <a16:creationId xmlns:a16="http://schemas.microsoft.com/office/drawing/2014/main" id="{E91E5B65-77CC-D6CB-4A41-06F7CE0C4C9E}"/>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684952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98EA-DE52-E8E3-12C5-3E127A39C6F6}"/>
              </a:ext>
            </a:extLst>
          </p:cNvPr>
          <p:cNvSpPr>
            <a:spLocks noGrp="1"/>
          </p:cNvSpPr>
          <p:nvPr>
            <p:ph type="title"/>
          </p:nvPr>
        </p:nvSpPr>
        <p:spPr/>
        <p:txBody>
          <a:bodyPr/>
          <a:lstStyle/>
          <a:p>
            <a:r>
              <a:rPr lang="en-US" dirty="0"/>
              <a:t>Useful Methods of Component Class</a:t>
            </a:r>
            <a:endParaRPr lang="en-IN" dirty="0"/>
          </a:p>
        </p:txBody>
      </p:sp>
      <p:sp>
        <p:nvSpPr>
          <p:cNvPr id="4" name="Footer Placeholder 3">
            <a:extLst>
              <a:ext uri="{FF2B5EF4-FFF2-40B4-BE49-F238E27FC236}">
                <a16:creationId xmlns:a16="http://schemas.microsoft.com/office/drawing/2014/main" id="{2FF6F5B8-1124-5B1B-9E60-20409ACBCBBC}"/>
              </a:ext>
            </a:extLst>
          </p:cNvPr>
          <p:cNvSpPr>
            <a:spLocks noGrp="1"/>
          </p:cNvSpPr>
          <p:nvPr>
            <p:ph type="ftr" sz="quarter" idx="11"/>
          </p:nvPr>
        </p:nvSpPr>
        <p:spPr/>
        <p:txBody>
          <a:bodyPr/>
          <a:lstStyle/>
          <a:p>
            <a:r>
              <a:rPr lang="en-US"/>
              <a:t>Department of Electronics &amp; Telecommunication Engg. </a:t>
            </a:r>
            <a:endParaRPr lang="en-IN" dirty="0"/>
          </a:p>
        </p:txBody>
      </p:sp>
      <p:graphicFrame>
        <p:nvGraphicFramePr>
          <p:cNvPr id="5" name="Table 4">
            <a:extLst>
              <a:ext uri="{FF2B5EF4-FFF2-40B4-BE49-F238E27FC236}">
                <a16:creationId xmlns:a16="http://schemas.microsoft.com/office/drawing/2014/main" id="{A1332274-F34A-BCAB-4070-49017D695880}"/>
              </a:ext>
            </a:extLst>
          </p:cNvPr>
          <p:cNvGraphicFramePr>
            <a:graphicFrameLocks noGrp="1"/>
          </p:cNvGraphicFramePr>
          <p:nvPr>
            <p:extLst>
              <p:ext uri="{D42A27DB-BD31-4B8C-83A1-F6EECF244321}">
                <p14:modId xmlns:p14="http://schemas.microsoft.com/office/powerpoint/2010/main" val="1910770698"/>
              </p:ext>
            </p:extLst>
          </p:nvPr>
        </p:nvGraphicFramePr>
        <p:xfrm>
          <a:off x="1214703" y="1350190"/>
          <a:ext cx="10224822" cy="3810000"/>
        </p:xfrm>
        <a:graphic>
          <a:graphicData uri="http://schemas.openxmlformats.org/drawingml/2006/table">
            <a:tbl>
              <a:tblPr>
                <a:tableStyleId>{7DF18680-E054-41AD-8BC1-D1AEF772440D}</a:tableStyleId>
              </a:tblPr>
              <a:tblGrid>
                <a:gridCol w="4662222">
                  <a:extLst>
                    <a:ext uri="{9D8B030D-6E8A-4147-A177-3AD203B41FA5}">
                      <a16:colId xmlns:a16="http://schemas.microsoft.com/office/drawing/2014/main" val="2846064630"/>
                    </a:ext>
                  </a:extLst>
                </a:gridCol>
                <a:gridCol w="5562600">
                  <a:extLst>
                    <a:ext uri="{9D8B030D-6E8A-4147-A177-3AD203B41FA5}">
                      <a16:colId xmlns:a16="http://schemas.microsoft.com/office/drawing/2014/main" val="2938121449"/>
                    </a:ext>
                  </a:extLst>
                </a:gridCol>
              </a:tblGrid>
              <a:tr h="0">
                <a:tc>
                  <a:txBody>
                    <a:bodyPr/>
                    <a:lstStyle/>
                    <a:p>
                      <a:pPr algn="ctr" fontAlgn="t"/>
                      <a:r>
                        <a:rPr lang="en-IN" sz="2000" b="1" dirty="0">
                          <a:solidFill>
                            <a:srgbClr val="000000"/>
                          </a:solidFill>
                          <a:effectLst/>
                          <a:latin typeface="Times New Roman" panose="02020603050405020304" pitchFamily="18" charset="0"/>
                          <a:cs typeface="Times New Roman" panose="02020603050405020304" pitchFamily="18" charset="0"/>
                        </a:rPr>
                        <a:t>Method</a:t>
                      </a:r>
                    </a:p>
                  </a:txBody>
                  <a:tcPr marL="137160" marR="137160" marT="137160" marB="137160" anchor="ctr"/>
                </a:tc>
                <a:tc>
                  <a:txBody>
                    <a:bodyPr/>
                    <a:lstStyle/>
                    <a:p>
                      <a:pPr algn="ctr" fontAlgn="t"/>
                      <a:r>
                        <a:rPr lang="en-IN" sz="2000" b="1" dirty="0">
                          <a:solidFill>
                            <a:srgbClr val="000000"/>
                          </a:solidFill>
                          <a:effectLst/>
                          <a:latin typeface="Times New Roman" panose="02020603050405020304" pitchFamily="18" charset="0"/>
                          <a:cs typeface="Times New Roman" panose="02020603050405020304" pitchFamily="18" charset="0"/>
                        </a:rPr>
                        <a:t>Description</a:t>
                      </a:r>
                    </a:p>
                  </a:txBody>
                  <a:tcPr marL="137160" marR="137160" marT="137160" marB="137160" anchor="ctr"/>
                </a:tc>
                <a:extLst>
                  <a:ext uri="{0D108BD9-81ED-4DB2-BD59-A6C34878D82A}">
                    <a16:rowId xmlns:a16="http://schemas.microsoft.com/office/drawing/2014/main" val="544367607"/>
                  </a:ext>
                </a:extLst>
              </a:tr>
              <a:tr h="0">
                <a:tc>
                  <a:txBody>
                    <a:bodyPr/>
                    <a:lstStyle/>
                    <a:p>
                      <a:pPr algn="just" fontAlgn="t"/>
                      <a:r>
                        <a:rPr lang="en-US" sz="2000" dirty="0">
                          <a:solidFill>
                            <a:srgbClr val="333333"/>
                          </a:solidFill>
                          <a:effectLst/>
                          <a:latin typeface="Times New Roman" panose="02020603050405020304" pitchFamily="18" charset="0"/>
                          <a:cs typeface="Times New Roman" panose="02020603050405020304" pitchFamily="18" charset="0"/>
                        </a:rPr>
                        <a:t>public void add(Component c)</a:t>
                      </a:r>
                    </a:p>
                  </a:txBody>
                  <a:tcPr marL="137160" marR="137160" marT="137160" marB="137160"/>
                </a:tc>
                <a:tc>
                  <a:txBody>
                    <a:bodyPr/>
                    <a:lstStyle/>
                    <a:p>
                      <a:pPr algn="just" fontAlgn="t"/>
                      <a:r>
                        <a:rPr lang="en-US" sz="2000" dirty="0">
                          <a:solidFill>
                            <a:srgbClr val="333333"/>
                          </a:solidFill>
                          <a:effectLst/>
                          <a:latin typeface="Times New Roman" panose="02020603050405020304" pitchFamily="18" charset="0"/>
                          <a:cs typeface="Times New Roman" panose="02020603050405020304" pitchFamily="18" charset="0"/>
                        </a:rPr>
                        <a:t>Inserts a component on this component.</a:t>
                      </a:r>
                    </a:p>
                  </a:txBody>
                  <a:tcPr marL="137160" marR="137160" marT="137160" marB="137160"/>
                </a:tc>
                <a:extLst>
                  <a:ext uri="{0D108BD9-81ED-4DB2-BD59-A6C34878D82A}">
                    <a16:rowId xmlns:a16="http://schemas.microsoft.com/office/drawing/2014/main" val="2552391502"/>
                  </a:ext>
                </a:extLst>
              </a:tr>
              <a:tr h="0">
                <a:tc>
                  <a:txBody>
                    <a:bodyPr/>
                    <a:lstStyle/>
                    <a:p>
                      <a:pPr algn="just" fontAlgn="t"/>
                      <a:r>
                        <a:rPr lang="en-US" sz="2000">
                          <a:solidFill>
                            <a:srgbClr val="333333"/>
                          </a:solidFill>
                          <a:effectLst/>
                          <a:latin typeface="Times New Roman" panose="02020603050405020304" pitchFamily="18" charset="0"/>
                          <a:cs typeface="Times New Roman" panose="02020603050405020304" pitchFamily="18" charset="0"/>
                        </a:rPr>
                        <a:t>public void setSize(int width,int height)</a:t>
                      </a:r>
                    </a:p>
                  </a:txBody>
                  <a:tcPr marL="137160" marR="137160" marT="137160" marB="137160"/>
                </a:tc>
                <a:tc>
                  <a:txBody>
                    <a:bodyPr/>
                    <a:lstStyle/>
                    <a:p>
                      <a:pPr algn="just" fontAlgn="t"/>
                      <a:r>
                        <a:rPr lang="en-US" sz="2000" dirty="0">
                          <a:solidFill>
                            <a:srgbClr val="333333"/>
                          </a:solidFill>
                          <a:effectLst/>
                          <a:latin typeface="Times New Roman" panose="02020603050405020304" pitchFamily="18" charset="0"/>
                          <a:cs typeface="Times New Roman" panose="02020603050405020304" pitchFamily="18" charset="0"/>
                        </a:rPr>
                        <a:t>Sets the size (width and height) of the component.</a:t>
                      </a:r>
                    </a:p>
                  </a:txBody>
                  <a:tcPr marL="137160" marR="137160" marT="137160" marB="137160"/>
                </a:tc>
                <a:extLst>
                  <a:ext uri="{0D108BD9-81ED-4DB2-BD59-A6C34878D82A}">
                    <a16:rowId xmlns:a16="http://schemas.microsoft.com/office/drawing/2014/main" val="1204117571"/>
                  </a:ext>
                </a:extLst>
              </a:tr>
              <a:tr h="0">
                <a:tc>
                  <a:txBody>
                    <a:bodyPr/>
                    <a:lstStyle/>
                    <a:p>
                      <a:pPr algn="just" fontAlgn="t"/>
                      <a:r>
                        <a:rPr lang="en-US" sz="2000">
                          <a:solidFill>
                            <a:srgbClr val="333333"/>
                          </a:solidFill>
                          <a:effectLst/>
                          <a:latin typeface="Times New Roman" panose="02020603050405020304" pitchFamily="18" charset="0"/>
                          <a:cs typeface="Times New Roman" panose="02020603050405020304" pitchFamily="18" charset="0"/>
                        </a:rPr>
                        <a:t>public void setLayout(LayoutManager m)</a:t>
                      </a:r>
                    </a:p>
                  </a:txBody>
                  <a:tcPr marL="137160" marR="137160" marT="137160" marB="137160"/>
                </a:tc>
                <a:tc>
                  <a:txBody>
                    <a:bodyPr/>
                    <a:lstStyle/>
                    <a:p>
                      <a:pPr algn="just" fontAlgn="t"/>
                      <a:r>
                        <a:rPr lang="en-US" sz="2000" dirty="0">
                          <a:solidFill>
                            <a:srgbClr val="333333"/>
                          </a:solidFill>
                          <a:effectLst/>
                          <a:latin typeface="Times New Roman" panose="02020603050405020304" pitchFamily="18" charset="0"/>
                          <a:cs typeface="Times New Roman" panose="02020603050405020304" pitchFamily="18" charset="0"/>
                        </a:rPr>
                        <a:t>Defines the layout manager for the component.</a:t>
                      </a:r>
                    </a:p>
                  </a:txBody>
                  <a:tcPr marL="137160" marR="137160" marT="137160" marB="137160"/>
                </a:tc>
                <a:extLst>
                  <a:ext uri="{0D108BD9-81ED-4DB2-BD59-A6C34878D82A}">
                    <a16:rowId xmlns:a16="http://schemas.microsoft.com/office/drawing/2014/main" val="2223440681"/>
                  </a:ext>
                </a:extLst>
              </a:tr>
              <a:tr h="0">
                <a:tc>
                  <a:txBody>
                    <a:bodyPr/>
                    <a:lstStyle/>
                    <a:p>
                      <a:pPr algn="just" fontAlgn="t"/>
                      <a:r>
                        <a:rPr lang="en-US" sz="2000">
                          <a:solidFill>
                            <a:srgbClr val="333333"/>
                          </a:solidFill>
                          <a:effectLst/>
                          <a:latin typeface="Times New Roman" panose="02020603050405020304" pitchFamily="18" charset="0"/>
                          <a:cs typeface="Times New Roman" panose="02020603050405020304" pitchFamily="18" charset="0"/>
                        </a:rPr>
                        <a:t>public void setVisible(boolean status)</a:t>
                      </a:r>
                    </a:p>
                  </a:txBody>
                  <a:tcPr marL="137160" marR="137160" marT="137160" marB="137160"/>
                </a:tc>
                <a:tc>
                  <a:txBody>
                    <a:bodyPr/>
                    <a:lstStyle/>
                    <a:p>
                      <a:pPr algn="just" fontAlgn="t"/>
                      <a:r>
                        <a:rPr lang="en-US" sz="2000" dirty="0">
                          <a:solidFill>
                            <a:srgbClr val="333333"/>
                          </a:solidFill>
                          <a:effectLst/>
                          <a:latin typeface="Times New Roman" panose="02020603050405020304" pitchFamily="18" charset="0"/>
                          <a:cs typeface="Times New Roman" panose="02020603050405020304" pitchFamily="18" charset="0"/>
                        </a:rPr>
                        <a:t>Sets the visibility of a component to visible or not. If it sets to true, then the component will be visible in the output else if it sets to false or not defined component won’t be visible in the output.</a:t>
                      </a:r>
                    </a:p>
                  </a:txBody>
                  <a:tcPr marL="137160" marR="137160" marT="137160" marB="137160"/>
                </a:tc>
                <a:extLst>
                  <a:ext uri="{0D108BD9-81ED-4DB2-BD59-A6C34878D82A}">
                    <a16:rowId xmlns:a16="http://schemas.microsoft.com/office/drawing/2014/main" val="1161976636"/>
                  </a:ext>
                </a:extLst>
              </a:tr>
            </a:tbl>
          </a:graphicData>
        </a:graphic>
      </p:graphicFrame>
    </p:spTree>
    <p:extLst>
      <p:ext uri="{BB962C8B-B14F-4D97-AF65-F5344CB8AC3E}">
        <p14:creationId xmlns:p14="http://schemas.microsoft.com/office/powerpoint/2010/main" val="3392549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064D1-B2C9-E9C4-4219-1436BC49B812}"/>
              </a:ext>
            </a:extLst>
          </p:cNvPr>
          <p:cNvSpPr>
            <a:spLocks noGrp="1"/>
          </p:cNvSpPr>
          <p:nvPr>
            <p:ph type="title"/>
          </p:nvPr>
        </p:nvSpPr>
        <p:spPr/>
        <p:txBody>
          <a:bodyPr/>
          <a:lstStyle/>
          <a:p>
            <a:r>
              <a:rPr lang="en-US" dirty="0"/>
              <a:t>AWT UI Elements</a:t>
            </a:r>
            <a:endParaRPr lang="en-IN" dirty="0"/>
          </a:p>
        </p:txBody>
      </p:sp>
      <p:sp>
        <p:nvSpPr>
          <p:cNvPr id="3" name="Content Placeholder 2">
            <a:extLst>
              <a:ext uri="{FF2B5EF4-FFF2-40B4-BE49-F238E27FC236}">
                <a16:creationId xmlns:a16="http://schemas.microsoft.com/office/drawing/2014/main" id="{8E947270-45B7-8AB5-2001-B4DC8D7A7875}"/>
              </a:ext>
            </a:extLst>
          </p:cNvPr>
          <p:cNvSpPr>
            <a:spLocks noGrp="1"/>
          </p:cNvSpPr>
          <p:nvPr>
            <p:ph idx="1"/>
          </p:nvPr>
        </p:nvSpPr>
        <p:spPr>
          <a:xfrm>
            <a:off x="1009650" y="1050775"/>
            <a:ext cx="10782300" cy="5111900"/>
          </a:xfrm>
        </p:spPr>
        <p:txBody>
          <a:bodyPr>
            <a:noAutofit/>
          </a:bodyPr>
          <a:lstStyle/>
          <a:p>
            <a:pPr>
              <a:lnSpc>
                <a:spcPct val="150000"/>
              </a:lnSpc>
              <a:spcBef>
                <a:spcPts val="0"/>
              </a:spcBef>
            </a:pPr>
            <a:r>
              <a:rPr lang="en-US" sz="2000" dirty="0"/>
              <a:t>Label - A Label object is a component for placing text in a container.</a:t>
            </a:r>
          </a:p>
          <a:p>
            <a:pPr>
              <a:lnSpc>
                <a:spcPct val="150000"/>
              </a:lnSpc>
              <a:spcBef>
                <a:spcPts val="0"/>
              </a:spcBef>
            </a:pPr>
            <a:r>
              <a:rPr lang="en-US" sz="2000" dirty="0"/>
              <a:t>Button - This class creates a labeled button.</a:t>
            </a:r>
          </a:p>
          <a:p>
            <a:pPr>
              <a:lnSpc>
                <a:spcPct val="150000"/>
              </a:lnSpc>
              <a:spcBef>
                <a:spcPts val="0"/>
              </a:spcBef>
            </a:pPr>
            <a:r>
              <a:rPr lang="en-US" sz="2000" dirty="0"/>
              <a:t>Check Box - A check box is a graphical component that can be in either an on (true) or off (false) state.</a:t>
            </a:r>
          </a:p>
          <a:p>
            <a:pPr>
              <a:lnSpc>
                <a:spcPct val="150000"/>
              </a:lnSpc>
              <a:spcBef>
                <a:spcPts val="0"/>
              </a:spcBef>
            </a:pPr>
            <a:r>
              <a:rPr lang="en-US" sz="2000" dirty="0"/>
              <a:t>Check Box Group - The </a:t>
            </a:r>
            <a:r>
              <a:rPr lang="en-US" sz="2000" dirty="0" err="1"/>
              <a:t>CheckboxGroup</a:t>
            </a:r>
            <a:r>
              <a:rPr lang="en-US" sz="2000" dirty="0"/>
              <a:t> class is used to group the set of checkbox.</a:t>
            </a:r>
          </a:p>
          <a:p>
            <a:pPr>
              <a:lnSpc>
                <a:spcPct val="150000"/>
              </a:lnSpc>
              <a:spcBef>
                <a:spcPts val="0"/>
              </a:spcBef>
            </a:pPr>
            <a:r>
              <a:rPr lang="en-US" sz="2000" dirty="0"/>
              <a:t>List - The List component presents the user with a scrolling list of text items.</a:t>
            </a:r>
          </a:p>
          <a:p>
            <a:pPr>
              <a:lnSpc>
                <a:spcPct val="150000"/>
              </a:lnSpc>
              <a:spcBef>
                <a:spcPts val="0"/>
              </a:spcBef>
            </a:pPr>
            <a:r>
              <a:rPr lang="en-US" sz="2000" dirty="0"/>
              <a:t>Text Field - A </a:t>
            </a:r>
            <a:r>
              <a:rPr lang="en-US" sz="2000" dirty="0" err="1"/>
              <a:t>TextField</a:t>
            </a:r>
            <a:r>
              <a:rPr lang="en-US" sz="2000" dirty="0"/>
              <a:t> object a text component that allows for the editing of a single line of text.</a:t>
            </a:r>
          </a:p>
          <a:p>
            <a:pPr>
              <a:lnSpc>
                <a:spcPct val="150000"/>
              </a:lnSpc>
              <a:spcBef>
                <a:spcPts val="0"/>
              </a:spcBef>
            </a:pPr>
            <a:r>
              <a:rPr lang="en-US" sz="2000" dirty="0"/>
              <a:t>Text Area - A </a:t>
            </a:r>
            <a:r>
              <a:rPr lang="en-US" sz="2000" dirty="0" err="1"/>
              <a:t>TextArea</a:t>
            </a:r>
            <a:r>
              <a:rPr lang="en-US" sz="2000" dirty="0"/>
              <a:t> object is a text component that allows for the editing of a multiple lines of text.</a:t>
            </a:r>
          </a:p>
          <a:p>
            <a:pPr>
              <a:lnSpc>
                <a:spcPct val="150000"/>
              </a:lnSpc>
              <a:spcBef>
                <a:spcPts val="0"/>
              </a:spcBef>
            </a:pPr>
            <a:r>
              <a:rPr lang="en-US" sz="2000" dirty="0"/>
              <a:t>Choice - A Choice control is used to show pop up menu of choices. Selected choice is shown on the top of the menu.</a:t>
            </a:r>
            <a:endParaRPr lang="en-IN" sz="2000" dirty="0"/>
          </a:p>
        </p:txBody>
      </p:sp>
      <p:sp>
        <p:nvSpPr>
          <p:cNvPr id="4" name="Footer Placeholder 3">
            <a:extLst>
              <a:ext uri="{FF2B5EF4-FFF2-40B4-BE49-F238E27FC236}">
                <a16:creationId xmlns:a16="http://schemas.microsoft.com/office/drawing/2014/main" id="{07272C4D-C87D-CBDF-EC9A-2F12CE07FBEB}"/>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993171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8861B-C259-16E8-97BA-6A52E53D36B8}"/>
              </a:ext>
            </a:extLst>
          </p:cNvPr>
          <p:cNvSpPr>
            <a:spLocks noGrp="1"/>
          </p:cNvSpPr>
          <p:nvPr>
            <p:ph type="title"/>
          </p:nvPr>
        </p:nvSpPr>
        <p:spPr/>
        <p:txBody>
          <a:bodyPr/>
          <a:lstStyle/>
          <a:p>
            <a:r>
              <a:rPr lang="en-US" dirty="0"/>
              <a:t>AWT UI Elements</a:t>
            </a:r>
            <a:endParaRPr lang="en-IN" dirty="0"/>
          </a:p>
        </p:txBody>
      </p:sp>
      <p:sp>
        <p:nvSpPr>
          <p:cNvPr id="3" name="Content Placeholder 2">
            <a:extLst>
              <a:ext uri="{FF2B5EF4-FFF2-40B4-BE49-F238E27FC236}">
                <a16:creationId xmlns:a16="http://schemas.microsoft.com/office/drawing/2014/main" id="{29F70516-A872-CD8D-AAA4-A775D7C8BF49}"/>
              </a:ext>
            </a:extLst>
          </p:cNvPr>
          <p:cNvSpPr>
            <a:spLocks noGrp="1"/>
          </p:cNvSpPr>
          <p:nvPr>
            <p:ph idx="1"/>
          </p:nvPr>
        </p:nvSpPr>
        <p:spPr>
          <a:xfrm>
            <a:off x="1047750" y="1117450"/>
            <a:ext cx="10515600" cy="4623100"/>
          </a:xfrm>
        </p:spPr>
        <p:txBody>
          <a:bodyPr>
            <a:normAutofit/>
          </a:bodyPr>
          <a:lstStyle/>
          <a:p>
            <a:pPr algn="just">
              <a:lnSpc>
                <a:spcPct val="150000"/>
              </a:lnSpc>
              <a:spcBef>
                <a:spcPts val="0"/>
              </a:spcBef>
            </a:pPr>
            <a:r>
              <a:rPr lang="en-US" sz="2100" dirty="0"/>
              <a:t>Canvas - A Canvas control represents a rectangular area where application can draw something or can receive inputs created by user.</a:t>
            </a:r>
          </a:p>
          <a:p>
            <a:pPr algn="just">
              <a:lnSpc>
                <a:spcPct val="150000"/>
              </a:lnSpc>
              <a:spcBef>
                <a:spcPts val="0"/>
              </a:spcBef>
            </a:pPr>
            <a:r>
              <a:rPr lang="en-US" sz="2100" dirty="0"/>
              <a:t>Image - An Image control is superclass for all image classes representing graphical images.</a:t>
            </a:r>
          </a:p>
          <a:p>
            <a:pPr algn="just">
              <a:lnSpc>
                <a:spcPct val="150000"/>
              </a:lnSpc>
              <a:spcBef>
                <a:spcPts val="0"/>
              </a:spcBef>
            </a:pPr>
            <a:r>
              <a:rPr lang="en-US" sz="2100" dirty="0"/>
              <a:t>Scroll Bar - A Scrollbar control represents a scroll bar component in order to enable user to select from range of values.</a:t>
            </a:r>
          </a:p>
          <a:p>
            <a:pPr algn="just">
              <a:lnSpc>
                <a:spcPct val="150000"/>
              </a:lnSpc>
              <a:spcBef>
                <a:spcPts val="0"/>
              </a:spcBef>
            </a:pPr>
            <a:r>
              <a:rPr lang="en-US" sz="2100" dirty="0"/>
              <a:t>Dialog - A Dialog control represents a top-level window with a title and a border used to take some form of input from the user.</a:t>
            </a:r>
          </a:p>
          <a:p>
            <a:pPr algn="just">
              <a:lnSpc>
                <a:spcPct val="150000"/>
              </a:lnSpc>
              <a:spcBef>
                <a:spcPts val="0"/>
              </a:spcBef>
            </a:pPr>
            <a:r>
              <a:rPr lang="en-US" sz="2100" dirty="0"/>
              <a:t>File Dialog - A </a:t>
            </a:r>
            <a:r>
              <a:rPr lang="en-US" sz="2100" dirty="0" err="1"/>
              <a:t>FileDialog</a:t>
            </a:r>
            <a:r>
              <a:rPr lang="en-US" sz="2100" dirty="0"/>
              <a:t> control represents a dialog window from which the user can select a file.</a:t>
            </a:r>
            <a:endParaRPr lang="en-IN" sz="2100" dirty="0"/>
          </a:p>
        </p:txBody>
      </p:sp>
      <p:sp>
        <p:nvSpPr>
          <p:cNvPr id="4" name="Footer Placeholder 3">
            <a:extLst>
              <a:ext uri="{FF2B5EF4-FFF2-40B4-BE49-F238E27FC236}">
                <a16:creationId xmlns:a16="http://schemas.microsoft.com/office/drawing/2014/main" id="{54F89A0F-F69D-D2EF-19D5-719F814C4E73}"/>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470311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D279-3FDE-FEE5-B4E1-12A36689BD86}"/>
              </a:ext>
            </a:extLst>
          </p:cNvPr>
          <p:cNvSpPr>
            <a:spLocks noGrp="1"/>
          </p:cNvSpPr>
          <p:nvPr>
            <p:ph type="title"/>
          </p:nvPr>
        </p:nvSpPr>
        <p:spPr/>
        <p:txBody>
          <a:bodyPr/>
          <a:lstStyle/>
          <a:p>
            <a:r>
              <a:rPr lang="en-US" dirty="0"/>
              <a:t>Java Event Handling</a:t>
            </a:r>
            <a:endParaRPr lang="en-IN" dirty="0"/>
          </a:p>
        </p:txBody>
      </p:sp>
      <p:sp>
        <p:nvSpPr>
          <p:cNvPr id="3" name="Content Placeholder 2">
            <a:extLst>
              <a:ext uri="{FF2B5EF4-FFF2-40B4-BE49-F238E27FC236}">
                <a16:creationId xmlns:a16="http://schemas.microsoft.com/office/drawing/2014/main" id="{4038EEB0-A19F-A9A0-1896-E37BF5948D3A}"/>
              </a:ext>
            </a:extLst>
          </p:cNvPr>
          <p:cNvSpPr>
            <a:spLocks noGrp="1"/>
          </p:cNvSpPr>
          <p:nvPr>
            <p:ph idx="1"/>
          </p:nvPr>
        </p:nvSpPr>
        <p:spPr>
          <a:xfrm>
            <a:off x="1047750" y="1117450"/>
            <a:ext cx="10515600" cy="4623100"/>
          </a:xfrm>
        </p:spPr>
        <p:txBody>
          <a:bodyPr>
            <a:normAutofit lnSpcReduction="10000"/>
          </a:bodyPr>
          <a:lstStyle/>
          <a:p>
            <a:pPr marL="0" indent="0" algn="just">
              <a:lnSpc>
                <a:spcPct val="150000"/>
              </a:lnSpc>
              <a:spcBef>
                <a:spcPts val="0"/>
              </a:spcBef>
              <a:buNone/>
            </a:pPr>
            <a:r>
              <a:rPr lang="en-US" sz="2100" b="1" dirty="0"/>
              <a:t>Event:</a:t>
            </a:r>
          </a:p>
          <a:p>
            <a:pPr algn="just">
              <a:lnSpc>
                <a:spcPct val="150000"/>
              </a:lnSpc>
              <a:spcBef>
                <a:spcPts val="0"/>
              </a:spcBef>
            </a:pPr>
            <a:r>
              <a:rPr lang="en-US" sz="2100" dirty="0"/>
              <a:t>Change in the state of an object is known as event i.e., event describes the change in state of source.</a:t>
            </a:r>
          </a:p>
          <a:p>
            <a:pPr algn="just">
              <a:lnSpc>
                <a:spcPct val="150000"/>
              </a:lnSpc>
              <a:spcBef>
                <a:spcPts val="0"/>
              </a:spcBef>
            </a:pPr>
            <a:r>
              <a:rPr lang="en-US" sz="2100" dirty="0"/>
              <a:t>Events are generated as result of user interaction with the graphical user interface components. </a:t>
            </a:r>
          </a:p>
          <a:p>
            <a:pPr algn="just">
              <a:lnSpc>
                <a:spcPct val="150000"/>
              </a:lnSpc>
              <a:spcBef>
                <a:spcPts val="0"/>
              </a:spcBef>
            </a:pPr>
            <a:r>
              <a:rPr lang="en-US" sz="2100" dirty="0"/>
              <a:t>For example, clicking on a button, moving the mouse, entering a character through keyboard, selecting an item from list, scrolling the page are the activities that causes an event to happen. </a:t>
            </a:r>
          </a:p>
          <a:p>
            <a:pPr marL="0" indent="0" algn="just">
              <a:lnSpc>
                <a:spcPct val="150000"/>
              </a:lnSpc>
              <a:spcBef>
                <a:spcPts val="0"/>
              </a:spcBef>
              <a:buNone/>
            </a:pPr>
            <a:r>
              <a:rPr lang="en-US" sz="2100" b="1" dirty="0"/>
              <a:t>Types of Events: </a:t>
            </a:r>
            <a:r>
              <a:rPr lang="en-US" sz="2100" dirty="0"/>
              <a:t>The events can be broadly classified into two categories:</a:t>
            </a:r>
          </a:p>
          <a:p>
            <a:pPr lvl="1" algn="just">
              <a:lnSpc>
                <a:spcPct val="150000"/>
              </a:lnSpc>
              <a:spcBef>
                <a:spcPts val="0"/>
              </a:spcBef>
            </a:pPr>
            <a:r>
              <a:rPr lang="en-US" sz="2100" dirty="0"/>
              <a:t>Foreground Events</a:t>
            </a:r>
          </a:p>
          <a:p>
            <a:pPr lvl="1" algn="just">
              <a:lnSpc>
                <a:spcPct val="150000"/>
              </a:lnSpc>
              <a:spcBef>
                <a:spcPts val="0"/>
              </a:spcBef>
            </a:pPr>
            <a:r>
              <a:rPr lang="en-US" sz="2100" dirty="0"/>
              <a:t>Background Events</a:t>
            </a:r>
            <a:endParaRPr lang="en-IN" sz="2100" dirty="0"/>
          </a:p>
        </p:txBody>
      </p:sp>
      <p:sp>
        <p:nvSpPr>
          <p:cNvPr id="4" name="Footer Placeholder 3">
            <a:extLst>
              <a:ext uri="{FF2B5EF4-FFF2-40B4-BE49-F238E27FC236}">
                <a16:creationId xmlns:a16="http://schemas.microsoft.com/office/drawing/2014/main" id="{30BB00DD-802D-7A54-FBBD-BCBF86161309}"/>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714923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25E5C-F104-C02C-4B5A-A7FD0B88F101}"/>
              </a:ext>
            </a:extLst>
          </p:cNvPr>
          <p:cNvSpPr>
            <a:spLocks noGrp="1"/>
          </p:cNvSpPr>
          <p:nvPr>
            <p:ph type="title"/>
          </p:nvPr>
        </p:nvSpPr>
        <p:spPr/>
        <p:txBody>
          <a:bodyPr/>
          <a:lstStyle/>
          <a:p>
            <a:r>
              <a:rPr lang="en-US" dirty="0"/>
              <a:t>Types of Events</a:t>
            </a:r>
            <a:endParaRPr lang="en-IN" dirty="0"/>
          </a:p>
        </p:txBody>
      </p:sp>
      <p:sp>
        <p:nvSpPr>
          <p:cNvPr id="3" name="Content Placeholder 2">
            <a:extLst>
              <a:ext uri="{FF2B5EF4-FFF2-40B4-BE49-F238E27FC236}">
                <a16:creationId xmlns:a16="http://schemas.microsoft.com/office/drawing/2014/main" id="{6A0CED70-5932-1977-571D-F0AEA91BB5BC}"/>
              </a:ext>
            </a:extLst>
          </p:cNvPr>
          <p:cNvSpPr>
            <a:spLocks noGrp="1"/>
          </p:cNvSpPr>
          <p:nvPr>
            <p:ph idx="1"/>
          </p:nvPr>
        </p:nvSpPr>
        <p:spPr>
          <a:xfrm>
            <a:off x="1047750" y="1117450"/>
            <a:ext cx="10515600" cy="4623100"/>
          </a:xfrm>
        </p:spPr>
        <p:txBody>
          <a:bodyPr>
            <a:normAutofit lnSpcReduction="10000"/>
          </a:bodyPr>
          <a:lstStyle/>
          <a:p>
            <a:pPr marL="0" indent="0" algn="just">
              <a:lnSpc>
                <a:spcPct val="150000"/>
              </a:lnSpc>
              <a:spcBef>
                <a:spcPts val="0"/>
              </a:spcBef>
              <a:buNone/>
            </a:pPr>
            <a:r>
              <a:rPr lang="en-US" sz="2100" b="1" dirty="0"/>
              <a:t>Foreground Events:</a:t>
            </a:r>
          </a:p>
          <a:p>
            <a:pPr algn="just">
              <a:lnSpc>
                <a:spcPct val="150000"/>
              </a:lnSpc>
              <a:spcBef>
                <a:spcPts val="0"/>
              </a:spcBef>
            </a:pPr>
            <a:r>
              <a:rPr lang="en-US" sz="2100" dirty="0"/>
              <a:t>The events which require direct interaction of user.</a:t>
            </a:r>
          </a:p>
          <a:p>
            <a:pPr algn="just">
              <a:lnSpc>
                <a:spcPct val="150000"/>
              </a:lnSpc>
              <a:spcBef>
                <a:spcPts val="0"/>
              </a:spcBef>
            </a:pPr>
            <a:r>
              <a:rPr lang="en-US" sz="2100" dirty="0"/>
              <a:t>They are generated as consequences of a person interacting with the graphical components in Graphical User Interface.</a:t>
            </a:r>
          </a:p>
          <a:p>
            <a:pPr algn="just">
              <a:lnSpc>
                <a:spcPct val="150000"/>
              </a:lnSpc>
              <a:spcBef>
                <a:spcPts val="0"/>
              </a:spcBef>
            </a:pPr>
            <a:r>
              <a:rPr lang="en-US" sz="2100" dirty="0"/>
              <a:t>For example, clicking on a button, moving the mouse, entering a character through keyboard, selecting an item from list, scrolling the page etc. </a:t>
            </a:r>
          </a:p>
          <a:p>
            <a:pPr marL="0" indent="0" algn="just">
              <a:lnSpc>
                <a:spcPct val="150000"/>
              </a:lnSpc>
              <a:spcBef>
                <a:spcPts val="0"/>
              </a:spcBef>
              <a:buNone/>
            </a:pPr>
            <a:r>
              <a:rPr lang="en-US" sz="2100" b="1" dirty="0"/>
              <a:t>Background Events: </a:t>
            </a:r>
          </a:p>
          <a:p>
            <a:pPr algn="just">
              <a:lnSpc>
                <a:spcPct val="150000"/>
              </a:lnSpc>
              <a:spcBef>
                <a:spcPts val="0"/>
              </a:spcBef>
            </a:pPr>
            <a:r>
              <a:rPr lang="en-US" sz="2100" dirty="0"/>
              <a:t>The events that require the interaction of end user are known as background events.</a:t>
            </a:r>
          </a:p>
          <a:p>
            <a:pPr algn="just">
              <a:lnSpc>
                <a:spcPct val="150000"/>
              </a:lnSpc>
              <a:spcBef>
                <a:spcPts val="0"/>
              </a:spcBef>
            </a:pPr>
            <a:r>
              <a:rPr lang="en-US" sz="2100" dirty="0"/>
              <a:t>Operating system interrupts, hardware or software failure, timer expires, an operation completion are the examples of background events.</a:t>
            </a:r>
            <a:endParaRPr lang="en-IN" sz="2100" dirty="0"/>
          </a:p>
        </p:txBody>
      </p:sp>
      <p:sp>
        <p:nvSpPr>
          <p:cNvPr id="4" name="Footer Placeholder 3">
            <a:extLst>
              <a:ext uri="{FF2B5EF4-FFF2-40B4-BE49-F238E27FC236}">
                <a16:creationId xmlns:a16="http://schemas.microsoft.com/office/drawing/2014/main" id="{3948FAC0-E4C2-72D1-ADDA-2B6C88FB9564}"/>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419541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C788-C834-1DA9-6A30-E6A84B7B5771}"/>
              </a:ext>
            </a:extLst>
          </p:cNvPr>
          <p:cNvSpPr>
            <a:spLocks noGrp="1"/>
          </p:cNvSpPr>
          <p:nvPr>
            <p:ph type="title"/>
          </p:nvPr>
        </p:nvSpPr>
        <p:spPr/>
        <p:txBody>
          <a:bodyPr/>
          <a:lstStyle/>
          <a:p>
            <a:r>
              <a:rPr lang="en-US" dirty="0"/>
              <a:t>Event Handling</a:t>
            </a:r>
            <a:endParaRPr lang="en-IN" dirty="0"/>
          </a:p>
        </p:txBody>
      </p:sp>
      <p:sp>
        <p:nvSpPr>
          <p:cNvPr id="3" name="Content Placeholder 2">
            <a:extLst>
              <a:ext uri="{FF2B5EF4-FFF2-40B4-BE49-F238E27FC236}">
                <a16:creationId xmlns:a16="http://schemas.microsoft.com/office/drawing/2014/main" id="{4514764B-130F-4728-2EB3-A5B817BD9448}"/>
              </a:ext>
            </a:extLst>
          </p:cNvPr>
          <p:cNvSpPr>
            <a:spLocks noGrp="1"/>
          </p:cNvSpPr>
          <p:nvPr>
            <p:ph idx="1"/>
          </p:nvPr>
        </p:nvSpPr>
        <p:spPr>
          <a:xfrm>
            <a:off x="1047750" y="1117450"/>
            <a:ext cx="10515600" cy="4623100"/>
          </a:xfrm>
        </p:spPr>
        <p:txBody>
          <a:bodyPr>
            <a:normAutofit lnSpcReduction="10000"/>
          </a:bodyPr>
          <a:lstStyle/>
          <a:p>
            <a:pPr algn="just">
              <a:lnSpc>
                <a:spcPct val="150000"/>
              </a:lnSpc>
              <a:spcBef>
                <a:spcPts val="0"/>
              </a:spcBef>
            </a:pPr>
            <a:r>
              <a:rPr lang="en-US" sz="2100" dirty="0"/>
              <a:t>Event Handling is the mechanism that controls the event and decides what should happen if an event occurs.</a:t>
            </a:r>
          </a:p>
          <a:p>
            <a:pPr algn="just">
              <a:lnSpc>
                <a:spcPct val="150000"/>
              </a:lnSpc>
              <a:spcBef>
                <a:spcPts val="0"/>
              </a:spcBef>
            </a:pPr>
            <a:r>
              <a:rPr lang="en-US" sz="2100" dirty="0"/>
              <a:t>This mechanism have the code which is known as event handler that is executed when an event occurs.</a:t>
            </a:r>
          </a:p>
          <a:p>
            <a:pPr algn="just">
              <a:lnSpc>
                <a:spcPct val="150000"/>
              </a:lnSpc>
              <a:spcBef>
                <a:spcPts val="0"/>
              </a:spcBef>
            </a:pPr>
            <a:r>
              <a:rPr lang="en-US" sz="2100" dirty="0"/>
              <a:t>Java Uses the Delegation Event Model to handle the events. This model defines the standard mechanism to generate and handle the events.</a:t>
            </a:r>
          </a:p>
          <a:p>
            <a:pPr algn="just">
              <a:lnSpc>
                <a:spcPct val="150000"/>
              </a:lnSpc>
              <a:spcBef>
                <a:spcPts val="0"/>
              </a:spcBef>
            </a:pPr>
            <a:r>
              <a:rPr lang="en-US" sz="2100" dirty="0"/>
              <a:t>The Delegation Event Model has the following key participants namely:</a:t>
            </a:r>
          </a:p>
          <a:p>
            <a:pPr algn="just">
              <a:lnSpc>
                <a:spcPct val="150000"/>
              </a:lnSpc>
              <a:spcBef>
                <a:spcPts val="0"/>
              </a:spcBef>
            </a:pPr>
            <a:r>
              <a:rPr lang="en-US" sz="2100" dirty="0"/>
              <a:t>Source</a:t>
            </a:r>
          </a:p>
          <a:p>
            <a:pPr lvl="1" algn="just">
              <a:lnSpc>
                <a:spcPct val="150000"/>
              </a:lnSpc>
              <a:spcBef>
                <a:spcPts val="0"/>
              </a:spcBef>
            </a:pPr>
            <a:r>
              <a:rPr lang="en-US" sz="2100" dirty="0"/>
              <a:t>The source is an object on which event occurs. </a:t>
            </a:r>
          </a:p>
          <a:p>
            <a:pPr lvl="1" algn="just">
              <a:lnSpc>
                <a:spcPct val="150000"/>
              </a:lnSpc>
              <a:spcBef>
                <a:spcPts val="0"/>
              </a:spcBef>
            </a:pPr>
            <a:r>
              <a:rPr lang="en-US" sz="2100" dirty="0"/>
              <a:t>Source is responsible for providing information of the occurred event to it's handler.</a:t>
            </a:r>
            <a:endParaRPr lang="en-IN" sz="2100" dirty="0"/>
          </a:p>
        </p:txBody>
      </p:sp>
      <p:sp>
        <p:nvSpPr>
          <p:cNvPr id="4" name="Footer Placeholder 3">
            <a:extLst>
              <a:ext uri="{FF2B5EF4-FFF2-40B4-BE49-F238E27FC236}">
                <a16:creationId xmlns:a16="http://schemas.microsoft.com/office/drawing/2014/main" id="{999476D9-C500-E61F-9A42-54E3F4F54FC5}"/>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919836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A85F-8428-FA3C-3EF9-B3F3E5006507}"/>
              </a:ext>
            </a:extLst>
          </p:cNvPr>
          <p:cNvSpPr>
            <a:spLocks noGrp="1"/>
          </p:cNvSpPr>
          <p:nvPr>
            <p:ph type="title"/>
          </p:nvPr>
        </p:nvSpPr>
        <p:spPr/>
        <p:txBody>
          <a:bodyPr/>
          <a:lstStyle/>
          <a:p>
            <a:r>
              <a:rPr lang="en-US" dirty="0"/>
              <a:t>Event Handling</a:t>
            </a:r>
            <a:endParaRPr lang="en-IN" dirty="0"/>
          </a:p>
        </p:txBody>
      </p:sp>
      <p:sp>
        <p:nvSpPr>
          <p:cNvPr id="3" name="Content Placeholder 2">
            <a:extLst>
              <a:ext uri="{FF2B5EF4-FFF2-40B4-BE49-F238E27FC236}">
                <a16:creationId xmlns:a16="http://schemas.microsoft.com/office/drawing/2014/main" id="{3BB13602-4F5C-E252-1D52-26C782A48AD1}"/>
              </a:ext>
            </a:extLst>
          </p:cNvPr>
          <p:cNvSpPr>
            <a:spLocks noGrp="1"/>
          </p:cNvSpPr>
          <p:nvPr>
            <p:ph idx="1"/>
          </p:nvPr>
        </p:nvSpPr>
        <p:spPr>
          <a:xfrm>
            <a:off x="1047750" y="1031725"/>
            <a:ext cx="10515600" cy="4623100"/>
          </a:xfrm>
        </p:spPr>
        <p:txBody>
          <a:bodyPr>
            <a:normAutofit/>
          </a:bodyPr>
          <a:lstStyle/>
          <a:p>
            <a:pPr>
              <a:lnSpc>
                <a:spcPct val="150000"/>
              </a:lnSpc>
              <a:spcBef>
                <a:spcPts val="0"/>
              </a:spcBef>
            </a:pPr>
            <a:r>
              <a:rPr lang="en-US" sz="2100" dirty="0"/>
              <a:t>Listener:</a:t>
            </a:r>
          </a:p>
          <a:p>
            <a:pPr lvl="1">
              <a:lnSpc>
                <a:spcPct val="150000"/>
              </a:lnSpc>
              <a:spcBef>
                <a:spcPts val="0"/>
              </a:spcBef>
            </a:pPr>
            <a:r>
              <a:rPr lang="en-US" sz="2100" dirty="0"/>
              <a:t>It is also known as event handler.</a:t>
            </a:r>
          </a:p>
          <a:p>
            <a:pPr lvl="1">
              <a:lnSpc>
                <a:spcPct val="150000"/>
              </a:lnSpc>
              <a:spcBef>
                <a:spcPts val="0"/>
              </a:spcBef>
            </a:pPr>
            <a:r>
              <a:rPr lang="en-US" sz="2100" dirty="0"/>
              <a:t>Listener is responsible for generating response to an event.</a:t>
            </a:r>
          </a:p>
          <a:p>
            <a:pPr lvl="1">
              <a:lnSpc>
                <a:spcPct val="150000"/>
              </a:lnSpc>
              <a:spcBef>
                <a:spcPts val="0"/>
              </a:spcBef>
            </a:pPr>
            <a:r>
              <a:rPr lang="en-US" sz="2100" dirty="0"/>
              <a:t>From java implementation point of view the listener is also an object.</a:t>
            </a:r>
          </a:p>
          <a:p>
            <a:pPr lvl="1">
              <a:lnSpc>
                <a:spcPct val="150000"/>
              </a:lnSpc>
              <a:spcBef>
                <a:spcPts val="0"/>
              </a:spcBef>
            </a:pPr>
            <a:r>
              <a:rPr lang="en-US" sz="2100" dirty="0"/>
              <a:t>Listener waits until it receives an event.</a:t>
            </a:r>
          </a:p>
          <a:p>
            <a:pPr lvl="1">
              <a:lnSpc>
                <a:spcPct val="150000"/>
              </a:lnSpc>
              <a:spcBef>
                <a:spcPts val="0"/>
              </a:spcBef>
            </a:pPr>
            <a:r>
              <a:rPr lang="en-US" sz="2100" dirty="0"/>
              <a:t>Once the event is received, the listener process the event and then returns.</a:t>
            </a:r>
            <a:endParaRPr lang="en-IN" sz="2100" dirty="0"/>
          </a:p>
        </p:txBody>
      </p:sp>
      <p:sp>
        <p:nvSpPr>
          <p:cNvPr id="4" name="Footer Placeholder 3">
            <a:extLst>
              <a:ext uri="{FF2B5EF4-FFF2-40B4-BE49-F238E27FC236}">
                <a16:creationId xmlns:a16="http://schemas.microsoft.com/office/drawing/2014/main" id="{BF2B0C22-07B5-168D-CC60-9D7863DF90B0}"/>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2493400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0D69E-3ACD-5878-5A41-4963E1D08826}"/>
              </a:ext>
            </a:extLst>
          </p:cNvPr>
          <p:cNvSpPr>
            <a:spLocks noGrp="1"/>
          </p:cNvSpPr>
          <p:nvPr>
            <p:ph type="title"/>
          </p:nvPr>
        </p:nvSpPr>
        <p:spPr/>
        <p:txBody>
          <a:bodyPr/>
          <a:lstStyle/>
          <a:p>
            <a:r>
              <a:rPr lang="en-US" dirty="0"/>
              <a:t>Steps in Event Handling</a:t>
            </a:r>
            <a:endParaRPr lang="en-IN" dirty="0"/>
          </a:p>
        </p:txBody>
      </p:sp>
      <p:sp>
        <p:nvSpPr>
          <p:cNvPr id="3" name="Content Placeholder 2">
            <a:extLst>
              <a:ext uri="{FF2B5EF4-FFF2-40B4-BE49-F238E27FC236}">
                <a16:creationId xmlns:a16="http://schemas.microsoft.com/office/drawing/2014/main" id="{D4D5C8BC-5D57-BF28-5D25-6FAF5831BC80}"/>
              </a:ext>
            </a:extLst>
          </p:cNvPr>
          <p:cNvSpPr>
            <a:spLocks noGrp="1"/>
          </p:cNvSpPr>
          <p:nvPr>
            <p:ph idx="1"/>
          </p:nvPr>
        </p:nvSpPr>
        <p:spPr>
          <a:xfrm>
            <a:off x="1047750" y="1117450"/>
            <a:ext cx="10515600" cy="4623100"/>
          </a:xfrm>
        </p:spPr>
        <p:txBody>
          <a:bodyPr/>
          <a:lstStyle/>
          <a:p>
            <a:pPr>
              <a:lnSpc>
                <a:spcPct val="150000"/>
              </a:lnSpc>
              <a:spcBef>
                <a:spcPts val="0"/>
              </a:spcBef>
            </a:pPr>
            <a:r>
              <a:rPr lang="en-US" dirty="0"/>
              <a:t>The User clicks the button, and the event is generated.</a:t>
            </a:r>
          </a:p>
          <a:p>
            <a:pPr>
              <a:lnSpc>
                <a:spcPct val="150000"/>
              </a:lnSpc>
              <a:spcBef>
                <a:spcPts val="0"/>
              </a:spcBef>
            </a:pPr>
            <a:r>
              <a:rPr lang="en-US" dirty="0"/>
              <a:t>The object of concerned event class is created automatically and information about the source and the event get populated with in same object.</a:t>
            </a:r>
          </a:p>
          <a:p>
            <a:pPr>
              <a:lnSpc>
                <a:spcPct val="150000"/>
              </a:lnSpc>
              <a:spcBef>
                <a:spcPts val="0"/>
              </a:spcBef>
            </a:pPr>
            <a:r>
              <a:rPr lang="en-US" dirty="0"/>
              <a:t>Event object is forwarded to the method of registered listener class.</a:t>
            </a:r>
          </a:p>
          <a:p>
            <a:pPr>
              <a:lnSpc>
                <a:spcPct val="150000"/>
              </a:lnSpc>
              <a:spcBef>
                <a:spcPts val="0"/>
              </a:spcBef>
            </a:pPr>
            <a:r>
              <a:rPr lang="en-US" dirty="0"/>
              <a:t>The method is now gets executed and returns.</a:t>
            </a:r>
            <a:endParaRPr lang="en-IN" dirty="0"/>
          </a:p>
        </p:txBody>
      </p:sp>
      <p:sp>
        <p:nvSpPr>
          <p:cNvPr id="4" name="Footer Placeholder 3">
            <a:extLst>
              <a:ext uri="{FF2B5EF4-FFF2-40B4-BE49-F238E27FC236}">
                <a16:creationId xmlns:a16="http://schemas.microsoft.com/office/drawing/2014/main" id="{A67FCF69-A3B4-1712-400D-20EAB7E67DB1}"/>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68936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BE3F3-4A05-8184-BFF4-558326B0C24D}"/>
              </a:ext>
            </a:extLst>
          </p:cNvPr>
          <p:cNvSpPr>
            <a:spLocks noGrp="1"/>
          </p:cNvSpPr>
          <p:nvPr>
            <p:ph type="title"/>
          </p:nvPr>
        </p:nvSpPr>
        <p:spPr/>
        <p:txBody>
          <a:bodyPr/>
          <a:lstStyle/>
          <a:p>
            <a:r>
              <a:rPr lang="en-US" dirty="0"/>
              <a:t>Java Adapter Classes</a:t>
            </a:r>
            <a:endParaRPr lang="en-IN" dirty="0"/>
          </a:p>
        </p:txBody>
      </p:sp>
      <p:sp>
        <p:nvSpPr>
          <p:cNvPr id="3" name="Content Placeholder 2">
            <a:extLst>
              <a:ext uri="{FF2B5EF4-FFF2-40B4-BE49-F238E27FC236}">
                <a16:creationId xmlns:a16="http://schemas.microsoft.com/office/drawing/2014/main" id="{3F7C0BB9-C16F-5E32-2DB5-9D33EBDE030E}"/>
              </a:ext>
            </a:extLst>
          </p:cNvPr>
          <p:cNvSpPr>
            <a:spLocks noGrp="1"/>
          </p:cNvSpPr>
          <p:nvPr>
            <p:ph idx="1"/>
          </p:nvPr>
        </p:nvSpPr>
        <p:spPr>
          <a:xfrm>
            <a:off x="1047750" y="1069825"/>
            <a:ext cx="10515600" cy="4997600"/>
          </a:xfrm>
        </p:spPr>
        <p:txBody>
          <a:bodyPr>
            <a:normAutofit/>
          </a:bodyPr>
          <a:lstStyle/>
          <a:p>
            <a:pPr algn="just">
              <a:lnSpc>
                <a:spcPct val="150000"/>
              </a:lnSpc>
              <a:spcBef>
                <a:spcPts val="0"/>
              </a:spcBef>
            </a:pPr>
            <a:r>
              <a:rPr lang="en-US" sz="2100" dirty="0"/>
              <a:t>Java adapter classes provide the default implementation of listener interfaces.</a:t>
            </a:r>
          </a:p>
          <a:p>
            <a:pPr algn="just">
              <a:lnSpc>
                <a:spcPct val="150000"/>
              </a:lnSpc>
              <a:spcBef>
                <a:spcPts val="0"/>
              </a:spcBef>
            </a:pPr>
            <a:r>
              <a:rPr lang="en-US" sz="2100" dirty="0"/>
              <a:t>The adapter classes are found in </a:t>
            </a:r>
            <a:r>
              <a:rPr lang="en-US" sz="2100" dirty="0" err="1"/>
              <a:t>java.awt.event</a:t>
            </a:r>
            <a:r>
              <a:rPr lang="en-US" sz="2100" dirty="0"/>
              <a:t>, and </a:t>
            </a:r>
            <a:r>
              <a:rPr lang="en-US" sz="2100" dirty="0" err="1"/>
              <a:t>javax.swing.event</a:t>
            </a:r>
            <a:r>
              <a:rPr lang="en-US" sz="2100" dirty="0"/>
              <a:t> packages.</a:t>
            </a:r>
          </a:p>
          <a:p>
            <a:pPr marL="0" indent="0" algn="just">
              <a:lnSpc>
                <a:spcPct val="150000"/>
              </a:lnSpc>
              <a:spcBef>
                <a:spcPts val="0"/>
              </a:spcBef>
              <a:buNone/>
            </a:pPr>
            <a:r>
              <a:rPr lang="en-US" sz="2100" b="1" dirty="0"/>
              <a:t>Working with Color, and Font. </a:t>
            </a:r>
          </a:p>
          <a:p>
            <a:pPr marL="0" indent="0" algn="just">
              <a:lnSpc>
                <a:spcPct val="150000"/>
              </a:lnSpc>
              <a:spcBef>
                <a:spcPts val="0"/>
              </a:spcBef>
              <a:buNone/>
            </a:pPr>
            <a:r>
              <a:rPr lang="en-US" sz="2100" b="1" dirty="0"/>
              <a:t>Working with Color:</a:t>
            </a:r>
          </a:p>
          <a:p>
            <a:pPr algn="just">
              <a:lnSpc>
                <a:spcPct val="150000"/>
              </a:lnSpc>
              <a:spcBef>
                <a:spcPts val="0"/>
              </a:spcBef>
            </a:pPr>
            <a:r>
              <a:rPr lang="en-US" sz="2100" dirty="0"/>
              <a:t>Java supports color in a portable, device independent fashion.</a:t>
            </a:r>
          </a:p>
          <a:p>
            <a:pPr algn="just">
              <a:lnSpc>
                <a:spcPct val="150000"/>
              </a:lnSpc>
              <a:spcBef>
                <a:spcPts val="0"/>
              </a:spcBef>
            </a:pPr>
            <a:r>
              <a:rPr lang="en-US" sz="2100" dirty="0"/>
              <a:t>The AWT color system allows you to specify any color you want.</a:t>
            </a:r>
          </a:p>
          <a:p>
            <a:pPr algn="just">
              <a:lnSpc>
                <a:spcPct val="150000"/>
              </a:lnSpc>
              <a:spcBef>
                <a:spcPts val="0"/>
              </a:spcBef>
            </a:pPr>
            <a:r>
              <a:rPr lang="en-US" sz="2100" dirty="0"/>
              <a:t>Color is encapsulated by the Color class. The most used constructors are:</a:t>
            </a:r>
          </a:p>
          <a:p>
            <a:pPr lvl="1" algn="just">
              <a:lnSpc>
                <a:spcPct val="150000"/>
              </a:lnSpc>
              <a:spcBef>
                <a:spcPts val="0"/>
              </a:spcBef>
            </a:pPr>
            <a:r>
              <a:rPr lang="en-US" sz="2100" dirty="0"/>
              <a:t>Color (int red, int green, int blue)</a:t>
            </a:r>
          </a:p>
          <a:p>
            <a:pPr lvl="1" algn="just">
              <a:lnSpc>
                <a:spcPct val="150000"/>
              </a:lnSpc>
              <a:spcBef>
                <a:spcPts val="0"/>
              </a:spcBef>
            </a:pPr>
            <a:r>
              <a:rPr lang="en-US" sz="2100" dirty="0"/>
              <a:t>Color (int </a:t>
            </a:r>
            <a:r>
              <a:rPr lang="en-US" sz="2100" dirty="0" err="1"/>
              <a:t>rgbValue</a:t>
            </a:r>
            <a:r>
              <a:rPr lang="en-US" sz="2100" dirty="0"/>
              <a:t>)</a:t>
            </a:r>
          </a:p>
          <a:p>
            <a:pPr lvl="1" algn="just">
              <a:lnSpc>
                <a:spcPct val="150000"/>
              </a:lnSpc>
              <a:spcBef>
                <a:spcPts val="0"/>
              </a:spcBef>
            </a:pPr>
            <a:r>
              <a:rPr lang="en-US" sz="2100" dirty="0"/>
              <a:t>Color (float red, float green, float blue)</a:t>
            </a:r>
            <a:endParaRPr lang="en-IN" sz="2100" dirty="0"/>
          </a:p>
        </p:txBody>
      </p:sp>
      <p:sp>
        <p:nvSpPr>
          <p:cNvPr id="4" name="Footer Placeholder 3">
            <a:extLst>
              <a:ext uri="{FF2B5EF4-FFF2-40B4-BE49-F238E27FC236}">
                <a16:creationId xmlns:a16="http://schemas.microsoft.com/office/drawing/2014/main" id="{1E80DF1D-1DAC-81EA-0C0B-1319CCEF7C32}"/>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710764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AC9C4-D5B9-EFAC-9560-EC7A89BD12EB}"/>
              </a:ext>
            </a:extLst>
          </p:cNvPr>
          <p:cNvSpPr>
            <a:spLocks noGrp="1"/>
          </p:cNvSpPr>
          <p:nvPr>
            <p:ph type="title"/>
          </p:nvPr>
        </p:nvSpPr>
        <p:spPr/>
        <p:txBody>
          <a:bodyPr/>
          <a:lstStyle/>
          <a:p>
            <a:r>
              <a:rPr lang="en-US" dirty="0"/>
              <a:t>Working with Color</a:t>
            </a:r>
            <a:endParaRPr lang="en-IN" dirty="0"/>
          </a:p>
        </p:txBody>
      </p:sp>
      <p:sp>
        <p:nvSpPr>
          <p:cNvPr id="3" name="Content Placeholder 2">
            <a:extLst>
              <a:ext uri="{FF2B5EF4-FFF2-40B4-BE49-F238E27FC236}">
                <a16:creationId xmlns:a16="http://schemas.microsoft.com/office/drawing/2014/main" id="{6CB02D5E-A363-CC81-D380-EB464D412E5A}"/>
              </a:ext>
            </a:extLst>
          </p:cNvPr>
          <p:cNvSpPr>
            <a:spLocks noGrp="1"/>
          </p:cNvSpPr>
          <p:nvPr>
            <p:ph idx="1"/>
          </p:nvPr>
        </p:nvSpPr>
        <p:spPr>
          <a:xfrm>
            <a:off x="923923" y="1079349"/>
            <a:ext cx="10953751" cy="4988075"/>
          </a:xfrm>
        </p:spPr>
        <p:txBody>
          <a:bodyPr>
            <a:normAutofit/>
          </a:bodyPr>
          <a:lstStyle/>
          <a:p>
            <a:pPr>
              <a:lnSpc>
                <a:spcPct val="150000"/>
              </a:lnSpc>
              <a:spcBef>
                <a:spcPts val="0"/>
              </a:spcBef>
            </a:pPr>
            <a:r>
              <a:rPr lang="en-US" sz="2000" dirty="0"/>
              <a:t>The first constructor takes three integers that specify the color as a mix of red, green, and blue.</a:t>
            </a:r>
          </a:p>
          <a:p>
            <a:pPr>
              <a:lnSpc>
                <a:spcPct val="150000"/>
              </a:lnSpc>
              <a:spcBef>
                <a:spcPts val="0"/>
              </a:spcBef>
            </a:pPr>
            <a:r>
              <a:rPr lang="en-US" sz="2000" dirty="0"/>
              <a:t>These values must be between 0 and 255.</a:t>
            </a:r>
          </a:p>
          <a:p>
            <a:pPr>
              <a:lnSpc>
                <a:spcPct val="150000"/>
              </a:lnSpc>
              <a:spcBef>
                <a:spcPts val="0"/>
              </a:spcBef>
            </a:pPr>
            <a:r>
              <a:rPr lang="en-US" sz="2000" dirty="0"/>
              <a:t>Example: new Color (255, 100, 100); // light red</a:t>
            </a:r>
          </a:p>
          <a:p>
            <a:pPr>
              <a:lnSpc>
                <a:spcPct val="150000"/>
              </a:lnSpc>
              <a:spcBef>
                <a:spcPts val="0"/>
              </a:spcBef>
            </a:pPr>
            <a:r>
              <a:rPr lang="en-US" sz="2000" dirty="0"/>
              <a:t>The second color constructor takes a single integer that contains the mix of red, green, and blue packed into an integer.</a:t>
            </a:r>
          </a:p>
          <a:p>
            <a:pPr>
              <a:lnSpc>
                <a:spcPct val="150000"/>
              </a:lnSpc>
              <a:spcBef>
                <a:spcPts val="0"/>
              </a:spcBef>
            </a:pPr>
            <a:r>
              <a:rPr lang="en-US" sz="2000" dirty="0"/>
              <a:t>The integer is organized with red in bits 16 to 23, green in bits 8 to 15, and blue in bits 0 to 7</a:t>
            </a:r>
          </a:p>
          <a:p>
            <a:pPr>
              <a:lnSpc>
                <a:spcPct val="150000"/>
              </a:lnSpc>
              <a:spcBef>
                <a:spcPts val="0"/>
              </a:spcBef>
            </a:pPr>
            <a:r>
              <a:rPr lang="en-US" sz="2000" dirty="0"/>
              <a:t>Example: int </a:t>
            </a:r>
            <a:r>
              <a:rPr lang="en-US" sz="2000" dirty="0" err="1"/>
              <a:t>newRed</a:t>
            </a:r>
            <a:r>
              <a:rPr lang="en-US" sz="2000" dirty="0"/>
              <a:t> = (0xff000000 | (0xc0 &lt;&lt; 16) | (0x00 &lt;&lt; 8) | 0x00); </a:t>
            </a:r>
          </a:p>
          <a:p>
            <a:pPr marL="0" indent="0">
              <a:lnSpc>
                <a:spcPct val="150000"/>
              </a:lnSpc>
              <a:spcBef>
                <a:spcPts val="0"/>
              </a:spcBef>
              <a:buNone/>
            </a:pPr>
            <a:r>
              <a:rPr lang="en-US" sz="2000" dirty="0"/>
              <a:t>                    Color </a:t>
            </a:r>
            <a:r>
              <a:rPr lang="en-US" sz="2000" dirty="0" err="1"/>
              <a:t>darkRed</a:t>
            </a:r>
            <a:r>
              <a:rPr lang="en-US" sz="2000" dirty="0"/>
              <a:t> = new Color(</a:t>
            </a:r>
            <a:r>
              <a:rPr lang="en-US" sz="2000" dirty="0" err="1"/>
              <a:t>newRed</a:t>
            </a:r>
            <a:r>
              <a:rPr lang="en-US" sz="2000" dirty="0"/>
              <a:t>);</a:t>
            </a:r>
          </a:p>
          <a:p>
            <a:pPr>
              <a:lnSpc>
                <a:spcPct val="150000"/>
              </a:lnSpc>
              <a:spcBef>
                <a:spcPts val="0"/>
              </a:spcBef>
            </a:pPr>
            <a:r>
              <a:rPr lang="en-US" sz="2000" dirty="0"/>
              <a:t>The final constructor, Color (float, float, float), takes three float values (between 0.0 and 1.0) that specifies the relative mix of red, green, and blue.</a:t>
            </a:r>
            <a:endParaRPr lang="en-IN" sz="2000" dirty="0"/>
          </a:p>
        </p:txBody>
      </p:sp>
      <p:sp>
        <p:nvSpPr>
          <p:cNvPr id="4" name="Footer Placeholder 3">
            <a:extLst>
              <a:ext uri="{FF2B5EF4-FFF2-40B4-BE49-F238E27FC236}">
                <a16:creationId xmlns:a16="http://schemas.microsoft.com/office/drawing/2014/main" id="{C4B8D080-EF1C-EC79-C98A-68D8A02E56B6}"/>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2974256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AEFE5-772A-0FBE-BD18-1D8B299A7CAE}"/>
              </a:ext>
            </a:extLst>
          </p:cNvPr>
          <p:cNvSpPr>
            <a:spLocks noGrp="1"/>
          </p:cNvSpPr>
          <p:nvPr>
            <p:ph type="title"/>
          </p:nvPr>
        </p:nvSpPr>
        <p:spPr/>
        <p:txBody>
          <a:bodyPr/>
          <a:lstStyle/>
          <a:p>
            <a:r>
              <a:rPr lang="en-US" dirty="0"/>
              <a:t>Setting the Current Graphics Color</a:t>
            </a:r>
            <a:endParaRPr lang="en-IN" dirty="0"/>
          </a:p>
        </p:txBody>
      </p:sp>
      <p:sp>
        <p:nvSpPr>
          <p:cNvPr id="3" name="Content Placeholder 2">
            <a:extLst>
              <a:ext uri="{FF2B5EF4-FFF2-40B4-BE49-F238E27FC236}">
                <a16:creationId xmlns:a16="http://schemas.microsoft.com/office/drawing/2014/main" id="{8294950F-CB75-4665-4F0A-282B9E63444B}"/>
              </a:ext>
            </a:extLst>
          </p:cNvPr>
          <p:cNvSpPr>
            <a:spLocks noGrp="1"/>
          </p:cNvSpPr>
          <p:nvPr>
            <p:ph idx="1"/>
          </p:nvPr>
        </p:nvSpPr>
        <p:spPr>
          <a:xfrm>
            <a:off x="1047750" y="1117450"/>
            <a:ext cx="10515600" cy="4623100"/>
          </a:xfrm>
        </p:spPr>
        <p:txBody>
          <a:bodyPr>
            <a:normAutofit/>
          </a:bodyPr>
          <a:lstStyle/>
          <a:p>
            <a:pPr algn="just">
              <a:lnSpc>
                <a:spcPct val="150000"/>
              </a:lnSpc>
              <a:spcBef>
                <a:spcPts val="0"/>
              </a:spcBef>
            </a:pPr>
            <a:r>
              <a:rPr lang="en-US" sz="2100" dirty="0"/>
              <a:t>By default, graphics objects are drawn in the current foreground color.</a:t>
            </a:r>
          </a:p>
          <a:p>
            <a:pPr algn="just">
              <a:lnSpc>
                <a:spcPct val="150000"/>
              </a:lnSpc>
              <a:spcBef>
                <a:spcPts val="0"/>
              </a:spcBef>
            </a:pPr>
            <a:r>
              <a:rPr lang="en-US" sz="2100" dirty="0"/>
              <a:t>We can change this color by calling the Graphics method </a:t>
            </a:r>
            <a:r>
              <a:rPr lang="en-US" sz="2100" dirty="0" err="1"/>
              <a:t>setColor</a:t>
            </a:r>
            <a:r>
              <a:rPr lang="en-US" sz="2100" dirty="0"/>
              <a:t>() - void </a:t>
            </a:r>
            <a:r>
              <a:rPr lang="en-US" sz="2100" dirty="0" err="1"/>
              <a:t>setColor</a:t>
            </a:r>
            <a:r>
              <a:rPr lang="en-US" sz="2100" dirty="0"/>
              <a:t> (Color </a:t>
            </a:r>
            <a:r>
              <a:rPr lang="en-US" sz="2100" dirty="0" err="1"/>
              <a:t>newColor</a:t>
            </a:r>
            <a:r>
              <a:rPr lang="en-US" sz="2100" dirty="0"/>
              <a:t>);</a:t>
            </a:r>
          </a:p>
          <a:p>
            <a:pPr algn="just">
              <a:lnSpc>
                <a:spcPct val="150000"/>
              </a:lnSpc>
              <a:spcBef>
                <a:spcPts val="0"/>
              </a:spcBef>
            </a:pPr>
            <a:r>
              <a:rPr lang="en-US" sz="2100" dirty="0"/>
              <a:t>Here, </a:t>
            </a:r>
            <a:r>
              <a:rPr lang="en-US" sz="2100" dirty="0" err="1"/>
              <a:t>newColor</a:t>
            </a:r>
            <a:r>
              <a:rPr lang="en-US" sz="2100" dirty="0"/>
              <a:t> specifies the new drawing color.</a:t>
            </a:r>
          </a:p>
          <a:p>
            <a:pPr algn="just">
              <a:lnSpc>
                <a:spcPct val="150000"/>
              </a:lnSpc>
              <a:spcBef>
                <a:spcPts val="0"/>
              </a:spcBef>
            </a:pPr>
            <a:r>
              <a:rPr lang="en-US" sz="2100" dirty="0"/>
              <a:t>We can obtain the current color by calling </a:t>
            </a:r>
            <a:r>
              <a:rPr lang="en-US" sz="2100" dirty="0" err="1"/>
              <a:t>getColor</a:t>
            </a:r>
            <a:r>
              <a:rPr lang="en-US" sz="2100" dirty="0"/>
              <a:t>() - Color </a:t>
            </a:r>
            <a:r>
              <a:rPr lang="en-US" sz="2100" dirty="0" err="1"/>
              <a:t>getColor</a:t>
            </a:r>
            <a:r>
              <a:rPr lang="en-US" sz="2100" dirty="0"/>
              <a:t>();</a:t>
            </a:r>
          </a:p>
          <a:p>
            <a:pPr marL="0" indent="0" algn="just">
              <a:lnSpc>
                <a:spcPct val="150000"/>
              </a:lnSpc>
              <a:spcBef>
                <a:spcPts val="0"/>
              </a:spcBef>
              <a:buNone/>
            </a:pPr>
            <a:endParaRPr lang="en-US" sz="2100" dirty="0"/>
          </a:p>
          <a:p>
            <a:pPr marL="0" indent="0" algn="just">
              <a:lnSpc>
                <a:spcPct val="150000"/>
              </a:lnSpc>
              <a:spcBef>
                <a:spcPts val="0"/>
              </a:spcBef>
              <a:buNone/>
            </a:pPr>
            <a:r>
              <a:rPr lang="en-US" sz="2100" b="1" dirty="0"/>
              <a:t>Working with Fonts:</a:t>
            </a:r>
          </a:p>
          <a:p>
            <a:pPr algn="just">
              <a:lnSpc>
                <a:spcPct val="150000"/>
              </a:lnSpc>
              <a:spcBef>
                <a:spcPts val="0"/>
              </a:spcBef>
            </a:pPr>
            <a:r>
              <a:rPr lang="en-US" sz="2100" dirty="0"/>
              <a:t>The AWT supports multiple type fonts.</a:t>
            </a:r>
          </a:p>
          <a:p>
            <a:pPr algn="just">
              <a:lnSpc>
                <a:spcPct val="150000"/>
              </a:lnSpc>
              <a:spcBef>
                <a:spcPts val="0"/>
              </a:spcBef>
            </a:pPr>
            <a:r>
              <a:rPr lang="en-US" sz="2100" dirty="0"/>
              <a:t>Fonts are encapsulated by the Font class.</a:t>
            </a:r>
            <a:endParaRPr lang="en-IN" sz="2100" dirty="0"/>
          </a:p>
        </p:txBody>
      </p:sp>
      <p:sp>
        <p:nvSpPr>
          <p:cNvPr id="4" name="Footer Placeholder 3">
            <a:extLst>
              <a:ext uri="{FF2B5EF4-FFF2-40B4-BE49-F238E27FC236}">
                <a16:creationId xmlns:a16="http://schemas.microsoft.com/office/drawing/2014/main" id="{73231877-145B-8517-B8B1-BCF3363E29D7}"/>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63132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00DBF-2D82-943F-02A2-7654A22C6955}"/>
              </a:ext>
            </a:extLst>
          </p:cNvPr>
          <p:cNvSpPr>
            <a:spLocks noGrp="1"/>
          </p:cNvSpPr>
          <p:nvPr>
            <p:ph type="title"/>
          </p:nvPr>
        </p:nvSpPr>
        <p:spPr/>
        <p:txBody>
          <a:bodyPr/>
          <a:lstStyle/>
          <a:p>
            <a:r>
              <a:rPr lang="en-US" dirty="0"/>
              <a:t>Creating and Selecting a Font</a:t>
            </a:r>
            <a:endParaRPr lang="en-IN" dirty="0"/>
          </a:p>
        </p:txBody>
      </p:sp>
      <p:sp>
        <p:nvSpPr>
          <p:cNvPr id="3" name="Content Placeholder 2">
            <a:extLst>
              <a:ext uri="{FF2B5EF4-FFF2-40B4-BE49-F238E27FC236}">
                <a16:creationId xmlns:a16="http://schemas.microsoft.com/office/drawing/2014/main" id="{D7B2C9CA-345C-0C37-3BDF-3913257E0343}"/>
              </a:ext>
            </a:extLst>
          </p:cNvPr>
          <p:cNvSpPr>
            <a:spLocks noGrp="1"/>
          </p:cNvSpPr>
          <p:nvPr>
            <p:ph idx="1"/>
          </p:nvPr>
        </p:nvSpPr>
        <p:spPr>
          <a:xfrm>
            <a:off x="990600" y="1119535"/>
            <a:ext cx="10515600" cy="4623100"/>
          </a:xfrm>
        </p:spPr>
        <p:txBody>
          <a:bodyPr>
            <a:normAutofit/>
          </a:bodyPr>
          <a:lstStyle/>
          <a:p>
            <a:pPr>
              <a:lnSpc>
                <a:spcPct val="150000"/>
              </a:lnSpc>
              <a:spcBef>
                <a:spcPts val="0"/>
              </a:spcBef>
            </a:pPr>
            <a:r>
              <a:rPr lang="en-US" sz="2100" dirty="0"/>
              <a:t>To select a new font, you must first construct a Font object that describes that font.</a:t>
            </a:r>
          </a:p>
          <a:p>
            <a:pPr>
              <a:lnSpc>
                <a:spcPct val="150000"/>
              </a:lnSpc>
              <a:spcBef>
                <a:spcPts val="0"/>
              </a:spcBef>
            </a:pPr>
            <a:r>
              <a:rPr lang="en-US" sz="2100" dirty="0"/>
              <a:t>One Font constructor has this general form - Font(String </a:t>
            </a:r>
            <a:r>
              <a:rPr lang="en-US" sz="2100" dirty="0" err="1"/>
              <a:t>fontName</a:t>
            </a:r>
            <a:r>
              <a:rPr lang="en-US" sz="2100" dirty="0"/>
              <a:t>, int </a:t>
            </a:r>
            <a:r>
              <a:rPr lang="en-US" sz="2100" dirty="0" err="1"/>
              <a:t>fontStyle</a:t>
            </a:r>
            <a:r>
              <a:rPr lang="en-US" sz="2100" dirty="0"/>
              <a:t>, int </a:t>
            </a:r>
            <a:r>
              <a:rPr lang="en-US" sz="2100" dirty="0" err="1"/>
              <a:t>pointSize</a:t>
            </a:r>
            <a:r>
              <a:rPr lang="en-US" sz="2100" dirty="0"/>
              <a:t>);</a:t>
            </a:r>
          </a:p>
          <a:p>
            <a:pPr lvl="1">
              <a:lnSpc>
                <a:spcPct val="150000"/>
              </a:lnSpc>
              <a:spcBef>
                <a:spcPts val="0"/>
              </a:spcBef>
            </a:pPr>
            <a:r>
              <a:rPr lang="en-US" sz="2100" dirty="0"/>
              <a:t>Here, </a:t>
            </a:r>
            <a:r>
              <a:rPr lang="en-US" sz="2100" dirty="0" err="1"/>
              <a:t>fontName</a:t>
            </a:r>
            <a:r>
              <a:rPr lang="en-US" sz="2100" dirty="0"/>
              <a:t> specifies the name of the desired font.</a:t>
            </a:r>
          </a:p>
          <a:p>
            <a:pPr>
              <a:lnSpc>
                <a:spcPct val="150000"/>
              </a:lnSpc>
              <a:spcBef>
                <a:spcPts val="0"/>
              </a:spcBef>
            </a:pPr>
            <a:r>
              <a:rPr lang="en-US" sz="2100" dirty="0"/>
              <a:t>To use a font that you have created, you must select it using </a:t>
            </a:r>
            <a:r>
              <a:rPr lang="en-US" sz="2100" dirty="0" err="1"/>
              <a:t>setFont</a:t>
            </a:r>
            <a:r>
              <a:rPr lang="en-US" sz="2100" dirty="0"/>
              <a:t>(), which is defined by Component.</a:t>
            </a:r>
          </a:p>
          <a:p>
            <a:pPr>
              <a:lnSpc>
                <a:spcPct val="150000"/>
              </a:lnSpc>
              <a:spcBef>
                <a:spcPts val="0"/>
              </a:spcBef>
            </a:pPr>
            <a:r>
              <a:rPr lang="en-US" sz="2100" dirty="0"/>
              <a:t>It has this general form - void </a:t>
            </a:r>
            <a:r>
              <a:rPr lang="en-US" sz="2100" dirty="0" err="1"/>
              <a:t>setFont</a:t>
            </a:r>
            <a:r>
              <a:rPr lang="en-US" sz="2100" dirty="0"/>
              <a:t>(Font </a:t>
            </a:r>
            <a:r>
              <a:rPr lang="en-US" sz="2100" dirty="0" err="1"/>
              <a:t>fontObj</a:t>
            </a:r>
            <a:r>
              <a:rPr lang="en-US" sz="2100" dirty="0"/>
              <a:t>);</a:t>
            </a:r>
          </a:p>
          <a:p>
            <a:pPr lvl="1">
              <a:lnSpc>
                <a:spcPct val="150000"/>
              </a:lnSpc>
              <a:spcBef>
                <a:spcPts val="0"/>
              </a:spcBef>
            </a:pPr>
            <a:r>
              <a:rPr lang="en-US" sz="2100" dirty="0"/>
              <a:t>Here, </a:t>
            </a:r>
            <a:r>
              <a:rPr lang="en-US" sz="2100" dirty="0" err="1"/>
              <a:t>fontObj</a:t>
            </a:r>
            <a:r>
              <a:rPr lang="en-US" sz="2100" dirty="0"/>
              <a:t> is the object that contains the desired font.</a:t>
            </a:r>
            <a:endParaRPr lang="en-IN" sz="2100" dirty="0"/>
          </a:p>
        </p:txBody>
      </p:sp>
      <p:sp>
        <p:nvSpPr>
          <p:cNvPr id="4" name="Footer Placeholder 3">
            <a:extLst>
              <a:ext uri="{FF2B5EF4-FFF2-40B4-BE49-F238E27FC236}">
                <a16:creationId xmlns:a16="http://schemas.microsoft.com/office/drawing/2014/main" id="{AA237EC5-215F-B1FC-98C6-ED9C155DB1D0}"/>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651804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FC64D-3285-86F2-BD7A-E29CE89E1ACA}"/>
              </a:ext>
            </a:extLst>
          </p:cNvPr>
          <p:cNvSpPr>
            <a:spLocks noGrp="1"/>
          </p:cNvSpPr>
          <p:nvPr>
            <p:ph type="title"/>
          </p:nvPr>
        </p:nvSpPr>
        <p:spPr/>
        <p:txBody>
          <a:bodyPr/>
          <a:lstStyle/>
          <a:p>
            <a:r>
              <a:rPr lang="en-US" dirty="0"/>
              <a:t>Java AWT Examples</a:t>
            </a:r>
            <a:endParaRPr lang="en-IN" dirty="0"/>
          </a:p>
        </p:txBody>
      </p:sp>
      <p:sp>
        <p:nvSpPr>
          <p:cNvPr id="3" name="Content Placeholder 2">
            <a:extLst>
              <a:ext uri="{FF2B5EF4-FFF2-40B4-BE49-F238E27FC236}">
                <a16:creationId xmlns:a16="http://schemas.microsoft.com/office/drawing/2014/main" id="{1A33E4BC-7E35-D658-9359-35415C2D8C7B}"/>
              </a:ext>
            </a:extLst>
          </p:cNvPr>
          <p:cNvSpPr>
            <a:spLocks noGrp="1"/>
          </p:cNvSpPr>
          <p:nvPr>
            <p:ph idx="1"/>
          </p:nvPr>
        </p:nvSpPr>
        <p:spPr>
          <a:xfrm>
            <a:off x="1047750" y="1117450"/>
            <a:ext cx="10515600" cy="4623100"/>
          </a:xfrm>
        </p:spPr>
        <p:txBody>
          <a:bodyPr/>
          <a:lstStyle/>
          <a:p>
            <a:pPr marL="0" indent="0">
              <a:lnSpc>
                <a:spcPct val="150000"/>
              </a:lnSpc>
              <a:buNone/>
            </a:pPr>
            <a:r>
              <a:rPr lang="en-US" dirty="0"/>
              <a:t>To create simple AWT example, you need a frame. There are two ways to create a GUI using Frame in AWT.</a:t>
            </a:r>
          </a:p>
          <a:p>
            <a:pPr marL="457200" indent="-457200">
              <a:lnSpc>
                <a:spcPct val="150000"/>
              </a:lnSpc>
              <a:buFont typeface="+mj-lt"/>
              <a:buAutoNum type="arabicPeriod"/>
            </a:pPr>
            <a:r>
              <a:rPr lang="en-US" dirty="0"/>
              <a:t>By extending Frame class (inheritance)</a:t>
            </a:r>
          </a:p>
          <a:p>
            <a:pPr marL="457200" indent="-457200">
              <a:lnSpc>
                <a:spcPct val="150000"/>
              </a:lnSpc>
              <a:buFont typeface="+mj-lt"/>
              <a:buAutoNum type="arabicPeriod"/>
            </a:pPr>
            <a:r>
              <a:rPr lang="en-US" dirty="0"/>
              <a:t>By creating the object of Frame class (association)</a:t>
            </a:r>
            <a:endParaRPr lang="en-IN" dirty="0"/>
          </a:p>
        </p:txBody>
      </p:sp>
      <p:sp>
        <p:nvSpPr>
          <p:cNvPr id="4" name="Footer Placeholder 3">
            <a:extLst>
              <a:ext uri="{FF2B5EF4-FFF2-40B4-BE49-F238E27FC236}">
                <a16:creationId xmlns:a16="http://schemas.microsoft.com/office/drawing/2014/main" id="{65FA68F4-9EFA-4636-6677-ACF05C56EB76}"/>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062250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E6A83-5C41-2D75-76BD-FF640F2CDB09}"/>
              </a:ext>
            </a:extLst>
          </p:cNvPr>
          <p:cNvSpPr>
            <a:spLocks noGrp="1"/>
          </p:cNvSpPr>
          <p:nvPr>
            <p:ph type="title"/>
          </p:nvPr>
        </p:nvSpPr>
        <p:spPr/>
        <p:txBody>
          <a:bodyPr/>
          <a:lstStyle/>
          <a:p>
            <a:r>
              <a:rPr lang="en-US" dirty="0"/>
              <a:t>AWT Example by Inheritance</a:t>
            </a:r>
            <a:endParaRPr lang="en-IN" dirty="0"/>
          </a:p>
        </p:txBody>
      </p:sp>
      <p:sp>
        <p:nvSpPr>
          <p:cNvPr id="4" name="Footer Placeholder 3">
            <a:extLst>
              <a:ext uri="{FF2B5EF4-FFF2-40B4-BE49-F238E27FC236}">
                <a16:creationId xmlns:a16="http://schemas.microsoft.com/office/drawing/2014/main" id="{D5FB9B7C-2ABA-5C9E-0D6A-132DA5770432}"/>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8" name="Picture 7">
            <a:extLst>
              <a:ext uri="{FF2B5EF4-FFF2-40B4-BE49-F238E27FC236}">
                <a16:creationId xmlns:a16="http://schemas.microsoft.com/office/drawing/2014/main" id="{71C05C1A-7332-3185-8ABD-9D38AE4FC008}"/>
              </a:ext>
            </a:extLst>
          </p:cNvPr>
          <p:cNvPicPr>
            <a:picLocks noChangeAspect="1"/>
          </p:cNvPicPr>
          <p:nvPr/>
        </p:nvPicPr>
        <p:blipFill>
          <a:blip r:embed="rId2"/>
          <a:stretch>
            <a:fillRect/>
          </a:stretch>
        </p:blipFill>
        <p:spPr>
          <a:xfrm>
            <a:off x="1290638" y="1371600"/>
            <a:ext cx="6605588" cy="4838700"/>
          </a:xfrm>
          <a:prstGeom prst="rect">
            <a:avLst/>
          </a:prstGeom>
        </p:spPr>
      </p:pic>
      <p:pic>
        <p:nvPicPr>
          <p:cNvPr id="10" name="Picture 9">
            <a:extLst>
              <a:ext uri="{FF2B5EF4-FFF2-40B4-BE49-F238E27FC236}">
                <a16:creationId xmlns:a16="http://schemas.microsoft.com/office/drawing/2014/main" id="{78670AFF-0F26-093A-7226-70159E63D9CD}"/>
              </a:ext>
            </a:extLst>
          </p:cNvPr>
          <p:cNvPicPr>
            <a:picLocks noChangeAspect="1"/>
          </p:cNvPicPr>
          <p:nvPr/>
        </p:nvPicPr>
        <p:blipFill>
          <a:blip r:embed="rId3"/>
          <a:stretch>
            <a:fillRect/>
          </a:stretch>
        </p:blipFill>
        <p:spPr>
          <a:xfrm>
            <a:off x="7829551" y="1662112"/>
            <a:ext cx="3747289" cy="3824288"/>
          </a:xfrm>
          <a:prstGeom prst="rect">
            <a:avLst/>
          </a:prstGeom>
        </p:spPr>
      </p:pic>
    </p:spTree>
    <p:extLst>
      <p:ext uri="{BB962C8B-B14F-4D97-AF65-F5344CB8AC3E}">
        <p14:creationId xmlns:p14="http://schemas.microsoft.com/office/powerpoint/2010/main" val="2695599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DDF9-FF9E-5D30-6049-818D589BA8D3}"/>
              </a:ext>
            </a:extLst>
          </p:cNvPr>
          <p:cNvSpPr>
            <a:spLocks noGrp="1"/>
          </p:cNvSpPr>
          <p:nvPr>
            <p:ph type="title"/>
          </p:nvPr>
        </p:nvSpPr>
        <p:spPr/>
        <p:txBody>
          <a:bodyPr/>
          <a:lstStyle/>
          <a:p>
            <a:r>
              <a:rPr lang="en-US" dirty="0"/>
              <a:t>AWT Example by Association</a:t>
            </a:r>
            <a:endParaRPr lang="en-IN" dirty="0"/>
          </a:p>
        </p:txBody>
      </p:sp>
      <p:sp>
        <p:nvSpPr>
          <p:cNvPr id="4" name="Footer Placeholder 3">
            <a:extLst>
              <a:ext uri="{FF2B5EF4-FFF2-40B4-BE49-F238E27FC236}">
                <a16:creationId xmlns:a16="http://schemas.microsoft.com/office/drawing/2014/main" id="{5A7CA287-D9C1-9017-0F48-C43CDBAC9762}"/>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5ABBC579-0EC4-3449-E123-DADFF8EF81BC}"/>
              </a:ext>
            </a:extLst>
          </p:cNvPr>
          <p:cNvPicPr>
            <a:picLocks noChangeAspect="1"/>
          </p:cNvPicPr>
          <p:nvPr/>
        </p:nvPicPr>
        <p:blipFill>
          <a:blip r:embed="rId2"/>
          <a:stretch>
            <a:fillRect/>
          </a:stretch>
        </p:blipFill>
        <p:spPr>
          <a:xfrm>
            <a:off x="1152525" y="1228725"/>
            <a:ext cx="5875451" cy="4972050"/>
          </a:xfrm>
          <a:prstGeom prst="rect">
            <a:avLst/>
          </a:prstGeom>
        </p:spPr>
      </p:pic>
      <p:pic>
        <p:nvPicPr>
          <p:cNvPr id="8" name="Picture 7">
            <a:extLst>
              <a:ext uri="{FF2B5EF4-FFF2-40B4-BE49-F238E27FC236}">
                <a16:creationId xmlns:a16="http://schemas.microsoft.com/office/drawing/2014/main" id="{084BABBF-4786-2DDF-1527-D7C7B131B4A3}"/>
              </a:ext>
            </a:extLst>
          </p:cNvPr>
          <p:cNvPicPr>
            <a:picLocks noChangeAspect="1"/>
          </p:cNvPicPr>
          <p:nvPr/>
        </p:nvPicPr>
        <p:blipFill>
          <a:blip r:embed="rId3"/>
          <a:stretch>
            <a:fillRect/>
          </a:stretch>
        </p:blipFill>
        <p:spPr>
          <a:xfrm>
            <a:off x="6848475" y="1421310"/>
            <a:ext cx="4600575" cy="4267200"/>
          </a:xfrm>
          <a:prstGeom prst="rect">
            <a:avLst/>
          </a:prstGeom>
        </p:spPr>
      </p:pic>
    </p:spTree>
    <p:extLst>
      <p:ext uri="{BB962C8B-B14F-4D97-AF65-F5344CB8AC3E}">
        <p14:creationId xmlns:p14="http://schemas.microsoft.com/office/powerpoint/2010/main" val="1888393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B6817-A605-A191-AC94-BFAA99DFCABA}"/>
              </a:ext>
            </a:extLst>
          </p:cNvPr>
          <p:cNvSpPr>
            <a:spLocks noGrp="1"/>
          </p:cNvSpPr>
          <p:nvPr>
            <p:ph type="title"/>
          </p:nvPr>
        </p:nvSpPr>
        <p:spPr/>
        <p:txBody>
          <a:bodyPr/>
          <a:lstStyle/>
          <a:p>
            <a:r>
              <a:rPr lang="en-US" dirty="0"/>
              <a:t>Introduction to Swing</a:t>
            </a:r>
            <a:endParaRPr lang="en-IN" dirty="0"/>
          </a:p>
        </p:txBody>
      </p:sp>
      <p:sp>
        <p:nvSpPr>
          <p:cNvPr id="3" name="Content Placeholder 2">
            <a:extLst>
              <a:ext uri="{FF2B5EF4-FFF2-40B4-BE49-F238E27FC236}">
                <a16:creationId xmlns:a16="http://schemas.microsoft.com/office/drawing/2014/main" id="{B1084E06-19F1-39F7-D26D-CEBCCB723186}"/>
              </a:ext>
            </a:extLst>
          </p:cNvPr>
          <p:cNvSpPr>
            <a:spLocks noGrp="1"/>
          </p:cNvSpPr>
          <p:nvPr>
            <p:ph idx="1"/>
          </p:nvPr>
        </p:nvSpPr>
        <p:spPr>
          <a:xfrm>
            <a:off x="1047750" y="1117450"/>
            <a:ext cx="10515600" cy="5035700"/>
          </a:xfrm>
        </p:spPr>
        <p:txBody>
          <a:bodyPr>
            <a:normAutofit lnSpcReduction="10000"/>
          </a:bodyPr>
          <a:lstStyle/>
          <a:p>
            <a:pPr algn="just">
              <a:lnSpc>
                <a:spcPct val="130000"/>
              </a:lnSpc>
              <a:spcBef>
                <a:spcPts val="0"/>
              </a:spcBef>
            </a:pPr>
            <a:r>
              <a:rPr lang="en-US" sz="2000" dirty="0"/>
              <a:t>Swing is a Java Foundation Classes [JFC] library and an extension of the Abstract Window Toolkit [AWT]. </a:t>
            </a:r>
          </a:p>
          <a:p>
            <a:pPr algn="just">
              <a:lnSpc>
                <a:spcPct val="130000"/>
              </a:lnSpc>
              <a:spcBef>
                <a:spcPts val="0"/>
              </a:spcBef>
            </a:pPr>
            <a:r>
              <a:rPr lang="en-US" sz="2000" dirty="0"/>
              <a:t>Swing offers much-improved functionality over AWT, new components, expanded components features, excellent event handling with drag and drop support.</a:t>
            </a:r>
          </a:p>
          <a:p>
            <a:pPr algn="just">
              <a:lnSpc>
                <a:spcPct val="130000"/>
              </a:lnSpc>
              <a:spcBef>
                <a:spcPts val="0"/>
              </a:spcBef>
            </a:pPr>
            <a:r>
              <a:rPr lang="en-US" sz="2000" dirty="0"/>
              <a:t>Swing has about four times the number of User Interface [UI] components as AWT and is part of the standard Java distribution. </a:t>
            </a:r>
          </a:p>
          <a:p>
            <a:pPr algn="just">
              <a:lnSpc>
                <a:spcPct val="130000"/>
              </a:lnSpc>
              <a:spcBef>
                <a:spcPts val="0"/>
              </a:spcBef>
            </a:pPr>
            <a:r>
              <a:rPr lang="en-US" sz="2000" dirty="0"/>
              <a:t>By today’s application GUI requirements, AWT is a limited implementation, not quite capable of providing the components required for developing complex GUIs required in modern commercial applications. </a:t>
            </a:r>
          </a:p>
          <a:p>
            <a:pPr algn="just">
              <a:lnSpc>
                <a:spcPct val="130000"/>
              </a:lnSpc>
              <a:spcBef>
                <a:spcPts val="0"/>
              </a:spcBef>
            </a:pPr>
            <a:r>
              <a:rPr lang="en-US" sz="2000" dirty="0"/>
              <a:t>The AWT component set has quite a few bugs and really does take up a lot of system resources when compared to equivalent Swing resources. </a:t>
            </a:r>
          </a:p>
          <a:p>
            <a:pPr algn="just">
              <a:lnSpc>
                <a:spcPct val="130000"/>
              </a:lnSpc>
              <a:spcBef>
                <a:spcPts val="0"/>
              </a:spcBef>
            </a:pPr>
            <a:r>
              <a:rPr lang="en-US" sz="2000" dirty="0"/>
              <a:t>Netscape introduced its Internet Foundation Classes [IFC] library for use with Java. </a:t>
            </a:r>
          </a:p>
          <a:p>
            <a:pPr algn="just">
              <a:lnSpc>
                <a:spcPct val="130000"/>
              </a:lnSpc>
              <a:spcBef>
                <a:spcPts val="0"/>
              </a:spcBef>
            </a:pPr>
            <a:r>
              <a:rPr lang="en-US" sz="2000" dirty="0"/>
              <a:t>Its Classes became very popular with programmers creating GUIs for commercial applications.</a:t>
            </a:r>
            <a:endParaRPr lang="en-IN" sz="2000" dirty="0"/>
          </a:p>
        </p:txBody>
      </p:sp>
      <p:sp>
        <p:nvSpPr>
          <p:cNvPr id="4" name="Footer Placeholder 3">
            <a:extLst>
              <a:ext uri="{FF2B5EF4-FFF2-40B4-BE49-F238E27FC236}">
                <a16:creationId xmlns:a16="http://schemas.microsoft.com/office/drawing/2014/main" id="{052204E2-3DED-123A-F4E2-1BC12C46B44F}"/>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058311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3ECB-EA91-4298-559B-9C0438AE9E01}"/>
              </a:ext>
            </a:extLst>
          </p:cNvPr>
          <p:cNvSpPr>
            <a:spLocks noGrp="1"/>
          </p:cNvSpPr>
          <p:nvPr>
            <p:ph type="title"/>
          </p:nvPr>
        </p:nvSpPr>
        <p:spPr/>
        <p:txBody>
          <a:bodyPr/>
          <a:lstStyle/>
          <a:p>
            <a:r>
              <a:rPr lang="en-US" dirty="0"/>
              <a:t>Features of Swing</a:t>
            </a:r>
            <a:endParaRPr lang="en-IN" dirty="0"/>
          </a:p>
        </p:txBody>
      </p:sp>
      <p:sp>
        <p:nvSpPr>
          <p:cNvPr id="3" name="Content Placeholder 2">
            <a:extLst>
              <a:ext uri="{FF2B5EF4-FFF2-40B4-BE49-F238E27FC236}">
                <a16:creationId xmlns:a16="http://schemas.microsoft.com/office/drawing/2014/main" id="{8E31B287-D91B-428A-5474-884759E9F546}"/>
              </a:ext>
            </a:extLst>
          </p:cNvPr>
          <p:cNvSpPr>
            <a:spLocks noGrp="1"/>
          </p:cNvSpPr>
          <p:nvPr>
            <p:ph idx="1"/>
          </p:nvPr>
        </p:nvSpPr>
        <p:spPr>
          <a:xfrm>
            <a:off x="1047750" y="1117449"/>
            <a:ext cx="10515600" cy="5064275"/>
          </a:xfrm>
        </p:spPr>
        <p:txBody>
          <a:bodyPr>
            <a:normAutofit/>
          </a:bodyPr>
          <a:lstStyle/>
          <a:p>
            <a:pPr algn="just">
              <a:lnSpc>
                <a:spcPct val="130000"/>
              </a:lnSpc>
              <a:spcBef>
                <a:spcPts val="0"/>
              </a:spcBef>
            </a:pPr>
            <a:r>
              <a:rPr lang="en-US" sz="2000" dirty="0"/>
              <a:t>Swing is a Set of API (API- Set of Classes and Interfaces).</a:t>
            </a:r>
          </a:p>
          <a:p>
            <a:pPr algn="just">
              <a:lnSpc>
                <a:spcPct val="130000"/>
              </a:lnSpc>
              <a:spcBef>
                <a:spcPts val="0"/>
              </a:spcBef>
            </a:pPr>
            <a:r>
              <a:rPr lang="en-US" sz="2000" dirty="0"/>
              <a:t>Swing is Provided to Design a Graphical User Interfaces.</a:t>
            </a:r>
          </a:p>
          <a:p>
            <a:pPr algn="just">
              <a:lnSpc>
                <a:spcPct val="130000"/>
              </a:lnSpc>
              <a:spcBef>
                <a:spcPts val="0"/>
              </a:spcBef>
            </a:pPr>
            <a:r>
              <a:rPr lang="en-US" sz="2000" dirty="0"/>
              <a:t>Swing is an Extension library to the AWT (Abstract Window Toolkit).</a:t>
            </a:r>
          </a:p>
          <a:p>
            <a:pPr algn="just">
              <a:lnSpc>
                <a:spcPct val="130000"/>
              </a:lnSpc>
              <a:spcBef>
                <a:spcPts val="0"/>
              </a:spcBef>
            </a:pPr>
            <a:r>
              <a:rPr lang="en-US" sz="2000" dirty="0"/>
              <a:t>Includes New and improved Components that have been enhancing the looks and Functionality of GUIs.</a:t>
            </a:r>
          </a:p>
          <a:p>
            <a:pPr algn="just">
              <a:lnSpc>
                <a:spcPct val="130000"/>
              </a:lnSpc>
              <a:spcBef>
                <a:spcPts val="0"/>
              </a:spcBef>
            </a:pPr>
            <a:r>
              <a:rPr lang="en-US" sz="2000" dirty="0"/>
              <a:t>Swing can be used to build (Develop) the Standalone swing GUI Apps, Servlets And Applets.</a:t>
            </a:r>
          </a:p>
          <a:p>
            <a:pPr algn="just">
              <a:lnSpc>
                <a:spcPct val="130000"/>
              </a:lnSpc>
              <a:spcBef>
                <a:spcPts val="0"/>
              </a:spcBef>
            </a:pPr>
            <a:r>
              <a:rPr lang="en-US" sz="2000" dirty="0"/>
              <a:t>It Employs model/view design architecture.</a:t>
            </a:r>
          </a:p>
          <a:p>
            <a:pPr algn="just">
              <a:lnSpc>
                <a:spcPct val="130000"/>
              </a:lnSpc>
              <a:spcBef>
                <a:spcPts val="0"/>
              </a:spcBef>
            </a:pPr>
            <a:r>
              <a:rPr lang="en-US" sz="2000" dirty="0"/>
              <a:t>Swing is more portable and more flexible than AWT, the Swing is built on top of the AWT.</a:t>
            </a:r>
          </a:p>
          <a:p>
            <a:pPr algn="just">
              <a:lnSpc>
                <a:spcPct val="130000"/>
              </a:lnSpc>
              <a:spcBef>
                <a:spcPts val="0"/>
              </a:spcBef>
            </a:pPr>
            <a:r>
              <a:rPr lang="en-US" sz="2000" dirty="0"/>
              <a:t>Swing is entirely written in Java.</a:t>
            </a:r>
          </a:p>
          <a:p>
            <a:pPr algn="just">
              <a:lnSpc>
                <a:spcPct val="130000"/>
              </a:lnSpc>
              <a:spcBef>
                <a:spcPts val="0"/>
              </a:spcBef>
            </a:pPr>
            <a:r>
              <a:rPr lang="en-US" sz="2000" dirty="0"/>
              <a:t>Java Swing Components are Platform-independent and the Swing Components are lightweight.</a:t>
            </a:r>
          </a:p>
          <a:p>
            <a:pPr algn="just">
              <a:lnSpc>
                <a:spcPct val="130000"/>
              </a:lnSpc>
              <a:spcBef>
                <a:spcPts val="0"/>
              </a:spcBef>
            </a:pPr>
            <a:r>
              <a:rPr lang="en-US" sz="2000" dirty="0"/>
              <a:t>Swing Supports Pluggable look and feels and Swing provides more powerful components such as tables, lists, </a:t>
            </a:r>
            <a:r>
              <a:rPr lang="en-US" sz="2000" dirty="0" err="1"/>
              <a:t>Scrollpanes</a:t>
            </a:r>
            <a:r>
              <a:rPr lang="en-US" sz="2000" dirty="0"/>
              <a:t>, </a:t>
            </a:r>
            <a:r>
              <a:rPr lang="en-US" sz="2000" dirty="0" err="1"/>
              <a:t>Colourchooser</a:t>
            </a:r>
            <a:r>
              <a:rPr lang="en-US" sz="2000" dirty="0"/>
              <a:t>, </a:t>
            </a:r>
            <a:r>
              <a:rPr lang="en-US" sz="2000" dirty="0" err="1"/>
              <a:t>tabbedpane</a:t>
            </a:r>
            <a:r>
              <a:rPr lang="en-US" sz="2000" dirty="0"/>
              <a:t>, etc.</a:t>
            </a:r>
            <a:endParaRPr lang="en-IN" sz="2000" dirty="0"/>
          </a:p>
        </p:txBody>
      </p:sp>
      <p:sp>
        <p:nvSpPr>
          <p:cNvPr id="4" name="Footer Placeholder 3">
            <a:extLst>
              <a:ext uri="{FF2B5EF4-FFF2-40B4-BE49-F238E27FC236}">
                <a16:creationId xmlns:a16="http://schemas.microsoft.com/office/drawing/2014/main" id="{EE4564BB-67E6-F9F0-E37C-0943875B81F9}"/>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836321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49F5-CCE8-79CA-FAE0-88A9CCA5F135}"/>
              </a:ext>
            </a:extLst>
          </p:cNvPr>
          <p:cNvSpPr>
            <a:spLocks noGrp="1"/>
          </p:cNvSpPr>
          <p:nvPr>
            <p:ph type="title"/>
          </p:nvPr>
        </p:nvSpPr>
        <p:spPr/>
        <p:txBody>
          <a:bodyPr/>
          <a:lstStyle/>
          <a:p>
            <a:r>
              <a:rPr lang="en-US" dirty="0"/>
              <a:t>Features of Swing Class</a:t>
            </a:r>
            <a:endParaRPr lang="en-IN" dirty="0"/>
          </a:p>
        </p:txBody>
      </p:sp>
      <p:sp>
        <p:nvSpPr>
          <p:cNvPr id="3" name="Content Placeholder 2">
            <a:extLst>
              <a:ext uri="{FF2B5EF4-FFF2-40B4-BE49-F238E27FC236}">
                <a16:creationId xmlns:a16="http://schemas.microsoft.com/office/drawing/2014/main" id="{F11C5FD7-CBF6-45D3-77FE-24E0320100F1}"/>
              </a:ext>
            </a:extLst>
          </p:cNvPr>
          <p:cNvSpPr>
            <a:spLocks noGrp="1"/>
          </p:cNvSpPr>
          <p:nvPr>
            <p:ph idx="1"/>
          </p:nvPr>
        </p:nvSpPr>
        <p:spPr>
          <a:xfrm>
            <a:off x="1047750" y="1117450"/>
            <a:ext cx="10515600" cy="4623100"/>
          </a:xfrm>
        </p:spPr>
        <p:txBody>
          <a:bodyPr>
            <a:normAutofit lnSpcReduction="10000"/>
          </a:bodyPr>
          <a:lstStyle/>
          <a:p>
            <a:pPr>
              <a:lnSpc>
                <a:spcPct val="150000"/>
              </a:lnSpc>
            </a:pPr>
            <a:r>
              <a:rPr lang="en-US" dirty="0"/>
              <a:t>Pluggable look and feel</a:t>
            </a:r>
          </a:p>
          <a:p>
            <a:pPr>
              <a:lnSpc>
                <a:spcPct val="150000"/>
              </a:lnSpc>
            </a:pPr>
            <a:r>
              <a:rPr lang="en-US" dirty="0"/>
              <a:t>Uses MVC architecture</a:t>
            </a:r>
          </a:p>
          <a:p>
            <a:pPr>
              <a:lnSpc>
                <a:spcPct val="150000"/>
              </a:lnSpc>
            </a:pPr>
            <a:r>
              <a:rPr lang="en-US" dirty="0"/>
              <a:t>Lightweight Components</a:t>
            </a:r>
          </a:p>
          <a:p>
            <a:pPr>
              <a:lnSpc>
                <a:spcPct val="150000"/>
              </a:lnSpc>
            </a:pPr>
            <a:r>
              <a:rPr lang="en-US" dirty="0"/>
              <a:t>Platform Independent</a:t>
            </a:r>
          </a:p>
          <a:p>
            <a:pPr>
              <a:lnSpc>
                <a:spcPct val="150000"/>
              </a:lnSpc>
            </a:pPr>
            <a:r>
              <a:rPr lang="en-US" dirty="0"/>
              <a:t>Advance features such as </a:t>
            </a:r>
            <a:r>
              <a:rPr lang="en-US" dirty="0" err="1"/>
              <a:t>JTable</a:t>
            </a:r>
            <a:r>
              <a:rPr lang="en-US" dirty="0"/>
              <a:t>, </a:t>
            </a:r>
            <a:r>
              <a:rPr lang="en-US" dirty="0" err="1"/>
              <a:t>JTabbedPane</a:t>
            </a:r>
            <a:r>
              <a:rPr lang="en-US" dirty="0"/>
              <a:t>, </a:t>
            </a:r>
            <a:r>
              <a:rPr lang="en-US" dirty="0" err="1"/>
              <a:t>JScollPane</a:t>
            </a:r>
            <a:r>
              <a:rPr lang="en-US" dirty="0"/>
              <a:t> </a:t>
            </a:r>
            <a:r>
              <a:rPr lang="en-US" dirty="0" err="1"/>
              <a:t>etc</a:t>
            </a:r>
            <a:endParaRPr lang="en-US" dirty="0"/>
          </a:p>
          <a:p>
            <a:pPr>
              <a:lnSpc>
                <a:spcPct val="150000"/>
              </a:lnSpc>
            </a:pPr>
            <a:r>
              <a:rPr lang="en-US" dirty="0"/>
              <a:t>Java is a platform-independent language and runs on any client machine, the GUI look and feel, owned and delivered by a platform specific O/S, simply does not affect an application’s GUI constructed using Swing components.</a:t>
            </a:r>
            <a:endParaRPr lang="en-IN" dirty="0"/>
          </a:p>
        </p:txBody>
      </p:sp>
      <p:sp>
        <p:nvSpPr>
          <p:cNvPr id="4" name="Footer Placeholder 3">
            <a:extLst>
              <a:ext uri="{FF2B5EF4-FFF2-40B4-BE49-F238E27FC236}">
                <a16:creationId xmlns:a16="http://schemas.microsoft.com/office/drawing/2014/main" id="{599890A5-14B0-63D7-37F5-C8400E2E9FCB}"/>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505093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EC0CDE-2C16-2041-162A-BAEC62B56D89}"/>
              </a:ext>
            </a:extLst>
          </p:cNvPr>
          <p:cNvSpPr>
            <a:spLocks noGrp="1"/>
          </p:cNvSpPr>
          <p:nvPr>
            <p:ph idx="1"/>
          </p:nvPr>
        </p:nvSpPr>
        <p:spPr>
          <a:xfrm>
            <a:off x="1047750" y="1117450"/>
            <a:ext cx="10515600" cy="4623100"/>
          </a:xfrm>
        </p:spPr>
        <p:txBody>
          <a:bodyPr>
            <a:normAutofit/>
          </a:bodyPr>
          <a:lstStyle/>
          <a:p>
            <a:pPr algn="just">
              <a:lnSpc>
                <a:spcPct val="140000"/>
              </a:lnSpc>
              <a:spcBef>
                <a:spcPts val="0"/>
              </a:spcBef>
            </a:pPr>
            <a:r>
              <a:rPr lang="en-US" sz="2000" b="1" dirty="0"/>
              <a:t>Lightweight Components: </a:t>
            </a:r>
            <a:r>
              <a:rPr lang="en-US" sz="2000" dirty="0"/>
              <a:t>Starting with the JDK 1.1, its AWT supported lightweight component development. For a component to qualify as lightweight, it must not depend on any non-Java [O/s based) system classes. Swing components have their own view supported by Java’s look and feel classes.</a:t>
            </a:r>
          </a:p>
          <a:p>
            <a:pPr algn="just">
              <a:lnSpc>
                <a:spcPct val="140000"/>
              </a:lnSpc>
              <a:spcBef>
                <a:spcPts val="0"/>
              </a:spcBef>
            </a:pPr>
            <a:r>
              <a:rPr lang="en-US" sz="2000" b="1" dirty="0"/>
              <a:t>Pluggable Look and Feel: </a:t>
            </a:r>
            <a:r>
              <a:rPr lang="en-US" sz="2000" dirty="0"/>
              <a:t>This feature enables the user to switch the look and feel of Swing components without restarting an application. The Swing library supports components look and feel that remains the same across all platforms wherever the program runs. The Swing library provides an API that gives real flexibility in determining the look and feel of the GUI of an application</a:t>
            </a:r>
            <a:endParaRPr lang="en-IN" sz="2000" dirty="0"/>
          </a:p>
        </p:txBody>
      </p:sp>
      <p:sp>
        <p:nvSpPr>
          <p:cNvPr id="4" name="Footer Placeholder 3">
            <a:extLst>
              <a:ext uri="{FF2B5EF4-FFF2-40B4-BE49-F238E27FC236}">
                <a16:creationId xmlns:a16="http://schemas.microsoft.com/office/drawing/2014/main" id="{DAB9F930-3FAE-15EA-573A-870F9B45A62E}"/>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229448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1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B065BB3-23AE-8E10-DCFD-D5F7946777F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Swing Classes Hierarchy</a:t>
            </a:r>
          </a:p>
        </p:txBody>
      </p:sp>
      <p:pic>
        <p:nvPicPr>
          <p:cNvPr id="3" name="Picture 2" descr="hierarchy of javax swing">
            <a:extLst>
              <a:ext uri="{FF2B5EF4-FFF2-40B4-BE49-F238E27FC236}">
                <a16:creationId xmlns:a16="http://schemas.microsoft.com/office/drawing/2014/main" id="{58841C45-C7CC-F579-2230-139B9520F30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511604"/>
            <a:ext cx="7225748" cy="5834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507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E49F-3D96-AAE8-3BC4-34E9E3623D6C}"/>
              </a:ext>
            </a:extLst>
          </p:cNvPr>
          <p:cNvSpPr>
            <a:spLocks noGrp="1"/>
          </p:cNvSpPr>
          <p:nvPr>
            <p:ph type="title"/>
          </p:nvPr>
        </p:nvSpPr>
        <p:spPr/>
        <p:txBody>
          <a:bodyPr/>
          <a:lstStyle/>
          <a:p>
            <a:r>
              <a:rPr lang="en-US" dirty="0"/>
              <a:t>AWT vs Swing</a:t>
            </a:r>
            <a:endParaRPr lang="en-IN" dirty="0"/>
          </a:p>
        </p:txBody>
      </p:sp>
      <p:sp>
        <p:nvSpPr>
          <p:cNvPr id="4" name="Footer Placeholder 3">
            <a:extLst>
              <a:ext uri="{FF2B5EF4-FFF2-40B4-BE49-F238E27FC236}">
                <a16:creationId xmlns:a16="http://schemas.microsoft.com/office/drawing/2014/main" id="{537C342E-06ED-723F-FD78-94246DC98BCA}"/>
              </a:ext>
            </a:extLst>
          </p:cNvPr>
          <p:cNvSpPr>
            <a:spLocks noGrp="1"/>
          </p:cNvSpPr>
          <p:nvPr>
            <p:ph type="ftr" sz="quarter" idx="11"/>
          </p:nvPr>
        </p:nvSpPr>
        <p:spPr/>
        <p:txBody>
          <a:bodyPr/>
          <a:lstStyle/>
          <a:p>
            <a:r>
              <a:rPr lang="en-US"/>
              <a:t>Department of Electronics &amp; Telecommunication Engg. </a:t>
            </a:r>
            <a:endParaRPr lang="en-IN" dirty="0"/>
          </a:p>
        </p:txBody>
      </p:sp>
      <p:graphicFrame>
        <p:nvGraphicFramePr>
          <p:cNvPr id="5" name="Table 4">
            <a:extLst>
              <a:ext uri="{FF2B5EF4-FFF2-40B4-BE49-F238E27FC236}">
                <a16:creationId xmlns:a16="http://schemas.microsoft.com/office/drawing/2014/main" id="{90D53040-34F2-4419-2A7D-9E91E8BD0935}"/>
              </a:ext>
            </a:extLst>
          </p:cNvPr>
          <p:cNvGraphicFramePr>
            <a:graphicFrameLocks noGrp="1"/>
          </p:cNvGraphicFramePr>
          <p:nvPr>
            <p:extLst>
              <p:ext uri="{D42A27DB-BD31-4B8C-83A1-F6EECF244321}">
                <p14:modId xmlns:p14="http://schemas.microsoft.com/office/powerpoint/2010/main" val="99680851"/>
              </p:ext>
            </p:extLst>
          </p:nvPr>
        </p:nvGraphicFramePr>
        <p:xfrm>
          <a:off x="1167100" y="1302244"/>
          <a:ext cx="10267948" cy="4114800"/>
        </p:xfrm>
        <a:graphic>
          <a:graphicData uri="http://schemas.openxmlformats.org/drawingml/2006/table">
            <a:tbl>
              <a:tblPr>
                <a:tableStyleId>{BDBED569-4797-4DF1-A0F4-6AAB3CD982D8}</a:tableStyleId>
              </a:tblPr>
              <a:tblGrid>
                <a:gridCol w="5133974">
                  <a:extLst>
                    <a:ext uri="{9D8B030D-6E8A-4147-A177-3AD203B41FA5}">
                      <a16:colId xmlns:a16="http://schemas.microsoft.com/office/drawing/2014/main" val="772515388"/>
                    </a:ext>
                  </a:extLst>
                </a:gridCol>
                <a:gridCol w="5133974">
                  <a:extLst>
                    <a:ext uri="{9D8B030D-6E8A-4147-A177-3AD203B41FA5}">
                      <a16:colId xmlns:a16="http://schemas.microsoft.com/office/drawing/2014/main" val="3474696624"/>
                    </a:ext>
                  </a:extLst>
                </a:gridCol>
              </a:tblGrid>
              <a:tr h="0">
                <a:tc>
                  <a:txBody>
                    <a:bodyPr/>
                    <a:lstStyle/>
                    <a:p>
                      <a:pPr algn="ctr" fontAlgn="t"/>
                      <a:r>
                        <a:rPr lang="en-IN" sz="1800" b="1" dirty="0">
                          <a:solidFill>
                            <a:srgbClr val="000000"/>
                          </a:solidFill>
                          <a:effectLst/>
                          <a:latin typeface="Times New Roman" panose="02020603050405020304" pitchFamily="18" charset="0"/>
                          <a:cs typeface="Times New Roman" panose="02020603050405020304" pitchFamily="18" charset="0"/>
                        </a:rPr>
                        <a:t>Java AWT</a:t>
                      </a:r>
                    </a:p>
                  </a:txBody>
                  <a:tcPr marL="137160" marR="137160" marT="137160" marB="137160"/>
                </a:tc>
                <a:tc>
                  <a:txBody>
                    <a:bodyPr/>
                    <a:lstStyle/>
                    <a:p>
                      <a:pPr algn="ctr" fontAlgn="t"/>
                      <a:r>
                        <a:rPr lang="en-IN" sz="1800" b="1" dirty="0">
                          <a:solidFill>
                            <a:srgbClr val="000000"/>
                          </a:solidFill>
                          <a:effectLst/>
                          <a:latin typeface="Times New Roman" panose="02020603050405020304" pitchFamily="18" charset="0"/>
                          <a:cs typeface="Times New Roman" panose="02020603050405020304" pitchFamily="18" charset="0"/>
                        </a:rPr>
                        <a:t>Java Swing</a:t>
                      </a:r>
                    </a:p>
                  </a:txBody>
                  <a:tcPr marL="137160" marR="137160" marT="137160" marB="137160"/>
                </a:tc>
                <a:extLst>
                  <a:ext uri="{0D108BD9-81ED-4DB2-BD59-A6C34878D82A}">
                    <a16:rowId xmlns:a16="http://schemas.microsoft.com/office/drawing/2014/main" val="13014808"/>
                  </a:ext>
                </a:extLst>
              </a:tr>
              <a:tr h="459265">
                <a:tc>
                  <a:txBody>
                    <a:bodyPr/>
                    <a:lstStyle/>
                    <a:p>
                      <a:pPr algn="just" fontAlgn="t"/>
                      <a:r>
                        <a:rPr lang="en-IN" sz="1800" dirty="0">
                          <a:solidFill>
                            <a:srgbClr val="333333"/>
                          </a:solidFill>
                          <a:effectLst/>
                          <a:latin typeface="Times New Roman" panose="02020603050405020304" pitchFamily="18" charset="0"/>
                          <a:cs typeface="Times New Roman" panose="02020603050405020304" pitchFamily="18" charset="0"/>
                        </a:rPr>
                        <a:t>AWT components are </a:t>
                      </a:r>
                      <a:r>
                        <a:rPr lang="en-IN" sz="1800" b="1" dirty="0">
                          <a:solidFill>
                            <a:srgbClr val="333333"/>
                          </a:solidFill>
                          <a:effectLst/>
                          <a:latin typeface="Times New Roman" panose="02020603050405020304" pitchFamily="18" charset="0"/>
                          <a:cs typeface="Times New Roman" panose="02020603050405020304" pitchFamily="18" charset="0"/>
                        </a:rPr>
                        <a:t>heavyweight</a:t>
                      </a:r>
                      <a:r>
                        <a:rPr lang="en-IN" sz="1800" dirty="0">
                          <a:solidFill>
                            <a:srgbClr val="333333"/>
                          </a:solidFill>
                          <a:effectLst/>
                          <a:latin typeface="Times New Roman" panose="02020603050405020304" pitchFamily="18" charset="0"/>
                          <a:cs typeface="Times New Roman" panose="02020603050405020304" pitchFamily="18" charset="0"/>
                        </a:rPr>
                        <a:t>.</a:t>
                      </a:r>
                    </a:p>
                  </a:txBody>
                  <a:tcPr marL="137160" marR="137160" marT="137160" marB="137160"/>
                </a:tc>
                <a:tc>
                  <a:txBody>
                    <a:bodyPr/>
                    <a:lstStyle/>
                    <a:p>
                      <a:pPr algn="just" fontAlgn="t"/>
                      <a:r>
                        <a:rPr lang="en-IN" sz="1800" dirty="0">
                          <a:solidFill>
                            <a:srgbClr val="333333"/>
                          </a:solidFill>
                          <a:effectLst/>
                          <a:latin typeface="Times New Roman" panose="02020603050405020304" pitchFamily="18" charset="0"/>
                          <a:cs typeface="Times New Roman" panose="02020603050405020304" pitchFamily="18" charset="0"/>
                        </a:rPr>
                        <a:t>Swing components are </a:t>
                      </a:r>
                      <a:r>
                        <a:rPr lang="en-IN" sz="1800" b="1" dirty="0">
                          <a:solidFill>
                            <a:srgbClr val="333333"/>
                          </a:solidFill>
                          <a:effectLst/>
                          <a:latin typeface="Times New Roman" panose="02020603050405020304" pitchFamily="18" charset="0"/>
                          <a:cs typeface="Times New Roman" panose="02020603050405020304" pitchFamily="18" charset="0"/>
                        </a:rPr>
                        <a:t>lightweight</a:t>
                      </a:r>
                      <a:r>
                        <a:rPr lang="en-IN" sz="1800" dirty="0">
                          <a:solidFill>
                            <a:srgbClr val="333333"/>
                          </a:solidFill>
                          <a:effectLst/>
                          <a:latin typeface="Times New Roman" panose="02020603050405020304" pitchFamily="18" charset="0"/>
                          <a:cs typeface="Times New Roman" panose="02020603050405020304" pitchFamily="18" charset="0"/>
                        </a:rPr>
                        <a:t>.</a:t>
                      </a:r>
                    </a:p>
                  </a:txBody>
                  <a:tcPr marL="137160" marR="137160" marT="137160" marB="137160"/>
                </a:tc>
                <a:extLst>
                  <a:ext uri="{0D108BD9-81ED-4DB2-BD59-A6C34878D82A}">
                    <a16:rowId xmlns:a16="http://schemas.microsoft.com/office/drawing/2014/main" val="2465467594"/>
                  </a:ext>
                </a:extLst>
              </a:tr>
              <a:tr h="459265">
                <a:tc>
                  <a:txBody>
                    <a:bodyPr/>
                    <a:lstStyle/>
                    <a:p>
                      <a:pPr algn="just" fontAlgn="t"/>
                      <a:r>
                        <a:rPr lang="en-US" sz="1800" dirty="0">
                          <a:solidFill>
                            <a:srgbClr val="333333"/>
                          </a:solidFill>
                          <a:effectLst/>
                          <a:latin typeface="Times New Roman" panose="02020603050405020304" pitchFamily="18" charset="0"/>
                          <a:cs typeface="Times New Roman" panose="02020603050405020304" pitchFamily="18" charset="0"/>
                        </a:rPr>
                        <a:t>AWT </a:t>
                      </a:r>
                      <a:r>
                        <a:rPr lang="en-US" sz="1800" b="1" dirty="0">
                          <a:solidFill>
                            <a:srgbClr val="333333"/>
                          </a:solidFill>
                          <a:effectLst/>
                          <a:latin typeface="Times New Roman" panose="02020603050405020304" pitchFamily="18" charset="0"/>
                          <a:cs typeface="Times New Roman" panose="02020603050405020304" pitchFamily="18" charset="0"/>
                        </a:rPr>
                        <a:t>doesn't support pluggable look and feel</a:t>
                      </a:r>
                      <a:r>
                        <a:rPr lang="en-US" sz="1800" dirty="0">
                          <a:solidFill>
                            <a:srgbClr val="333333"/>
                          </a:solidFill>
                          <a:effectLst/>
                          <a:latin typeface="Times New Roman" panose="02020603050405020304" pitchFamily="18" charset="0"/>
                          <a:cs typeface="Times New Roman" panose="02020603050405020304" pitchFamily="18" charset="0"/>
                        </a:rPr>
                        <a:t>.</a:t>
                      </a:r>
                    </a:p>
                  </a:txBody>
                  <a:tcPr marL="137160" marR="137160" marT="137160" marB="137160"/>
                </a:tc>
                <a:tc>
                  <a:txBody>
                    <a:bodyPr/>
                    <a:lstStyle/>
                    <a:p>
                      <a:pPr algn="just" fontAlgn="t"/>
                      <a:r>
                        <a:rPr lang="en-US" sz="1800">
                          <a:solidFill>
                            <a:srgbClr val="333333"/>
                          </a:solidFill>
                          <a:effectLst/>
                          <a:latin typeface="Times New Roman" panose="02020603050405020304" pitchFamily="18" charset="0"/>
                          <a:cs typeface="Times New Roman" panose="02020603050405020304" pitchFamily="18" charset="0"/>
                        </a:rPr>
                        <a:t>Swing </a:t>
                      </a:r>
                      <a:r>
                        <a:rPr lang="en-US" sz="1800" b="1">
                          <a:solidFill>
                            <a:srgbClr val="333333"/>
                          </a:solidFill>
                          <a:effectLst/>
                          <a:latin typeface="Times New Roman" panose="02020603050405020304" pitchFamily="18" charset="0"/>
                          <a:cs typeface="Times New Roman" panose="02020603050405020304" pitchFamily="18" charset="0"/>
                        </a:rPr>
                        <a:t>supports pluggable look and feel</a:t>
                      </a:r>
                      <a:r>
                        <a:rPr lang="en-US" sz="1800">
                          <a:solidFill>
                            <a:srgbClr val="333333"/>
                          </a:solidFill>
                          <a:effectLst/>
                          <a:latin typeface="Times New Roman" panose="02020603050405020304" pitchFamily="18" charset="0"/>
                          <a:cs typeface="Times New Roman" panose="02020603050405020304" pitchFamily="18" charset="0"/>
                        </a:rPr>
                        <a:t>.</a:t>
                      </a:r>
                    </a:p>
                  </a:txBody>
                  <a:tcPr marL="137160" marR="137160" marT="137160" marB="137160"/>
                </a:tc>
                <a:extLst>
                  <a:ext uri="{0D108BD9-81ED-4DB2-BD59-A6C34878D82A}">
                    <a16:rowId xmlns:a16="http://schemas.microsoft.com/office/drawing/2014/main" val="4084010624"/>
                  </a:ext>
                </a:extLst>
              </a:tr>
              <a:tr h="616284">
                <a:tc>
                  <a:txBody>
                    <a:bodyPr/>
                    <a:lstStyle/>
                    <a:p>
                      <a:pPr algn="just" fontAlgn="t"/>
                      <a:r>
                        <a:rPr lang="en-US" sz="1800">
                          <a:solidFill>
                            <a:srgbClr val="333333"/>
                          </a:solidFill>
                          <a:effectLst/>
                          <a:latin typeface="Times New Roman" panose="02020603050405020304" pitchFamily="18" charset="0"/>
                          <a:cs typeface="Times New Roman" panose="02020603050405020304" pitchFamily="18" charset="0"/>
                        </a:rPr>
                        <a:t>AWT provides </a:t>
                      </a:r>
                      <a:r>
                        <a:rPr lang="en-US" sz="1800" b="1">
                          <a:solidFill>
                            <a:srgbClr val="333333"/>
                          </a:solidFill>
                          <a:effectLst/>
                          <a:latin typeface="Times New Roman" panose="02020603050405020304" pitchFamily="18" charset="0"/>
                          <a:cs typeface="Times New Roman" panose="02020603050405020304" pitchFamily="18" charset="0"/>
                        </a:rPr>
                        <a:t>less components</a:t>
                      </a:r>
                      <a:r>
                        <a:rPr lang="en-US" sz="1800">
                          <a:solidFill>
                            <a:srgbClr val="333333"/>
                          </a:solidFill>
                          <a:effectLst/>
                          <a:latin typeface="Times New Roman" panose="02020603050405020304" pitchFamily="18" charset="0"/>
                          <a:cs typeface="Times New Roman" panose="02020603050405020304" pitchFamily="18" charset="0"/>
                        </a:rPr>
                        <a:t> than Swing.</a:t>
                      </a:r>
                    </a:p>
                  </a:txBody>
                  <a:tcPr marL="137160" marR="137160" marT="137160" marB="137160"/>
                </a:tc>
                <a:tc>
                  <a:txBody>
                    <a:bodyPr/>
                    <a:lstStyle/>
                    <a:p>
                      <a:pPr algn="just" fontAlgn="t"/>
                      <a:r>
                        <a:rPr lang="en-US" sz="1800">
                          <a:solidFill>
                            <a:srgbClr val="333333"/>
                          </a:solidFill>
                          <a:effectLst/>
                          <a:latin typeface="Times New Roman" panose="02020603050405020304" pitchFamily="18" charset="0"/>
                          <a:cs typeface="Times New Roman" panose="02020603050405020304" pitchFamily="18" charset="0"/>
                        </a:rPr>
                        <a:t>Swing provides </a:t>
                      </a:r>
                      <a:r>
                        <a:rPr lang="en-US" sz="1800" b="1">
                          <a:solidFill>
                            <a:srgbClr val="333333"/>
                          </a:solidFill>
                          <a:effectLst/>
                          <a:latin typeface="Times New Roman" panose="02020603050405020304" pitchFamily="18" charset="0"/>
                          <a:cs typeface="Times New Roman" panose="02020603050405020304" pitchFamily="18" charset="0"/>
                        </a:rPr>
                        <a:t>more powerful components</a:t>
                      </a:r>
                      <a:r>
                        <a:rPr lang="en-US" sz="1800">
                          <a:solidFill>
                            <a:srgbClr val="333333"/>
                          </a:solidFill>
                          <a:effectLst/>
                          <a:latin typeface="Times New Roman" panose="02020603050405020304" pitchFamily="18" charset="0"/>
                          <a:cs typeface="Times New Roman" panose="02020603050405020304" pitchFamily="18" charset="0"/>
                        </a:rPr>
                        <a:t> such as tables, lists, scrollpanes, colorchooser, tabbedpane etc.</a:t>
                      </a:r>
                    </a:p>
                  </a:txBody>
                  <a:tcPr marL="137160" marR="137160" marT="137160" marB="137160"/>
                </a:tc>
                <a:extLst>
                  <a:ext uri="{0D108BD9-81ED-4DB2-BD59-A6C34878D82A}">
                    <a16:rowId xmlns:a16="http://schemas.microsoft.com/office/drawing/2014/main" val="1888496606"/>
                  </a:ext>
                </a:extLst>
              </a:tr>
              <a:tr h="1190625">
                <a:tc>
                  <a:txBody>
                    <a:bodyPr/>
                    <a:lstStyle/>
                    <a:p>
                      <a:pPr algn="just" fontAlgn="t"/>
                      <a:r>
                        <a:rPr lang="en-US" sz="1800" dirty="0">
                          <a:solidFill>
                            <a:srgbClr val="333333"/>
                          </a:solidFill>
                          <a:effectLst/>
                          <a:latin typeface="Times New Roman" panose="02020603050405020304" pitchFamily="18" charset="0"/>
                          <a:cs typeface="Times New Roman" panose="02020603050405020304" pitchFamily="18" charset="0"/>
                        </a:rPr>
                        <a:t>AWT </a:t>
                      </a:r>
                      <a:r>
                        <a:rPr lang="en-US" sz="1800" b="1" dirty="0">
                          <a:solidFill>
                            <a:srgbClr val="333333"/>
                          </a:solidFill>
                          <a:effectLst/>
                          <a:latin typeface="Times New Roman" panose="02020603050405020304" pitchFamily="18" charset="0"/>
                          <a:cs typeface="Times New Roman" panose="02020603050405020304" pitchFamily="18" charset="0"/>
                        </a:rPr>
                        <a:t>doesn't follow MVC </a:t>
                      </a:r>
                      <a:r>
                        <a:rPr lang="en-US" sz="1800" dirty="0">
                          <a:solidFill>
                            <a:srgbClr val="333333"/>
                          </a:solidFill>
                          <a:effectLst/>
                          <a:latin typeface="Times New Roman" panose="02020603050405020304" pitchFamily="18" charset="0"/>
                          <a:cs typeface="Times New Roman" panose="02020603050405020304" pitchFamily="18" charset="0"/>
                        </a:rPr>
                        <a:t>(Model View Controller) where model represents data, view represents presentation and controller acts as an interface between model and view.</a:t>
                      </a:r>
                    </a:p>
                  </a:txBody>
                  <a:tcPr marL="137160" marR="137160" marT="137160" marB="137160"/>
                </a:tc>
                <a:tc>
                  <a:txBody>
                    <a:bodyPr/>
                    <a:lstStyle/>
                    <a:p>
                      <a:pPr algn="just" fontAlgn="t"/>
                      <a:r>
                        <a:rPr lang="en-IN" sz="1800" dirty="0">
                          <a:solidFill>
                            <a:srgbClr val="333333"/>
                          </a:solidFill>
                          <a:effectLst/>
                          <a:latin typeface="Times New Roman" panose="02020603050405020304" pitchFamily="18" charset="0"/>
                          <a:cs typeface="Times New Roman" panose="02020603050405020304" pitchFamily="18" charset="0"/>
                        </a:rPr>
                        <a:t>Swing </a:t>
                      </a:r>
                      <a:r>
                        <a:rPr lang="en-IN" sz="1800" b="1" dirty="0">
                          <a:solidFill>
                            <a:srgbClr val="333333"/>
                          </a:solidFill>
                          <a:effectLst/>
                          <a:latin typeface="Times New Roman" panose="02020603050405020304" pitchFamily="18" charset="0"/>
                          <a:cs typeface="Times New Roman" panose="02020603050405020304" pitchFamily="18" charset="0"/>
                        </a:rPr>
                        <a:t>follows MVC</a:t>
                      </a:r>
                      <a:r>
                        <a:rPr lang="en-IN" sz="1800" dirty="0">
                          <a:solidFill>
                            <a:srgbClr val="333333"/>
                          </a:solidFill>
                          <a:effectLst/>
                          <a:latin typeface="Times New Roman" panose="02020603050405020304" pitchFamily="18" charset="0"/>
                          <a:cs typeface="Times New Roman" panose="02020603050405020304" pitchFamily="18" charset="0"/>
                        </a:rPr>
                        <a:t>.</a:t>
                      </a:r>
                    </a:p>
                  </a:txBody>
                  <a:tcPr marL="137160" marR="137160" marT="137160" marB="137160"/>
                </a:tc>
                <a:extLst>
                  <a:ext uri="{0D108BD9-81ED-4DB2-BD59-A6C34878D82A}">
                    <a16:rowId xmlns:a16="http://schemas.microsoft.com/office/drawing/2014/main" val="1184150315"/>
                  </a:ext>
                </a:extLst>
              </a:tr>
            </a:tbl>
          </a:graphicData>
        </a:graphic>
      </p:graphicFrame>
    </p:spTree>
    <p:extLst>
      <p:ext uri="{BB962C8B-B14F-4D97-AF65-F5344CB8AC3E}">
        <p14:creationId xmlns:p14="http://schemas.microsoft.com/office/powerpoint/2010/main" val="32295915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84EC-48B2-BB30-6C3B-74A85CA75424}"/>
              </a:ext>
            </a:extLst>
          </p:cNvPr>
          <p:cNvSpPr>
            <a:spLocks noGrp="1"/>
          </p:cNvSpPr>
          <p:nvPr>
            <p:ph type="title"/>
          </p:nvPr>
        </p:nvSpPr>
        <p:spPr/>
        <p:txBody>
          <a:bodyPr/>
          <a:lstStyle/>
          <a:p>
            <a:r>
              <a:rPr lang="en-US" dirty="0"/>
              <a:t>Java Swing Examples</a:t>
            </a:r>
            <a:endParaRPr lang="en-IN" dirty="0"/>
          </a:p>
        </p:txBody>
      </p:sp>
      <p:sp>
        <p:nvSpPr>
          <p:cNvPr id="3" name="Content Placeholder 2">
            <a:extLst>
              <a:ext uri="{FF2B5EF4-FFF2-40B4-BE49-F238E27FC236}">
                <a16:creationId xmlns:a16="http://schemas.microsoft.com/office/drawing/2014/main" id="{DCBADE6B-483B-42F6-2443-7B54A92BA205}"/>
              </a:ext>
            </a:extLst>
          </p:cNvPr>
          <p:cNvSpPr>
            <a:spLocks noGrp="1"/>
          </p:cNvSpPr>
          <p:nvPr>
            <p:ph idx="1"/>
          </p:nvPr>
        </p:nvSpPr>
        <p:spPr>
          <a:xfrm>
            <a:off x="1047750" y="1138585"/>
            <a:ext cx="10515600" cy="4623100"/>
          </a:xfrm>
        </p:spPr>
        <p:txBody>
          <a:bodyPr/>
          <a:lstStyle/>
          <a:p>
            <a:pPr marL="0" indent="0">
              <a:lnSpc>
                <a:spcPct val="150000"/>
              </a:lnSpc>
              <a:buNone/>
            </a:pPr>
            <a:r>
              <a:rPr lang="en-US" dirty="0"/>
              <a:t>There are two ways to create a frame:</a:t>
            </a:r>
          </a:p>
          <a:p>
            <a:pPr>
              <a:lnSpc>
                <a:spcPct val="150000"/>
              </a:lnSpc>
            </a:pPr>
            <a:r>
              <a:rPr lang="en-US" dirty="0"/>
              <a:t>By creating the object of Frame class (Association)</a:t>
            </a:r>
          </a:p>
          <a:p>
            <a:pPr>
              <a:lnSpc>
                <a:spcPct val="150000"/>
              </a:lnSpc>
            </a:pPr>
            <a:r>
              <a:rPr lang="en-US" dirty="0"/>
              <a:t>By extending Frame class (Inheritance)</a:t>
            </a:r>
            <a:endParaRPr lang="en-IN" dirty="0"/>
          </a:p>
        </p:txBody>
      </p:sp>
      <p:sp>
        <p:nvSpPr>
          <p:cNvPr id="4" name="Footer Placeholder 3">
            <a:extLst>
              <a:ext uri="{FF2B5EF4-FFF2-40B4-BE49-F238E27FC236}">
                <a16:creationId xmlns:a16="http://schemas.microsoft.com/office/drawing/2014/main" id="{C0B4DE03-44A7-410D-0822-D6356BB1A1BB}"/>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17882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2C9DC-CDFE-F2D4-F5A4-3E9D3DA9999A}"/>
              </a:ext>
            </a:extLst>
          </p:cNvPr>
          <p:cNvSpPr>
            <a:spLocks noGrp="1"/>
          </p:cNvSpPr>
          <p:nvPr>
            <p:ph type="title"/>
          </p:nvPr>
        </p:nvSpPr>
        <p:spPr/>
        <p:txBody>
          <a:bodyPr/>
          <a:lstStyle/>
          <a:p>
            <a:r>
              <a:rPr lang="en-US" dirty="0" err="1"/>
              <a:t>JFrame</a:t>
            </a:r>
            <a:r>
              <a:rPr lang="en-US" dirty="0"/>
              <a:t> Example</a:t>
            </a:r>
            <a:endParaRPr lang="en-IN" dirty="0"/>
          </a:p>
        </p:txBody>
      </p:sp>
      <p:sp>
        <p:nvSpPr>
          <p:cNvPr id="4" name="Footer Placeholder 3">
            <a:extLst>
              <a:ext uri="{FF2B5EF4-FFF2-40B4-BE49-F238E27FC236}">
                <a16:creationId xmlns:a16="http://schemas.microsoft.com/office/drawing/2014/main" id="{361667BD-A1CA-15DE-A199-A7FCAF5EB27F}"/>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12" name="Picture 11">
            <a:extLst>
              <a:ext uri="{FF2B5EF4-FFF2-40B4-BE49-F238E27FC236}">
                <a16:creationId xmlns:a16="http://schemas.microsoft.com/office/drawing/2014/main" id="{E32AC770-B879-DD67-1698-344CDE7C3F4E}"/>
              </a:ext>
            </a:extLst>
          </p:cNvPr>
          <p:cNvPicPr>
            <a:picLocks noChangeAspect="1"/>
          </p:cNvPicPr>
          <p:nvPr/>
        </p:nvPicPr>
        <p:blipFill>
          <a:blip r:embed="rId2"/>
          <a:stretch>
            <a:fillRect/>
          </a:stretch>
        </p:blipFill>
        <p:spPr>
          <a:xfrm>
            <a:off x="1151529" y="1214314"/>
            <a:ext cx="10497545" cy="5005512"/>
          </a:xfrm>
          <a:prstGeom prst="rect">
            <a:avLst/>
          </a:prstGeom>
        </p:spPr>
      </p:pic>
    </p:spTree>
    <p:extLst>
      <p:ext uri="{BB962C8B-B14F-4D97-AF65-F5344CB8AC3E}">
        <p14:creationId xmlns:p14="http://schemas.microsoft.com/office/powerpoint/2010/main" val="1238293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1E4D5-97AA-B85C-F5DC-86B753CEAB0D}"/>
              </a:ext>
            </a:extLst>
          </p:cNvPr>
          <p:cNvSpPr>
            <a:spLocks noGrp="1"/>
          </p:cNvSpPr>
          <p:nvPr>
            <p:ph type="title"/>
          </p:nvPr>
        </p:nvSpPr>
        <p:spPr/>
        <p:txBody>
          <a:bodyPr/>
          <a:lstStyle/>
          <a:p>
            <a:r>
              <a:rPr lang="en-US" dirty="0" err="1"/>
              <a:t>JPanel</a:t>
            </a:r>
            <a:r>
              <a:rPr lang="en-US" dirty="0"/>
              <a:t> Example</a:t>
            </a:r>
            <a:endParaRPr lang="en-IN" dirty="0"/>
          </a:p>
        </p:txBody>
      </p:sp>
      <p:sp>
        <p:nvSpPr>
          <p:cNvPr id="4" name="Footer Placeholder 3">
            <a:extLst>
              <a:ext uri="{FF2B5EF4-FFF2-40B4-BE49-F238E27FC236}">
                <a16:creationId xmlns:a16="http://schemas.microsoft.com/office/drawing/2014/main" id="{BDD5F9F3-58E5-8207-10BC-523388EB2C27}"/>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18C712F5-E2C2-1127-3E24-0D89ECC5BF61}"/>
              </a:ext>
            </a:extLst>
          </p:cNvPr>
          <p:cNvPicPr>
            <a:picLocks noChangeAspect="1"/>
          </p:cNvPicPr>
          <p:nvPr/>
        </p:nvPicPr>
        <p:blipFill>
          <a:blip r:embed="rId2"/>
          <a:stretch>
            <a:fillRect/>
          </a:stretch>
        </p:blipFill>
        <p:spPr>
          <a:xfrm>
            <a:off x="1229920" y="1190625"/>
            <a:ext cx="10267948" cy="4962525"/>
          </a:xfrm>
          <a:prstGeom prst="rect">
            <a:avLst/>
          </a:prstGeom>
        </p:spPr>
      </p:pic>
    </p:spTree>
    <p:extLst>
      <p:ext uri="{BB962C8B-B14F-4D97-AF65-F5344CB8AC3E}">
        <p14:creationId xmlns:p14="http://schemas.microsoft.com/office/powerpoint/2010/main" val="1772484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A80FC-4603-000E-FBE4-49C306742571}"/>
              </a:ext>
            </a:extLst>
          </p:cNvPr>
          <p:cNvSpPr>
            <a:spLocks noGrp="1"/>
          </p:cNvSpPr>
          <p:nvPr>
            <p:ph type="title"/>
          </p:nvPr>
        </p:nvSpPr>
        <p:spPr/>
        <p:txBody>
          <a:bodyPr/>
          <a:lstStyle/>
          <a:p>
            <a:r>
              <a:rPr lang="en-US" dirty="0"/>
              <a:t>Swing Example</a:t>
            </a:r>
            <a:endParaRPr lang="en-IN" dirty="0"/>
          </a:p>
        </p:txBody>
      </p:sp>
      <p:sp>
        <p:nvSpPr>
          <p:cNvPr id="4" name="Footer Placeholder 3">
            <a:extLst>
              <a:ext uri="{FF2B5EF4-FFF2-40B4-BE49-F238E27FC236}">
                <a16:creationId xmlns:a16="http://schemas.microsoft.com/office/drawing/2014/main" id="{8BFC1989-F794-EC18-603A-CAF56606D6EE}"/>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4E77C509-C287-8DF3-7867-8DA94BE72FB2}"/>
              </a:ext>
            </a:extLst>
          </p:cNvPr>
          <p:cNvPicPr>
            <a:picLocks noChangeAspect="1"/>
          </p:cNvPicPr>
          <p:nvPr/>
        </p:nvPicPr>
        <p:blipFill>
          <a:blip r:embed="rId2"/>
          <a:stretch>
            <a:fillRect/>
          </a:stretch>
        </p:blipFill>
        <p:spPr>
          <a:xfrm>
            <a:off x="1142334" y="1179178"/>
            <a:ext cx="10267950" cy="5069222"/>
          </a:xfrm>
          <a:prstGeom prst="rect">
            <a:avLst/>
          </a:prstGeom>
        </p:spPr>
      </p:pic>
    </p:spTree>
    <p:extLst>
      <p:ext uri="{BB962C8B-B14F-4D97-AF65-F5344CB8AC3E}">
        <p14:creationId xmlns:p14="http://schemas.microsoft.com/office/powerpoint/2010/main" val="3603910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06FB3-82A3-6FD4-21C5-2BB1240BF636}"/>
              </a:ext>
            </a:extLst>
          </p:cNvPr>
          <p:cNvSpPr>
            <a:spLocks noGrp="1"/>
          </p:cNvSpPr>
          <p:nvPr>
            <p:ph type="title"/>
          </p:nvPr>
        </p:nvSpPr>
        <p:spPr/>
        <p:txBody>
          <a:bodyPr/>
          <a:lstStyle/>
          <a:p>
            <a:r>
              <a:rPr lang="en-US" dirty="0" err="1"/>
              <a:t>JFrame</a:t>
            </a:r>
            <a:r>
              <a:rPr lang="en-US" dirty="0"/>
              <a:t> and </a:t>
            </a:r>
            <a:r>
              <a:rPr lang="en-US" dirty="0" err="1"/>
              <a:t>JButton</a:t>
            </a:r>
            <a:r>
              <a:rPr lang="en-US" dirty="0"/>
              <a:t> in Constructor</a:t>
            </a:r>
            <a:endParaRPr lang="en-IN" dirty="0"/>
          </a:p>
        </p:txBody>
      </p:sp>
      <p:sp>
        <p:nvSpPr>
          <p:cNvPr id="4" name="Footer Placeholder 3">
            <a:extLst>
              <a:ext uri="{FF2B5EF4-FFF2-40B4-BE49-F238E27FC236}">
                <a16:creationId xmlns:a16="http://schemas.microsoft.com/office/drawing/2014/main" id="{0E2CFDE6-E06C-8EFF-C9C1-337E69BCC0A7}"/>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2FB08BCD-41D8-0AC8-A4D2-BBA4FF541537}"/>
              </a:ext>
            </a:extLst>
          </p:cNvPr>
          <p:cNvPicPr>
            <a:picLocks noChangeAspect="1"/>
          </p:cNvPicPr>
          <p:nvPr/>
        </p:nvPicPr>
        <p:blipFill>
          <a:blip r:embed="rId2"/>
          <a:stretch>
            <a:fillRect/>
          </a:stretch>
        </p:blipFill>
        <p:spPr>
          <a:xfrm>
            <a:off x="1266825" y="1204912"/>
            <a:ext cx="10267949" cy="4943475"/>
          </a:xfrm>
          <a:prstGeom prst="rect">
            <a:avLst/>
          </a:prstGeom>
        </p:spPr>
      </p:pic>
    </p:spTree>
    <p:extLst>
      <p:ext uri="{BB962C8B-B14F-4D97-AF65-F5344CB8AC3E}">
        <p14:creationId xmlns:p14="http://schemas.microsoft.com/office/powerpoint/2010/main" val="2346273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19BE1-2F72-0FF5-444E-2F351879BCEF}"/>
              </a:ext>
            </a:extLst>
          </p:cNvPr>
          <p:cNvSpPr>
            <a:spLocks noGrp="1"/>
          </p:cNvSpPr>
          <p:nvPr>
            <p:ph type="title"/>
          </p:nvPr>
        </p:nvSpPr>
        <p:spPr/>
        <p:txBody>
          <a:bodyPr/>
          <a:lstStyle/>
          <a:p>
            <a:r>
              <a:rPr lang="en-US" dirty="0"/>
              <a:t>Inheriting </a:t>
            </a:r>
            <a:r>
              <a:rPr lang="en-US" dirty="0" err="1"/>
              <a:t>JFrame</a:t>
            </a:r>
            <a:r>
              <a:rPr lang="en-US" dirty="0"/>
              <a:t> Class</a:t>
            </a:r>
            <a:endParaRPr lang="en-IN" dirty="0"/>
          </a:p>
        </p:txBody>
      </p:sp>
      <p:sp>
        <p:nvSpPr>
          <p:cNvPr id="4" name="Footer Placeholder 3">
            <a:extLst>
              <a:ext uri="{FF2B5EF4-FFF2-40B4-BE49-F238E27FC236}">
                <a16:creationId xmlns:a16="http://schemas.microsoft.com/office/drawing/2014/main" id="{36C79DAA-294E-2144-05B7-19D561F6E43F}"/>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6E225FE2-A9DB-C1EA-C6BE-708D55745373}"/>
              </a:ext>
            </a:extLst>
          </p:cNvPr>
          <p:cNvPicPr>
            <a:picLocks noChangeAspect="1"/>
          </p:cNvPicPr>
          <p:nvPr/>
        </p:nvPicPr>
        <p:blipFill>
          <a:blip r:embed="rId2"/>
          <a:stretch>
            <a:fillRect/>
          </a:stretch>
        </p:blipFill>
        <p:spPr>
          <a:xfrm>
            <a:off x="1208796" y="1193005"/>
            <a:ext cx="10106903" cy="4912519"/>
          </a:xfrm>
          <a:prstGeom prst="rect">
            <a:avLst/>
          </a:prstGeom>
        </p:spPr>
      </p:pic>
    </p:spTree>
    <p:extLst>
      <p:ext uri="{BB962C8B-B14F-4D97-AF65-F5344CB8AC3E}">
        <p14:creationId xmlns:p14="http://schemas.microsoft.com/office/powerpoint/2010/main" val="3674826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E3F2-6815-EF39-8FA9-65AC613FC2C9}"/>
              </a:ext>
            </a:extLst>
          </p:cNvPr>
          <p:cNvSpPr>
            <a:spLocks noGrp="1"/>
          </p:cNvSpPr>
          <p:nvPr>
            <p:ph type="title"/>
          </p:nvPr>
        </p:nvSpPr>
        <p:spPr/>
        <p:txBody>
          <a:bodyPr/>
          <a:lstStyle/>
          <a:p>
            <a:r>
              <a:rPr lang="en-US" dirty="0" err="1"/>
              <a:t>JButton</a:t>
            </a:r>
            <a:r>
              <a:rPr lang="en-US" dirty="0"/>
              <a:t> Example</a:t>
            </a:r>
            <a:endParaRPr lang="en-IN" dirty="0"/>
          </a:p>
        </p:txBody>
      </p:sp>
      <p:sp>
        <p:nvSpPr>
          <p:cNvPr id="4" name="Footer Placeholder 3">
            <a:extLst>
              <a:ext uri="{FF2B5EF4-FFF2-40B4-BE49-F238E27FC236}">
                <a16:creationId xmlns:a16="http://schemas.microsoft.com/office/drawing/2014/main" id="{49150767-2D04-9A73-990E-B687B574D3FA}"/>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5636A641-4253-2696-8307-43A9FE9B789A}"/>
              </a:ext>
            </a:extLst>
          </p:cNvPr>
          <p:cNvPicPr>
            <a:picLocks noChangeAspect="1"/>
          </p:cNvPicPr>
          <p:nvPr/>
        </p:nvPicPr>
        <p:blipFill>
          <a:blip r:embed="rId2"/>
          <a:stretch>
            <a:fillRect/>
          </a:stretch>
        </p:blipFill>
        <p:spPr>
          <a:xfrm>
            <a:off x="1139761" y="1199932"/>
            <a:ext cx="10680764" cy="4981793"/>
          </a:xfrm>
          <a:prstGeom prst="rect">
            <a:avLst/>
          </a:prstGeom>
        </p:spPr>
      </p:pic>
    </p:spTree>
    <p:extLst>
      <p:ext uri="{BB962C8B-B14F-4D97-AF65-F5344CB8AC3E}">
        <p14:creationId xmlns:p14="http://schemas.microsoft.com/office/powerpoint/2010/main" val="2758591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CCA4-9A69-8B1D-9434-5FAC68137606}"/>
              </a:ext>
            </a:extLst>
          </p:cNvPr>
          <p:cNvSpPr>
            <a:spLocks noGrp="1"/>
          </p:cNvSpPr>
          <p:nvPr>
            <p:ph type="title"/>
          </p:nvPr>
        </p:nvSpPr>
        <p:spPr/>
        <p:txBody>
          <a:bodyPr/>
          <a:lstStyle/>
          <a:p>
            <a:r>
              <a:rPr lang="en-US" dirty="0" err="1"/>
              <a:t>JLabel</a:t>
            </a:r>
            <a:r>
              <a:rPr lang="en-US" dirty="0"/>
              <a:t> Example</a:t>
            </a:r>
            <a:endParaRPr lang="en-IN" dirty="0"/>
          </a:p>
        </p:txBody>
      </p:sp>
      <p:sp>
        <p:nvSpPr>
          <p:cNvPr id="4" name="Footer Placeholder 3">
            <a:extLst>
              <a:ext uri="{FF2B5EF4-FFF2-40B4-BE49-F238E27FC236}">
                <a16:creationId xmlns:a16="http://schemas.microsoft.com/office/drawing/2014/main" id="{E17239DD-4953-61BF-4BC8-8BE096FD4A93}"/>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DA9ECBE7-2B27-6F5F-478C-9729F550A993}"/>
              </a:ext>
            </a:extLst>
          </p:cNvPr>
          <p:cNvPicPr>
            <a:picLocks noChangeAspect="1"/>
          </p:cNvPicPr>
          <p:nvPr/>
        </p:nvPicPr>
        <p:blipFill>
          <a:blip r:embed="rId2"/>
          <a:stretch>
            <a:fillRect/>
          </a:stretch>
        </p:blipFill>
        <p:spPr>
          <a:xfrm>
            <a:off x="1500187" y="1362075"/>
            <a:ext cx="10220325" cy="4629150"/>
          </a:xfrm>
          <a:prstGeom prst="rect">
            <a:avLst/>
          </a:prstGeom>
        </p:spPr>
      </p:pic>
    </p:spTree>
    <p:extLst>
      <p:ext uri="{BB962C8B-B14F-4D97-AF65-F5344CB8AC3E}">
        <p14:creationId xmlns:p14="http://schemas.microsoft.com/office/powerpoint/2010/main" val="4210031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640E2-0C15-5F8F-1FAE-FF988DC55331}"/>
              </a:ext>
            </a:extLst>
          </p:cNvPr>
          <p:cNvSpPr>
            <a:spLocks noGrp="1"/>
          </p:cNvSpPr>
          <p:nvPr>
            <p:ph type="title"/>
          </p:nvPr>
        </p:nvSpPr>
        <p:spPr/>
        <p:txBody>
          <a:bodyPr/>
          <a:lstStyle/>
          <a:p>
            <a:r>
              <a:rPr lang="en-US" dirty="0"/>
              <a:t>Drawing Geometrical Shapes</a:t>
            </a:r>
            <a:endParaRPr lang="en-IN" dirty="0"/>
          </a:p>
        </p:txBody>
      </p:sp>
      <p:sp>
        <p:nvSpPr>
          <p:cNvPr id="4" name="Footer Placeholder 3">
            <a:extLst>
              <a:ext uri="{FF2B5EF4-FFF2-40B4-BE49-F238E27FC236}">
                <a16:creationId xmlns:a16="http://schemas.microsoft.com/office/drawing/2014/main" id="{A6B95CBF-D875-FDD6-9F54-409A25C81798}"/>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C104C781-CC1B-4A71-8A1A-3A918A8E44FB}"/>
              </a:ext>
            </a:extLst>
          </p:cNvPr>
          <p:cNvPicPr>
            <a:picLocks noChangeAspect="1"/>
          </p:cNvPicPr>
          <p:nvPr/>
        </p:nvPicPr>
        <p:blipFill>
          <a:blip r:embed="rId2"/>
          <a:stretch>
            <a:fillRect/>
          </a:stretch>
        </p:blipFill>
        <p:spPr>
          <a:xfrm>
            <a:off x="2324100" y="1169987"/>
            <a:ext cx="8039100" cy="5155611"/>
          </a:xfrm>
          <a:prstGeom prst="rect">
            <a:avLst/>
          </a:prstGeom>
        </p:spPr>
      </p:pic>
    </p:spTree>
    <p:extLst>
      <p:ext uri="{BB962C8B-B14F-4D97-AF65-F5344CB8AC3E}">
        <p14:creationId xmlns:p14="http://schemas.microsoft.com/office/powerpoint/2010/main" val="13621629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93F6-5835-6118-D72F-60DE0270A51A}"/>
              </a:ext>
            </a:extLst>
          </p:cNvPr>
          <p:cNvSpPr>
            <a:spLocks noGrp="1"/>
          </p:cNvSpPr>
          <p:nvPr>
            <p:ph type="title"/>
          </p:nvPr>
        </p:nvSpPr>
        <p:spPr/>
        <p:txBody>
          <a:bodyPr/>
          <a:lstStyle/>
          <a:p>
            <a:r>
              <a:rPr lang="en-US" dirty="0"/>
              <a:t>File Handling</a:t>
            </a:r>
            <a:endParaRPr lang="en-IN" dirty="0"/>
          </a:p>
        </p:txBody>
      </p:sp>
      <p:sp>
        <p:nvSpPr>
          <p:cNvPr id="3" name="Content Placeholder 2">
            <a:extLst>
              <a:ext uri="{FF2B5EF4-FFF2-40B4-BE49-F238E27FC236}">
                <a16:creationId xmlns:a16="http://schemas.microsoft.com/office/drawing/2014/main" id="{328D2A24-931A-6B00-A25B-FB509BE945BF}"/>
              </a:ext>
            </a:extLst>
          </p:cNvPr>
          <p:cNvSpPr>
            <a:spLocks noGrp="1"/>
          </p:cNvSpPr>
          <p:nvPr>
            <p:ph idx="1"/>
          </p:nvPr>
        </p:nvSpPr>
        <p:spPr>
          <a:xfrm>
            <a:off x="1047750" y="1117450"/>
            <a:ext cx="10715626" cy="4623100"/>
          </a:xfrm>
        </p:spPr>
        <p:txBody>
          <a:bodyPr/>
          <a:lstStyle/>
          <a:p>
            <a:pPr algn="just">
              <a:lnSpc>
                <a:spcPct val="150000"/>
              </a:lnSpc>
            </a:pPr>
            <a:r>
              <a:rPr lang="en-US" dirty="0"/>
              <a:t>In Java, file handling is done with File Class. </a:t>
            </a:r>
          </a:p>
          <a:p>
            <a:pPr algn="just">
              <a:lnSpc>
                <a:spcPct val="150000"/>
              </a:lnSpc>
            </a:pPr>
            <a:r>
              <a:rPr lang="en-US" dirty="0"/>
              <a:t>The File Class is inside the </a:t>
            </a:r>
            <a:r>
              <a:rPr lang="en-US" b="1" dirty="0"/>
              <a:t>java.io </a:t>
            </a:r>
            <a:r>
              <a:rPr lang="en-US" dirty="0"/>
              <a:t>package. The File class can be used by creating an object of the class and then specifying the name of the file.</a:t>
            </a:r>
          </a:p>
          <a:p>
            <a:pPr algn="just">
              <a:lnSpc>
                <a:spcPct val="150000"/>
              </a:lnSpc>
            </a:pPr>
            <a:r>
              <a:rPr lang="en-US" dirty="0"/>
              <a:t>File Handling is an integral part of any programming language as file handling enables us to store the output of any program in a file and allows us to perform certain operations on it.</a:t>
            </a:r>
          </a:p>
          <a:p>
            <a:pPr algn="just">
              <a:lnSpc>
                <a:spcPct val="150000"/>
              </a:lnSpc>
            </a:pPr>
            <a:r>
              <a:rPr lang="en-US" dirty="0"/>
              <a:t>In simple words, file handling means reading and writing data to a file.</a:t>
            </a:r>
            <a:endParaRPr lang="en-IN" dirty="0"/>
          </a:p>
        </p:txBody>
      </p:sp>
      <p:sp>
        <p:nvSpPr>
          <p:cNvPr id="4" name="Footer Placeholder 3">
            <a:extLst>
              <a:ext uri="{FF2B5EF4-FFF2-40B4-BE49-F238E27FC236}">
                <a16:creationId xmlns:a16="http://schemas.microsoft.com/office/drawing/2014/main" id="{6BDBAF7B-1E03-9FC0-5B27-151E654B310D}"/>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308088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5F8CE-96F0-1800-3D3D-A7AC8EE4D648}"/>
              </a:ext>
            </a:extLst>
          </p:cNvPr>
          <p:cNvSpPr>
            <a:spLocks noGrp="1"/>
          </p:cNvSpPr>
          <p:nvPr>
            <p:ph type="title"/>
          </p:nvPr>
        </p:nvSpPr>
        <p:spPr/>
        <p:txBody>
          <a:bodyPr/>
          <a:lstStyle/>
          <a:p>
            <a:r>
              <a:rPr lang="en-US" dirty="0"/>
              <a:t>Streams in Java</a:t>
            </a:r>
            <a:endParaRPr lang="en-IN" dirty="0"/>
          </a:p>
        </p:txBody>
      </p:sp>
      <p:sp>
        <p:nvSpPr>
          <p:cNvPr id="3" name="Content Placeholder 2">
            <a:extLst>
              <a:ext uri="{FF2B5EF4-FFF2-40B4-BE49-F238E27FC236}">
                <a16:creationId xmlns:a16="http://schemas.microsoft.com/office/drawing/2014/main" id="{F5C44454-E446-89B3-524A-4F767F253BCA}"/>
              </a:ext>
            </a:extLst>
          </p:cNvPr>
          <p:cNvSpPr>
            <a:spLocks noGrp="1"/>
          </p:cNvSpPr>
          <p:nvPr>
            <p:ph idx="1"/>
          </p:nvPr>
        </p:nvSpPr>
        <p:spPr>
          <a:xfrm>
            <a:off x="1047750" y="1117450"/>
            <a:ext cx="10515600" cy="4623100"/>
          </a:xfrm>
        </p:spPr>
        <p:txBody>
          <a:bodyPr/>
          <a:lstStyle/>
          <a:p>
            <a:pPr>
              <a:lnSpc>
                <a:spcPct val="150000"/>
              </a:lnSpc>
              <a:spcBef>
                <a:spcPts val="0"/>
              </a:spcBef>
            </a:pPr>
            <a:r>
              <a:rPr lang="en-US" dirty="0"/>
              <a:t>In Java, a sequence of data is known as a stream.</a:t>
            </a:r>
          </a:p>
          <a:p>
            <a:pPr>
              <a:lnSpc>
                <a:spcPct val="150000"/>
              </a:lnSpc>
              <a:spcBef>
                <a:spcPts val="0"/>
              </a:spcBef>
            </a:pPr>
            <a:r>
              <a:rPr lang="en-US" dirty="0"/>
              <a:t>This concept is used to perform I/O operations on a file.</a:t>
            </a:r>
          </a:p>
          <a:p>
            <a:pPr>
              <a:lnSpc>
                <a:spcPct val="150000"/>
              </a:lnSpc>
              <a:spcBef>
                <a:spcPts val="0"/>
              </a:spcBef>
            </a:pPr>
            <a:r>
              <a:rPr lang="en-US" dirty="0"/>
              <a:t>There are two types of streams :</a:t>
            </a:r>
          </a:p>
          <a:p>
            <a:pPr lvl="1">
              <a:lnSpc>
                <a:spcPct val="150000"/>
              </a:lnSpc>
              <a:spcBef>
                <a:spcPts val="0"/>
              </a:spcBef>
            </a:pPr>
            <a:r>
              <a:rPr lang="en-US" dirty="0"/>
              <a:t>Input Stream</a:t>
            </a:r>
          </a:p>
          <a:p>
            <a:pPr lvl="1">
              <a:lnSpc>
                <a:spcPct val="150000"/>
              </a:lnSpc>
              <a:spcBef>
                <a:spcPts val="0"/>
              </a:spcBef>
            </a:pPr>
            <a:r>
              <a:rPr lang="en-US" dirty="0"/>
              <a:t>Output Stream</a:t>
            </a:r>
            <a:endParaRPr lang="en-IN" dirty="0"/>
          </a:p>
        </p:txBody>
      </p:sp>
      <p:sp>
        <p:nvSpPr>
          <p:cNvPr id="4" name="Footer Placeholder 3">
            <a:extLst>
              <a:ext uri="{FF2B5EF4-FFF2-40B4-BE49-F238E27FC236}">
                <a16:creationId xmlns:a16="http://schemas.microsoft.com/office/drawing/2014/main" id="{CA9013A3-3552-61EE-ABF0-4CE467EBF1B7}"/>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4288679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1D8BC-BA18-1A66-5EF7-4F6EDA6EC2F1}"/>
              </a:ext>
            </a:extLst>
          </p:cNvPr>
          <p:cNvSpPr>
            <a:spLocks noGrp="1"/>
          </p:cNvSpPr>
          <p:nvPr>
            <p:ph type="title"/>
          </p:nvPr>
        </p:nvSpPr>
        <p:spPr/>
        <p:txBody>
          <a:bodyPr/>
          <a:lstStyle/>
          <a:p>
            <a:r>
              <a:rPr lang="en-US" dirty="0"/>
              <a:t>Input Stream</a:t>
            </a:r>
            <a:endParaRPr lang="en-IN" dirty="0"/>
          </a:p>
        </p:txBody>
      </p:sp>
      <p:sp>
        <p:nvSpPr>
          <p:cNvPr id="3" name="Content Placeholder 2">
            <a:extLst>
              <a:ext uri="{FF2B5EF4-FFF2-40B4-BE49-F238E27FC236}">
                <a16:creationId xmlns:a16="http://schemas.microsoft.com/office/drawing/2014/main" id="{22890AFA-AA5B-DCE2-F906-5585D637342A}"/>
              </a:ext>
            </a:extLst>
          </p:cNvPr>
          <p:cNvSpPr>
            <a:spLocks noGrp="1"/>
          </p:cNvSpPr>
          <p:nvPr>
            <p:ph idx="1"/>
          </p:nvPr>
        </p:nvSpPr>
        <p:spPr>
          <a:xfrm>
            <a:off x="1047750" y="1117450"/>
            <a:ext cx="10515600" cy="4623100"/>
          </a:xfrm>
        </p:spPr>
        <p:txBody>
          <a:bodyPr>
            <a:noAutofit/>
          </a:bodyPr>
          <a:lstStyle/>
          <a:p>
            <a:pPr algn="just">
              <a:lnSpc>
                <a:spcPct val="150000"/>
              </a:lnSpc>
              <a:spcBef>
                <a:spcPts val="0"/>
              </a:spcBef>
            </a:pPr>
            <a:r>
              <a:rPr lang="en-US" sz="2000" dirty="0"/>
              <a:t>The Java </a:t>
            </a:r>
            <a:r>
              <a:rPr lang="en-US" sz="2000" dirty="0" err="1"/>
              <a:t>InputStream</a:t>
            </a:r>
            <a:r>
              <a:rPr lang="en-US" sz="2000" dirty="0"/>
              <a:t> class is the superclass of all input streams. </a:t>
            </a:r>
          </a:p>
          <a:p>
            <a:pPr algn="just">
              <a:lnSpc>
                <a:spcPct val="150000"/>
              </a:lnSpc>
              <a:spcBef>
                <a:spcPts val="0"/>
              </a:spcBef>
            </a:pPr>
            <a:r>
              <a:rPr lang="en-US" sz="2000" dirty="0"/>
              <a:t>The input stream is used to read data from numerous input devices like the keyboard, network, etc.</a:t>
            </a:r>
          </a:p>
          <a:p>
            <a:pPr algn="just">
              <a:lnSpc>
                <a:spcPct val="150000"/>
              </a:lnSpc>
              <a:spcBef>
                <a:spcPts val="0"/>
              </a:spcBef>
            </a:pPr>
            <a:r>
              <a:rPr lang="en-US" sz="2000" dirty="0" err="1"/>
              <a:t>InputStream</a:t>
            </a:r>
            <a:r>
              <a:rPr lang="en-US" sz="2000" dirty="0"/>
              <a:t> is an abstract class, its subclasses are used to read data.</a:t>
            </a:r>
          </a:p>
          <a:p>
            <a:pPr algn="just">
              <a:lnSpc>
                <a:spcPct val="150000"/>
              </a:lnSpc>
              <a:spcBef>
                <a:spcPts val="0"/>
              </a:spcBef>
            </a:pPr>
            <a:r>
              <a:rPr lang="en-US" sz="2000" dirty="0"/>
              <a:t>There are several subclasses of the </a:t>
            </a:r>
            <a:r>
              <a:rPr lang="en-US" sz="2000" dirty="0" err="1"/>
              <a:t>InputStream</a:t>
            </a:r>
            <a:r>
              <a:rPr lang="en-US" sz="2000" dirty="0"/>
              <a:t> class, which are:</a:t>
            </a:r>
          </a:p>
          <a:p>
            <a:pPr lvl="1" algn="just">
              <a:lnSpc>
                <a:spcPct val="150000"/>
              </a:lnSpc>
              <a:spcBef>
                <a:spcPts val="0"/>
              </a:spcBef>
            </a:pPr>
            <a:r>
              <a:rPr lang="en-US" sz="2000" dirty="0" err="1"/>
              <a:t>AudioInputStream</a:t>
            </a:r>
            <a:endParaRPr lang="en-US" sz="2000" dirty="0"/>
          </a:p>
          <a:p>
            <a:pPr lvl="1" algn="just">
              <a:lnSpc>
                <a:spcPct val="150000"/>
              </a:lnSpc>
              <a:spcBef>
                <a:spcPts val="0"/>
              </a:spcBef>
            </a:pPr>
            <a:r>
              <a:rPr lang="en-US" sz="2000" dirty="0" err="1"/>
              <a:t>ByteArrayInputStream</a:t>
            </a:r>
            <a:endParaRPr lang="en-US" sz="2000" dirty="0"/>
          </a:p>
          <a:p>
            <a:pPr lvl="1" algn="just">
              <a:lnSpc>
                <a:spcPct val="150000"/>
              </a:lnSpc>
              <a:spcBef>
                <a:spcPts val="0"/>
              </a:spcBef>
            </a:pPr>
            <a:r>
              <a:rPr lang="en-US" sz="2000" dirty="0" err="1"/>
              <a:t>FileInputStream</a:t>
            </a:r>
            <a:endParaRPr lang="en-US" sz="2000" dirty="0"/>
          </a:p>
          <a:p>
            <a:pPr lvl="1" algn="just">
              <a:lnSpc>
                <a:spcPct val="150000"/>
              </a:lnSpc>
              <a:spcBef>
                <a:spcPts val="0"/>
              </a:spcBef>
            </a:pPr>
            <a:r>
              <a:rPr lang="en-US" sz="2000" dirty="0" err="1"/>
              <a:t>FilterInputStream</a:t>
            </a:r>
            <a:endParaRPr lang="en-US" sz="2000" dirty="0"/>
          </a:p>
          <a:p>
            <a:pPr lvl="1" algn="just">
              <a:lnSpc>
                <a:spcPct val="150000"/>
              </a:lnSpc>
              <a:spcBef>
                <a:spcPts val="0"/>
              </a:spcBef>
            </a:pPr>
            <a:r>
              <a:rPr lang="en-US" sz="2000" dirty="0" err="1"/>
              <a:t>StringBufferInputStream</a:t>
            </a:r>
            <a:endParaRPr lang="en-US" sz="2000" dirty="0"/>
          </a:p>
          <a:p>
            <a:pPr lvl="1" algn="just">
              <a:lnSpc>
                <a:spcPct val="150000"/>
              </a:lnSpc>
              <a:spcBef>
                <a:spcPts val="0"/>
              </a:spcBef>
            </a:pPr>
            <a:r>
              <a:rPr lang="en-US" sz="2000" dirty="0" err="1"/>
              <a:t>ObjectInputStream</a:t>
            </a:r>
            <a:endParaRPr lang="en-IN" sz="2000" dirty="0"/>
          </a:p>
        </p:txBody>
      </p:sp>
      <p:sp>
        <p:nvSpPr>
          <p:cNvPr id="4" name="Footer Placeholder 3">
            <a:extLst>
              <a:ext uri="{FF2B5EF4-FFF2-40B4-BE49-F238E27FC236}">
                <a16:creationId xmlns:a16="http://schemas.microsoft.com/office/drawing/2014/main" id="{B30BE9DD-6734-1558-EFBD-B15AA188205C}"/>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26075178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68317-8AB2-B527-EE1C-E322B60F3D60}"/>
              </a:ext>
            </a:extLst>
          </p:cNvPr>
          <p:cNvSpPr>
            <a:spLocks noGrp="1"/>
          </p:cNvSpPr>
          <p:nvPr>
            <p:ph type="title"/>
          </p:nvPr>
        </p:nvSpPr>
        <p:spPr/>
        <p:txBody>
          <a:bodyPr/>
          <a:lstStyle/>
          <a:p>
            <a:r>
              <a:rPr lang="en-US" dirty="0"/>
              <a:t>Creating an </a:t>
            </a:r>
            <a:r>
              <a:rPr lang="en-US" dirty="0" err="1"/>
              <a:t>InputStream</a:t>
            </a:r>
            <a:endParaRPr lang="en-IN" dirty="0"/>
          </a:p>
        </p:txBody>
      </p:sp>
      <p:sp>
        <p:nvSpPr>
          <p:cNvPr id="3" name="Content Placeholder 2">
            <a:extLst>
              <a:ext uri="{FF2B5EF4-FFF2-40B4-BE49-F238E27FC236}">
                <a16:creationId xmlns:a16="http://schemas.microsoft.com/office/drawing/2014/main" id="{DB2285B6-7DD1-BD5A-0095-93CBCBAB867E}"/>
              </a:ext>
            </a:extLst>
          </p:cNvPr>
          <p:cNvSpPr>
            <a:spLocks noGrp="1"/>
          </p:cNvSpPr>
          <p:nvPr>
            <p:ph idx="1"/>
          </p:nvPr>
        </p:nvSpPr>
        <p:spPr/>
        <p:txBody>
          <a:bodyPr/>
          <a:lstStyle/>
          <a:p>
            <a:pPr marL="0" indent="0">
              <a:buNone/>
            </a:pPr>
            <a:r>
              <a:rPr lang="en-US" i="1" dirty="0" err="1"/>
              <a:t>InputStream</a:t>
            </a:r>
            <a:r>
              <a:rPr lang="en-US" i="1" dirty="0"/>
              <a:t> obj = new </a:t>
            </a:r>
            <a:r>
              <a:rPr lang="en-US" i="1" dirty="0" err="1"/>
              <a:t>FileInputStream</a:t>
            </a:r>
            <a:r>
              <a:rPr lang="en-US" i="1" dirty="0"/>
              <a:t>();</a:t>
            </a:r>
          </a:p>
          <a:p>
            <a:pPr marL="0" indent="0">
              <a:buNone/>
            </a:pPr>
            <a:endParaRPr lang="en-US" dirty="0"/>
          </a:p>
          <a:p>
            <a:pPr marL="0" indent="0">
              <a:buNone/>
            </a:pPr>
            <a:r>
              <a:rPr lang="en-US" dirty="0"/>
              <a:t>We can create an input stream from other subclasses as well as </a:t>
            </a:r>
            <a:r>
              <a:rPr lang="en-US" dirty="0" err="1"/>
              <a:t>InputStream</a:t>
            </a:r>
            <a:r>
              <a:rPr lang="en-US" dirty="0"/>
              <a:t>.</a:t>
            </a:r>
            <a:endParaRPr lang="en-IN" dirty="0"/>
          </a:p>
        </p:txBody>
      </p:sp>
      <p:sp>
        <p:nvSpPr>
          <p:cNvPr id="4" name="Footer Placeholder 3">
            <a:extLst>
              <a:ext uri="{FF2B5EF4-FFF2-40B4-BE49-F238E27FC236}">
                <a16:creationId xmlns:a16="http://schemas.microsoft.com/office/drawing/2014/main" id="{6DA414A7-6C09-9E76-2BF3-32B446609734}"/>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40980651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D89D3-C96A-BB21-00A4-5475EB897A2E}"/>
              </a:ext>
            </a:extLst>
          </p:cNvPr>
          <p:cNvSpPr>
            <a:spLocks noGrp="1"/>
          </p:cNvSpPr>
          <p:nvPr>
            <p:ph type="title"/>
          </p:nvPr>
        </p:nvSpPr>
        <p:spPr/>
        <p:txBody>
          <a:bodyPr/>
          <a:lstStyle/>
          <a:p>
            <a:r>
              <a:rPr lang="en-US" dirty="0"/>
              <a:t>Methods of </a:t>
            </a:r>
            <a:r>
              <a:rPr lang="en-US" dirty="0" err="1"/>
              <a:t>InputStream</a:t>
            </a:r>
            <a:endParaRPr lang="en-IN" dirty="0"/>
          </a:p>
        </p:txBody>
      </p:sp>
      <p:sp>
        <p:nvSpPr>
          <p:cNvPr id="4" name="Footer Placeholder 3">
            <a:extLst>
              <a:ext uri="{FF2B5EF4-FFF2-40B4-BE49-F238E27FC236}">
                <a16:creationId xmlns:a16="http://schemas.microsoft.com/office/drawing/2014/main" id="{49FC6260-DA7A-E081-CB06-9CF7280A0357}"/>
              </a:ext>
            </a:extLst>
          </p:cNvPr>
          <p:cNvSpPr>
            <a:spLocks noGrp="1"/>
          </p:cNvSpPr>
          <p:nvPr>
            <p:ph type="ftr" sz="quarter" idx="11"/>
          </p:nvPr>
        </p:nvSpPr>
        <p:spPr/>
        <p:txBody>
          <a:bodyPr/>
          <a:lstStyle/>
          <a:p>
            <a:r>
              <a:rPr lang="en-US"/>
              <a:t>Department of Electronics &amp; Telecommunication Engg. </a:t>
            </a:r>
            <a:endParaRPr lang="en-IN" dirty="0"/>
          </a:p>
        </p:txBody>
      </p:sp>
      <p:graphicFrame>
        <p:nvGraphicFramePr>
          <p:cNvPr id="5" name="Table 4">
            <a:extLst>
              <a:ext uri="{FF2B5EF4-FFF2-40B4-BE49-F238E27FC236}">
                <a16:creationId xmlns:a16="http://schemas.microsoft.com/office/drawing/2014/main" id="{F0DC5162-252E-32F7-AA9B-F974BCD37DFD}"/>
              </a:ext>
            </a:extLst>
          </p:cNvPr>
          <p:cNvGraphicFramePr>
            <a:graphicFrameLocks noGrp="1"/>
          </p:cNvGraphicFramePr>
          <p:nvPr>
            <p:extLst>
              <p:ext uri="{D42A27DB-BD31-4B8C-83A1-F6EECF244321}">
                <p14:modId xmlns:p14="http://schemas.microsoft.com/office/powerpoint/2010/main" val="2500436818"/>
              </p:ext>
            </p:extLst>
          </p:nvPr>
        </p:nvGraphicFramePr>
        <p:xfrm>
          <a:off x="1137153" y="1251443"/>
          <a:ext cx="9917694" cy="4590458"/>
        </p:xfrm>
        <a:graphic>
          <a:graphicData uri="http://schemas.openxmlformats.org/drawingml/2006/table">
            <a:tbl>
              <a:tblPr>
                <a:tableStyleId>{22838BEF-8BB2-4498-84A7-C5851F593DF1}</a:tableStyleId>
              </a:tblPr>
              <a:tblGrid>
                <a:gridCol w="1983370">
                  <a:extLst>
                    <a:ext uri="{9D8B030D-6E8A-4147-A177-3AD203B41FA5}">
                      <a16:colId xmlns:a16="http://schemas.microsoft.com/office/drawing/2014/main" val="503793371"/>
                    </a:ext>
                  </a:extLst>
                </a:gridCol>
                <a:gridCol w="7934324">
                  <a:extLst>
                    <a:ext uri="{9D8B030D-6E8A-4147-A177-3AD203B41FA5}">
                      <a16:colId xmlns:a16="http://schemas.microsoft.com/office/drawing/2014/main" val="1499183880"/>
                    </a:ext>
                  </a:extLst>
                </a:gridCol>
              </a:tblGrid>
              <a:tr h="334334">
                <a:tc>
                  <a:txBody>
                    <a:bodyPr/>
                    <a:lstStyle/>
                    <a:p>
                      <a:pPr algn="ctr" fontAlgn="base"/>
                      <a:r>
                        <a:rPr lang="en-IN" sz="1800" b="1" dirty="0">
                          <a:effectLst/>
                          <a:latin typeface="Times New Roman" panose="02020603050405020304" pitchFamily="18" charset="0"/>
                          <a:cs typeface="Times New Roman" panose="02020603050405020304" pitchFamily="18" charset="0"/>
                        </a:rPr>
                        <a:t>Method</a:t>
                      </a:r>
                    </a:p>
                  </a:txBody>
                  <a:tcPr marL="62376" marR="62376" marT="62376" marB="62376" anchor="ctr"/>
                </a:tc>
                <a:tc>
                  <a:txBody>
                    <a:bodyPr/>
                    <a:lstStyle/>
                    <a:p>
                      <a:pPr algn="ctr" fontAlgn="base"/>
                      <a:r>
                        <a:rPr lang="en-IN" sz="1800" b="1" dirty="0">
                          <a:effectLst/>
                          <a:latin typeface="Times New Roman" panose="02020603050405020304" pitchFamily="18" charset="0"/>
                          <a:cs typeface="Times New Roman" panose="02020603050405020304" pitchFamily="18" charset="0"/>
                        </a:rPr>
                        <a:t>Description</a:t>
                      </a:r>
                    </a:p>
                  </a:txBody>
                  <a:tcPr marL="62376" marR="62376" marT="62376" marB="62376" anchor="ctr"/>
                </a:tc>
                <a:extLst>
                  <a:ext uri="{0D108BD9-81ED-4DB2-BD59-A6C34878D82A}">
                    <a16:rowId xmlns:a16="http://schemas.microsoft.com/office/drawing/2014/main" val="1356064327"/>
                  </a:ext>
                </a:extLst>
              </a:tr>
              <a:tr h="361780">
                <a:tc>
                  <a:txBody>
                    <a:bodyPr/>
                    <a:lstStyle/>
                    <a:p>
                      <a:pPr algn="l" fontAlgn="base"/>
                      <a:r>
                        <a:rPr lang="en-IN" sz="1800" b="0">
                          <a:effectLst/>
                          <a:latin typeface="Times New Roman" panose="02020603050405020304" pitchFamily="18" charset="0"/>
                          <a:cs typeface="Times New Roman" panose="02020603050405020304" pitchFamily="18" charset="0"/>
                        </a:rPr>
                        <a:t>read()</a:t>
                      </a:r>
                    </a:p>
                  </a:txBody>
                  <a:tcPr marL="62376" marR="62376" marT="87326" marB="87326" anchor="ctr"/>
                </a:tc>
                <a:tc>
                  <a:txBody>
                    <a:bodyPr/>
                    <a:lstStyle/>
                    <a:p>
                      <a:pPr algn="l" fontAlgn="base"/>
                      <a:r>
                        <a:rPr lang="en-US" sz="1800" b="0">
                          <a:effectLst/>
                          <a:latin typeface="Times New Roman" panose="02020603050405020304" pitchFamily="18" charset="0"/>
                          <a:cs typeface="Times New Roman" panose="02020603050405020304" pitchFamily="18" charset="0"/>
                        </a:rPr>
                        <a:t>Reads one byte of data from the input stream.</a:t>
                      </a:r>
                    </a:p>
                  </a:txBody>
                  <a:tcPr marL="62376" marR="62376" marT="87326" marB="87326" anchor="ctr"/>
                </a:tc>
                <a:extLst>
                  <a:ext uri="{0D108BD9-81ED-4DB2-BD59-A6C34878D82A}">
                    <a16:rowId xmlns:a16="http://schemas.microsoft.com/office/drawing/2014/main" val="3717433865"/>
                  </a:ext>
                </a:extLst>
              </a:tr>
              <a:tr h="548907">
                <a:tc>
                  <a:txBody>
                    <a:bodyPr/>
                    <a:lstStyle/>
                    <a:p>
                      <a:pPr algn="l" fontAlgn="base"/>
                      <a:r>
                        <a:rPr lang="en-IN" sz="1800" b="0">
                          <a:effectLst/>
                          <a:latin typeface="Times New Roman" panose="02020603050405020304" pitchFamily="18" charset="0"/>
                          <a:cs typeface="Times New Roman" panose="02020603050405020304" pitchFamily="18" charset="0"/>
                        </a:rPr>
                        <a:t>read(byte[] array)()</a:t>
                      </a:r>
                    </a:p>
                  </a:txBody>
                  <a:tcPr marL="62376" marR="62376" marT="87326" marB="87326" anchor="ctr"/>
                </a:tc>
                <a:tc>
                  <a:txBody>
                    <a:bodyPr/>
                    <a:lstStyle/>
                    <a:p>
                      <a:pPr algn="l" fontAlgn="base"/>
                      <a:r>
                        <a:rPr lang="en-US" sz="1800" b="0">
                          <a:effectLst/>
                          <a:latin typeface="Times New Roman" panose="02020603050405020304" pitchFamily="18" charset="0"/>
                          <a:cs typeface="Times New Roman" panose="02020603050405020304" pitchFamily="18" charset="0"/>
                        </a:rPr>
                        <a:t>Reads byte from the stream and stores that byte in the specified array.</a:t>
                      </a:r>
                    </a:p>
                  </a:txBody>
                  <a:tcPr marL="62376" marR="62376" marT="87326" marB="87326" anchor="ctr"/>
                </a:tc>
                <a:extLst>
                  <a:ext uri="{0D108BD9-81ED-4DB2-BD59-A6C34878D82A}">
                    <a16:rowId xmlns:a16="http://schemas.microsoft.com/office/drawing/2014/main" val="311591737"/>
                  </a:ext>
                </a:extLst>
              </a:tr>
              <a:tr h="548907">
                <a:tc>
                  <a:txBody>
                    <a:bodyPr/>
                    <a:lstStyle/>
                    <a:p>
                      <a:pPr algn="l" fontAlgn="base"/>
                      <a:r>
                        <a:rPr lang="en-IN" sz="1800" b="0">
                          <a:effectLst/>
                          <a:latin typeface="Times New Roman" panose="02020603050405020304" pitchFamily="18" charset="0"/>
                          <a:cs typeface="Times New Roman" panose="02020603050405020304" pitchFamily="18" charset="0"/>
                        </a:rPr>
                        <a:t>mark()</a:t>
                      </a:r>
                    </a:p>
                  </a:txBody>
                  <a:tcPr marL="62376" marR="62376" marT="87326" marB="87326" anchor="ctr"/>
                </a:tc>
                <a:tc>
                  <a:txBody>
                    <a:bodyPr/>
                    <a:lstStyle/>
                    <a:p>
                      <a:pPr algn="l" fontAlgn="base"/>
                      <a:r>
                        <a:rPr lang="en-US" sz="1800" b="0">
                          <a:effectLst/>
                          <a:latin typeface="Times New Roman" panose="02020603050405020304" pitchFamily="18" charset="0"/>
                          <a:cs typeface="Times New Roman" panose="02020603050405020304" pitchFamily="18" charset="0"/>
                        </a:rPr>
                        <a:t>It marks the position in the input stream until the data has been read.</a:t>
                      </a:r>
                    </a:p>
                  </a:txBody>
                  <a:tcPr marL="62376" marR="62376" marT="87326" marB="87326" anchor="ctr"/>
                </a:tc>
                <a:extLst>
                  <a:ext uri="{0D108BD9-81ED-4DB2-BD59-A6C34878D82A}">
                    <a16:rowId xmlns:a16="http://schemas.microsoft.com/office/drawing/2014/main" val="3784541655"/>
                  </a:ext>
                </a:extLst>
              </a:tr>
              <a:tr h="548907">
                <a:tc>
                  <a:txBody>
                    <a:bodyPr/>
                    <a:lstStyle/>
                    <a:p>
                      <a:pPr algn="l" fontAlgn="base"/>
                      <a:r>
                        <a:rPr lang="en-IN" sz="1800" b="0">
                          <a:effectLst/>
                          <a:latin typeface="Times New Roman" panose="02020603050405020304" pitchFamily="18" charset="0"/>
                          <a:cs typeface="Times New Roman" panose="02020603050405020304" pitchFamily="18" charset="0"/>
                        </a:rPr>
                        <a:t>available()</a:t>
                      </a:r>
                    </a:p>
                  </a:txBody>
                  <a:tcPr marL="62376" marR="62376" marT="87326" marB="87326"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Returns the number of bytes available in the input stream.</a:t>
                      </a:r>
                    </a:p>
                  </a:txBody>
                  <a:tcPr marL="62376" marR="62376" marT="87326" marB="87326" anchor="ctr"/>
                </a:tc>
                <a:extLst>
                  <a:ext uri="{0D108BD9-81ED-4DB2-BD59-A6C34878D82A}">
                    <a16:rowId xmlns:a16="http://schemas.microsoft.com/office/drawing/2014/main" val="3965910459"/>
                  </a:ext>
                </a:extLst>
              </a:tr>
              <a:tr h="548907">
                <a:tc>
                  <a:txBody>
                    <a:bodyPr/>
                    <a:lstStyle/>
                    <a:p>
                      <a:pPr algn="l" fontAlgn="base"/>
                      <a:r>
                        <a:rPr lang="en-IN" sz="1800" b="0">
                          <a:effectLst/>
                          <a:latin typeface="Times New Roman" panose="02020603050405020304" pitchFamily="18" charset="0"/>
                          <a:cs typeface="Times New Roman" panose="02020603050405020304" pitchFamily="18" charset="0"/>
                        </a:rPr>
                        <a:t>markSupported()</a:t>
                      </a:r>
                    </a:p>
                  </a:txBody>
                  <a:tcPr marL="62376" marR="62376" marT="87326" marB="87326" anchor="ctr"/>
                </a:tc>
                <a:tc>
                  <a:txBody>
                    <a:bodyPr/>
                    <a:lstStyle/>
                    <a:p>
                      <a:pPr algn="l" fontAlgn="base"/>
                      <a:r>
                        <a:rPr lang="en-US" sz="1800" b="0">
                          <a:effectLst/>
                          <a:latin typeface="Times New Roman" panose="02020603050405020304" pitchFamily="18" charset="0"/>
                          <a:cs typeface="Times New Roman" panose="02020603050405020304" pitchFamily="18" charset="0"/>
                        </a:rPr>
                        <a:t>It checks if the mark() method and the reset() method is supported in the stream.</a:t>
                      </a:r>
                    </a:p>
                  </a:txBody>
                  <a:tcPr marL="62376" marR="62376" marT="87326" marB="87326" anchor="ctr"/>
                </a:tc>
                <a:extLst>
                  <a:ext uri="{0D108BD9-81ED-4DB2-BD59-A6C34878D82A}">
                    <a16:rowId xmlns:a16="http://schemas.microsoft.com/office/drawing/2014/main" val="270999502"/>
                  </a:ext>
                </a:extLst>
              </a:tr>
              <a:tr h="548907">
                <a:tc>
                  <a:txBody>
                    <a:bodyPr/>
                    <a:lstStyle/>
                    <a:p>
                      <a:pPr algn="l" fontAlgn="base"/>
                      <a:r>
                        <a:rPr lang="en-IN" sz="1800" b="0">
                          <a:effectLst/>
                          <a:latin typeface="Times New Roman" panose="02020603050405020304" pitchFamily="18" charset="0"/>
                          <a:cs typeface="Times New Roman" panose="02020603050405020304" pitchFamily="18" charset="0"/>
                        </a:rPr>
                        <a:t>reset()</a:t>
                      </a:r>
                    </a:p>
                  </a:txBody>
                  <a:tcPr marL="62376" marR="62376" marT="87326" marB="87326" anchor="ctr"/>
                </a:tc>
                <a:tc>
                  <a:txBody>
                    <a:bodyPr/>
                    <a:lstStyle/>
                    <a:p>
                      <a:pPr algn="l" fontAlgn="base"/>
                      <a:r>
                        <a:rPr lang="en-US" sz="1800" b="0">
                          <a:effectLst/>
                          <a:latin typeface="Times New Roman" panose="02020603050405020304" pitchFamily="18" charset="0"/>
                          <a:cs typeface="Times New Roman" panose="02020603050405020304" pitchFamily="18" charset="0"/>
                        </a:rPr>
                        <a:t>Returns the control to the point where the mark was set inside the stream.</a:t>
                      </a:r>
                    </a:p>
                  </a:txBody>
                  <a:tcPr marL="62376" marR="62376" marT="87326" marB="87326" anchor="ctr"/>
                </a:tc>
                <a:extLst>
                  <a:ext uri="{0D108BD9-81ED-4DB2-BD59-A6C34878D82A}">
                    <a16:rowId xmlns:a16="http://schemas.microsoft.com/office/drawing/2014/main" val="1660155728"/>
                  </a:ext>
                </a:extLst>
              </a:tr>
              <a:tr h="548907">
                <a:tc>
                  <a:txBody>
                    <a:bodyPr/>
                    <a:lstStyle/>
                    <a:p>
                      <a:pPr algn="l" fontAlgn="base"/>
                      <a:r>
                        <a:rPr lang="en-IN" sz="1800" b="0">
                          <a:effectLst/>
                          <a:latin typeface="Times New Roman" panose="02020603050405020304" pitchFamily="18" charset="0"/>
                          <a:cs typeface="Times New Roman" panose="02020603050405020304" pitchFamily="18" charset="0"/>
                        </a:rPr>
                        <a:t>skips()</a:t>
                      </a:r>
                    </a:p>
                  </a:txBody>
                  <a:tcPr marL="62376" marR="62376" marT="87326" marB="87326"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Skips and removes a particular number of bytes from the input stream.</a:t>
                      </a:r>
                    </a:p>
                  </a:txBody>
                  <a:tcPr marL="62376" marR="62376" marT="87326" marB="87326" anchor="ctr"/>
                </a:tc>
                <a:extLst>
                  <a:ext uri="{0D108BD9-81ED-4DB2-BD59-A6C34878D82A}">
                    <a16:rowId xmlns:a16="http://schemas.microsoft.com/office/drawing/2014/main" val="953453952"/>
                  </a:ext>
                </a:extLst>
              </a:tr>
              <a:tr h="361780">
                <a:tc>
                  <a:txBody>
                    <a:bodyPr/>
                    <a:lstStyle/>
                    <a:p>
                      <a:pPr algn="l" fontAlgn="base"/>
                      <a:r>
                        <a:rPr lang="en-IN" sz="1800" b="0" dirty="0">
                          <a:effectLst/>
                          <a:latin typeface="Times New Roman" panose="02020603050405020304" pitchFamily="18" charset="0"/>
                          <a:cs typeface="Times New Roman" panose="02020603050405020304" pitchFamily="18" charset="0"/>
                        </a:rPr>
                        <a:t>close()</a:t>
                      </a:r>
                    </a:p>
                  </a:txBody>
                  <a:tcPr marL="62376" marR="62376" marT="87326" marB="87326" anchor="ctr"/>
                </a:tc>
                <a:tc>
                  <a:txBody>
                    <a:bodyPr/>
                    <a:lstStyle/>
                    <a:p>
                      <a:pPr algn="l" fontAlgn="base"/>
                      <a:r>
                        <a:rPr lang="en-IN" sz="1800" b="0" dirty="0">
                          <a:effectLst/>
                          <a:latin typeface="Times New Roman" panose="02020603050405020304" pitchFamily="18" charset="0"/>
                          <a:cs typeface="Times New Roman" panose="02020603050405020304" pitchFamily="18" charset="0"/>
                        </a:rPr>
                        <a:t>Closes the input stream.</a:t>
                      </a:r>
                    </a:p>
                  </a:txBody>
                  <a:tcPr marL="62376" marR="62376" marT="87326" marB="87326" anchor="ctr"/>
                </a:tc>
                <a:extLst>
                  <a:ext uri="{0D108BD9-81ED-4DB2-BD59-A6C34878D82A}">
                    <a16:rowId xmlns:a16="http://schemas.microsoft.com/office/drawing/2014/main" val="3222619874"/>
                  </a:ext>
                </a:extLst>
              </a:tr>
            </a:tbl>
          </a:graphicData>
        </a:graphic>
      </p:graphicFrame>
    </p:spTree>
    <p:extLst>
      <p:ext uri="{BB962C8B-B14F-4D97-AF65-F5344CB8AC3E}">
        <p14:creationId xmlns:p14="http://schemas.microsoft.com/office/powerpoint/2010/main" val="13719279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3A746-D3F9-A30C-45E7-8CC64E9B4295}"/>
              </a:ext>
            </a:extLst>
          </p:cNvPr>
          <p:cNvSpPr>
            <a:spLocks noGrp="1"/>
          </p:cNvSpPr>
          <p:nvPr>
            <p:ph type="title"/>
          </p:nvPr>
        </p:nvSpPr>
        <p:spPr/>
        <p:txBody>
          <a:bodyPr/>
          <a:lstStyle/>
          <a:p>
            <a:r>
              <a:rPr lang="en-US" dirty="0"/>
              <a:t>Output Stream</a:t>
            </a:r>
            <a:endParaRPr lang="en-IN" dirty="0"/>
          </a:p>
        </p:txBody>
      </p:sp>
      <p:sp>
        <p:nvSpPr>
          <p:cNvPr id="3" name="Content Placeholder 2">
            <a:extLst>
              <a:ext uri="{FF2B5EF4-FFF2-40B4-BE49-F238E27FC236}">
                <a16:creationId xmlns:a16="http://schemas.microsoft.com/office/drawing/2014/main" id="{56E8E614-C9CF-43BD-67FC-1A95BE9E0A89}"/>
              </a:ext>
            </a:extLst>
          </p:cNvPr>
          <p:cNvSpPr>
            <a:spLocks noGrp="1"/>
          </p:cNvSpPr>
          <p:nvPr>
            <p:ph idx="1"/>
          </p:nvPr>
        </p:nvSpPr>
        <p:spPr>
          <a:xfrm>
            <a:off x="1047750" y="1117450"/>
            <a:ext cx="10515600" cy="4623100"/>
          </a:xfrm>
        </p:spPr>
        <p:txBody>
          <a:bodyPr>
            <a:normAutofit lnSpcReduction="10000"/>
          </a:bodyPr>
          <a:lstStyle/>
          <a:p>
            <a:pPr algn="l" fontAlgn="base">
              <a:lnSpc>
                <a:spcPct val="150000"/>
              </a:lnSpc>
              <a:spcBef>
                <a:spcPts val="0"/>
              </a:spcBef>
            </a:pPr>
            <a:r>
              <a:rPr lang="en-US" sz="2000" b="0" i="0" dirty="0">
                <a:solidFill>
                  <a:srgbClr val="273239"/>
                </a:solidFill>
                <a:effectLst/>
              </a:rPr>
              <a:t>The output stream is used to write data to numerous output devices like the monitor, file, etc. </a:t>
            </a:r>
          </a:p>
          <a:p>
            <a:pPr algn="l" fontAlgn="base">
              <a:lnSpc>
                <a:spcPct val="150000"/>
              </a:lnSpc>
              <a:spcBef>
                <a:spcPts val="0"/>
              </a:spcBef>
            </a:pPr>
            <a:r>
              <a:rPr lang="en-US" sz="2000" b="0" i="0" dirty="0" err="1">
                <a:solidFill>
                  <a:srgbClr val="273239"/>
                </a:solidFill>
                <a:effectLst/>
              </a:rPr>
              <a:t>OutputStream</a:t>
            </a:r>
            <a:r>
              <a:rPr lang="en-US" sz="2000" b="0" i="0" dirty="0">
                <a:solidFill>
                  <a:srgbClr val="273239"/>
                </a:solidFill>
                <a:effectLst/>
              </a:rPr>
              <a:t> is an abstract superclass that represents an output stream. </a:t>
            </a:r>
          </a:p>
          <a:p>
            <a:pPr algn="l" fontAlgn="base">
              <a:lnSpc>
                <a:spcPct val="150000"/>
              </a:lnSpc>
              <a:spcBef>
                <a:spcPts val="0"/>
              </a:spcBef>
            </a:pPr>
            <a:r>
              <a:rPr lang="en-US" sz="2000" b="0" i="0" dirty="0" err="1">
                <a:solidFill>
                  <a:srgbClr val="273239"/>
                </a:solidFill>
                <a:effectLst/>
              </a:rPr>
              <a:t>OutputStream</a:t>
            </a:r>
            <a:r>
              <a:rPr lang="en-US" sz="2000" b="0" i="0" dirty="0">
                <a:solidFill>
                  <a:srgbClr val="273239"/>
                </a:solidFill>
                <a:effectLst/>
              </a:rPr>
              <a:t> is an abstract class, its subclasses are used to write data.</a:t>
            </a:r>
          </a:p>
          <a:p>
            <a:pPr algn="l" fontAlgn="base">
              <a:lnSpc>
                <a:spcPct val="150000"/>
              </a:lnSpc>
              <a:spcBef>
                <a:spcPts val="0"/>
              </a:spcBef>
            </a:pPr>
            <a:r>
              <a:rPr lang="en-US" sz="2000" b="0" i="0" dirty="0">
                <a:solidFill>
                  <a:srgbClr val="273239"/>
                </a:solidFill>
                <a:effectLst/>
              </a:rPr>
              <a:t>There are several subclasses of the </a:t>
            </a:r>
            <a:r>
              <a:rPr lang="en-US" sz="2000" b="0" i="0" dirty="0" err="1">
                <a:solidFill>
                  <a:srgbClr val="273239"/>
                </a:solidFill>
                <a:effectLst/>
              </a:rPr>
              <a:t>OutputStream</a:t>
            </a:r>
            <a:r>
              <a:rPr lang="en-US" sz="2000" b="0" i="0" dirty="0">
                <a:solidFill>
                  <a:srgbClr val="273239"/>
                </a:solidFill>
                <a:effectLst/>
              </a:rPr>
              <a:t> class:</a:t>
            </a:r>
          </a:p>
          <a:p>
            <a:pPr lvl="1" fontAlgn="base">
              <a:lnSpc>
                <a:spcPct val="150000"/>
              </a:lnSpc>
              <a:spcBef>
                <a:spcPts val="0"/>
              </a:spcBef>
            </a:pPr>
            <a:r>
              <a:rPr lang="en-US" sz="2000" b="0" i="0" dirty="0" err="1">
                <a:solidFill>
                  <a:srgbClr val="273239"/>
                </a:solidFill>
                <a:effectLst/>
              </a:rPr>
              <a:t>ByteArrayOutputStream</a:t>
            </a:r>
            <a:endParaRPr lang="en-US" sz="2000" b="0" i="0" dirty="0">
              <a:solidFill>
                <a:srgbClr val="273239"/>
              </a:solidFill>
              <a:effectLst/>
            </a:endParaRPr>
          </a:p>
          <a:p>
            <a:pPr lvl="1" fontAlgn="base">
              <a:lnSpc>
                <a:spcPct val="150000"/>
              </a:lnSpc>
              <a:spcBef>
                <a:spcPts val="0"/>
              </a:spcBef>
            </a:pPr>
            <a:r>
              <a:rPr lang="en-US" sz="2000" b="0" i="0" dirty="0" err="1">
                <a:solidFill>
                  <a:srgbClr val="273239"/>
                </a:solidFill>
                <a:effectLst/>
              </a:rPr>
              <a:t>FileOutputStream</a:t>
            </a:r>
            <a:endParaRPr lang="en-US" sz="2000" b="0" i="0" dirty="0">
              <a:solidFill>
                <a:srgbClr val="273239"/>
              </a:solidFill>
              <a:effectLst/>
            </a:endParaRPr>
          </a:p>
          <a:p>
            <a:pPr lvl="1" fontAlgn="base">
              <a:lnSpc>
                <a:spcPct val="150000"/>
              </a:lnSpc>
              <a:spcBef>
                <a:spcPts val="0"/>
              </a:spcBef>
            </a:pPr>
            <a:r>
              <a:rPr lang="en-US" sz="2000" b="0" i="0" dirty="0" err="1">
                <a:solidFill>
                  <a:srgbClr val="273239"/>
                </a:solidFill>
                <a:effectLst/>
              </a:rPr>
              <a:t>StringBufferOutputStream</a:t>
            </a:r>
            <a:endParaRPr lang="en-US" sz="2000" b="0" i="0" dirty="0">
              <a:solidFill>
                <a:srgbClr val="273239"/>
              </a:solidFill>
              <a:effectLst/>
            </a:endParaRPr>
          </a:p>
          <a:p>
            <a:pPr lvl="1" fontAlgn="base">
              <a:lnSpc>
                <a:spcPct val="150000"/>
              </a:lnSpc>
              <a:spcBef>
                <a:spcPts val="0"/>
              </a:spcBef>
            </a:pPr>
            <a:r>
              <a:rPr lang="en-US" sz="2000" b="0" i="0" dirty="0" err="1">
                <a:solidFill>
                  <a:srgbClr val="273239"/>
                </a:solidFill>
                <a:effectLst/>
              </a:rPr>
              <a:t>ObjectOutputStream</a:t>
            </a:r>
            <a:endParaRPr lang="en-US" sz="2000" b="0" i="0" dirty="0">
              <a:solidFill>
                <a:srgbClr val="273239"/>
              </a:solidFill>
              <a:effectLst/>
            </a:endParaRPr>
          </a:p>
          <a:p>
            <a:pPr lvl="1" fontAlgn="base">
              <a:lnSpc>
                <a:spcPct val="150000"/>
              </a:lnSpc>
              <a:spcBef>
                <a:spcPts val="0"/>
              </a:spcBef>
            </a:pPr>
            <a:r>
              <a:rPr lang="en-US" sz="2000" b="0" i="0" dirty="0" err="1">
                <a:solidFill>
                  <a:srgbClr val="273239"/>
                </a:solidFill>
                <a:effectLst/>
              </a:rPr>
              <a:t>DataOutputStream</a:t>
            </a:r>
            <a:endParaRPr lang="en-US" sz="2000" b="0" i="0" dirty="0">
              <a:solidFill>
                <a:srgbClr val="273239"/>
              </a:solidFill>
              <a:effectLst/>
            </a:endParaRPr>
          </a:p>
          <a:p>
            <a:pPr lvl="1" fontAlgn="base">
              <a:lnSpc>
                <a:spcPct val="150000"/>
              </a:lnSpc>
              <a:spcBef>
                <a:spcPts val="0"/>
              </a:spcBef>
            </a:pPr>
            <a:r>
              <a:rPr lang="en-US" sz="2000" b="0" i="0" dirty="0" err="1">
                <a:solidFill>
                  <a:srgbClr val="273239"/>
                </a:solidFill>
                <a:effectLst/>
              </a:rPr>
              <a:t>PrintStream</a:t>
            </a:r>
            <a:endParaRPr lang="en-US" sz="2000" b="0" i="0" dirty="0">
              <a:solidFill>
                <a:srgbClr val="273239"/>
              </a:solidFill>
              <a:effectLst/>
            </a:endParaRPr>
          </a:p>
          <a:p>
            <a:pPr marL="0" indent="0">
              <a:lnSpc>
                <a:spcPct val="150000"/>
              </a:lnSpc>
              <a:spcBef>
                <a:spcPts val="0"/>
              </a:spcBef>
              <a:buNone/>
            </a:pPr>
            <a:endParaRPr lang="en-IN" sz="2000" dirty="0"/>
          </a:p>
        </p:txBody>
      </p:sp>
      <p:sp>
        <p:nvSpPr>
          <p:cNvPr id="4" name="Footer Placeholder 3">
            <a:extLst>
              <a:ext uri="{FF2B5EF4-FFF2-40B4-BE49-F238E27FC236}">
                <a16:creationId xmlns:a16="http://schemas.microsoft.com/office/drawing/2014/main" id="{90921D83-BE74-D23F-DB94-ACDB8B0E1ABE}"/>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598419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BF93-0DA9-DD33-2A78-B0EB35A66CFD}"/>
              </a:ext>
            </a:extLst>
          </p:cNvPr>
          <p:cNvSpPr>
            <a:spLocks noGrp="1"/>
          </p:cNvSpPr>
          <p:nvPr>
            <p:ph type="title"/>
          </p:nvPr>
        </p:nvSpPr>
        <p:spPr/>
        <p:txBody>
          <a:bodyPr/>
          <a:lstStyle/>
          <a:p>
            <a:r>
              <a:rPr lang="en-US" dirty="0"/>
              <a:t>Creating an </a:t>
            </a:r>
            <a:r>
              <a:rPr lang="en-US" dirty="0" err="1"/>
              <a:t>OutputStream</a:t>
            </a:r>
            <a:endParaRPr lang="en-IN" dirty="0"/>
          </a:p>
        </p:txBody>
      </p:sp>
      <p:sp>
        <p:nvSpPr>
          <p:cNvPr id="3" name="Content Placeholder 2">
            <a:extLst>
              <a:ext uri="{FF2B5EF4-FFF2-40B4-BE49-F238E27FC236}">
                <a16:creationId xmlns:a16="http://schemas.microsoft.com/office/drawing/2014/main" id="{CA98670C-6148-3CED-1F50-BC8F99D7D3C3}"/>
              </a:ext>
            </a:extLst>
          </p:cNvPr>
          <p:cNvSpPr>
            <a:spLocks noGrp="1"/>
          </p:cNvSpPr>
          <p:nvPr>
            <p:ph idx="1"/>
          </p:nvPr>
        </p:nvSpPr>
        <p:spPr>
          <a:xfrm>
            <a:off x="1133475" y="1243360"/>
            <a:ext cx="10515600" cy="4623100"/>
          </a:xfrm>
        </p:spPr>
        <p:txBody>
          <a:bodyPr/>
          <a:lstStyle/>
          <a:p>
            <a:pPr marL="0" indent="0">
              <a:buNone/>
            </a:pPr>
            <a:r>
              <a:rPr lang="en-US" i="1" dirty="0" err="1"/>
              <a:t>OutputStream</a:t>
            </a:r>
            <a:r>
              <a:rPr lang="en-US" i="1" dirty="0"/>
              <a:t> obj = new </a:t>
            </a:r>
            <a:r>
              <a:rPr lang="en-US" i="1" dirty="0" err="1"/>
              <a:t>FileOutputStream</a:t>
            </a:r>
            <a:r>
              <a:rPr lang="en-US" i="1" dirty="0"/>
              <a:t>();</a:t>
            </a:r>
          </a:p>
          <a:p>
            <a:pPr marL="0" indent="0">
              <a:buNone/>
            </a:pPr>
            <a:endParaRPr lang="en-US" dirty="0"/>
          </a:p>
          <a:p>
            <a:pPr marL="0" indent="0">
              <a:buNone/>
            </a:pPr>
            <a:r>
              <a:rPr lang="en-US" dirty="0"/>
              <a:t>We can create an output stream from other subclasses as well as </a:t>
            </a:r>
            <a:r>
              <a:rPr lang="en-US" dirty="0" err="1"/>
              <a:t>OutputStream</a:t>
            </a:r>
            <a:r>
              <a:rPr lang="en-US" dirty="0"/>
              <a:t>.</a:t>
            </a:r>
            <a:endParaRPr lang="en-IN" dirty="0"/>
          </a:p>
        </p:txBody>
      </p:sp>
      <p:sp>
        <p:nvSpPr>
          <p:cNvPr id="4" name="Footer Placeholder 3">
            <a:extLst>
              <a:ext uri="{FF2B5EF4-FFF2-40B4-BE49-F238E27FC236}">
                <a16:creationId xmlns:a16="http://schemas.microsoft.com/office/drawing/2014/main" id="{033C481C-245F-207F-7185-CF2F0CBBEC81}"/>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190748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5583-DA3E-7F3A-AE12-E271A4D02CD2}"/>
              </a:ext>
            </a:extLst>
          </p:cNvPr>
          <p:cNvSpPr>
            <a:spLocks noGrp="1"/>
          </p:cNvSpPr>
          <p:nvPr>
            <p:ph type="title"/>
          </p:nvPr>
        </p:nvSpPr>
        <p:spPr/>
        <p:txBody>
          <a:bodyPr/>
          <a:lstStyle/>
          <a:p>
            <a:r>
              <a:rPr lang="en-US" dirty="0"/>
              <a:t>Methods of </a:t>
            </a:r>
            <a:r>
              <a:rPr lang="en-US" dirty="0" err="1"/>
              <a:t>OutputStream</a:t>
            </a:r>
            <a:endParaRPr lang="en-IN" dirty="0"/>
          </a:p>
        </p:txBody>
      </p:sp>
      <p:sp>
        <p:nvSpPr>
          <p:cNvPr id="4" name="Footer Placeholder 3">
            <a:extLst>
              <a:ext uri="{FF2B5EF4-FFF2-40B4-BE49-F238E27FC236}">
                <a16:creationId xmlns:a16="http://schemas.microsoft.com/office/drawing/2014/main" id="{56A14C7C-DCA3-0100-1F53-7443AC45FE97}"/>
              </a:ext>
            </a:extLst>
          </p:cNvPr>
          <p:cNvSpPr>
            <a:spLocks noGrp="1"/>
          </p:cNvSpPr>
          <p:nvPr>
            <p:ph type="ftr" sz="quarter" idx="11"/>
          </p:nvPr>
        </p:nvSpPr>
        <p:spPr/>
        <p:txBody>
          <a:bodyPr/>
          <a:lstStyle/>
          <a:p>
            <a:r>
              <a:rPr lang="en-US"/>
              <a:t>Department of Electronics &amp; Telecommunication Engg. </a:t>
            </a:r>
            <a:endParaRPr lang="en-IN" dirty="0"/>
          </a:p>
        </p:txBody>
      </p:sp>
      <p:graphicFrame>
        <p:nvGraphicFramePr>
          <p:cNvPr id="5" name="Table 4">
            <a:extLst>
              <a:ext uri="{FF2B5EF4-FFF2-40B4-BE49-F238E27FC236}">
                <a16:creationId xmlns:a16="http://schemas.microsoft.com/office/drawing/2014/main" id="{A24AAA59-96A0-C329-A311-BF2DFE7A9281}"/>
              </a:ext>
            </a:extLst>
          </p:cNvPr>
          <p:cNvGraphicFramePr>
            <a:graphicFrameLocks noGrp="1"/>
          </p:cNvGraphicFramePr>
          <p:nvPr>
            <p:extLst>
              <p:ext uri="{D42A27DB-BD31-4B8C-83A1-F6EECF244321}">
                <p14:modId xmlns:p14="http://schemas.microsoft.com/office/powerpoint/2010/main" val="1015897483"/>
              </p:ext>
            </p:extLst>
          </p:nvPr>
        </p:nvGraphicFramePr>
        <p:xfrm>
          <a:off x="1457325" y="1475264"/>
          <a:ext cx="9029700" cy="2743200"/>
        </p:xfrm>
        <a:graphic>
          <a:graphicData uri="http://schemas.openxmlformats.org/drawingml/2006/table">
            <a:tbl>
              <a:tblPr>
                <a:tableStyleId>{22838BEF-8BB2-4498-84A7-C5851F593DF1}</a:tableStyleId>
              </a:tblPr>
              <a:tblGrid>
                <a:gridCol w="2009775">
                  <a:extLst>
                    <a:ext uri="{9D8B030D-6E8A-4147-A177-3AD203B41FA5}">
                      <a16:colId xmlns:a16="http://schemas.microsoft.com/office/drawing/2014/main" val="2462016613"/>
                    </a:ext>
                  </a:extLst>
                </a:gridCol>
                <a:gridCol w="7019925">
                  <a:extLst>
                    <a:ext uri="{9D8B030D-6E8A-4147-A177-3AD203B41FA5}">
                      <a16:colId xmlns:a16="http://schemas.microsoft.com/office/drawing/2014/main" val="1632360989"/>
                    </a:ext>
                  </a:extLst>
                </a:gridCol>
              </a:tblGrid>
              <a:tr h="0">
                <a:tc>
                  <a:txBody>
                    <a:bodyPr/>
                    <a:lstStyle/>
                    <a:p>
                      <a:pPr algn="ctr" fontAlgn="base"/>
                      <a:r>
                        <a:rPr lang="en-IN" sz="1800" b="1" dirty="0">
                          <a:effectLst/>
                          <a:latin typeface="Times New Roman" panose="02020603050405020304" pitchFamily="18" charset="0"/>
                          <a:cs typeface="Times New Roman" panose="02020603050405020304" pitchFamily="18" charset="0"/>
                        </a:rPr>
                        <a:t>Method</a:t>
                      </a:r>
                    </a:p>
                  </a:txBody>
                  <a:tcPr marL="137160" marR="137160" marT="137160" marB="137160" anchor="ctr"/>
                </a:tc>
                <a:tc>
                  <a:txBody>
                    <a:bodyPr/>
                    <a:lstStyle/>
                    <a:p>
                      <a:pPr algn="ctr" fontAlgn="base"/>
                      <a:r>
                        <a:rPr lang="en-IN" sz="1800" b="1" dirty="0">
                          <a:effectLst/>
                          <a:latin typeface="Times New Roman" panose="02020603050405020304" pitchFamily="18" charset="0"/>
                          <a:cs typeface="Times New Roman" panose="02020603050405020304" pitchFamily="18" charset="0"/>
                        </a:rPr>
                        <a:t>Description</a:t>
                      </a:r>
                    </a:p>
                  </a:txBody>
                  <a:tcPr marL="137160" marR="137160" marT="137160" marB="137160" anchor="ctr"/>
                </a:tc>
                <a:extLst>
                  <a:ext uri="{0D108BD9-81ED-4DB2-BD59-A6C34878D82A}">
                    <a16:rowId xmlns:a16="http://schemas.microsoft.com/office/drawing/2014/main" val="2282866435"/>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write()</a:t>
                      </a:r>
                    </a:p>
                  </a:txBody>
                  <a:tcPr marL="137160" marR="137160" marT="137160" marB="137160"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Writes the specified byte to the output stream.</a:t>
                      </a:r>
                    </a:p>
                  </a:txBody>
                  <a:tcPr marL="137160" marR="137160" marT="137160" marB="137160" anchor="ctr"/>
                </a:tc>
                <a:extLst>
                  <a:ext uri="{0D108BD9-81ED-4DB2-BD59-A6C34878D82A}">
                    <a16:rowId xmlns:a16="http://schemas.microsoft.com/office/drawing/2014/main" val="2761130306"/>
                  </a:ext>
                </a:extLst>
              </a:tr>
              <a:tr h="0">
                <a:tc>
                  <a:txBody>
                    <a:bodyPr/>
                    <a:lstStyle/>
                    <a:p>
                      <a:pPr algn="l" fontAlgn="base"/>
                      <a:r>
                        <a:rPr lang="en-IN" sz="1800" b="0" dirty="0">
                          <a:effectLst/>
                          <a:latin typeface="Times New Roman" panose="02020603050405020304" pitchFamily="18" charset="0"/>
                          <a:cs typeface="Times New Roman" panose="02020603050405020304" pitchFamily="18" charset="0"/>
                        </a:rPr>
                        <a:t>write(byte[] array)</a:t>
                      </a:r>
                    </a:p>
                  </a:txBody>
                  <a:tcPr marL="137160" marR="137160" marT="137160" marB="137160"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Writes the bytes which are inside a specific array to the output stream.</a:t>
                      </a:r>
                    </a:p>
                  </a:txBody>
                  <a:tcPr marL="137160" marR="137160" marT="137160" marB="137160" anchor="ctr"/>
                </a:tc>
                <a:extLst>
                  <a:ext uri="{0D108BD9-81ED-4DB2-BD59-A6C34878D82A}">
                    <a16:rowId xmlns:a16="http://schemas.microsoft.com/office/drawing/2014/main" val="1850746343"/>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close()</a:t>
                      </a:r>
                    </a:p>
                  </a:txBody>
                  <a:tcPr marL="137160" marR="137160" marT="137160" marB="137160" anchor="ctr"/>
                </a:tc>
                <a:tc>
                  <a:txBody>
                    <a:bodyPr/>
                    <a:lstStyle/>
                    <a:p>
                      <a:pPr algn="l" fontAlgn="base"/>
                      <a:r>
                        <a:rPr lang="en-IN" sz="1800" b="0" dirty="0">
                          <a:effectLst/>
                          <a:latin typeface="Times New Roman" panose="02020603050405020304" pitchFamily="18" charset="0"/>
                          <a:cs typeface="Times New Roman" panose="02020603050405020304" pitchFamily="18" charset="0"/>
                        </a:rPr>
                        <a:t>Closes the output stream.</a:t>
                      </a:r>
                    </a:p>
                  </a:txBody>
                  <a:tcPr marL="137160" marR="137160" marT="137160" marB="137160" anchor="ctr"/>
                </a:tc>
                <a:extLst>
                  <a:ext uri="{0D108BD9-81ED-4DB2-BD59-A6C34878D82A}">
                    <a16:rowId xmlns:a16="http://schemas.microsoft.com/office/drawing/2014/main" val="2189090832"/>
                  </a:ext>
                </a:extLst>
              </a:tr>
              <a:tr h="0">
                <a:tc>
                  <a:txBody>
                    <a:bodyPr/>
                    <a:lstStyle/>
                    <a:p>
                      <a:pPr algn="l" fontAlgn="base"/>
                      <a:r>
                        <a:rPr lang="en-IN" sz="1800" b="0" dirty="0">
                          <a:effectLst/>
                          <a:latin typeface="Times New Roman" panose="02020603050405020304" pitchFamily="18" charset="0"/>
                          <a:cs typeface="Times New Roman" panose="02020603050405020304" pitchFamily="18" charset="0"/>
                        </a:rPr>
                        <a:t>flush()</a:t>
                      </a:r>
                    </a:p>
                  </a:txBody>
                  <a:tcPr marL="137160" marR="137160" marT="137160" marB="137160"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Forces to write all the data present in an output stream to the destination.</a:t>
                      </a:r>
                    </a:p>
                  </a:txBody>
                  <a:tcPr marL="137160" marR="137160" marT="137160" marB="137160" anchor="ctr"/>
                </a:tc>
                <a:extLst>
                  <a:ext uri="{0D108BD9-81ED-4DB2-BD59-A6C34878D82A}">
                    <a16:rowId xmlns:a16="http://schemas.microsoft.com/office/drawing/2014/main" val="2783780642"/>
                  </a:ext>
                </a:extLst>
              </a:tr>
            </a:tbl>
          </a:graphicData>
        </a:graphic>
      </p:graphicFrame>
    </p:spTree>
    <p:extLst>
      <p:ext uri="{BB962C8B-B14F-4D97-AF65-F5344CB8AC3E}">
        <p14:creationId xmlns:p14="http://schemas.microsoft.com/office/powerpoint/2010/main" val="2534462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AA3E-8989-CC59-BB0C-3CDAC17B571E}"/>
              </a:ext>
            </a:extLst>
          </p:cNvPr>
          <p:cNvSpPr>
            <a:spLocks noGrp="1"/>
          </p:cNvSpPr>
          <p:nvPr>
            <p:ph type="title"/>
          </p:nvPr>
        </p:nvSpPr>
        <p:spPr/>
        <p:txBody>
          <a:bodyPr/>
          <a:lstStyle/>
          <a:p>
            <a:r>
              <a:rPr lang="en-US" dirty="0"/>
              <a:t>Byte Stream</a:t>
            </a:r>
            <a:endParaRPr lang="en-IN" dirty="0"/>
          </a:p>
        </p:txBody>
      </p:sp>
      <p:sp>
        <p:nvSpPr>
          <p:cNvPr id="3" name="Content Placeholder 2">
            <a:extLst>
              <a:ext uri="{FF2B5EF4-FFF2-40B4-BE49-F238E27FC236}">
                <a16:creationId xmlns:a16="http://schemas.microsoft.com/office/drawing/2014/main" id="{E8AEE34B-49DE-63A3-0E72-C5A21A8C6140}"/>
              </a:ext>
            </a:extLst>
          </p:cNvPr>
          <p:cNvSpPr>
            <a:spLocks noGrp="1"/>
          </p:cNvSpPr>
          <p:nvPr>
            <p:ph idx="1"/>
          </p:nvPr>
        </p:nvSpPr>
        <p:spPr>
          <a:xfrm>
            <a:off x="1047750" y="1200845"/>
            <a:ext cx="10515600" cy="4623100"/>
          </a:xfrm>
        </p:spPr>
        <p:txBody>
          <a:bodyPr/>
          <a:lstStyle/>
          <a:p>
            <a:pPr marL="0" indent="0">
              <a:lnSpc>
                <a:spcPct val="150000"/>
              </a:lnSpc>
              <a:buNone/>
            </a:pPr>
            <a:r>
              <a:rPr lang="en-US" dirty="0"/>
              <a:t>This stream is used to read or write byte data. The byte stream is again subdivided into two types which are as follows:</a:t>
            </a:r>
          </a:p>
          <a:p>
            <a:pPr>
              <a:lnSpc>
                <a:spcPct val="150000"/>
              </a:lnSpc>
            </a:pPr>
            <a:r>
              <a:rPr lang="en-US" dirty="0"/>
              <a:t>Byte Input Stream: Used to read byte data from different devices.</a:t>
            </a:r>
          </a:p>
          <a:p>
            <a:pPr>
              <a:lnSpc>
                <a:spcPct val="150000"/>
              </a:lnSpc>
            </a:pPr>
            <a:r>
              <a:rPr lang="en-US" dirty="0"/>
              <a:t>Byte Output Stream: Used to write byte data to different devices.</a:t>
            </a:r>
            <a:endParaRPr lang="en-IN" dirty="0"/>
          </a:p>
        </p:txBody>
      </p:sp>
      <p:sp>
        <p:nvSpPr>
          <p:cNvPr id="4" name="Footer Placeholder 3">
            <a:extLst>
              <a:ext uri="{FF2B5EF4-FFF2-40B4-BE49-F238E27FC236}">
                <a16:creationId xmlns:a16="http://schemas.microsoft.com/office/drawing/2014/main" id="{F2475058-2BD4-A59A-8A43-4BF6D2712E99}"/>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9742833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7C3D3-EC92-3F0C-C348-CC434E6EB2D7}"/>
              </a:ext>
            </a:extLst>
          </p:cNvPr>
          <p:cNvSpPr>
            <a:spLocks noGrp="1"/>
          </p:cNvSpPr>
          <p:nvPr>
            <p:ph type="title"/>
          </p:nvPr>
        </p:nvSpPr>
        <p:spPr/>
        <p:txBody>
          <a:bodyPr/>
          <a:lstStyle/>
          <a:p>
            <a:r>
              <a:rPr lang="en-US" dirty="0"/>
              <a:t>Character Stream</a:t>
            </a:r>
            <a:endParaRPr lang="en-IN" dirty="0"/>
          </a:p>
        </p:txBody>
      </p:sp>
      <p:sp>
        <p:nvSpPr>
          <p:cNvPr id="3" name="Content Placeholder 2">
            <a:extLst>
              <a:ext uri="{FF2B5EF4-FFF2-40B4-BE49-F238E27FC236}">
                <a16:creationId xmlns:a16="http://schemas.microsoft.com/office/drawing/2014/main" id="{C1D6C6F2-5F5F-5914-E282-0555798C15F9}"/>
              </a:ext>
            </a:extLst>
          </p:cNvPr>
          <p:cNvSpPr>
            <a:spLocks noGrp="1"/>
          </p:cNvSpPr>
          <p:nvPr>
            <p:ph idx="1"/>
          </p:nvPr>
        </p:nvSpPr>
        <p:spPr>
          <a:xfrm>
            <a:off x="1047750" y="1146025"/>
            <a:ext cx="10515600" cy="4623100"/>
          </a:xfrm>
        </p:spPr>
        <p:txBody>
          <a:bodyPr/>
          <a:lstStyle/>
          <a:p>
            <a:pPr marL="0" indent="0">
              <a:lnSpc>
                <a:spcPct val="150000"/>
              </a:lnSpc>
              <a:buNone/>
            </a:pPr>
            <a:r>
              <a:rPr lang="en-US" dirty="0"/>
              <a:t>This stream is used to read or write character data. Character stream is again subdivided into 2 types which are as follows:</a:t>
            </a:r>
          </a:p>
          <a:p>
            <a:pPr>
              <a:lnSpc>
                <a:spcPct val="150000"/>
              </a:lnSpc>
            </a:pPr>
            <a:r>
              <a:rPr lang="en-US" dirty="0"/>
              <a:t>Character Input Stream: Used to read character data from different devices.</a:t>
            </a:r>
          </a:p>
          <a:p>
            <a:pPr>
              <a:lnSpc>
                <a:spcPct val="150000"/>
              </a:lnSpc>
            </a:pPr>
            <a:r>
              <a:rPr lang="en-US" dirty="0"/>
              <a:t>Character Output Stream: Used to write character data to different devices.</a:t>
            </a:r>
            <a:endParaRPr lang="en-IN" dirty="0"/>
          </a:p>
        </p:txBody>
      </p:sp>
      <p:sp>
        <p:nvSpPr>
          <p:cNvPr id="4" name="Footer Placeholder 3">
            <a:extLst>
              <a:ext uri="{FF2B5EF4-FFF2-40B4-BE49-F238E27FC236}">
                <a16:creationId xmlns:a16="http://schemas.microsoft.com/office/drawing/2014/main" id="{6BC4830A-FEA8-2868-4F58-A9C305CD5B6C}"/>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756614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1564-9CCD-3BE6-1B37-C8F3DFC034FE}"/>
              </a:ext>
            </a:extLst>
          </p:cNvPr>
          <p:cNvSpPr>
            <a:spLocks noGrp="1"/>
          </p:cNvSpPr>
          <p:nvPr>
            <p:ph type="title"/>
          </p:nvPr>
        </p:nvSpPr>
        <p:spPr/>
        <p:txBody>
          <a:bodyPr/>
          <a:lstStyle/>
          <a:p>
            <a:r>
              <a:rPr lang="en-US" dirty="0"/>
              <a:t>Java File Class Methods</a:t>
            </a:r>
            <a:endParaRPr lang="en-IN" dirty="0"/>
          </a:p>
        </p:txBody>
      </p:sp>
      <p:sp>
        <p:nvSpPr>
          <p:cNvPr id="4" name="Footer Placeholder 3">
            <a:extLst>
              <a:ext uri="{FF2B5EF4-FFF2-40B4-BE49-F238E27FC236}">
                <a16:creationId xmlns:a16="http://schemas.microsoft.com/office/drawing/2014/main" id="{2FA06450-D448-C06F-FCC7-ACCE173C7D79}"/>
              </a:ext>
            </a:extLst>
          </p:cNvPr>
          <p:cNvSpPr>
            <a:spLocks noGrp="1"/>
          </p:cNvSpPr>
          <p:nvPr>
            <p:ph type="ftr" sz="quarter" idx="11"/>
          </p:nvPr>
        </p:nvSpPr>
        <p:spPr/>
        <p:txBody>
          <a:bodyPr/>
          <a:lstStyle/>
          <a:p>
            <a:r>
              <a:rPr lang="en-US"/>
              <a:t>Department of Electronics &amp; Telecommunication Engg. </a:t>
            </a:r>
            <a:endParaRPr lang="en-IN" dirty="0"/>
          </a:p>
        </p:txBody>
      </p:sp>
      <p:graphicFrame>
        <p:nvGraphicFramePr>
          <p:cNvPr id="5" name="Table 4">
            <a:extLst>
              <a:ext uri="{FF2B5EF4-FFF2-40B4-BE49-F238E27FC236}">
                <a16:creationId xmlns:a16="http://schemas.microsoft.com/office/drawing/2014/main" id="{354AF88B-E6CC-5487-7DE0-17AC6C0B2BF6}"/>
              </a:ext>
            </a:extLst>
          </p:cNvPr>
          <p:cNvGraphicFramePr>
            <a:graphicFrameLocks noGrp="1"/>
          </p:cNvGraphicFramePr>
          <p:nvPr>
            <p:extLst>
              <p:ext uri="{D42A27DB-BD31-4B8C-83A1-F6EECF244321}">
                <p14:modId xmlns:p14="http://schemas.microsoft.com/office/powerpoint/2010/main" val="679532164"/>
              </p:ext>
            </p:extLst>
          </p:nvPr>
        </p:nvGraphicFramePr>
        <p:xfrm>
          <a:off x="1171574" y="1226820"/>
          <a:ext cx="10144125" cy="4922520"/>
        </p:xfrm>
        <a:graphic>
          <a:graphicData uri="http://schemas.openxmlformats.org/drawingml/2006/table">
            <a:tbl>
              <a:tblPr>
                <a:tableStyleId>{22838BEF-8BB2-4498-84A7-C5851F593DF1}</a:tableStyleId>
              </a:tblPr>
              <a:tblGrid>
                <a:gridCol w="2419350">
                  <a:extLst>
                    <a:ext uri="{9D8B030D-6E8A-4147-A177-3AD203B41FA5}">
                      <a16:colId xmlns:a16="http://schemas.microsoft.com/office/drawing/2014/main" val="986850971"/>
                    </a:ext>
                  </a:extLst>
                </a:gridCol>
                <a:gridCol w="5572125">
                  <a:extLst>
                    <a:ext uri="{9D8B030D-6E8A-4147-A177-3AD203B41FA5}">
                      <a16:colId xmlns:a16="http://schemas.microsoft.com/office/drawing/2014/main" val="2570501368"/>
                    </a:ext>
                  </a:extLst>
                </a:gridCol>
                <a:gridCol w="2152650">
                  <a:extLst>
                    <a:ext uri="{9D8B030D-6E8A-4147-A177-3AD203B41FA5}">
                      <a16:colId xmlns:a16="http://schemas.microsoft.com/office/drawing/2014/main" val="784294122"/>
                    </a:ext>
                  </a:extLst>
                </a:gridCol>
              </a:tblGrid>
              <a:tr h="0">
                <a:tc>
                  <a:txBody>
                    <a:bodyPr/>
                    <a:lstStyle/>
                    <a:p>
                      <a:pPr algn="ctr" fontAlgn="base"/>
                      <a:r>
                        <a:rPr lang="en-IN" sz="1800" b="1" dirty="0">
                          <a:effectLst/>
                          <a:latin typeface="Times New Roman" panose="02020603050405020304" pitchFamily="18" charset="0"/>
                          <a:cs typeface="Times New Roman" panose="02020603050405020304" pitchFamily="18" charset="0"/>
                        </a:rPr>
                        <a:t>Method Name</a:t>
                      </a:r>
                    </a:p>
                  </a:txBody>
                  <a:tcPr marL="63500" marR="63500" marT="63500" marB="63500" anchor="ctr"/>
                </a:tc>
                <a:tc>
                  <a:txBody>
                    <a:bodyPr/>
                    <a:lstStyle/>
                    <a:p>
                      <a:pPr algn="ctr" fontAlgn="base"/>
                      <a:r>
                        <a:rPr lang="en-IN" sz="1800" b="1" dirty="0">
                          <a:effectLst/>
                          <a:latin typeface="Times New Roman" panose="02020603050405020304" pitchFamily="18" charset="0"/>
                          <a:cs typeface="Times New Roman" panose="02020603050405020304" pitchFamily="18" charset="0"/>
                        </a:rPr>
                        <a:t>Description</a:t>
                      </a:r>
                    </a:p>
                  </a:txBody>
                  <a:tcPr marL="63500" marR="63500" marT="63500" marB="63500" anchor="ctr"/>
                </a:tc>
                <a:tc>
                  <a:txBody>
                    <a:bodyPr/>
                    <a:lstStyle/>
                    <a:p>
                      <a:pPr algn="ctr" fontAlgn="base"/>
                      <a:r>
                        <a:rPr lang="en-IN" sz="1800" b="1" dirty="0">
                          <a:effectLst/>
                          <a:latin typeface="Times New Roman" panose="02020603050405020304" pitchFamily="18" charset="0"/>
                          <a:cs typeface="Times New Roman" panose="02020603050405020304" pitchFamily="18" charset="0"/>
                        </a:rPr>
                        <a:t>Return Type</a:t>
                      </a:r>
                    </a:p>
                  </a:txBody>
                  <a:tcPr marL="63500" marR="63500" marT="63500" marB="63500" anchor="ctr"/>
                </a:tc>
                <a:extLst>
                  <a:ext uri="{0D108BD9-81ED-4DB2-BD59-A6C34878D82A}">
                    <a16:rowId xmlns:a16="http://schemas.microsoft.com/office/drawing/2014/main" val="4227471501"/>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canRead()</a:t>
                      </a:r>
                    </a:p>
                  </a:txBody>
                  <a:tcPr marL="63500" marR="63500" marT="88900" marB="88900"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It tests whether the file is readable or not. </a:t>
                      </a:r>
                    </a:p>
                  </a:txBody>
                  <a:tcPr marL="63500" marR="63500" marT="88900" marB="88900" anchor="ctr"/>
                </a:tc>
                <a:tc>
                  <a:txBody>
                    <a:bodyPr/>
                    <a:lstStyle/>
                    <a:p>
                      <a:pPr algn="l" fontAlgn="base"/>
                      <a:r>
                        <a:rPr lang="en-IN" sz="1800" b="0" dirty="0">
                          <a:effectLst/>
                          <a:latin typeface="Times New Roman" panose="02020603050405020304" pitchFamily="18" charset="0"/>
                          <a:cs typeface="Times New Roman" panose="02020603050405020304" pitchFamily="18" charset="0"/>
                        </a:rPr>
                        <a:t>Boolean</a:t>
                      </a:r>
                    </a:p>
                  </a:txBody>
                  <a:tcPr marL="63500" marR="63500" marT="88900" marB="88900" anchor="ctr"/>
                </a:tc>
                <a:extLst>
                  <a:ext uri="{0D108BD9-81ED-4DB2-BD59-A6C34878D82A}">
                    <a16:rowId xmlns:a16="http://schemas.microsoft.com/office/drawing/2014/main" val="3208637945"/>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canWrite()</a:t>
                      </a:r>
                    </a:p>
                  </a:txBody>
                  <a:tcPr marL="63500" marR="63500" marT="88900" marB="88900" anchor="ctr"/>
                </a:tc>
                <a:tc>
                  <a:txBody>
                    <a:bodyPr/>
                    <a:lstStyle/>
                    <a:p>
                      <a:pPr algn="l" fontAlgn="base"/>
                      <a:r>
                        <a:rPr lang="en-US" sz="1800" b="0">
                          <a:effectLst/>
                          <a:latin typeface="Times New Roman" panose="02020603050405020304" pitchFamily="18" charset="0"/>
                          <a:cs typeface="Times New Roman" panose="02020603050405020304" pitchFamily="18" charset="0"/>
                        </a:rPr>
                        <a:t>It tests whether the file is writable or not.</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Boolean</a:t>
                      </a:r>
                    </a:p>
                  </a:txBody>
                  <a:tcPr marL="63500" marR="63500" marT="88900" marB="88900" anchor="ctr"/>
                </a:tc>
                <a:extLst>
                  <a:ext uri="{0D108BD9-81ED-4DB2-BD59-A6C34878D82A}">
                    <a16:rowId xmlns:a16="http://schemas.microsoft.com/office/drawing/2014/main" val="3230822067"/>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createNewFile()</a:t>
                      </a:r>
                    </a:p>
                  </a:txBody>
                  <a:tcPr marL="63500" marR="63500" marT="88900" marB="88900" anchor="ctr"/>
                </a:tc>
                <a:tc>
                  <a:txBody>
                    <a:bodyPr/>
                    <a:lstStyle/>
                    <a:p>
                      <a:pPr algn="l" fontAlgn="base"/>
                      <a:r>
                        <a:rPr lang="en-US" sz="1800" b="0">
                          <a:effectLst/>
                          <a:latin typeface="Times New Roman" panose="02020603050405020304" pitchFamily="18" charset="0"/>
                          <a:cs typeface="Times New Roman" panose="02020603050405020304" pitchFamily="18" charset="0"/>
                        </a:rPr>
                        <a:t>It creates an empty file.</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Boolean</a:t>
                      </a:r>
                    </a:p>
                  </a:txBody>
                  <a:tcPr marL="63500" marR="63500" marT="88900" marB="88900" anchor="ctr"/>
                </a:tc>
                <a:extLst>
                  <a:ext uri="{0D108BD9-81ED-4DB2-BD59-A6C34878D82A}">
                    <a16:rowId xmlns:a16="http://schemas.microsoft.com/office/drawing/2014/main" val="3242801656"/>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delete()</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It deletes a file.</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Boolean</a:t>
                      </a:r>
                    </a:p>
                  </a:txBody>
                  <a:tcPr marL="63500" marR="63500" marT="88900" marB="88900" anchor="ctr"/>
                </a:tc>
                <a:extLst>
                  <a:ext uri="{0D108BD9-81ED-4DB2-BD59-A6C34878D82A}">
                    <a16:rowId xmlns:a16="http://schemas.microsoft.com/office/drawing/2014/main" val="1058603730"/>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exists()</a:t>
                      </a:r>
                    </a:p>
                  </a:txBody>
                  <a:tcPr marL="63500" marR="63500" marT="88900" marB="88900" anchor="ctr"/>
                </a:tc>
                <a:tc>
                  <a:txBody>
                    <a:bodyPr/>
                    <a:lstStyle/>
                    <a:p>
                      <a:pPr algn="l" fontAlgn="base"/>
                      <a:r>
                        <a:rPr lang="en-US" sz="1800" b="0">
                          <a:effectLst/>
                          <a:latin typeface="Times New Roman" panose="02020603050405020304" pitchFamily="18" charset="0"/>
                          <a:cs typeface="Times New Roman" panose="02020603050405020304" pitchFamily="18" charset="0"/>
                        </a:rPr>
                        <a:t>It tests whether the file exists or not.</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Boolean</a:t>
                      </a:r>
                    </a:p>
                  </a:txBody>
                  <a:tcPr marL="63500" marR="63500" marT="88900" marB="88900" anchor="ctr"/>
                </a:tc>
                <a:extLst>
                  <a:ext uri="{0D108BD9-81ED-4DB2-BD59-A6C34878D82A}">
                    <a16:rowId xmlns:a16="http://schemas.microsoft.com/office/drawing/2014/main" val="586209102"/>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length()</a:t>
                      </a:r>
                    </a:p>
                  </a:txBody>
                  <a:tcPr marL="63500" marR="63500" marT="88900" marB="88900" anchor="ctr"/>
                </a:tc>
                <a:tc>
                  <a:txBody>
                    <a:bodyPr/>
                    <a:lstStyle/>
                    <a:p>
                      <a:pPr algn="l" fontAlgn="base"/>
                      <a:r>
                        <a:rPr lang="en-US" sz="1800" b="0">
                          <a:effectLst/>
                          <a:latin typeface="Times New Roman" panose="02020603050405020304" pitchFamily="18" charset="0"/>
                          <a:cs typeface="Times New Roman" panose="02020603050405020304" pitchFamily="18" charset="0"/>
                        </a:rPr>
                        <a:t>Returns the size of the file in bytes.</a:t>
                      </a:r>
                    </a:p>
                  </a:txBody>
                  <a:tcPr marL="63500" marR="63500" marT="88900" marB="88900" anchor="ctr"/>
                </a:tc>
                <a:tc>
                  <a:txBody>
                    <a:bodyPr/>
                    <a:lstStyle/>
                    <a:p>
                      <a:pPr algn="l" fontAlgn="base"/>
                      <a:r>
                        <a:rPr lang="en-IN" sz="1800" b="0" dirty="0">
                          <a:effectLst/>
                          <a:latin typeface="Times New Roman" panose="02020603050405020304" pitchFamily="18" charset="0"/>
                          <a:cs typeface="Times New Roman" panose="02020603050405020304" pitchFamily="18" charset="0"/>
                        </a:rPr>
                        <a:t>Long</a:t>
                      </a:r>
                    </a:p>
                  </a:txBody>
                  <a:tcPr marL="63500" marR="63500" marT="88900" marB="88900" anchor="ctr"/>
                </a:tc>
                <a:extLst>
                  <a:ext uri="{0D108BD9-81ED-4DB2-BD59-A6C34878D82A}">
                    <a16:rowId xmlns:a16="http://schemas.microsoft.com/office/drawing/2014/main" val="3445771322"/>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getName()</a:t>
                      </a:r>
                    </a:p>
                  </a:txBody>
                  <a:tcPr marL="63500" marR="63500" marT="88900" marB="88900"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Returns the name of the file.</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String</a:t>
                      </a:r>
                    </a:p>
                  </a:txBody>
                  <a:tcPr marL="63500" marR="63500" marT="88900" marB="88900" anchor="ctr"/>
                </a:tc>
                <a:extLst>
                  <a:ext uri="{0D108BD9-81ED-4DB2-BD59-A6C34878D82A}">
                    <a16:rowId xmlns:a16="http://schemas.microsoft.com/office/drawing/2014/main" val="2930785466"/>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list()</a:t>
                      </a:r>
                    </a:p>
                  </a:txBody>
                  <a:tcPr marL="63500" marR="63500" marT="88900" marB="88900"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Returns an array of the files in the directory.</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String[] </a:t>
                      </a:r>
                    </a:p>
                  </a:txBody>
                  <a:tcPr marL="63500" marR="63500" marT="88900" marB="88900" anchor="ctr"/>
                </a:tc>
                <a:extLst>
                  <a:ext uri="{0D108BD9-81ED-4DB2-BD59-A6C34878D82A}">
                    <a16:rowId xmlns:a16="http://schemas.microsoft.com/office/drawing/2014/main" val="695235871"/>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mkdir()</a:t>
                      </a:r>
                    </a:p>
                  </a:txBody>
                  <a:tcPr marL="63500" marR="63500" marT="88900" marB="88900" anchor="ctr"/>
                </a:tc>
                <a:tc>
                  <a:txBody>
                    <a:bodyPr/>
                    <a:lstStyle/>
                    <a:p>
                      <a:pPr algn="l" fontAlgn="base"/>
                      <a:r>
                        <a:rPr lang="en-IN" sz="1800" b="0" dirty="0">
                          <a:effectLst/>
                          <a:latin typeface="Times New Roman" panose="02020603050405020304" pitchFamily="18" charset="0"/>
                          <a:cs typeface="Times New Roman" panose="02020603050405020304" pitchFamily="18" charset="0"/>
                        </a:rPr>
                        <a:t>Creates a new directory.</a:t>
                      </a:r>
                    </a:p>
                  </a:txBody>
                  <a:tcPr marL="63500" marR="63500" marT="88900" marB="88900" anchor="ctr"/>
                </a:tc>
                <a:tc>
                  <a:txBody>
                    <a:bodyPr/>
                    <a:lstStyle/>
                    <a:p>
                      <a:pPr algn="l" fontAlgn="base"/>
                      <a:r>
                        <a:rPr lang="en-IN" sz="1800" b="0">
                          <a:effectLst/>
                          <a:latin typeface="Times New Roman" panose="02020603050405020304" pitchFamily="18" charset="0"/>
                          <a:cs typeface="Times New Roman" panose="02020603050405020304" pitchFamily="18" charset="0"/>
                        </a:rPr>
                        <a:t>Boolean</a:t>
                      </a:r>
                    </a:p>
                  </a:txBody>
                  <a:tcPr marL="63500" marR="63500" marT="88900" marB="88900" anchor="ctr"/>
                </a:tc>
                <a:extLst>
                  <a:ext uri="{0D108BD9-81ED-4DB2-BD59-A6C34878D82A}">
                    <a16:rowId xmlns:a16="http://schemas.microsoft.com/office/drawing/2014/main" val="2598980593"/>
                  </a:ext>
                </a:extLst>
              </a:tr>
              <a:tr h="0">
                <a:tc>
                  <a:txBody>
                    <a:bodyPr/>
                    <a:lstStyle/>
                    <a:p>
                      <a:pPr algn="l" fontAlgn="base"/>
                      <a:r>
                        <a:rPr lang="en-IN" sz="1800" b="0">
                          <a:effectLst/>
                          <a:latin typeface="Times New Roman" panose="02020603050405020304" pitchFamily="18" charset="0"/>
                          <a:cs typeface="Times New Roman" panose="02020603050405020304" pitchFamily="18" charset="0"/>
                        </a:rPr>
                        <a:t>getAbsolutePath()</a:t>
                      </a:r>
                    </a:p>
                  </a:txBody>
                  <a:tcPr marL="63500" marR="63500" marT="88900" marB="88900" anchor="ctr"/>
                </a:tc>
                <a:tc>
                  <a:txBody>
                    <a:bodyPr/>
                    <a:lstStyle/>
                    <a:p>
                      <a:pPr algn="l" fontAlgn="base"/>
                      <a:r>
                        <a:rPr lang="en-US" sz="1800" b="0" dirty="0">
                          <a:effectLst/>
                          <a:latin typeface="Times New Roman" panose="02020603050405020304" pitchFamily="18" charset="0"/>
                          <a:cs typeface="Times New Roman" panose="02020603050405020304" pitchFamily="18" charset="0"/>
                        </a:rPr>
                        <a:t>Returns the absolute pathname of the file.</a:t>
                      </a:r>
                    </a:p>
                  </a:txBody>
                  <a:tcPr marL="63500" marR="63500" marT="88900" marB="88900" anchor="ctr"/>
                </a:tc>
                <a:tc>
                  <a:txBody>
                    <a:bodyPr/>
                    <a:lstStyle/>
                    <a:p>
                      <a:pPr algn="l" fontAlgn="base"/>
                      <a:r>
                        <a:rPr lang="en-IN" sz="1800" b="0" dirty="0">
                          <a:effectLst/>
                          <a:latin typeface="Times New Roman" panose="02020603050405020304" pitchFamily="18" charset="0"/>
                          <a:cs typeface="Times New Roman" panose="02020603050405020304" pitchFamily="18" charset="0"/>
                        </a:rPr>
                        <a:t>String</a:t>
                      </a:r>
                    </a:p>
                  </a:txBody>
                  <a:tcPr marL="63500" marR="63500" marT="88900" marB="88900" anchor="ctr"/>
                </a:tc>
                <a:extLst>
                  <a:ext uri="{0D108BD9-81ED-4DB2-BD59-A6C34878D82A}">
                    <a16:rowId xmlns:a16="http://schemas.microsoft.com/office/drawing/2014/main" val="3390661694"/>
                  </a:ext>
                </a:extLst>
              </a:tr>
            </a:tbl>
          </a:graphicData>
        </a:graphic>
      </p:graphicFrame>
    </p:spTree>
    <p:extLst>
      <p:ext uri="{BB962C8B-B14F-4D97-AF65-F5344CB8AC3E}">
        <p14:creationId xmlns:p14="http://schemas.microsoft.com/office/powerpoint/2010/main" val="22362277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72BD1-F29C-DD17-F3B5-3993323D6FAD}"/>
              </a:ext>
            </a:extLst>
          </p:cNvPr>
          <p:cNvSpPr>
            <a:spLocks noGrp="1"/>
          </p:cNvSpPr>
          <p:nvPr>
            <p:ph type="title"/>
          </p:nvPr>
        </p:nvSpPr>
        <p:spPr/>
        <p:txBody>
          <a:bodyPr/>
          <a:lstStyle/>
          <a:p>
            <a:r>
              <a:rPr lang="en-US" dirty="0"/>
              <a:t>File Operations in Java</a:t>
            </a:r>
            <a:endParaRPr lang="en-IN" dirty="0"/>
          </a:p>
        </p:txBody>
      </p:sp>
      <p:sp>
        <p:nvSpPr>
          <p:cNvPr id="3" name="Content Placeholder 2">
            <a:extLst>
              <a:ext uri="{FF2B5EF4-FFF2-40B4-BE49-F238E27FC236}">
                <a16:creationId xmlns:a16="http://schemas.microsoft.com/office/drawing/2014/main" id="{27050952-BD3C-7467-0150-3CA0E2CA1105}"/>
              </a:ext>
            </a:extLst>
          </p:cNvPr>
          <p:cNvSpPr>
            <a:spLocks noGrp="1"/>
          </p:cNvSpPr>
          <p:nvPr>
            <p:ph idx="1"/>
          </p:nvPr>
        </p:nvSpPr>
        <p:spPr>
          <a:xfrm>
            <a:off x="1123950" y="1117450"/>
            <a:ext cx="10515600" cy="4623100"/>
          </a:xfrm>
        </p:spPr>
        <p:txBody>
          <a:bodyPr/>
          <a:lstStyle/>
          <a:p>
            <a:pPr marL="0" indent="0">
              <a:lnSpc>
                <a:spcPct val="150000"/>
              </a:lnSpc>
              <a:buNone/>
            </a:pPr>
            <a:r>
              <a:rPr lang="en-US" dirty="0"/>
              <a:t>The following are the several operations that can be performed on a file in Java :</a:t>
            </a:r>
          </a:p>
          <a:p>
            <a:pPr>
              <a:lnSpc>
                <a:spcPct val="150000"/>
              </a:lnSpc>
            </a:pPr>
            <a:r>
              <a:rPr lang="en-US" dirty="0"/>
              <a:t>Create a File</a:t>
            </a:r>
          </a:p>
          <a:p>
            <a:pPr>
              <a:lnSpc>
                <a:spcPct val="150000"/>
              </a:lnSpc>
            </a:pPr>
            <a:r>
              <a:rPr lang="en-US" dirty="0"/>
              <a:t>Read from a File</a:t>
            </a:r>
          </a:p>
          <a:p>
            <a:pPr>
              <a:lnSpc>
                <a:spcPct val="150000"/>
              </a:lnSpc>
            </a:pPr>
            <a:r>
              <a:rPr lang="en-US" dirty="0"/>
              <a:t>Write to a File</a:t>
            </a:r>
          </a:p>
          <a:p>
            <a:pPr>
              <a:lnSpc>
                <a:spcPct val="150000"/>
              </a:lnSpc>
            </a:pPr>
            <a:r>
              <a:rPr lang="en-US" dirty="0"/>
              <a:t>Delete a File</a:t>
            </a:r>
            <a:endParaRPr lang="en-IN" dirty="0"/>
          </a:p>
        </p:txBody>
      </p:sp>
      <p:sp>
        <p:nvSpPr>
          <p:cNvPr id="4" name="Footer Placeholder 3">
            <a:extLst>
              <a:ext uri="{FF2B5EF4-FFF2-40B4-BE49-F238E27FC236}">
                <a16:creationId xmlns:a16="http://schemas.microsoft.com/office/drawing/2014/main" id="{8F58E650-19BF-C13C-52FA-FEE6CDBDBF72}"/>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6643474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241C0-40DB-E75E-3CC4-6713E08653EC}"/>
              </a:ext>
            </a:extLst>
          </p:cNvPr>
          <p:cNvSpPr>
            <a:spLocks noGrp="1"/>
          </p:cNvSpPr>
          <p:nvPr>
            <p:ph type="title"/>
          </p:nvPr>
        </p:nvSpPr>
        <p:spPr/>
        <p:txBody>
          <a:bodyPr/>
          <a:lstStyle/>
          <a:p>
            <a:r>
              <a:rPr lang="en-US" dirty="0"/>
              <a:t>Create a File</a:t>
            </a:r>
            <a:endParaRPr lang="en-IN" dirty="0"/>
          </a:p>
        </p:txBody>
      </p:sp>
      <p:sp>
        <p:nvSpPr>
          <p:cNvPr id="3" name="Content Placeholder 2">
            <a:extLst>
              <a:ext uri="{FF2B5EF4-FFF2-40B4-BE49-F238E27FC236}">
                <a16:creationId xmlns:a16="http://schemas.microsoft.com/office/drawing/2014/main" id="{B80EDCF5-D350-4CDF-6822-2E9A1E19C875}"/>
              </a:ext>
            </a:extLst>
          </p:cNvPr>
          <p:cNvSpPr>
            <a:spLocks noGrp="1"/>
          </p:cNvSpPr>
          <p:nvPr>
            <p:ph idx="1"/>
          </p:nvPr>
        </p:nvSpPr>
        <p:spPr>
          <a:xfrm>
            <a:off x="1047750" y="1243360"/>
            <a:ext cx="10515600" cy="4623100"/>
          </a:xfrm>
        </p:spPr>
        <p:txBody>
          <a:bodyPr/>
          <a:lstStyle/>
          <a:p>
            <a:pPr>
              <a:lnSpc>
                <a:spcPct val="150000"/>
              </a:lnSpc>
            </a:pPr>
            <a:r>
              <a:rPr lang="en-US" dirty="0"/>
              <a:t>In order to create a file in Java, the </a:t>
            </a:r>
            <a:r>
              <a:rPr lang="en-US" dirty="0" err="1"/>
              <a:t>createNewFile</a:t>
            </a:r>
            <a:r>
              <a:rPr lang="en-US" dirty="0"/>
              <a:t>() method can be used.</a:t>
            </a:r>
          </a:p>
          <a:p>
            <a:pPr>
              <a:lnSpc>
                <a:spcPct val="150000"/>
              </a:lnSpc>
            </a:pPr>
            <a:r>
              <a:rPr lang="en-US" dirty="0"/>
              <a:t>If the file is successfully created, it will return a Boolean value true and false if the file already exists.</a:t>
            </a:r>
            <a:endParaRPr lang="en-IN" dirty="0"/>
          </a:p>
        </p:txBody>
      </p:sp>
      <p:sp>
        <p:nvSpPr>
          <p:cNvPr id="4" name="Footer Placeholder 3">
            <a:extLst>
              <a:ext uri="{FF2B5EF4-FFF2-40B4-BE49-F238E27FC236}">
                <a16:creationId xmlns:a16="http://schemas.microsoft.com/office/drawing/2014/main" id="{CDE7158B-C8E6-36E9-3FB9-C086EFBEE21E}"/>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3831216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A563839-4453-D737-E07D-9BEF26AE3734}"/>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80E3A399-70FC-0FD0-2697-8E2654B8E91A}"/>
              </a:ext>
            </a:extLst>
          </p:cNvPr>
          <p:cNvPicPr>
            <a:picLocks noChangeAspect="1"/>
          </p:cNvPicPr>
          <p:nvPr/>
        </p:nvPicPr>
        <p:blipFill>
          <a:blip r:embed="rId2"/>
          <a:stretch>
            <a:fillRect/>
          </a:stretch>
        </p:blipFill>
        <p:spPr>
          <a:xfrm>
            <a:off x="1257300" y="1200151"/>
            <a:ext cx="7467600" cy="4819650"/>
          </a:xfrm>
          <a:prstGeom prst="rect">
            <a:avLst/>
          </a:prstGeom>
        </p:spPr>
      </p:pic>
    </p:spTree>
    <p:extLst>
      <p:ext uri="{BB962C8B-B14F-4D97-AF65-F5344CB8AC3E}">
        <p14:creationId xmlns:p14="http://schemas.microsoft.com/office/powerpoint/2010/main" val="36244716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BC8D8-5008-B5EB-2136-011B9151A3BE}"/>
              </a:ext>
            </a:extLst>
          </p:cNvPr>
          <p:cNvSpPr>
            <a:spLocks noGrp="1"/>
          </p:cNvSpPr>
          <p:nvPr>
            <p:ph type="title"/>
          </p:nvPr>
        </p:nvSpPr>
        <p:spPr/>
        <p:txBody>
          <a:bodyPr/>
          <a:lstStyle/>
          <a:p>
            <a:r>
              <a:rPr lang="en-US" dirty="0"/>
              <a:t>Read from a File</a:t>
            </a:r>
            <a:endParaRPr lang="en-IN" dirty="0"/>
          </a:p>
        </p:txBody>
      </p:sp>
      <p:sp>
        <p:nvSpPr>
          <p:cNvPr id="4" name="Footer Placeholder 3">
            <a:extLst>
              <a:ext uri="{FF2B5EF4-FFF2-40B4-BE49-F238E27FC236}">
                <a16:creationId xmlns:a16="http://schemas.microsoft.com/office/drawing/2014/main" id="{1D4B1E58-4A09-016E-6AA5-CFF051D3A7E2}"/>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8BA8352A-53BD-6530-DD9D-760051A74BED}"/>
              </a:ext>
            </a:extLst>
          </p:cNvPr>
          <p:cNvPicPr>
            <a:picLocks noChangeAspect="1"/>
          </p:cNvPicPr>
          <p:nvPr/>
        </p:nvPicPr>
        <p:blipFill>
          <a:blip r:embed="rId2"/>
          <a:stretch>
            <a:fillRect/>
          </a:stretch>
        </p:blipFill>
        <p:spPr>
          <a:xfrm>
            <a:off x="1514475" y="1208874"/>
            <a:ext cx="7791450" cy="5030001"/>
          </a:xfrm>
          <a:prstGeom prst="rect">
            <a:avLst/>
          </a:prstGeom>
        </p:spPr>
      </p:pic>
    </p:spTree>
    <p:extLst>
      <p:ext uri="{BB962C8B-B14F-4D97-AF65-F5344CB8AC3E}">
        <p14:creationId xmlns:p14="http://schemas.microsoft.com/office/powerpoint/2010/main" val="6665577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3CF95-07F1-420A-550A-DC9FBB6B8200}"/>
              </a:ext>
            </a:extLst>
          </p:cNvPr>
          <p:cNvSpPr>
            <a:spLocks noGrp="1"/>
          </p:cNvSpPr>
          <p:nvPr>
            <p:ph type="title"/>
          </p:nvPr>
        </p:nvSpPr>
        <p:spPr/>
        <p:txBody>
          <a:bodyPr/>
          <a:lstStyle/>
          <a:p>
            <a:r>
              <a:rPr lang="en-US" dirty="0"/>
              <a:t>Write to a File</a:t>
            </a:r>
            <a:endParaRPr lang="en-IN" dirty="0"/>
          </a:p>
        </p:txBody>
      </p:sp>
      <p:sp>
        <p:nvSpPr>
          <p:cNvPr id="3" name="Content Placeholder 2">
            <a:extLst>
              <a:ext uri="{FF2B5EF4-FFF2-40B4-BE49-F238E27FC236}">
                <a16:creationId xmlns:a16="http://schemas.microsoft.com/office/drawing/2014/main" id="{E00B1723-1D0D-1AE7-5A3B-07305A85ADE5}"/>
              </a:ext>
            </a:extLst>
          </p:cNvPr>
          <p:cNvSpPr>
            <a:spLocks noGrp="1"/>
          </p:cNvSpPr>
          <p:nvPr>
            <p:ph idx="1"/>
          </p:nvPr>
        </p:nvSpPr>
        <p:spPr>
          <a:xfrm>
            <a:off x="1047750" y="1174600"/>
            <a:ext cx="10515600" cy="4623100"/>
          </a:xfrm>
        </p:spPr>
        <p:txBody>
          <a:bodyPr>
            <a:normAutofit/>
          </a:bodyPr>
          <a:lstStyle/>
          <a:p>
            <a:r>
              <a:rPr lang="en-US" sz="2100" dirty="0"/>
              <a:t>Use of </a:t>
            </a:r>
            <a:r>
              <a:rPr lang="en-US" sz="2100" dirty="0" err="1"/>
              <a:t>FileWriter</a:t>
            </a:r>
            <a:r>
              <a:rPr lang="en-US" sz="2100" dirty="0"/>
              <a:t> class along with its write() method in order to write some text to the file.</a:t>
            </a:r>
            <a:endParaRPr lang="en-IN" sz="2100" dirty="0"/>
          </a:p>
        </p:txBody>
      </p:sp>
      <p:sp>
        <p:nvSpPr>
          <p:cNvPr id="4" name="Footer Placeholder 3">
            <a:extLst>
              <a:ext uri="{FF2B5EF4-FFF2-40B4-BE49-F238E27FC236}">
                <a16:creationId xmlns:a16="http://schemas.microsoft.com/office/drawing/2014/main" id="{3122D36A-9A5D-B623-2298-0D4C6F47E0BB}"/>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0D5D8A8E-A90D-3EB8-0D87-2F4A708D0289}"/>
              </a:ext>
            </a:extLst>
          </p:cNvPr>
          <p:cNvPicPr>
            <a:picLocks noChangeAspect="1"/>
          </p:cNvPicPr>
          <p:nvPr/>
        </p:nvPicPr>
        <p:blipFill>
          <a:blip r:embed="rId2"/>
          <a:stretch>
            <a:fillRect/>
          </a:stretch>
        </p:blipFill>
        <p:spPr>
          <a:xfrm>
            <a:off x="1500188" y="1685668"/>
            <a:ext cx="8210550" cy="4492884"/>
          </a:xfrm>
          <a:prstGeom prst="rect">
            <a:avLst/>
          </a:prstGeom>
        </p:spPr>
      </p:pic>
    </p:spTree>
    <p:extLst>
      <p:ext uri="{BB962C8B-B14F-4D97-AF65-F5344CB8AC3E}">
        <p14:creationId xmlns:p14="http://schemas.microsoft.com/office/powerpoint/2010/main" val="3370903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BE9F-AB62-B2B5-7D29-A06D3CAC7A56}"/>
              </a:ext>
            </a:extLst>
          </p:cNvPr>
          <p:cNvSpPr>
            <a:spLocks noGrp="1"/>
          </p:cNvSpPr>
          <p:nvPr>
            <p:ph type="title"/>
          </p:nvPr>
        </p:nvSpPr>
        <p:spPr/>
        <p:txBody>
          <a:bodyPr/>
          <a:lstStyle/>
          <a:p>
            <a:r>
              <a:rPr lang="en-US" dirty="0"/>
              <a:t>Delete a File</a:t>
            </a:r>
            <a:endParaRPr lang="en-IN" dirty="0"/>
          </a:p>
        </p:txBody>
      </p:sp>
      <p:sp>
        <p:nvSpPr>
          <p:cNvPr id="3" name="Content Placeholder 2">
            <a:extLst>
              <a:ext uri="{FF2B5EF4-FFF2-40B4-BE49-F238E27FC236}">
                <a16:creationId xmlns:a16="http://schemas.microsoft.com/office/drawing/2014/main" id="{BB30A5E3-DA5E-9FDC-8DF6-8447BE6185AC}"/>
              </a:ext>
            </a:extLst>
          </p:cNvPr>
          <p:cNvSpPr>
            <a:spLocks noGrp="1"/>
          </p:cNvSpPr>
          <p:nvPr>
            <p:ph idx="1"/>
          </p:nvPr>
        </p:nvSpPr>
        <p:spPr>
          <a:xfrm>
            <a:off x="1047750" y="1117450"/>
            <a:ext cx="10515600" cy="4623100"/>
          </a:xfrm>
        </p:spPr>
        <p:txBody>
          <a:bodyPr/>
          <a:lstStyle/>
          <a:p>
            <a:r>
              <a:rPr lang="en-US" dirty="0"/>
              <a:t>Use of delete() method in order to delete a file</a:t>
            </a:r>
            <a:endParaRPr lang="en-IN" dirty="0"/>
          </a:p>
        </p:txBody>
      </p:sp>
      <p:sp>
        <p:nvSpPr>
          <p:cNvPr id="4" name="Footer Placeholder 3">
            <a:extLst>
              <a:ext uri="{FF2B5EF4-FFF2-40B4-BE49-F238E27FC236}">
                <a16:creationId xmlns:a16="http://schemas.microsoft.com/office/drawing/2014/main" id="{D2C23485-EF59-70DB-2076-FD40A9D3FD8F}"/>
              </a:ext>
            </a:extLst>
          </p:cNvPr>
          <p:cNvSpPr>
            <a:spLocks noGrp="1"/>
          </p:cNvSpPr>
          <p:nvPr>
            <p:ph type="ftr" sz="quarter" idx="11"/>
          </p:nvPr>
        </p:nvSpPr>
        <p:spPr/>
        <p:txBody>
          <a:bodyPr/>
          <a:lstStyle/>
          <a:p>
            <a:r>
              <a:rPr lang="en-US"/>
              <a:t>Department of Electronics &amp; Telecommunication Engg. </a:t>
            </a:r>
            <a:endParaRPr lang="en-IN" dirty="0"/>
          </a:p>
        </p:txBody>
      </p:sp>
      <p:pic>
        <p:nvPicPr>
          <p:cNvPr id="6" name="Picture 5">
            <a:extLst>
              <a:ext uri="{FF2B5EF4-FFF2-40B4-BE49-F238E27FC236}">
                <a16:creationId xmlns:a16="http://schemas.microsoft.com/office/drawing/2014/main" id="{DC588018-54AD-2461-04DB-8D83B970F0E9}"/>
              </a:ext>
            </a:extLst>
          </p:cNvPr>
          <p:cNvPicPr>
            <a:picLocks noChangeAspect="1"/>
          </p:cNvPicPr>
          <p:nvPr/>
        </p:nvPicPr>
        <p:blipFill>
          <a:blip r:embed="rId2"/>
          <a:stretch>
            <a:fillRect/>
          </a:stretch>
        </p:blipFill>
        <p:spPr>
          <a:xfrm>
            <a:off x="1400175" y="1614487"/>
            <a:ext cx="9182100" cy="4200525"/>
          </a:xfrm>
          <a:prstGeom prst="rect">
            <a:avLst/>
          </a:prstGeom>
        </p:spPr>
      </p:pic>
    </p:spTree>
    <p:extLst>
      <p:ext uri="{BB962C8B-B14F-4D97-AF65-F5344CB8AC3E}">
        <p14:creationId xmlns:p14="http://schemas.microsoft.com/office/powerpoint/2010/main" val="23116438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9FBA-7787-D6D6-4466-B9CF34A597A9}"/>
              </a:ext>
            </a:extLst>
          </p:cNvPr>
          <p:cNvSpPr>
            <a:spLocks noGrp="1"/>
          </p:cNvSpPr>
          <p:nvPr>
            <p:ph type="title"/>
          </p:nvPr>
        </p:nvSpPr>
        <p:spPr/>
        <p:txBody>
          <a:bodyPr/>
          <a:lstStyle/>
          <a:p>
            <a:r>
              <a:rPr lang="en-US" dirty="0"/>
              <a:t>Random Access Files in Java</a:t>
            </a:r>
            <a:endParaRPr lang="en-IN" dirty="0"/>
          </a:p>
        </p:txBody>
      </p:sp>
      <p:sp>
        <p:nvSpPr>
          <p:cNvPr id="3" name="Content Placeholder 2">
            <a:extLst>
              <a:ext uri="{FF2B5EF4-FFF2-40B4-BE49-F238E27FC236}">
                <a16:creationId xmlns:a16="http://schemas.microsoft.com/office/drawing/2014/main" id="{25EC5CFE-E331-C221-3E5A-A96EF423FE6D}"/>
              </a:ext>
            </a:extLst>
          </p:cNvPr>
          <p:cNvSpPr>
            <a:spLocks noGrp="1"/>
          </p:cNvSpPr>
          <p:nvPr>
            <p:ph idx="1"/>
          </p:nvPr>
        </p:nvSpPr>
        <p:spPr>
          <a:xfrm>
            <a:off x="1047750" y="1117450"/>
            <a:ext cx="10515600" cy="4623100"/>
          </a:xfrm>
        </p:spPr>
        <p:txBody>
          <a:bodyPr/>
          <a:lstStyle/>
          <a:p>
            <a:pPr algn="just">
              <a:lnSpc>
                <a:spcPct val="150000"/>
              </a:lnSpc>
            </a:pPr>
            <a:r>
              <a:rPr lang="en-US" dirty="0"/>
              <a:t>The class </a:t>
            </a:r>
            <a:r>
              <a:rPr lang="en-US" i="1" dirty="0" err="1"/>
              <a:t>RandomAccessFile</a:t>
            </a:r>
            <a:r>
              <a:rPr lang="en-US" dirty="0"/>
              <a:t> is used for reading and writing to random access file. </a:t>
            </a:r>
          </a:p>
          <a:p>
            <a:pPr algn="just">
              <a:lnSpc>
                <a:spcPct val="150000"/>
              </a:lnSpc>
            </a:pPr>
            <a:r>
              <a:rPr lang="en-US" dirty="0"/>
              <a:t>A random-access file behaves like a large array of bytes. </a:t>
            </a:r>
          </a:p>
          <a:p>
            <a:pPr algn="just">
              <a:lnSpc>
                <a:spcPct val="150000"/>
              </a:lnSpc>
            </a:pPr>
            <a:r>
              <a:rPr lang="en-US" dirty="0"/>
              <a:t>There is a cursor implied to the array called file pointer, by moving the cursor to read write operations. </a:t>
            </a:r>
          </a:p>
          <a:p>
            <a:pPr algn="just">
              <a:lnSpc>
                <a:spcPct val="150000"/>
              </a:lnSpc>
            </a:pPr>
            <a:r>
              <a:rPr lang="en-US" dirty="0"/>
              <a:t>If end-of-file is reached before the desired number of byte has been read than </a:t>
            </a:r>
            <a:r>
              <a:rPr lang="en-US" dirty="0" err="1"/>
              <a:t>EOFException</a:t>
            </a:r>
            <a:r>
              <a:rPr lang="en-US" dirty="0"/>
              <a:t> is thrown.  </a:t>
            </a:r>
          </a:p>
          <a:p>
            <a:pPr algn="just">
              <a:lnSpc>
                <a:spcPct val="150000"/>
              </a:lnSpc>
            </a:pPr>
            <a:r>
              <a:rPr lang="en-US" dirty="0"/>
              <a:t>It is a type of </a:t>
            </a:r>
            <a:r>
              <a:rPr lang="en-US" dirty="0" err="1"/>
              <a:t>IOException</a:t>
            </a:r>
            <a:r>
              <a:rPr lang="en-US" dirty="0"/>
              <a:t>.</a:t>
            </a:r>
            <a:endParaRPr lang="en-IN" dirty="0"/>
          </a:p>
        </p:txBody>
      </p:sp>
      <p:sp>
        <p:nvSpPr>
          <p:cNvPr id="4" name="Footer Placeholder 3">
            <a:extLst>
              <a:ext uri="{FF2B5EF4-FFF2-40B4-BE49-F238E27FC236}">
                <a16:creationId xmlns:a16="http://schemas.microsoft.com/office/drawing/2014/main" id="{5410450C-1CAD-ECA0-5EAD-3D5BACC17AC1}"/>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38516167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BE3C2-03BE-B0AE-F50D-7789DFFAC747}"/>
              </a:ext>
            </a:extLst>
          </p:cNvPr>
          <p:cNvSpPr>
            <a:spLocks noGrp="1"/>
          </p:cNvSpPr>
          <p:nvPr>
            <p:ph type="title"/>
          </p:nvPr>
        </p:nvSpPr>
        <p:spPr/>
        <p:txBody>
          <a:bodyPr/>
          <a:lstStyle/>
          <a:p>
            <a:r>
              <a:rPr lang="en-US" dirty="0"/>
              <a:t>Constructor</a:t>
            </a:r>
            <a:endParaRPr lang="en-IN" dirty="0"/>
          </a:p>
        </p:txBody>
      </p:sp>
      <p:sp>
        <p:nvSpPr>
          <p:cNvPr id="4" name="Footer Placeholder 3">
            <a:extLst>
              <a:ext uri="{FF2B5EF4-FFF2-40B4-BE49-F238E27FC236}">
                <a16:creationId xmlns:a16="http://schemas.microsoft.com/office/drawing/2014/main" id="{469FC3CB-B02B-530F-6157-34E97AF1C88A}"/>
              </a:ext>
            </a:extLst>
          </p:cNvPr>
          <p:cNvSpPr>
            <a:spLocks noGrp="1"/>
          </p:cNvSpPr>
          <p:nvPr>
            <p:ph type="ftr" sz="quarter" idx="11"/>
          </p:nvPr>
        </p:nvSpPr>
        <p:spPr/>
        <p:txBody>
          <a:bodyPr/>
          <a:lstStyle/>
          <a:p>
            <a:r>
              <a:rPr lang="en-US"/>
              <a:t>Department of Electronics &amp; Telecommunication Engg. </a:t>
            </a:r>
            <a:endParaRPr lang="en-IN" dirty="0"/>
          </a:p>
        </p:txBody>
      </p:sp>
      <p:graphicFrame>
        <p:nvGraphicFramePr>
          <p:cNvPr id="8" name="Table 7">
            <a:extLst>
              <a:ext uri="{FF2B5EF4-FFF2-40B4-BE49-F238E27FC236}">
                <a16:creationId xmlns:a16="http://schemas.microsoft.com/office/drawing/2014/main" id="{74CB9CDE-EC26-F6A6-80D4-9A2D27631C6A}"/>
              </a:ext>
            </a:extLst>
          </p:cNvPr>
          <p:cNvGraphicFramePr>
            <a:graphicFrameLocks noGrp="1"/>
          </p:cNvGraphicFramePr>
          <p:nvPr>
            <p:extLst>
              <p:ext uri="{D42A27DB-BD31-4B8C-83A1-F6EECF244321}">
                <p14:modId xmlns:p14="http://schemas.microsoft.com/office/powerpoint/2010/main" val="2301136206"/>
              </p:ext>
            </p:extLst>
          </p:nvPr>
        </p:nvGraphicFramePr>
        <p:xfrm>
          <a:off x="1376627" y="1764845"/>
          <a:ext cx="9438746" cy="2743200"/>
        </p:xfrm>
        <a:graphic>
          <a:graphicData uri="http://schemas.openxmlformats.org/drawingml/2006/table">
            <a:tbl>
              <a:tblPr>
                <a:tableStyleId>{BDBED569-4797-4DF1-A0F4-6AAB3CD982D8}</a:tableStyleId>
              </a:tblPr>
              <a:tblGrid>
                <a:gridCol w="4719373">
                  <a:extLst>
                    <a:ext uri="{9D8B030D-6E8A-4147-A177-3AD203B41FA5}">
                      <a16:colId xmlns:a16="http://schemas.microsoft.com/office/drawing/2014/main" val="1541659069"/>
                    </a:ext>
                  </a:extLst>
                </a:gridCol>
                <a:gridCol w="4719373">
                  <a:extLst>
                    <a:ext uri="{9D8B030D-6E8A-4147-A177-3AD203B41FA5}">
                      <a16:colId xmlns:a16="http://schemas.microsoft.com/office/drawing/2014/main" val="3714199889"/>
                    </a:ext>
                  </a:extLst>
                </a:gridCol>
              </a:tblGrid>
              <a:tr h="0">
                <a:tc>
                  <a:txBody>
                    <a:bodyPr/>
                    <a:lstStyle/>
                    <a:p>
                      <a:pPr algn="ctr" fontAlgn="t"/>
                      <a:r>
                        <a:rPr lang="en-IN" b="1" u="none" strike="noStrike" dirty="0">
                          <a:solidFill>
                            <a:schemeClr val="tx1"/>
                          </a:solidFill>
                          <a:effectLst/>
                          <a:latin typeface="Times New Roman" panose="02020603050405020304" pitchFamily="18" charset="0"/>
                          <a:cs typeface="Times New Roman" panose="02020603050405020304" pitchFamily="18" charset="0"/>
                        </a:rPr>
                        <a:t>Constructor</a:t>
                      </a:r>
                      <a:endParaRPr lang="en-IN" b="1" u="none" strike="noStrike"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txBody>
                  <a:tcPr marL="137160" marR="137160" marT="137160" marB="137160"/>
                </a:tc>
                <a:tc>
                  <a:txBody>
                    <a:bodyPr/>
                    <a:lstStyle/>
                    <a:p>
                      <a:pPr algn="ctr" fontAlgn="t"/>
                      <a:r>
                        <a:rPr lang="en-IN" b="1" dirty="0">
                          <a:solidFill>
                            <a:schemeClr val="tx1"/>
                          </a:solidFill>
                          <a:effectLst/>
                          <a:latin typeface="Times New Roman" panose="02020603050405020304" pitchFamily="18" charset="0"/>
                          <a:cs typeface="Times New Roman" panose="02020603050405020304" pitchFamily="18" charset="0"/>
                        </a:rPr>
                        <a:t>Description</a:t>
                      </a:r>
                    </a:p>
                  </a:txBody>
                  <a:tcPr marL="137160" marR="137160" marT="137160" marB="137160"/>
                </a:tc>
                <a:extLst>
                  <a:ext uri="{0D108BD9-81ED-4DB2-BD59-A6C34878D82A}">
                    <a16:rowId xmlns:a16="http://schemas.microsoft.com/office/drawing/2014/main" val="846493807"/>
                  </a:ext>
                </a:extLst>
              </a:tr>
              <a:tr h="0">
                <a:tc>
                  <a:txBody>
                    <a:bodyPr/>
                    <a:lstStyle/>
                    <a:p>
                      <a:pPr algn="just" fontAlgn="t"/>
                      <a:r>
                        <a:rPr lang="en-IN" dirty="0" err="1">
                          <a:solidFill>
                            <a:schemeClr val="tx1"/>
                          </a:solidFill>
                          <a:effectLst/>
                          <a:latin typeface="Times New Roman" panose="02020603050405020304" pitchFamily="18" charset="0"/>
                          <a:cs typeface="Times New Roman" panose="02020603050405020304" pitchFamily="18" charset="0"/>
                        </a:rPr>
                        <a:t>RandomAccessFile</a:t>
                      </a:r>
                      <a:r>
                        <a:rPr lang="en-IN" dirty="0">
                          <a:solidFill>
                            <a:schemeClr val="tx1"/>
                          </a:solidFill>
                          <a:effectLst/>
                          <a:latin typeface="Times New Roman" panose="02020603050405020304" pitchFamily="18" charset="0"/>
                          <a:cs typeface="Times New Roman" panose="02020603050405020304" pitchFamily="18" charset="0"/>
                        </a:rPr>
                        <a:t> (File </a:t>
                      </a:r>
                      <a:r>
                        <a:rPr lang="en-IN" dirty="0" err="1">
                          <a:solidFill>
                            <a:schemeClr val="tx1"/>
                          </a:solidFill>
                          <a:effectLst/>
                          <a:latin typeface="Times New Roman" panose="02020603050405020304" pitchFamily="18" charset="0"/>
                          <a:cs typeface="Times New Roman" panose="02020603050405020304" pitchFamily="18" charset="0"/>
                        </a:rPr>
                        <a:t>file</a:t>
                      </a:r>
                      <a:r>
                        <a:rPr lang="en-IN" dirty="0">
                          <a:solidFill>
                            <a:schemeClr val="tx1"/>
                          </a:solidFill>
                          <a:effectLst/>
                          <a:latin typeface="Times New Roman" panose="02020603050405020304" pitchFamily="18" charset="0"/>
                          <a:cs typeface="Times New Roman" panose="02020603050405020304" pitchFamily="18" charset="0"/>
                        </a:rPr>
                        <a:t>, </a:t>
                      </a:r>
                      <a:r>
                        <a:rPr lang="en-IN" u="none" strike="noStrike" dirty="0">
                          <a:solidFill>
                            <a:schemeClr val="tx1"/>
                          </a:solidFill>
                          <a:effectLst/>
                          <a:latin typeface="Times New Roman" panose="02020603050405020304" pitchFamily="18" charset="0"/>
                          <a:cs typeface="Times New Roman" panose="02020603050405020304" pitchFamily="18" charset="0"/>
                        </a:rPr>
                        <a:t>String </a:t>
                      </a:r>
                      <a:r>
                        <a:rPr lang="en-IN" dirty="0">
                          <a:solidFill>
                            <a:schemeClr val="tx1"/>
                          </a:solidFill>
                          <a:effectLst/>
                          <a:latin typeface="Times New Roman" panose="02020603050405020304" pitchFamily="18" charset="0"/>
                          <a:cs typeface="Times New Roman" panose="02020603050405020304" pitchFamily="18" charset="0"/>
                        </a:rPr>
                        <a:t>mode)</a:t>
                      </a:r>
                    </a:p>
                  </a:txBody>
                  <a:tcPr marL="137160" marR="137160" marT="137160" marB="137160"/>
                </a:tc>
                <a:tc>
                  <a:txBody>
                    <a:bodyPr/>
                    <a:lstStyle/>
                    <a:p>
                      <a:pPr algn="just" fontAlgn="t"/>
                      <a:r>
                        <a:rPr lang="en-US" dirty="0">
                          <a:solidFill>
                            <a:schemeClr val="tx1"/>
                          </a:solidFill>
                          <a:effectLst/>
                          <a:latin typeface="Times New Roman" panose="02020603050405020304" pitchFamily="18" charset="0"/>
                          <a:cs typeface="Times New Roman" panose="02020603050405020304" pitchFamily="18" charset="0"/>
                        </a:rPr>
                        <a:t>Creates a random access file stream to read from, and optionally to write to, the file specified by the File argument.</a:t>
                      </a:r>
                    </a:p>
                  </a:txBody>
                  <a:tcPr marL="137160" marR="137160" marT="137160" marB="137160"/>
                </a:tc>
                <a:extLst>
                  <a:ext uri="{0D108BD9-81ED-4DB2-BD59-A6C34878D82A}">
                    <a16:rowId xmlns:a16="http://schemas.microsoft.com/office/drawing/2014/main" val="3562385689"/>
                  </a:ext>
                </a:extLst>
              </a:tr>
              <a:tr h="0">
                <a:tc>
                  <a:txBody>
                    <a:bodyPr/>
                    <a:lstStyle/>
                    <a:p>
                      <a:pPr algn="just" fontAlgn="t"/>
                      <a:r>
                        <a:rPr lang="en-US" dirty="0" err="1">
                          <a:solidFill>
                            <a:schemeClr val="tx1"/>
                          </a:solidFill>
                          <a:effectLst/>
                          <a:latin typeface="Times New Roman" panose="02020603050405020304" pitchFamily="18" charset="0"/>
                          <a:cs typeface="Times New Roman" panose="02020603050405020304" pitchFamily="18" charset="0"/>
                        </a:rPr>
                        <a:t>RandomAccessFile</a:t>
                      </a:r>
                      <a:r>
                        <a:rPr lang="en-US" dirty="0">
                          <a:solidFill>
                            <a:schemeClr val="tx1"/>
                          </a:solidFill>
                          <a:effectLst/>
                          <a:latin typeface="Times New Roman" panose="02020603050405020304" pitchFamily="18" charset="0"/>
                          <a:cs typeface="Times New Roman" panose="02020603050405020304" pitchFamily="18" charset="0"/>
                        </a:rPr>
                        <a:t> (String name, String mode)</a:t>
                      </a:r>
                    </a:p>
                  </a:txBody>
                  <a:tcPr marL="137160" marR="137160" marT="137160" marB="137160"/>
                </a:tc>
                <a:tc>
                  <a:txBody>
                    <a:bodyPr/>
                    <a:lstStyle/>
                    <a:p>
                      <a:pPr algn="just" fontAlgn="t"/>
                      <a:r>
                        <a:rPr lang="en-US" dirty="0">
                          <a:solidFill>
                            <a:schemeClr val="tx1"/>
                          </a:solidFill>
                          <a:effectLst/>
                          <a:latin typeface="Times New Roman" panose="02020603050405020304" pitchFamily="18" charset="0"/>
                          <a:cs typeface="Times New Roman" panose="02020603050405020304" pitchFamily="18" charset="0"/>
                        </a:rPr>
                        <a:t>Creates a random access file stream to read from, and optionally to write to, a file with the specified name.</a:t>
                      </a:r>
                    </a:p>
                  </a:txBody>
                  <a:tcPr marL="137160" marR="137160" marT="137160" marB="137160"/>
                </a:tc>
                <a:extLst>
                  <a:ext uri="{0D108BD9-81ED-4DB2-BD59-A6C34878D82A}">
                    <a16:rowId xmlns:a16="http://schemas.microsoft.com/office/drawing/2014/main" val="202855778"/>
                  </a:ext>
                </a:extLst>
              </a:tr>
            </a:tbl>
          </a:graphicData>
        </a:graphic>
      </p:graphicFrame>
    </p:spTree>
    <p:extLst>
      <p:ext uri="{BB962C8B-B14F-4D97-AF65-F5344CB8AC3E}">
        <p14:creationId xmlns:p14="http://schemas.microsoft.com/office/powerpoint/2010/main" val="979891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EE0B-02A8-6803-AD51-B91E9691E8E0}"/>
              </a:ext>
            </a:extLst>
          </p:cNvPr>
          <p:cNvSpPr>
            <a:spLocks noGrp="1"/>
          </p:cNvSpPr>
          <p:nvPr>
            <p:ph type="title"/>
          </p:nvPr>
        </p:nvSpPr>
        <p:spPr/>
        <p:txBody>
          <a:bodyPr/>
          <a:lstStyle/>
          <a:p>
            <a:r>
              <a:rPr lang="en-US" dirty="0"/>
              <a:t>Methods</a:t>
            </a:r>
            <a:endParaRPr lang="en-IN" dirty="0"/>
          </a:p>
        </p:txBody>
      </p:sp>
      <p:sp>
        <p:nvSpPr>
          <p:cNvPr id="4" name="Footer Placeholder 3">
            <a:extLst>
              <a:ext uri="{FF2B5EF4-FFF2-40B4-BE49-F238E27FC236}">
                <a16:creationId xmlns:a16="http://schemas.microsoft.com/office/drawing/2014/main" id="{88D0078C-CD8A-0568-FE95-FC6834523037}"/>
              </a:ext>
            </a:extLst>
          </p:cNvPr>
          <p:cNvSpPr>
            <a:spLocks noGrp="1"/>
          </p:cNvSpPr>
          <p:nvPr>
            <p:ph type="ftr" sz="quarter" idx="11"/>
          </p:nvPr>
        </p:nvSpPr>
        <p:spPr/>
        <p:txBody>
          <a:bodyPr/>
          <a:lstStyle/>
          <a:p>
            <a:r>
              <a:rPr lang="en-US"/>
              <a:t>Department of Electronics &amp; Telecommunication Engg. </a:t>
            </a:r>
            <a:endParaRPr lang="en-IN" dirty="0"/>
          </a:p>
        </p:txBody>
      </p:sp>
      <p:graphicFrame>
        <p:nvGraphicFramePr>
          <p:cNvPr id="5" name="Table 4">
            <a:extLst>
              <a:ext uri="{FF2B5EF4-FFF2-40B4-BE49-F238E27FC236}">
                <a16:creationId xmlns:a16="http://schemas.microsoft.com/office/drawing/2014/main" id="{1D28C2F4-76DD-F9B3-C831-B125188DAA15}"/>
              </a:ext>
            </a:extLst>
          </p:cNvPr>
          <p:cNvGraphicFramePr>
            <a:graphicFrameLocks noGrp="1"/>
          </p:cNvGraphicFramePr>
          <p:nvPr>
            <p:extLst>
              <p:ext uri="{D42A27DB-BD31-4B8C-83A1-F6EECF244321}">
                <p14:modId xmlns:p14="http://schemas.microsoft.com/office/powerpoint/2010/main" val="935864092"/>
              </p:ext>
            </p:extLst>
          </p:nvPr>
        </p:nvGraphicFramePr>
        <p:xfrm>
          <a:off x="1121222" y="1196604"/>
          <a:ext cx="10585003" cy="4990981"/>
        </p:xfrm>
        <a:graphic>
          <a:graphicData uri="http://schemas.openxmlformats.org/drawingml/2006/table">
            <a:tbl>
              <a:tblPr>
                <a:tableStyleId>{BDBED569-4797-4DF1-A0F4-6AAB3CD982D8}</a:tableStyleId>
              </a:tblPr>
              <a:tblGrid>
                <a:gridCol w="1841053">
                  <a:extLst>
                    <a:ext uri="{9D8B030D-6E8A-4147-A177-3AD203B41FA5}">
                      <a16:colId xmlns:a16="http://schemas.microsoft.com/office/drawing/2014/main" val="583366304"/>
                    </a:ext>
                  </a:extLst>
                </a:gridCol>
                <a:gridCol w="1314450">
                  <a:extLst>
                    <a:ext uri="{9D8B030D-6E8A-4147-A177-3AD203B41FA5}">
                      <a16:colId xmlns:a16="http://schemas.microsoft.com/office/drawing/2014/main" val="3897997109"/>
                    </a:ext>
                  </a:extLst>
                </a:gridCol>
                <a:gridCol w="7429500">
                  <a:extLst>
                    <a:ext uri="{9D8B030D-6E8A-4147-A177-3AD203B41FA5}">
                      <a16:colId xmlns:a16="http://schemas.microsoft.com/office/drawing/2014/main" val="1015402999"/>
                    </a:ext>
                  </a:extLst>
                </a:gridCol>
              </a:tblGrid>
              <a:tr h="131397">
                <a:tc>
                  <a:txBody>
                    <a:bodyPr/>
                    <a:lstStyle/>
                    <a:p>
                      <a:pPr algn="ctr" fontAlgn="t"/>
                      <a:r>
                        <a:rPr lang="en-IN" sz="1500" b="1" dirty="0">
                          <a:solidFill>
                            <a:schemeClr val="tx1"/>
                          </a:solidFill>
                          <a:effectLst/>
                          <a:latin typeface="Times New Roman" panose="02020603050405020304" pitchFamily="18" charset="0"/>
                          <a:cs typeface="Times New Roman" panose="02020603050405020304" pitchFamily="18" charset="0"/>
                        </a:rPr>
                        <a:t>Modifier and Type</a:t>
                      </a:r>
                    </a:p>
                  </a:txBody>
                  <a:tcPr marL="72000" marR="72000"/>
                </a:tc>
                <a:tc>
                  <a:txBody>
                    <a:bodyPr/>
                    <a:lstStyle/>
                    <a:p>
                      <a:pPr algn="ctr" fontAlgn="t"/>
                      <a:r>
                        <a:rPr lang="en-IN" sz="1500" b="1" dirty="0">
                          <a:solidFill>
                            <a:schemeClr val="tx1"/>
                          </a:solidFill>
                          <a:effectLst/>
                          <a:latin typeface="Times New Roman" panose="02020603050405020304" pitchFamily="18" charset="0"/>
                          <a:cs typeface="Times New Roman" panose="02020603050405020304" pitchFamily="18" charset="0"/>
                        </a:rPr>
                        <a:t>Method</a:t>
                      </a:r>
                    </a:p>
                  </a:txBody>
                  <a:tcPr marL="72000" marR="72000"/>
                </a:tc>
                <a:tc>
                  <a:txBody>
                    <a:bodyPr/>
                    <a:lstStyle/>
                    <a:p>
                      <a:pPr algn="ctr" fontAlgn="t"/>
                      <a:r>
                        <a:rPr lang="en-IN" sz="1500" b="1" dirty="0">
                          <a:solidFill>
                            <a:schemeClr val="tx1"/>
                          </a:solidFill>
                          <a:effectLst/>
                          <a:latin typeface="Times New Roman" panose="02020603050405020304" pitchFamily="18" charset="0"/>
                          <a:cs typeface="Times New Roman" panose="02020603050405020304" pitchFamily="18" charset="0"/>
                        </a:rPr>
                        <a:t>Method</a:t>
                      </a:r>
                    </a:p>
                  </a:txBody>
                  <a:tcPr marL="72000" marR="72000"/>
                </a:tc>
                <a:extLst>
                  <a:ext uri="{0D108BD9-81ED-4DB2-BD59-A6C34878D82A}">
                    <a16:rowId xmlns:a16="http://schemas.microsoft.com/office/drawing/2014/main" val="2273742358"/>
                  </a:ext>
                </a:extLst>
              </a:tr>
              <a:tr h="533206">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void</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close()</a:t>
                      </a:r>
                    </a:p>
                  </a:txBody>
                  <a:tcPr marL="72000" marR="72000"/>
                </a:tc>
                <a:tc>
                  <a:txBody>
                    <a:bodyPr/>
                    <a:lstStyle/>
                    <a:p>
                      <a:pPr algn="just" fontAlgn="t"/>
                      <a:r>
                        <a:rPr lang="en-US" sz="1500" dirty="0">
                          <a:solidFill>
                            <a:schemeClr val="tx1"/>
                          </a:solidFill>
                          <a:effectLst/>
                          <a:latin typeface="Times New Roman" panose="02020603050405020304" pitchFamily="18" charset="0"/>
                          <a:cs typeface="Times New Roman" panose="02020603050405020304" pitchFamily="18" charset="0"/>
                        </a:rPr>
                        <a:t>It closes this random access file stream and releases any system resources associated with the stream.</a:t>
                      </a:r>
                    </a:p>
                  </a:txBody>
                  <a:tcPr marL="72000" marR="72000"/>
                </a:tc>
                <a:extLst>
                  <a:ext uri="{0D108BD9-81ED-4DB2-BD59-A6C34878D82A}">
                    <a16:rowId xmlns:a16="http://schemas.microsoft.com/office/drawing/2014/main" val="3556095718"/>
                  </a:ext>
                </a:extLst>
              </a:tr>
              <a:tr h="327541">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FileChannel</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getChannel()</a:t>
                      </a:r>
                    </a:p>
                  </a:txBody>
                  <a:tcPr marL="72000" marR="72000"/>
                </a:tc>
                <a:tc>
                  <a:txBody>
                    <a:bodyPr/>
                    <a:lstStyle/>
                    <a:p>
                      <a:pPr algn="just" fontAlgn="t"/>
                      <a:r>
                        <a:rPr lang="en-US" sz="1500" dirty="0">
                          <a:solidFill>
                            <a:schemeClr val="tx1"/>
                          </a:solidFill>
                          <a:effectLst/>
                          <a:latin typeface="Times New Roman" panose="02020603050405020304" pitchFamily="18" charset="0"/>
                          <a:cs typeface="Times New Roman" panose="02020603050405020304" pitchFamily="18" charset="0"/>
                        </a:rPr>
                        <a:t>It returns the unique </a:t>
                      </a:r>
                      <a:r>
                        <a:rPr lang="en-US" sz="1500" u="none" strike="noStrike" dirty="0" err="1">
                          <a:solidFill>
                            <a:schemeClr val="tx1"/>
                          </a:solidFill>
                          <a:effectLst/>
                          <a:latin typeface="Times New Roman" panose="02020603050405020304" pitchFamily="18" charset="0"/>
                          <a:cs typeface="Times New Roman" panose="02020603050405020304" pitchFamily="18" charset="0"/>
                        </a:rPr>
                        <a:t>FileChannel</a:t>
                      </a:r>
                      <a:r>
                        <a:rPr lang="en-US" sz="1500" u="none" strike="noStrike" dirty="0">
                          <a:solidFill>
                            <a:schemeClr val="tx1"/>
                          </a:solidFill>
                          <a:effectLst/>
                          <a:latin typeface="Times New Roman" panose="02020603050405020304" pitchFamily="18" charset="0"/>
                          <a:cs typeface="Times New Roman" panose="02020603050405020304" pitchFamily="18" charset="0"/>
                        </a:rPr>
                        <a:t> </a:t>
                      </a:r>
                      <a:r>
                        <a:rPr lang="en-US" sz="1500" dirty="0">
                          <a:solidFill>
                            <a:schemeClr val="tx1"/>
                          </a:solidFill>
                          <a:effectLst/>
                          <a:latin typeface="Times New Roman" panose="02020603050405020304" pitchFamily="18" charset="0"/>
                          <a:cs typeface="Times New Roman" panose="02020603050405020304" pitchFamily="18" charset="0"/>
                        </a:rPr>
                        <a:t>object associated with this file.</a:t>
                      </a:r>
                    </a:p>
                  </a:txBody>
                  <a:tcPr marL="72000" marR="72000"/>
                </a:tc>
                <a:extLst>
                  <a:ext uri="{0D108BD9-81ED-4DB2-BD59-A6C34878D82A}">
                    <a16:rowId xmlns:a16="http://schemas.microsoft.com/office/drawing/2014/main" val="1755774687"/>
                  </a:ext>
                </a:extLst>
              </a:tr>
              <a:tr h="224708">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int</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readInt()</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reads a signed 32-bit integer from this file.</a:t>
                      </a:r>
                    </a:p>
                  </a:txBody>
                  <a:tcPr marL="72000" marR="72000"/>
                </a:tc>
                <a:extLst>
                  <a:ext uri="{0D108BD9-81ED-4DB2-BD59-A6C34878D82A}">
                    <a16:rowId xmlns:a16="http://schemas.microsoft.com/office/drawing/2014/main" val="1169413757"/>
                  </a:ext>
                </a:extLst>
              </a:tr>
              <a:tr h="173292">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String</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readUTF()</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reads in a string from this file.</a:t>
                      </a:r>
                    </a:p>
                  </a:txBody>
                  <a:tcPr marL="72000" marR="72000"/>
                </a:tc>
                <a:extLst>
                  <a:ext uri="{0D108BD9-81ED-4DB2-BD59-A6C34878D82A}">
                    <a16:rowId xmlns:a16="http://schemas.microsoft.com/office/drawing/2014/main" val="141853296"/>
                  </a:ext>
                </a:extLst>
              </a:tr>
              <a:tr h="481789">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void</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seek(long pos)</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sets the file-pointer offset, measured from the beginning of this file, at which the next read or write occurs.</a:t>
                      </a:r>
                    </a:p>
                  </a:txBody>
                  <a:tcPr marL="72000" marR="72000"/>
                </a:tc>
                <a:extLst>
                  <a:ext uri="{0D108BD9-81ED-4DB2-BD59-A6C34878D82A}">
                    <a16:rowId xmlns:a16="http://schemas.microsoft.com/office/drawing/2014/main" val="1251475679"/>
                  </a:ext>
                </a:extLst>
              </a:tr>
              <a:tr h="531630">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void</a:t>
                      </a:r>
                    </a:p>
                  </a:txBody>
                  <a:tcPr marL="72000" marR="72000"/>
                </a:tc>
                <a:tc>
                  <a:txBody>
                    <a:bodyPr/>
                    <a:lstStyle/>
                    <a:p>
                      <a:pPr algn="just" fontAlgn="t"/>
                      <a:r>
                        <a:rPr lang="en-IN" sz="1500" dirty="0" err="1">
                          <a:solidFill>
                            <a:schemeClr val="tx1"/>
                          </a:solidFill>
                          <a:effectLst/>
                          <a:latin typeface="Times New Roman" panose="02020603050405020304" pitchFamily="18" charset="0"/>
                          <a:cs typeface="Times New Roman" panose="02020603050405020304" pitchFamily="18" charset="0"/>
                        </a:rPr>
                        <a:t>writeDouble</a:t>
                      </a:r>
                      <a:r>
                        <a:rPr lang="en-IN" sz="1500" dirty="0">
                          <a:solidFill>
                            <a:schemeClr val="tx1"/>
                          </a:solidFill>
                          <a:effectLst/>
                          <a:latin typeface="Times New Roman" panose="02020603050405020304" pitchFamily="18" charset="0"/>
                          <a:cs typeface="Times New Roman" panose="02020603050405020304" pitchFamily="18" charset="0"/>
                        </a:rPr>
                        <a:t> (double v)</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converts the double argument to a long using the doubleToLongBits method in class Double, and then writes that long value to the file as an eight-byte quantity, high byte first.</a:t>
                      </a:r>
                    </a:p>
                  </a:txBody>
                  <a:tcPr marL="72000" marR="72000"/>
                </a:tc>
                <a:extLst>
                  <a:ext uri="{0D108BD9-81ED-4DB2-BD59-A6C34878D82A}">
                    <a16:rowId xmlns:a16="http://schemas.microsoft.com/office/drawing/2014/main" val="3430963343"/>
                  </a:ext>
                </a:extLst>
              </a:tr>
              <a:tr h="526185">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void</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writeFloat(float v)</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converts the float argument to an int using the floatToIntBits method in class Float, and then writes that int value to the file as a four-byte quantity, high byte first.</a:t>
                      </a:r>
                    </a:p>
                  </a:txBody>
                  <a:tcPr marL="72000" marR="72000"/>
                </a:tc>
                <a:extLst>
                  <a:ext uri="{0D108BD9-81ED-4DB2-BD59-A6C34878D82A}">
                    <a16:rowId xmlns:a16="http://schemas.microsoft.com/office/drawing/2014/main" val="508482169"/>
                  </a:ext>
                </a:extLst>
              </a:tr>
              <a:tr h="173292">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void</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write(int b)</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writes the specified byte to this file.</a:t>
                      </a:r>
                    </a:p>
                  </a:txBody>
                  <a:tcPr marL="72000" marR="72000"/>
                </a:tc>
                <a:extLst>
                  <a:ext uri="{0D108BD9-81ED-4DB2-BD59-A6C34878D82A}">
                    <a16:rowId xmlns:a16="http://schemas.microsoft.com/office/drawing/2014/main" val="1685297516"/>
                  </a:ext>
                </a:extLst>
              </a:tr>
              <a:tr h="173292">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int</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read()</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reads a byte of data from this file.</a:t>
                      </a:r>
                    </a:p>
                  </a:txBody>
                  <a:tcPr marL="72000" marR="72000"/>
                </a:tc>
                <a:extLst>
                  <a:ext uri="{0D108BD9-81ED-4DB2-BD59-A6C34878D82A}">
                    <a16:rowId xmlns:a16="http://schemas.microsoft.com/office/drawing/2014/main" val="2851491606"/>
                  </a:ext>
                </a:extLst>
              </a:tr>
              <a:tr h="173292">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long</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length()</a:t>
                      </a:r>
                    </a:p>
                  </a:txBody>
                  <a:tcPr marL="72000" marR="72000"/>
                </a:tc>
                <a:tc>
                  <a:txBody>
                    <a:bodyPr/>
                    <a:lstStyle/>
                    <a:p>
                      <a:pPr algn="just" fontAlgn="t"/>
                      <a:r>
                        <a:rPr lang="en-US" sz="1500">
                          <a:solidFill>
                            <a:schemeClr val="tx1"/>
                          </a:solidFill>
                          <a:effectLst/>
                          <a:latin typeface="Times New Roman" panose="02020603050405020304" pitchFamily="18" charset="0"/>
                          <a:cs typeface="Times New Roman" panose="02020603050405020304" pitchFamily="18" charset="0"/>
                        </a:rPr>
                        <a:t>It returns the length of this file.</a:t>
                      </a:r>
                    </a:p>
                  </a:txBody>
                  <a:tcPr marL="72000" marR="72000"/>
                </a:tc>
                <a:extLst>
                  <a:ext uri="{0D108BD9-81ED-4DB2-BD59-A6C34878D82A}">
                    <a16:rowId xmlns:a16="http://schemas.microsoft.com/office/drawing/2014/main" val="3074062138"/>
                  </a:ext>
                </a:extLst>
              </a:tr>
              <a:tr h="481789">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void</a:t>
                      </a:r>
                    </a:p>
                  </a:txBody>
                  <a:tcPr marL="72000" marR="72000"/>
                </a:tc>
                <a:tc>
                  <a:txBody>
                    <a:bodyPr/>
                    <a:lstStyle/>
                    <a:p>
                      <a:pPr algn="just" fontAlgn="t"/>
                      <a:r>
                        <a:rPr lang="en-IN" sz="1500">
                          <a:solidFill>
                            <a:schemeClr val="tx1"/>
                          </a:solidFill>
                          <a:effectLst/>
                          <a:latin typeface="Times New Roman" panose="02020603050405020304" pitchFamily="18" charset="0"/>
                          <a:cs typeface="Times New Roman" panose="02020603050405020304" pitchFamily="18" charset="0"/>
                        </a:rPr>
                        <a:t>seek(long pos)</a:t>
                      </a:r>
                    </a:p>
                  </a:txBody>
                  <a:tcPr marL="72000" marR="72000"/>
                </a:tc>
                <a:tc>
                  <a:txBody>
                    <a:bodyPr/>
                    <a:lstStyle/>
                    <a:p>
                      <a:pPr algn="just" fontAlgn="t"/>
                      <a:r>
                        <a:rPr lang="en-US" sz="1500" dirty="0">
                          <a:solidFill>
                            <a:schemeClr val="tx1"/>
                          </a:solidFill>
                          <a:effectLst/>
                          <a:latin typeface="Times New Roman" panose="02020603050405020304" pitchFamily="18" charset="0"/>
                          <a:cs typeface="Times New Roman" panose="02020603050405020304" pitchFamily="18" charset="0"/>
                        </a:rPr>
                        <a:t>It sets the file-pointer offset, measured from the beginning of this file, at which the next read or write occurs.</a:t>
                      </a:r>
                    </a:p>
                  </a:txBody>
                  <a:tcPr marL="72000" marR="72000"/>
                </a:tc>
                <a:extLst>
                  <a:ext uri="{0D108BD9-81ED-4DB2-BD59-A6C34878D82A}">
                    <a16:rowId xmlns:a16="http://schemas.microsoft.com/office/drawing/2014/main" val="1299954411"/>
                  </a:ext>
                </a:extLst>
              </a:tr>
            </a:tbl>
          </a:graphicData>
        </a:graphic>
      </p:graphicFrame>
    </p:spTree>
    <p:extLst>
      <p:ext uri="{BB962C8B-B14F-4D97-AF65-F5344CB8AC3E}">
        <p14:creationId xmlns:p14="http://schemas.microsoft.com/office/powerpoint/2010/main" val="7181169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35933-51D1-C2A7-0B84-585F8D4B8DB7}"/>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AFE0D2FA-17E8-FBDB-9B9B-4C4FE9C373F0}"/>
              </a:ext>
            </a:extLst>
          </p:cNvPr>
          <p:cNvSpPr>
            <a:spLocks noGrp="1"/>
          </p:cNvSpPr>
          <p:nvPr>
            <p:ph idx="1"/>
          </p:nvPr>
        </p:nvSpPr>
        <p:spPr/>
        <p:txBody>
          <a:bodyPr/>
          <a:lstStyle/>
          <a:p>
            <a:r>
              <a:rPr lang="en-US" dirty="0"/>
              <a:t>E </a:t>
            </a:r>
            <a:r>
              <a:rPr lang="en-US" dirty="0" err="1"/>
              <a:t>Balagurusamy</a:t>
            </a:r>
            <a:r>
              <a:rPr lang="en-US" dirty="0"/>
              <a:t>, “Programming with JAVA”, Tata McGraw Hill, 6th Edition. </a:t>
            </a:r>
          </a:p>
          <a:p>
            <a:r>
              <a:rPr lang="en-US" dirty="0"/>
              <a:t>Herbert </a:t>
            </a:r>
            <a:r>
              <a:rPr lang="en-US" dirty="0" err="1"/>
              <a:t>Schildt</a:t>
            </a:r>
            <a:r>
              <a:rPr lang="en-US" dirty="0"/>
              <a:t>, “Java: The complete reference”, Tata McGraw Hill, 7th Edition.</a:t>
            </a:r>
            <a:endParaRPr lang="en-IN" dirty="0"/>
          </a:p>
          <a:p>
            <a:r>
              <a:rPr lang="en-IN" dirty="0">
                <a:hlinkClick r:id="rId2"/>
              </a:rPr>
              <a:t>https://www.tutorialspoint.com</a:t>
            </a:r>
            <a:endParaRPr lang="en-IN" dirty="0"/>
          </a:p>
          <a:p>
            <a:r>
              <a:rPr lang="en-IN" dirty="0">
                <a:hlinkClick r:id="rId3"/>
              </a:rPr>
              <a:t>https://www.geeksforgeeks.org</a:t>
            </a:r>
            <a:endParaRPr lang="en-IN" dirty="0"/>
          </a:p>
          <a:p>
            <a:r>
              <a:rPr lang="en-IN" dirty="0">
                <a:hlinkClick r:id="rId4"/>
              </a:rPr>
              <a:t>https://www.javatpoint.com/</a:t>
            </a:r>
            <a:endParaRPr lang="en-IN" dirty="0"/>
          </a:p>
          <a:p>
            <a:r>
              <a:rPr lang="en-US" dirty="0"/>
              <a:t>Online Resources</a:t>
            </a:r>
          </a:p>
        </p:txBody>
      </p:sp>
      <p:sp>
        <p:nvSpPr>
          <p:cNvPr id="4" name="Footer Placeholder 3">
            <a:extLst>
              <a:ext uri="{FF2B5EF4-FFF2-40B4-BE49-F238E27FC236}">
                <a16:creationId xmlns:a16="http://schemas.microsoft.com/office/drawing/2014/main" id="{01613FFF-62B4-2227-2F5D-1A760673B882}"/>
              </a:ext>
            </a:extLst>
          </p:cNvPr>
          <p:cNvSpPr>
            <a:spLocks noGrp="1"/>
          </p:cNvSpPr>
          <p:nvPr>
            <p:ph type="ftr" sz="quarter" idx="11"/>
          </p:nvPr>
        </p:nvSpPr>
        <p:spPr/>
        <p:txBody>
          <a:bodyPr/>
          <a:lstStyle/>
          <a:p>
            <a:r>
              <a:rPr lang="en-US"/>
              <a:t>Department of Electronics &amp; Telecommunication Engg. </a:t>
            </a:r>
            <a:endParaRPr lang="en-IN" dirty="0"/>
          </a:p>
        </p:txBody>
      </p:sp>
    </p:spTree>
    <p:extLst>
      <p:ext uri="{BB962C8B-B14F-4D97-AF65-F5344CB8AC3E}">
        <p14:creationId xmlns:p14="http://schemas.microsoft.com/office/powerpoint/2010/main" val="196625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73133</TotalTime>
  <Words>4259</Words>
  <Application>Microsoft Office PowerPoint</Application>
  <PresentationFormat>Widescreen</PresentationFormat>
  <Paragraphs>442</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Calibri</vt:lpstr>
      <vt:lpstr>Calibri Light</vt:lpstr>
      <vt:lpstr>Cambria</vt:lpstr>
      <vt:lpstr>Times New Roman</vt:lpstr>
      <vt:lpstr>Office Theme</vt:lpstr>
      <vt:lpstr>304185C    Unit 6:  Graphics Programming  &amp; File Handling</vt:lpstr>
      <vt:lpstr>Syllabus</vt:lpstr>
      <vt:lpstr>Graphics Class in JAVA</vt:lpstr>
      <vt:lpstr>Graphics Class</vt:lpstr>
      <vt:lpstr>Java AWT</vt:lpstr>
      <vt:lpstr>Java AWT is Platform Independent</vt:lpstr>
      <vt:lpstr>Java AWT Hierarchy</vt:lpstr>
      <vt:lpstr>Component Class</vt:lpstr>
      <vt:lpstr>Java AWT Controls</vt:lpstr>
      <vt:lpstr>Useful Methods of Component Class</vt:lpstr>
      <vt:lpstr>AWT UI Elements</vt:lpstr>
      <vt:lpstr>AWT UI Elements</vt:lpstr>
      <vt:lpstr>Java Event Handling</vt:lpstr>
      <vt:lpstr>Types of Events</vt:lpstr>
      <vt:lpstr>Event Handling</vt:lpstr>
      <vt:lpstr>Event Handling</vt:lpstr>
      <vt:lpstr>Steps in Event Handling</vt:lpstr>
      <vt:lpstr>Java Adapter Classes</vt:lpstr>
      <vt:lpstr>Working with Color</vt:lpstr>
      <vt:lpstr>Setting the Current Graphics Color</vt:lpstr>
      <vt:lpstr>Creating and Selecting a Font</vt:lpstr>
      <vt:lpstr>Java AWT Examples</vt:lpstr>
      <vt:lpstr>AWT Example by Inheritance</vt:lpstr>
      <vt:lpstr>AWT Example by Association</vt:lpstr>
      <vt:lpstr>Introduction to Swing</vt:lpstr>
      <vt:lpstr>Features of Swing</vt:lpstr>
      <vt:lpstr>Features of Swing Class</vt:lpstr>
      <vt:lpstr>PowerPoint Presentation</vt:lpstr>
      <vt:lpstr>Swing Classes Hierarchy</vt:lpstr>
      <vt:lpstr>AWT vs Swing</vt:lpstr>
      <vt:lpstr>Java Swing Examples</vt:lpstr>
      <vt:lpstr>JFrame Example</vt:lpstr>
      <vt:lpstr>JPanel Example</vt:lpstr>
      <vt:lpstr>Swing Example</vt:lpstr>
      <vt:lpstr>JFrame and JButton in Constructor</vt:lpstr>
      <vt:lpstr>Inheriting JFrame Class</vt:lpstr>
      <vt:lpstr>JButton Example</vt:lpstr>
      <vt:lpstr>JLabel Example</vt:lpstr>
      <vt:lpstr>Drawing Geometrical Shapes</vt:lpstr>
      <vt:lpstr>File Handling</vt:lpstr>
      <vt:lpstr>Streams in Java</vt:lpstr>
      <vt:lpstr>Input Stream</vt:lpstr>
      <vt:lpstr>Creating an InputStream</vt:lpstr>
      <vt:lpstr>Methods of InputStream</vt:lpstr>
      <vt:lpstr>Output Stream</vt:lpstr>
      <vt:lpstr>Creating an OutputStream</vt:lpstr>
      <vt:lpstr>Methods of OutputStream</vt:lpstr>
      <vt:lpstr>Byte Stream</vt:lpstr>
      <vt:lpstr>Character Stream</vt:lpstr>
      <vt:lpstr>Java File Class Methods</vt:lpstr>
      <vt:lpstr>File Operations in Java</vt:lpstr>
      <vt:lpstr>Create a File</vt:lpstr>
      <vt:lpstr>PowerPoint Presentation</vt:lpstr>
      <vt:lpstr>Read from a File</vt:lpstr>
      <vt:lpstr>Write to a File</vt:lpstr>
      <vt:lpstr>Delete a File</vt:lpstr>
      <vt:lpstr>Random Access Files in Java</vt:lpstr>
      <vt:lpstr>Constructor</vt:lpstr>
      <vt:lpstr>Methods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Bhakti Kadam</dc:creator>
  <cp:lastModifiedBy>Nilesh_Shirude</cp:lastModifiedBy>
  <cp:revision>749</cp:revision>
  <dcterms:created xsi:type="dcterms:W3CDTF">2022-07-05T06:38:46Z</dcterms:created>
  <dcterms:modified xsi:type="dcterms:W3CDTF">2022-11-03T03:17:48Z</dcterms:modified>
</cp:coreProperties>
</file>