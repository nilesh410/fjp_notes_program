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0"/>
  </p:notesMasterIdLst>
  <p:sldIdLst>
    <p:sldId id="391" r:id="rId2"/>
    <p:sldId id="384" r:id="rId3"/>
    <p:sldId id="385" r:id="rId4"/>
    <p:sldId id="386" r:id="rId5"/>
    <p:sldId id="387" r:id="rId6"/>
    <p:sldId id="388" r:id="rId7"/>
    <p:sldId id="389" r:id="rId8"/>
    <p:sldId id="390" r:id="rId9"/>
    <p:sldId id="392" r:id="rId10"/>
    <p:sldId id="393" r:id="rId11"/>
    <p:sldId id="394" r:id="rId12"/>
    <p:sldId id="395" r:id="rId13"/>
    <p:sldId id="399" r:id="rId14"/>
    <p:sldId id="400" r:id="rId15"/>
    <p:sldId id="402" r:id="rId16"/>
    <p:sldId id="401" r:id="rId17"/>
    <p:sldId id="403" r:id="rId18"/>
    <p:sldId id="420" r:id="rId19"/>
    <p:sldId id="421" r:id="rId20"/>
    <p:sldId id="404" r:id="rId21"/>
    <p:sldId id="405" r:id="rId22"/>
    <p:sldId id="406" r:id="rId23"/>
    <p:sldId id="407" r:id="rId24"/>
    <p:sldId id="424" r:id="rId25"/>
    <p:sldId id="425" r:id="rId26"/>
    <p:sldId id="426" r:id="rId27"/>
    <p:sldId id="444" r:id="rId28"/>
    <p:sldId id="445" r:id="rId29"/>
    <p:sldId id="446" r:id="rId30"/>
    <p:sldId id="429" r:id="rId31"/>
    <p:sldId id="438" r:id="rId32"/>
    <p:sldId id="440" r:id="rId33"/>
    <p:sldId id="441" r:id="rId34"/>
    <p:sldId id="442" r:id="rId35"/>
    <p:sldId id="443" r:id="rId36"/>
    <p:sldId id="439" r:id="rId37"/>
    <p:sldId id="428" r:id="rId38"/>
    <p:sldId id="447" r:id="rId39"/>
    <p:sldId id="427" r:id="rId40"/>
    <p:sldId id="431" r:id="rId41"/>
    <p:sldId id="432" r:id="rId42"/>
    <p:sldId id="430" r:id="rId43"/>
    <p:sldId id="433" r:id="rId44"/>
    <p:sldId id="434" r:id="rId45"/>
    <p:sldId id="435" r:id="rId46"/>
    <p:sldId id="437" r:id="rId47"/>
    <p:sldId id="418" r:id="rId48"/>
    <p:sldId id="408" r:id="rId49"/>
    <p:sldId id="409" r:id="rId50"/>
    <p:sldId id="410" r:id="rId51"/>
    <p:sldId id="411" r:id="rId52"/>
    <p:sldId id="412" r:id="rId53"/>
    <p:sldId id="413" r:id="rId54"/>
    <p:sldId id="414" r:id="rId55"/>
    <p:sldId id="415" r:id="rId56"/>
    <p:sldId id="416" r:id="rId57"/>
    <p:sldId id="422" r:id="rId58"/>
    <p:sldId id="423"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mmary Section" id="{8FB702F6-C430-4B23-A862-7D462CFF11CE}">
          <p14:sldIdLst/>
        </p14:section>
        <p14:section name="Section 1" id="{6801DB4A-80CF-4412-8E67-72EDEC082ACC}">
          <p14:sldIdLst/>
        </p14:section>
        <p14:section name="Section 2" id="{9F8A5BDF-7558-427E-9237-6DB9BFBF4837}">
          <p14:sldIdLst>
            <p14:sldId id="391"/>
            <p14:sldId id="384"/>
            <p14:sldId id="385"/>
            <p14:sldId id="386"/>
            <p14:sldId id="387"/>
            <p14:sldId id="388"/>
            <p14:sldId id="389"/>
            <p14:sldId id="390"/>
            <p14:sldId id="392"/>
            <p14:sldId id="393"/>
            <p14:sldId id="394"/>
            <p14:sldId id="395"/>
            <p14:sldId id="399"/>
            <p14:sldId id="400"/>
            <p14:sldId id="402"/>
            <p14:sldId id="401"/>
            <p14:sldId id="403"/>
            <p14:sldId id="420"/>
            <p14:sldId id="421"/>
            <p14:sldId id="404"/>
            <p14:sldId id="405"/>
            <p14:sldId id="406"/>
            <p14:sldId id="407"/>
            <p14:sldId id="424"/>
            <p14:sldId id="425"/>
            <p14:sldId id="426"/>
            <p14:sldId id="444"/>
            <p14:sldId id="445"/>
            <p14:sldId id="446"/>
            <p14:sldId id="429"/>
            <p14:sldId id="438"/>
            <p14:sldId id="440"/>
            <p14:sldId id="441"/>
            <p14:sldId id="442"/>
            <p14:sldId id="443"/>
            <p14:sldId id="439"/>
            <p14:sldId id="428"/>
            <p14:sldId id="447"/>
            <p14:sldId id="427"/>
            <p14:sldId id="431"/>
            <p14:sldId id="432"/>
            <p14:sldId id="430"/>
            <p14:sldId id="433"/>
            <p14:sldId id="434"/>
            <p14:sldId id="435"/>
            <p14:sldId id="437"/>
            <p14:sldId id="418"/>
            <p14:sldId id="408"/>
            <p14:sldId id="409"/>
            <p14:sldId id="410"/>
            <p14:sldId id="411"/>
            <p14:sldId id="412"/>
            <p14:sldId id="413"/>
            <p14:sldId id="414"/>
            <p14:sldId id="415"/>
            <p14:sldId id="416"/>
            <p14:sldId id="422"/>
            <p14:sldId id="42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yoti" initials="j"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6FFCC"/>
    <a:srgbClr val="C8DB0F"/>
    <a:srgbClr val="000000"/>
    <a:srgbClr val="CFBFCD"/>
    <a:srgbClr val="EEE9A4"/>
    <a:srgbClr val="1DD6EF"/>
    <a:srgbClr val="F5F5C1"/>
    <a:srgbClr val="F7F4D1"/>
    <a:srgbClr val="F1EDB5"/>
    <a:srgbClr val="0EAD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75" autoAdjust="0"/>
    <p:restoredTop sz="95232" autoAdjust="0"/>
  </p:normalViewPr>
  <p:slideViewPr>
    <p:cSldViewPr>
      <p:cViewPr varScale="1">
        <p:scale>
          <a:sx n="65" d="100"/>
          <a:sy n="65" d="100"/>
        </p:scale>
        <p:origin x="1002" y="78"/>
      </p:cViewPr>
      <p:guideLst>
        <p:guide orient="horz" pos="2160"/>
        <p:guide pos="3840"/>
      </p:guideLst>
    </p:cSldViewPr>
  </p:slideViewPr>
  <p:outlineViewPr>
    <p:cViewPr>
      <p:scale>
        <a:sx n="33" d="100"/>
        <a:sy n="33" d="100"/>
      </p:scale>
      <p:origin x="0" y="-6984"/>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commentAuthors" Target="commentAuthor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925D89-8D0E-4978-B65B-6FEB1CD335F7}"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5FC01A99-EA44-4C68-9E1A-9DFB15B15F24}">
      <dgm:prSet phldrT="[Text]" custT="1"/>
      <dgm:spPr/>
      <dgm:t>
        <a:bodyPr/>
        <a:lstStyle/>
        <a:p>
          <a:r>
            <a:rPr lang="en-US" sz="3200" dirty="0"/>
            <a:t>Type of Error</a:t>
          </a:r>
        </a:p>
      </dgm:t>
    </dgm:pt>
    <dgm:pt modelId="{C856E9EE-22D6-46A6-800C-3B522FF351C8}" type="parTrans" cxnId="{2AD0DB01-C1A0-48EF-BCA1-497279A70A36}">
      <dgm:prSet/>
      <dgm:spPr/>
      <dgm:t>
        <a:bodyPr/>
        <a:lstStyle/>
        <a:p>
          <a:endParaRPr lang="en-US"/>
        </a:p>
      </dgm:t>
    </dgm:pt>
    <dgm:pt modelId="{23F5E6C6-0195-4165-8D61-A42AE6602C7F}" type="sibTrans" cxnId="{2AD0DB01-C1A0-48EF-BCA1-497279A70A36}">
      <dgm:prSet/>
      <dgm:spPr/>
      <dgm:t>
        <a:bodyPr/>
        <a:lstStyle/>
        <a:p>
          <a:endParaRPr lang="en-US"/>
        </a:p>
      </dgm:t>
    </dgm:pt>
    <dgm:pt modelId="{AEDD60D7-4EE6-432A-A15D-4F22C0FE76C1}">
      <dgm:prSet phldrT="[Text]" custT="1"/>
      <dgm:spPr/>
      <dgm:t>
        <a:bodyPr/>
        <a:lstStyle/>
        <a:p>
          <a:r>
            <a:rPr lang="en-US" sz="3200" dirty="0"/>
            <a:t>Compile Time Error</a:t>
          </a:r>
        </a:p>
      </dgm:t>
    </dgm:pt>
    <dgm:pt modelId="{B438B2D1-ED92-46BE-8F25-B82CC649298D}" type="parTrans" cxnId="{08A5F8F3-52B1-4DCE-8E1C-A3E5F1BE53AD}">
      <dgm:prSet/>
      <dgm:spPr/>
      <dgm:t>
        <a:bodyPr/>
        <a:lstStyle/>
        <a:p>
          <a:endParaRPr lang="en-US"/>
        </a:p>
      </dgm:t>
    </dgm:pt>
    <dgm:pt modelId="{810C3628-1B8A-437A-9182-879AE0A5CF89}" type="sibTrans" cxnId="{08A5F8F3-52B1-4DCE-8E1C-A3E5F1BE53AD}">
      <dgm:prSet/>
      <dgm:spPr/>
      <dgm:t>
        <a:bodyPr/>
        <a:lstStyle/>
        <a:p>
          <a:endParaRPr lang="en-US"/>
        </a:p>
      </dgm:t>
    </dgm:pt>
    <dgm:pt modelId="{72C20695-685A-42CC-B470-4A21350E54D7}">
      <dgm:prSet phldrT="[Text]" custT="1"/>
      <dgm:spPr/>
      <dgm:t>
        <a:bodyPr/>
        <a:lstStyle/>
        <a:p>
          <a:r>
            <a:rPr lang="en-US" sz="3200" dirty="0"/>
            <a:t>Run Time Error</a:t>
          </a:r>
        </a:p>
      </dgm:t>
    </dgm:pt>
    <dgm:pt modelId="{2527D982-6619-45DA-9970-8F820E4F9F64}" type="parTrans" cxnId="{A86D6367-89B9-450A-B160-AB066A916ABA}">
      <dgm:prSet/>
      <dgm:spPr/>
      <dgm:t>
        <a:bodyPr/>
        <a:lstStyle/>
        <a:p>
          <a:endParaRPr lang="en-US"/>
        </a:p>
      </dgm:t>
    </dgm:pt>
    <dgm:pt modelId="{A6EB6EC0-4DFB-43FF-AEE7-73FB485975BE}" type="sibTrans" cxnId="{A86D6367-89B9-450A-B160-AB066A916ABA}">
      <dgm:prSet/>
      <dgm:spPr/>
      <dgm:t>
        <a:bodyPr/>
        <a:lstStyle/>
        <a:p>
          <a:endParaRPr lang="en-US"/>
        </a:p>
      </dgm:t>
    </dgm:pt>
    <dgm:pt modelId="{32611BBA-0F2B-44E3-BA88-349F1406C248}" type="pres">
      <dgm:prSet presAssocID="{F6925D89-8D0E-4978-B65B-6FEB1CD335F7}" presName="hierChild1" presStyleCnt="0">
        <dgm:presLayoutVars>
          <dgm:chPref val="1"/>
          <dgm:dir/>
          <dgm:animOne val="branch"/>
          <dgm:animLvl val="lvl"/>
          <dgm:resizeHandles/>
        </dgm:presLayoutVars>
      </dgm:prSet>
      <dgm:spPr/>
    </dgm:pt>
    <dgm:pt modelId="{F6A8F87D-00DB-452F-81AE-C65CDF0CFC0F}" type="pres">
      <dgm:prSet presAssocID="{5FC01A99-EA44-4C68-9E1A-9DFB15B15F24}" presName="hierRoot1" presStyleCnt="0"/>
      <dgm:spPr/>
    </dgm:pt>
    <dgm:pt modelId="{2BE107A2-119F-4CF7-8DEB-88B3427FB025}" type="pres">
      <dgm:prSet presAssocID="{5FC01A99-EA44-4C68-9E1A-9DFB15B15F24}" presName="composite" presStyleCnt="0"/>
      <dgm:spPr/>
    </dgm:pt>
    <dgm:pt modelId="{79E2553A-64F0-445C-AF98-E57D7E707529}" type="pres">
      <dgm:prSet presAssocID="{5FC01A99-EA44-4C68-9E1A-9DFB15B15F24}" presName="background" presStyleLbl="node0" presStyleIdx="0" presStyleCnt="1"/>
      <dgm:spPr/>
    </dgm:pt>
    <dgm:pt modelId="{9FCCCA1A-0F52-4081-94C3-F812244AE351}" type="pres">
      <dgm:prSet presAssocID="{5FC01A99-EA44-4C68-9E1A-9DFB15B15F24}" presName="text" presStyleLbl="fgAcc0" presStyleIdx="0" presStyleCnt="1" custScaleY="46480">
        <dgm:presLayoutVars>
          <dgm:chPref val="3"/>
        </dgm:presLayoutVars>
      </dgm:prSet>
      <dgm:spPr/>
    </dgm:pt>
    <dgm:pt modelId="{B92A0759-F20F-459D-AEA8-982B2DE60B51}" type="pres">
      <dgm:prSet presAssocID="{5FC01A99-EA44-4C68-9E1A-9DFB15B15F24}" presName="hierChild2" presStyleCnt="0"/>
      <dgm:spPr/>
    </dgm:pt>
    <dgm:pt modelId="{DBA4E58E-9120-4AB6-AE06-3DC4BF2F4227}" type="pres">
      <dgm:prSet presAssocID="{B438B2D1-ED92-46BE-8F25-B82CC649298D}" presName="Name10" presStyleLbl="parChTrans1D2" presStyleIdx="0" presStyleCnt="2"/>
      <dgm:spPr/>
    </dgm:pt>
    <dgm:pt modelId="{E630D80D-012B-4FFB-9137-AD99159E287A}" type="pres">
      <dgm:prSet presAssocID="{AEDD60D7-4EE6-432A-A15D-4F22C0FE76C1}" presName="hierRoot2" presStyleCnt="0"/>
      <dgm:spPr/>
    </dgm:pt>
    <dgm:pt modelId="{9CDD0A68-7656-449D-9F29-BA64F3FF5FDD}" type="pres">
      <dgm:prSet presAssocID="{AEDD60D7-4EE6-432A-A15D-4F22C0FE76C1}" presName="composite2" presStyleCnt="0"/>
      <dgm:spPr/>
    </dgm:pt>
    <dgm:pt modelId="{86E9B37A-5313-45BE-881D-A67016F0D64C}" type="pres">
      <dgm:prSet presAssocID="{AEDD60D7-4EE6-432A-A15D-4F22C0FE76C1}" presName="background2" presStyleLbl="node2" presStyleIdx="0" presStyleCnt="2"/>
      <dgm:spPr/>
    </dgm:pt>
    <dgm:pt modelId="{EACE134D-907C-4398-B5CB-F144EADE9817}" type="pres">
      <dgm:prSet presAssocID="{AEDD60D7-4EE6-432A-A15D-4F22C0FE76C1}" presName="text2" presStyleLbl="fgAcc2" presStyleIdx="0" presStyleCnt="2" custScaleY="70275">
        <dgm:presLayoutVars>
          <dgm:chPref val="3"/>
        </dgm:presLayoutVars>
      </dgm:prSet>
      <dgm:spPr/>
    </dgm:pt>
    <dgm:pt modelId="{8BA156B8-EE41-498E-A085-C9B385A59DDE}" type="pres">
      <dgm:prSet presAssocID="{AEDD60D7-4EE6-432A-A15D-4F22C0FE76C1}" presName="hierChild3" presStyleCnt="0"/>
      <dgm:spPr/>
    </dgm:pt>
    <dgm:pt modelId="{C4BBE8D0-C1F0-4E9C-B138-2773263D35FC}" type="pres">
      <dgm:prSet presAssocID="{2527D982-6619-45DA-9970-8F820E4F9F64}" presName="Name10" presStyleLbl="parChTrans1D2" presStyleIdx="1" presStyleCnt="2"/>
      <dgm:spPr/>
    </dgm:pt>
    <dgm:pt modelId="{C35F166A-1BF3-4A1D-8A9E-3C13286E86CB}" type="pres">
      <dgm:prSet presAssocID="{72C20695-685A-42CC-B470-4A21350E54D7}" presName="hierRoot2" presStyleCnt="0"/>
      <dgm:spPr/>
    </dgm:pt>
    <dgm:pt modelId="{6E866FF9-565A-43E2-82AA-423299EC1607}" type="pres">
      <dgm:prSet presAssocID="{72C20695-685A-42CC-B470-4A21350E54D7}" presName="composite2" presStyleCnt="0"/>
      <dgm:spPr/>
    </dgm:pt>
    <dgm:pt modelId="{A5FBF65E-1981-46AB-A57E-33D055DCB3FB}" type="pres">
      <dgm:prSet presAssocID="{72C20695-685A-42CC-B470-4A21350E54D7}" presName="background2" presStyleLbl="node2" presStyleIdx="1" presStyleCnt="2"/>
      <dgm:spPr/>
    </dgm:pt>
    <dgm:pt modelId="{D94FF528-627D-416B-8B4C-959D2A715175}" type="pres">
      <dgm:prSet presAssocID="{72C20695-685A-42CC-B470-4A21350E54D7}" presName="text2" presStyleLbl="fgAcc2" presStyleIdx="1" presStyleCnt="2" custScaleY="67555">
        <dgm:presLayoutVars>
          <dgm:chPref val="3"/>
        </dgm:presLayoutVars>
      </dgm:prSet>
      <dgm:spPr/>
    </dgm:pt>
    <dgm:pt modelId="{57C66B56-DA4F-4F5E-ACD1-31FBDBBE6EDB}" type="pres">
      <dgm:prSet presAssocID="{72C20695-685A-42CC-B470-4A21350E54D7}" presName="hierChild3" presStyleCnt="0"/>
      <dgm:spPr/>
    </dgm:pt>
  </dgm:ptLst>
  <dgm:cxnLst>
    <dgm:cxn modelId="{2AD0DB01-C1A0-48EF-BCA1-497279A70A36}" srcId="{F6925D89-8D0E-4978-B65B-6FEB1CD335F7}" destId="{5FC01A99-EA44-4C68-9E1A-9DFB15B15F24}" srcOrd="0" destOrd="0" parTransId="{C856E9EE-22D6-46A6-800C-3B522FF351C8}" sibTransId="{23F5E6C6-0195-4165-8D61-A42AE6602C7F}"/>
    <dgm:cxn modelId="{912CDB30-A247-4158-827C-B68BA3138B65}" type="presOf" srcId="{F6925D89-8D0E-4978-B65B-6FEB1CD335F7}" destId="{32611BBA-0F2B-44E3-BA88-349F1406C248}" srcOrd="0" destOrd="0" presId="urn:microsoft.com/office/officeart/2005/8/layout/hierarchy1"/>
    <dgm:cxn modelId="{E87C6D5B-E2A2-4E04-B2DD-4517D85526D0}" type="presOf" srcId="{B438B2D1-ED92-46BE-8F25-B82CC649298D}" destId="{DBA4E58E-9120-4AB6-AE06-3DC4BF2F4227}" srcOrd="0" destOrd="0" presId="urn:microsoft.com/office/officeart/2005/8/layout/hierarchy1"/>
    <dgm:cxn modelId="{A86D6367-89B9-450A-B160-AB066A916ABA}" srcId="{5FC01A99-EA44-4C68-9E1A-9DFB15B15F24}" destId="{72C20695-685A-42CC-B470-4A21350E54D7}" srcOrd="1" destOrd="0" parTransId="{2527D982-6619-45DA-9970-8F820E4F9F64}" sibTransId="{A6EB6EC0-4DFB-43FF-AEE7-73FB485975BE}"/>
    <dgm:cxn modelId="{159F0F54-009E-4C26-921B-A61F198FF34C}" type="presOf" srcId="{72C20695-685A-42CC-B470-4A21350E54D7}" destId="{D94FF528-627D-416B-8B4C-959D2A715175}" srcOrd="0" destOrd="0" presId="urn:microsoft.com/office/officeart/2005/8/layout/hierarchy1"/>
    <dgm:cxn modelId="{04FEF277-E98A-42E3-8DDE-A4C9F3B61130}" type="presOf" srcId="{AEDD60D7-4EE6-432A-A15D-4F22C0FE76C1}" destId="{EACE134D-907C-4398-B5CB-F144EADE9817}" srcOrd="0" destOrd="0" presId="urn:microsoft.com/office/officeart/2005/8/layout/hierarchy1"/>
    <dgm:cxn modelId="{56E2F87C-DAB2-4CFB-8F4A-4F328D3EB5E1}" type="presOf" srcId="{2527D982-6619-45DA-9970-8F820E4F9F64}" destId="{C4BBE8D0-C1F0-4E9C-B138-2773263D35FC}" srcOrd="0" destOrd="0" presId="urn:microsoft.com/office/officeart/2005/8/layout/hierarchy1"/>
    <dgm:cxn modelId="{04C71DC3-D3E5-4963-BC8F-FA23CAAA14CD}" type="presOf" srcId="{5FC01A99-EA44-4C68-9E1A-9DFB15B15F24}" destId="{9FCCCA1A-0F52-4081-94C3-F812244AE351}" srcOrd="0" destOrd="0" presId="urn:microsoft.com/office/officeart/2005/8/layout/hierarchy1"/>
    <dgm:cxn modelId="{08A5F8F3-52B1-4DCE-8E1C-A3E5F1BE53AD}" srcId="{5FC01A99-EA44-4C68-9E1A-9DFB15B15F24}" destId="{AEDD60D7-4EE6-432A-A15D-4F22C0FE76C1}" srcOrd="0" destOrd="0" parTransId="{B438B2D1-ED92-46BE-8F25-B82CC649298D}" sibTransId="{810C3628-1B8A-437A-9182-879AE0A5CF89}"/>
    <dgm:cxn modelId="{17296C9E-4C35-4166-A010-684C084B97BC}" type="presParOf" srcId="{32611BBA-0F2B-44E3-BA88-349F1406C248}" destId="{F6A8F87D-00DB-452F-81AE-C65CDF0CFC0F}" srcOrd="0" destOrd="0" presId="urn:microsoft.com/office/officeart/2005/8/layout/hierarchy1"/>
    <dgm:cxn modelId="{CAE67391-E7FF-4AB0-B9F6-1075FD87130A}" type="presParOf" srcId="{F6A8F87D-00DB-452F-81AE-C65CDF0CFC0F}" destId="{2BE107A2-119F-4CF7-8DEB-88B3427FB025}" srcOrd="0" destOrd="0" presId="urn:microsoft.com/office/officeart/2005/8/layout/hierarchy1"/>
    <dgm:cxn modelId="{E45C88BE-9A44-4356-A2D3-9B9D4D5CB63D}" type="presParOf" srcId="{2BE107A2-119F-4CF7-8DEB-88B3427FB025}" destId="{79E2553A-64F0-445C-AF98-E57D7E707529}" srcOrd="0" destOrd="0" presId="urn:microsoft.com/office/officeart/2005/8/layout/hierarchy1"/>
    <dgm:cxn modelId="{E5153E07-6798-460F-A08C-88D8A8D1F2F2}" type="presParOf" srcId="{2BE107A2-119F-4CF7-8DEB-88B3427FB025}" destId="{9FCCCA1A-0F52-4081-94C3-F812244AE351}" srcOrd="1" destOrd="0" presId="urn:microsoft.com/office/officeart/2005/8/layout/hierarchy1"/>
    <dgm:cxn modelId="{B4B94CCA-98A1-4497-9103-25208A04FF4D}" type="presParOf" srcId="{F6A8F87D-00DB-452F-81AE-C65CDF0CFC0F}" destId="{B92A0759-F20F-459D-AEA8-982B2DE60B51}" srcOrd="1" destOrd="0" presId="urn:microsoft.com/office/officeart/2005/8/layout/hierarchy1"/>
    <dgm:cxn modelId="{3C392490-5943-4E90-B97D-B4FA08DF696A}" type="presParOf" srcId="{B92A0759-F20F-459D-AEA8-982B2DE60B51}" destId="{DBA4E58E-9120-4AB6-AE06-3DC4BF2F4227}" srcOrd="0" destOrd="0" presId="urn:microsoft.com/office/officeart/2005/8/layout/hierarchy1"/>
    <dgm:cxn modelId="{14BCAF90-885D-4A2D-8D53-22B74224C22E}" type="presParOf" srcId="{B92A0759-F20F-459D-AEA8-982B2DE60B51}" destId="{E630D80D-012B-4FFB-9137-AD99159E287A}" srcOrd="1" destOrd="0" presId="urn:microsoft.com/office/officeart/2005/8/layout/hierarchy1"/>
    <dgm:cxn modelId="{59A32DE7-5437-4B81-B067-D242B2E768CB}" type="presParOf" srcId="{E630D80D-012B-4FFB-9137-AD99159E287A}" destId="{9CDD0A68-7656-449D-9F29-BA64F3FF5FDD}" srcOrd="0" destOrd="0" presId="urn:microsoft.com/office/officeart/2005/8/layout/hierarchy1"/>
    <dgm:cxn modelId="{263F8C71-60D4-4D0A-8A11-577B1CD01F2B}" type="presParOf" srcId="{9CDD0A68-7656-449D-9F29-BA64F3FF5FDD}" destId="{86E9B37A-5313-45BE-881D-A67016F0D64C}" srcOrd="0" destOrd="0" presId="urn:microsoft.com/office/officeart/2005/8/layout/hierarchy1"/>
    <dgm:cxn modelId="{F6E35884-0F87-4883-A0AA-B0C177109350}" type="presParOf" srcId="{9CDD0A68-7656-449D-9F29-BA64F3FF5FDD}" destId="{EACE134D-907C-4398-B5CB-F144EADE9817}" srcOrd="1" destOrd="0" presId="urn:microsoft.com/office/officeart/2005/8/layout/hierarchy1"/>
    <dgm:cxn modelId="{247F14BE-7248-448B-B4EB-D72CE610DC72}" type="presParOf" srcId="{E630D80D-012B-4FFB-9137-AD99159E287A}" destId="{8BA156B8-EE41-498E-A085-C9B385A59DDE}" srcOrd="1" destOrd="0" presId="urn:microsoft.com/office/officeart/2005/8/layout/hierarchy1"/>
    <dgm:cxn modelId="{998221FC-7E30-4BAF-BDFA-88B225C23F2C}" type="presParOf" srcId="{B92A0759-F20F-459D-AEA8-982B2DE60B51}" destId="{C4BBE8D0-C1F0-4E9C-B138-2773263D35FC}" srcOrd="2" destOrd="0" presId="urn:microsoft.com/office/officeart/2005/8/layout/hierarchy1"/>
    <dgm:cxn modelId="{1CC8727D-87BE-426D-A110-3934D0BD9339}" type="presParOf" srcId="{B92A0759-F20F-459D-AEA8-982B2DE60B51}" destId="{C35F166A-1BF3-4A1D-8A9E-3C13286E86CB}" srcOrd="3" destOrd="0" presId="urn:microsoft.com/office/officeart/2005/8/layout/hierarchy1"/>
    <dgm:cxn modelId="{9F196321-B6C3-4AE1-97A3-CA37D63C6845}" type="presParOf" srcId="{C35F166A-1BF3-4A1D-8A9E-3C13286E86CB}" destId="{6E866FF9-565A-43E2-82AA-423299EC1607}" srcOrd="0" destOrd="0" presId="urn:microsoft.com/office/officeart/2005/8/layout/hierarchy1"/>
    <dgm:cxn modelId="{A1CC50B8-B767-4B7C-9632-37A1B9D96188}" type="presParOf" srcId="{6E866FF9-565A-43E2-82AA-423299EC1607}" destId="{A5FBF65E-1981-46AB-A57E-33D055DCB3FB}" srcOrd="0" destOrd="0" presId="urn:microsoft.com/office/officeart/2005/8/layout/hierarchy1"/>
    <dgm:cxn modelId="{C67416ED-7EBC-47B0-8D87-DAD9E517E49D}" type="presParOf" srcId="{6E866FF9-565A-43E2-82AA-423299EC1607}" destId="{D94FF528-627D-416B-8B4C-959D2A715175}" srcOrd="1" destOrd="0" presId="urn:microsoft.com/office/officeart/2005/8/layout/hierarchy1"/>
    <dgm:cxn modelId="{E7147663-11DB-44AB-B07A-8875AAB17B90}" type="presParOf" srcId="{C35F166A-1BF3-4A1D-8A9E-3C13286E86CB}" destId="{57C66B56-DA4F-4F5E-ACD1-31FBDBBE6EDB}"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4C5662D-AA59-4846-A595-18761760A571}"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E6F1FF89-09BD-49B6-AEFF-9274FC9AC5A1}">
      <dgm:prSet phldrT="[Text]" custT="1"/>
      <dgm:spPr>
        <a:solidFill>
          <a:schemeClr val="bg1"/>
        </a:solidFill>
        <a:ln>
          <a:solidFill>
            <a:schemeClr val="tx1"/>
          </a:solidFill>
        </a:ln>
      </dgm:spPr>
      <dgm:t>
        <a:bodyPr/>
        <a:lstStyle/>
        <a:p>
          <a:r>
            <a:rPr lang="en-US" sz="2400" dirty="0">
              <a:solidFill>
                <a:schemeClr val="tx1"/>
              </a:solidFill>
            </a:rPr>
            <a:t>Missing Semicolons</a:t>
          </a:r>
        </a:p>
      </dgm:t>
    </dgm:pt>
    <dgm:pt modelId="{6DCEFEF2-FF9B-4F4C-B2C8-540737E27E7A}" type="parTrans" cxnId="{FA3DFD99-EDF1-4C62-ABC8-748B71641444}">
      <dgm:prSet/>
      <dgm:spPr/>
      <dgm:t>
        <a:bodyPr/>
        <a:lstStyle/>
        <a:p>
          <a:endParaRPr lang="en-US"/>
        </a:p>
      </dgm:t>
    </dgm:pt>
    <dgm:pt modelId="{BB3FE401-AE39-4779-88E0-699605028CC2}" type="sibTrans" cxnId="{FA3DFD99-EDF1-4C62-ABC8-748B71641444}">
      <dgm:prSet/>
      <dgm:spPr/>
      <dgm:t>
        <a:bodyPr/>
        <a:lstStyle/>
        <a:p>
          <a:endParaRPr lang="en-US"/>
        </a:p>
      </dgm:t>
    </dgm:pt>
    <dgm:pt modelId="{767DCE9D-25A1-46D6-81AD-3C89EC04DD1A}">
      <dgm:prSet phldrT="[Text]" custT="1"/>
      <dgm:spPr>
        <a:solidFill>
          <a:schemeClr val="bg1"/>
        </a:solidFill>
        <a:ln>
          <a:solidFill>
            <a:schemeClr val="tx1"/>
          </a:solidFill>
        </a:ln>
      </dgm:spPr>
      <dgm:t>
        <a:bodyPr/>
        <a:lstStyle/>
        <a:p>
          <a:r>
            <a:rPr lang="en-US" sz="2400" dirty="0">
              <a:solidFill>
                <a:schemeClr val="tx1"/>
              </a:solidFill>
            </a:rPr>
            <a:t>Missing brackets in classes and methods</a:t>
          </a:r>
        </a:p>
      </dgm:t>
    </dgm:pt>
    <dgm:pt modelId="{0F2789C7-8170-44F6-BCD9-A7B65CBD4B00}" type="parTrans" cxnId="{B7D96106-3581-449D-BFDD-047F01672B8A}">
      <dgm:prSet/>
      <dgm:spPr/>
      <dgm:t>
        <a:bodyPr/>
        <a:lstStyle/>
        <a:p>
          <a:endParaRPr lang="en-US"/>
        </a:p>
      </dgm:t>
    </dgm:pt>
    <dgm:pt modelId="{AFC78976-43E6-44AB-8455-913444D048D2}" type="sibTrans" cxnId="{B7D96106-3581-449D-BFDD-047F01672B8A}">
      <dgm:prSet/>
      <dgm:spPr/>
      <dgm:t>
        <a:bodyPr/>
        <a:lstStyle/>
        <a:p>
          <a:endParaRPr lang="en-US"/>
        </a:p>
      </dgm:t>
    </dgm:pt>
    <dgm:pt modelId="{BBA4CA9A-EC36-486C-963B-B8A2DDCE83EA}">
      <dgm:prSet phldrT="[Text]" custT="1"/>
      <dgm:spPr>
        <a:solidFill>
          <a:schemeClr val="bg1"/>
        </a:solidFill>
        <a:ln>
          <a:solidFill>
            <a:schemeClr val="tx1"/>
          </a:solidFill>
        </a:ln>
      </dgm:spPr>
      <dgm:t>
        <a:bodyPr/>
        <a:lstStyle/>
        <a:p>
          <a:r>
            <a:rPr lang="en-US" sz="2400" dirty="0">
              <a:solidFill>
                <a:schemeClr val="tx1"/>
              </a:solidFill>
            </a:rPr>
            <a:t>Misspelling of identifiers and keywords</a:t>
          </a:r>
        </a:p>
      </dgm:t>
    </dgm:pt>
    <dgm:pt modelId="{5B636635-80B1-4969-99E1-041BCBE5F069}" type="parTrans" cxnId="{C9ACF054-3211-4027-A3ED-D6D5BD5DA9F4}">
      <dgm:prSet/>
      <dgm:spPr/>
      <dgm:t>
        <a:bodyPr/>
        <a:lstStyle/>
        <a:p>
          <a:endParaRPr lang="en-US"/>
        </a:p>
      </dgm:t>
    </dgm:pt>
    <dgm:pt modelId="{35CE2724-9D2A-4727-A6D0-1630B5327833}" type="sibTrans" cxnId="{C9ACF054-3211-4027-A3ED-D6D5BD5DA9F4}">
      <dgm:prSet/>
      <dgm:spPr/>
      <dgm:t>
        <a:bodyPr/>
        <a:lstStyle/>
        <a:p>
          <a:endParaRPr lang="en-US"/>
        </a:p>
      </dgm:t>
    </dgm:pt>
    <dgm:pt modelId="{ABBA510A-2326-41E8-A259-CDE4EC084DA1}">
      <dgm:prSet phldrT="[Text]" custT="1"/>
      <dgm:spPr>
        <a:solidFill>
          <a:schemeClr val="bg1"/>
        </a:solidFill>
        <a:ln>
          <a:solidFill>
            <a:schemeClr val="tx1"/>
          </a:solidFill>
        </a:ln>
      </dgm:spPr>
      <dgm:t>
        <a:bodyPr/>
        <a:lstStyle/>
        <a:p>
          <a:r>
            <a:rPr lang="en-US" sz="2400" dirty="0">
              <a:solidFill>
                <a:schemeClr val="tx1"/>
              </a:solidFill>
            </a:rPr>
            <a:t>Missing double quotes in string</a:t>
          </a:r>
        </a:p>
      </dgm:t>
    </dgm:pt>
    <dgm:pt modelId="{86AD61F0-69D2-417A-96EE-07BA830048EC}" type="parTrans" cxnId="{2A723DF7-509D-4504-884B-4143345B7326}">
      <dgm:prSet/>
      <dgm:spPr/>
      <dgm:t>
        <a:bodyPr/>
        <a:lstStyle/>
        <a:p>
          <a:endParaRPr lang="en-US"/>
        </a:p>
      </dgm:t>
    </dgm:pt>
    <dgm:pt modelId="{AE9005CC-3B81-475C-A438-0A2FE730078C}" type="sibTrans" cxnId="{2A723DF7-509D-4504-884B-4143345B7326}">
      <dgm:prSet/>
      <dgm:spPr/>
      <dgm:t>
        <a:bodyPr/>
        <a:lstStyle/>
        <a:p>
          <a:endParaRPr lang="en-US"/>
        </a:p>
      </dgm:t>
    </dgm:pt>
    <dgm:pt modelId="{576764E9-8992-452B-9B0E-972D29A46063}">
      <dgm:prSet phldrT="[Text]" custT="1"/>
      <dgm:spPr>
        <a:solidFill>
          <a:schemeClr val="bg1"/>
        </a:solidFill>
        <a:ln>
          <a:solidFill>
            <a:schemeClr val="tx1"/>
          </a:solidFill>
        </a:ln>
      </dgm:spPr>
      <dgm:t>
        <a:bodyPr/>
        <a:lstStyle/>
        <a:p>
          <a:r>
            <a:rPr lang="en-US" sz="2400" dirty="0">
              <a:solidFill>
                <a:schemeClr val="tx1"/>
              </a:solidFill>
            </a:rPr>
            <a:t>Used of undeclared variables</a:t>
          </a:r>
        </a:p>
      </dgm:t>
    </dgm:pt>
    <dgm:pt modelId="{1F564DF3-9C97-44F2-A6E0-8E97058635AA}" type="parTrans" cxnId="{416AF601-3124-4F04-8E7E-BDEDA41F36FD}">
      <dgm:prSet/>
      <dgm:spPr/>
      <dgm:t>
        <a:bodyPr/>
        <a:lstStyle/>
        <a:p>
          <a:endParaRPr lang="en-US"/>
        </a:p>
      </dgm:t>
    </dgm:pt>
    <dgm:pt modelId="{D2739F40-3D6C-4793-93C2-BDF8E3809A2C}" type="sibTrans" cxnId="{416AF601-3124-4F04-8E7E-BDEDA41F36FD}">
      <dgm:prSet/>
      <dgm:spPr/>
      <dgm:t>
        <a:bodyPr/>
        <a:lstStyle/>
        <a:p>
          <a:endParaRPr lang="en-US"/>
        </a:p>
      </dgm:t>
    </dgm:pt>
    <dgm:pt modelId="{7294E363-72C1-4437-B841-25890E817E7E}">
      <dgm:prSet phldrT="[Text]" custT="1"/>
      <dgm:spPr>
        <a:solidFill>
          <a:schemeClr val="bg1"/>
        </a:solidFill>
        <a:ln>
          <a:solidFill>
            <a:schemeClr val="tx1"/>
          </a:solidFill>
        </a:ln>
      </dgm:spPr>
      <dgm:t>
        <a:bodyPr/>
        <a:lstStyle/>
        <a:p>
          <a:r>
            <a:rPr lang="en-US" sz="2400" dirty="0">
              <a:solidFill>
                <a:schemeClr val="tx1"/>
              </a:solidFill>
            </a:rPr>
            <a:t>Bad Reference to objects</a:t>
          </a:r>
        </a:p>
      </dgm:t>
    </dgm:pt>
    <dgm:pt modelId="{00DB90C4-B193-420D-AA73-3AE4F73129C8}" type="parTrans" cxnId="{82236693-E059-4F09-B7DE-60DF2AB88A3A}">
      <dgm:prSet/>
      <dgm:spPr/>
      <dgm:t>
        <a:bodyPr/>
        <a:lstStyle/>
        <a:p>
          <a:endParaRPr lang="en-US"/>
        </a:p>
      </dgm:t>
    </dgm:pt>
    <dgm:pt modelId="{DB3466C3-DDA6-42BD-87BA-28EF93401679}" type="sibTrans" cxnId="{82236693-E059-4F09-B7DE-60DF2AB88A3A}">
      <dgm:prSet/>
      <dgm:spPr/>
      <dgm:t>
        <a:bodyPr/>
        <a:lstStyle/>
        <a:p>
          <a:endParaRPr lang="en-US"/>
        </a:p>
      </dgm:t>
    </dgm:pt>
    <dgm:pt modelId="{F18BCFBF-80ED-46B0-B3CE-B4959823BC5D}">
      <dgm:prSet phldrT="[Text]" custT="1"/>
      <dgm:spPr>
        <a:solidFill>
          <a:schemeClr val="bg1"/>
        </a:solidFill>
        <a:ln>
          <a:solidFill>
            <a:schemeClr val="tx1"/>
          </a:solidFill>
        </a:ln>
      </dgm:spPr>
      <dgm:t>
        <a:bodyPr/>
        <a:lstStyle/>
        <a:p>
          <a:r>
            <a:rPr lang="en-US" sz="2400" dirty="0">
              <a:solidFill>
                <a:schemeClr val="tx1"/>
              </a:solidFill>
            </a:rPr>
            <a:t>Use of = in place of == operator</a:t>
          </a:r>
        </a:p>
      </dgm:t>
    </dgm:pt>
    <dgm:pt modelId="{4D5DC6D4-B6F0-4E0E-916D-8C2DC2F0A2A4}" type="parTrans" cxnId="{08C95262-42EE-480C-89CD-8FE5BC416A5F}">
      <dgm:prSet/>
      <dgm:spPr/>
      <dgm:t>
        <a:bodyPr/>
        <a:lstStyle/>
        <a:p>
          <a:endParaRPr lang="en-US"/>
        </a:p>
      </dgm:t>
    </dgm:pt>
    <dgm:pt modelId="{B2306CA2-24E5-45ED-BEE9-C20D367683AD}" type="sibTrans" cxnId="{08C95262-42EE-480C-89CD-8FE5BC416A5F}">
      <dgm:prSet/>
      <dgm:spPr/>
      <dgm:t>
        <a:bodyPr/>
        <a:lstStyle/>
        <a:p>
          <a:endParaRPr lang="en-US"/>
        </a:p>
      </dgm:t>
    </dgm:pt>
    <dgm:pt modelId="{3A991573-D713-4CFD-A0CD-889601887B73}" type="pres">
      <dgm:prSet presAssocID="{24C5662D-AA59-4846-A595-18761760A571}" presName="linear" presStyleCnt="0">
        <dgm:presLayoutVars>
          <dgm:dir/>
          <dgm:animLvl val="lvl"/>
          <dgm:resizeHandles val="exact"/>
        </dgm:presLayoutVars>
      </dgm:prSet>
      <dgm:spPr/>
    </dgm:pt>
    <dgm:pt modelId="{163F3DA9-F4B5-46A0-AC8A-1A6BBC6B2096}" type="pres">
      <dgm:prSet presAssocID="{E6F1FF89-09BD-49B6-AEFF-9274FC9AC5A1}" presName="parentLin" presStyleCnt="0"/>
      <dgm:spPr/>
    </dgm:pt>
    <dgm:pt modelId="{F1C70B2A-62C4-40A1-B1FE-3BB52E4CC54B}" type="pres">
      <dgm:prSet presAssocID="{E6F1FF89-09BD-49B6-AEFF-9274FC9AC5A1}" presName="parentLeftMargin" presStyleLbl="node1" presStyleIdx="0" presStyleCnt="7"/>
      <dgm:spPr/>
    </dgm:pt>
    <dgm:pt modelId="{59F1F9EE-1D06-4567-9822-CBC07693F585}" type="pres">
      <dgm:prSet presAssocID="{E6F1FF89-09BD-49B6-AEFF-9274FC9AC5A1}" presName="parentText" presStyleLbl="node1" presStyleIdx="0" presStyleCnt="7" custScaleY="110972">
        <dgm:presLayoutVars>
          <dgm:chMax val="0"/>
          <dgm:bulletEnabled val="1"/>
        </dgm:presLayoutVars>
      </dgm:prSet>
      <dgm:spPr/>
    </dgm:pt>
    <dgm:pt modelId="{81348CFD-03B1-4CB5-B2A8-361D17C6D573}" type="pres">
      <dgm:prSet presAssocID="{E6F1FF89-09BD-49B6-AEFF-9274FC9AC5A1}" presName="negativeSpace" presStyleCnt="0"/>
      <dgm:spPr/>
    </dgm:pt>
    <dgm:pt modelId="{1F9AEE6A-9971-4707-A0AA-ADDFA63FF35D}" type="pres">
      <dgm:prSet presAssocID="{E6F1FF89-09BD-49B6-AEFF-9274FC9AC5A1}" presName="childText" presStyleLbl="conFgAcc1" presStyleIdx="0" presStyleCnt="7">
        <dgm:presLayoutVars>
          <dgm:bulletEnabled val="1"/>
        </dgm:presLayoutVars>
      </dgm:prSet>
      <dgm:spPr>
        <a:ln>
          <a:solidFill>
            <a:srgbClr val="FF0000"/>
          </a:solidFill>
        </a:ln>
      </dgm:spPr>
    </dgm:pt>
    <dgm:pt modelId="{93F1C35F-B42B-4D14-B3A4-734B05BE6E6E}" type="pres">
      <dgm:prSet presAssocID="{BB3FE401-AE39-4779-88E0-699605028CC2}" presName="spaceBetweenRectangles" presStyleCnt="0"/>
      <dgm:spPr/>
    </dgm:pt>
    <dgm:pt modelId="{3281A5C0-811A-4180-A9A7-092D19DF3AD3}" type="pres">
      <dgm:prSet presAssocID="{767DCE9D-25A1-46D6-81AD-3C89EC04DD1A}" presName="parentLin" presStyleCnt="0"/>
      <dgm:spPr/>
    </dgm:pt>
    <dgm:pt modelId="{44477472-DF42-43C5-8C1F-72BE9411A2E3}" type="pres">
      <dgm:prSet presAssocID="{767DCE9D-25A1-46D6-81AD-3C89EC04DD1A}" presName="parentLeftMargin" presStyleLbl="node1" presStyleIdx="0" presStyleCnt="7"/>
      <dgm:spPr/>
    </dgm:pt>
    <dgm:pt modelId="{69624529-2A56-4A8C-8B96-593FC2C50E5C}" type="pres">
      <dgm:prSet presAssocID="{767DCE9D-25A1-46D6-81AD-3C89EC04DD1A}" presName="parentText" presStyleLbl="node1" presStyleIdx="1" presStyleCnt="7">
        <dgm:presLayoutVars>
          <dgm:chMax val="0"/>
          <dgm:bulletEnabled val="1"/>
        </dgm:presLayoutVars>
      </dgm:prSet>
      <dgm:spPr/>
    </dgm:pt>
    <dgm:pt modelId="{7B2BFBD0-A68F-498C-B32F-17417E522B31}" type="pres">
      <dgm:prSet presAssocID="{767DCE9D-25A1-46D6-81AD-3C89EC04DD1A}" presName="negativeSpace" presStyleCnt="0"/>
      <dgm:spPr/>
    </dgm:pt>
    <dgm:pt modelId="{826AABCB-A9D3-40F4-9188-38D82E5FDFD0}" type="pres">
      <dgm:prSet presAssocID="{767DCE9D-25A1-46D6-81AD-3C89EC04DD1A}" presName="childText" presStyleLbl="conFgAcc1" presStyleIdx="1" presStyleCnt="7">
        <dgm:presLayoutVars>
          <dgm:bulletEnabled val="1"/>
        </dgm:presLayoutVars>
      </dgm:prSet>
      <dgm:spPr/>
    </dgm:pt>
    <dgm:pt modelId="{903C0D31-F752-4937-8CA3-63D0A7BEDA88}" type="pres">
      <dgm:prSet presAssocID="{AFC78976-43E6-44AB-8455-913444D048D2}" presName="spaceBetweenRectangles" presStyleCnt="0"/>
      <dgm:spPr/>
    </dgm:pt>
    <dgm:pt modelId="{3D53B8AA-EFD8-48F8-AD48-5C8E9994B707}" type="pres">
      <dgm:prSet presAssocID="{BBA4CA9A-EC36-486C-963B-B8A2DDCE83EA}" presName="parentLin" presStyleCnt="0"/>
      <dgm:spPr/>
    </dgm:pt>
    <dgm:pt modelId="{EDB8E9D0-FC04-4C38-8979-7793DF87BDBF}" type="pres">
      <dgm:prSet presAssocID="{BBA4CA9A-EC36-486C-963B-B8A2DDCE83EA}" presName="parentLeftMargin" presStyleLbl="node1" presStyleIdx="1" presStyleCnt="7"/>
      <dgm:spPr/>
    </dgm:pt>
    <dgm:pt modelId="{0CBC27D7-6426-4458-9AAC-EB401B921A49}" type="pres">
      <dgm:prSet presAssocID="{BBA4CA9A-EC36-486C-963B-B8A2DDCE83EA}" presName="parentText" presStyleLbl="node1" presStyleIdx="2" presStyleCnt="7">
        <dgm:presLayoutVars>
          <dgm:chMax val="0"/>
          <dgm:bulletEnabled val="1"/>
        </dgm:presLayoutVars>
      </dgm:prSet>
      <dgm:spPr/>
    </dgm:pt>
    <dgm:pt modelId="{33D9B1BD-C558-4EB9-99F9-4FDCA1F63CD8}" type="pres">
      <dgm:prSet presAssocID="{BBA4CA9A-EC36-486C-963B-B8A2DDCE83EA}" presName="negativeSpace" presStyleCnt="0"/>
      <dgm:spPr/>
    </dgm:pt>
    <dgm:pt modelId="{8A0E91C5-13BB-4EBE-8030-9B20746568BD}" type="pres">
      <dgm:prSet presAssocID="{BBA4CA9A-EC36-486C-963B-B8A2DDCE83EA}" presName="childText" presStyleLbl="conFgAcc1" presStyleIdx="2" presStyleCnt="7">
        <dgm:presLayoutVars>
          <dgm:bulletEnabled val="1"/>
        </dgm:presLayoutVars>
      </dgm:prSet>
      <dgm:spPr/>
    </dgm:pt>
    <dgm:pt modelId="{C8E92143-A75C-4649-852E-91426F8D9A3E}" type="pres">
      <dgm:prSet presAssocID="{35CE2724-9D2A-4727-A6D0-1630B5327833}" presName="spaceBetweenRectangles" presStyleCnt="0"/>
      <dgm:spPr/>
    </dgm:pt>
    <dgm:pt modelId="{6055D57B-C3D9-4754-911E-C9C2B959EAEF}" type="pres">
      <dgm:prSet presAssocID="{ABBA510A-2326-41E8-A259-CDE4EC084DA1}" presName="parentLin" presStyleCnt="0"/>
      <dgm:spPr/>
    </dgm:pt>
    <dgm:pt modelId="{2A988A55-4BBD-4C5D-9431-378FD741297D}" type="pres">
      <dgm:prSet presAssocID="{ABBA510A-2326-41E8-A259-CDE4EC084DA1}" presName="parentLeftMargin" presStyleLbl="node1" presStyleIdx="2" presStyleCnt="7"/>
      <dgm:spPr/>
    </dgm:pt>
    <dgm:pt modelId="{F237017C-4764-436B-8CB2-EFA76FF29415}" type="pres">
      <dgm:prSet presAssocID="{ABBA510A-2326-41E8-A259-CDE4EC084DA1}" presName="parentText" presStyleLbl="node1" presStyleIdx="3" presStyleCnt="7" custLinFactNeighborX="-4825" custLinFactNeighborY="-2461">
        <dgm:presLayoutVars>
          <dgm:chMax val="0"/>
          <dgm:bulletEnabled val="1"/>
        </dgm:presLayoutVars>
      </dgm:prSet>
      <dgm:spPr/>
    </dgm:pt>
    <dgm:pt modelId="{1860C06F-BB5B-49FD-9208-4B841E2509AF}" type="pres">
      <dgm:prSet presAssocID="{ABBA510A-2326-41E8-A259-CDE4EC084DA1}" presName="negativeSpace" presStyleCnt="0"/>
      <dgm:spPr/>
    </dgm:pt>
    <dgm:pt modelId="{287CA479-3503-41DA-B6A5-764BE1A82D59}" type="pres">
      <dgm:prSet presAssocID="{ABBA510A-2326-41E8-A259-CDE4EC084DA1}" presName="childText" presStyleLbl="conFgAcc1" presStyleIdx="3" presStyleCnt="7">
        <dgm:presLayoutVars>
          <dgm:bulletEnabled val="1"/>
        </dgm:presLayoutVars>
      </dgm:prSet>
      <dgm:spPr/>
    </dgm:pt>
    <dgm:pt modelId="{B0B3FDA7-8119-40FF-BFF6-A94672A36854}" type="pres">
      <dgm:prSet presAssocID="{AE9005CC-3B81-475C-A438-0A2FE730078C}" presName="spaceBetweenRectangles" presStyleCnt="0"/>
      <dgm:spPr/>
    </dgm:pt>
    <dgm:pt modelId="{B7D095E0-8146-4597-AF77-507CB4C18E4B}" type="pres">
      <dgm:prSet presAssocID="{576764E9-8992-452B-9B0E-972D29A46063}" presName="parentLin" presStyleCnt="0"/>
      <dgm:spPr/>
    </dgm:pt>
    <dgm:pt modelId="{420FCDB9-29E2-4883-8BEC-B546D6BB17CB}" type="pres">
      <dgm:prSet presAssocID="{576764E9-8992-452B-9B0E-972D29A46063}" presName="parentLeftMargin" presStyleLbl="node1" presStyleIdx="3" presStyleCnt="7"/>
      <dgm:spPr/>
    </dgm:pt>
    <dgm:pt modelId="{DC9C0EAD-63D2-4FDD-8592-C08AD098FA82}" type="pres">
      <dgm:prSet presAssocID="{576764E9-8992-452B-9B0E-972D29A46063}" presName="parentText" presStyleLbl="node1" presStyleIdx="4" presStyleCnt="7">
        <dgm:presLayoutVars>
          <dgm:chMax val="0"/>
          <dgm:bulletEnabled val="1"/>
        </dgm:presLayoutVars>
      </dgm:prSet>
      <dgm:spPr/>
    </dgm:pt>
    <dgm:pt modelId="{CE179E41-FF67-4EC7-AF01-5E427A48CDCF}" type="pres">
      <dgm:prSet presAssocID="{576764E9-8992-452B-9B0E-972D29A46063}" presName="negativeSpace" presStyleCnt="0"/>
      <dgm:spPr/>
    </dgm:pt>
    <dgm:pt modelId="{34F70579-F7B6-4C71-A930-1531A8CCC497}" type="pres">
      <dgm:prSet presAssocID="{576764E9-8992-452B-9B0E-972D29A46063}" presName="childText" presStyleLbl="conFgAcc1" presStyleIdx="4" presStyleCnt="7">
        <dgm:presLayoutVars>
          <dgm:bulletEnabled val="1"/>
        </dgm:presLayoutVars>
      </dgm:prSet>
      <dgm:spPr/>
    </dgm:pt>
    <dgm:pt modelId="{CD21AB1B-73E3-467B-8FA5-A644DBDBA86D}" type="pres">
      <dgm:prSet presAssocID="{D2739F40-3D6C-4793-93C2-BDF8E3809A2C}" presName="spaceBetweenRectangles" presStyleCnt="0"/>
      <dgm:spPr/>
    </dgm:pt>
    <dgm:pt modelId="{86940A64-7637-4D8E-8B97-FCBD8BB1E884}" type="pres">
      <dgm:prSet presAssocID="{7294E363-72C1-4437-B841-25890E817E7E}" presName="parentLin" presStyleCnt="0"/>
      <dgm:spPr/>
    </dgm:pt>
    <dgm:pt modelId="{775CF4F8-A424-4CD7-BA95-33AAD4945F18}" type="pres">
      <dgm:prSet presAssocID="{7294E363-72C1-4437-B841-25890E817E7E}" presName="parentLeftMargin" presStyleLbl="node1" presStyleIdx="4" presStyleCnt="7"/>
      <dgm:spPr/>
    </dgm:pt>
    <dgm:pt modelId="{3CC16E50-7B7F-4AFB-8C35-F365C20F137D}" type="pres">
      <dgm:prSet presAssocID="{7294E363-72C1-4437-B841-25890E817E7E}" presName="parentText" presStyleLbl="node1" presStyleIdx="5" presStyleCnt="7">
        <dgm:presLayoutVars>
          <dgm:chMax val="0"/>
          <dgm:bulletEnabled val="1"/>
        </dgm:presLayoutVars>
      </dgm:prSet>
      <dgm:spPr/>
    </dgm:pt>
    <dgm:pt modelId="{7972CE51-BDD5-4465-8FCB-5B131C845D52}" type="pres">
      <dgm:prSet presAssocID="{7294E363-72C1-4437-B841-25890E817E7E}" presName="negativeSpace" presStyleCnt="0"/>
      <dgm:spPr/>
    </dgm:pt>
    <dgm:pt modelId="{CFE65A33-666C-440C-B03C-551D08901204}" type="pres">
      <dgm:prSet presAssocID="{7294E363-72C1-4437-B841-25890E817E7E}" presName="childText" presStyleLbl="conFgAcc1" presStyleIdx="5" presStyleCnt="7">
        <dgm:presLayoutVars>
          <dgm:bulletEnabled val="1"/>
        </dgm:presLayoutVars>
      </dgm:prSet>
      <dgm:spPr/>
    </dgm:pt>
    <dgm:pt modelId="{57D73BE7-6954-4A80-B12F-BB2500F97E85}" type="pres">
      <dgm:prSet presAssocID="{DB3466C3-DDA6-42BD-87BA-28EF93401679}" presName="spaceBetweenRectangles" presStyleCnt="0"/>
      <dgm:spPr/>
    </dgm:pt>
    <dgm:pt modelId="{4E144514-D02A-43A0-A13C-E6D65F0165E2}" type="pres">
      <dgm:prSet presAssocID="{F18BCFBF-80ED-46B0-B3CE-B4959823BC5D}" presName="parentLin" presStyleCnt="0"/>
      <dgm:spPr/>
    </dgm:pt>
    <dgm:pt modelId="{423A9BD5-658E-479C-9F39-2495F45ACD88}" type="pres">
      <dgm:prSet presAssocID="{F18BCFBF-80ED-46B0-B3CE-B4959823BC5D}" presName="parentLeftMargin" presStyleLbl="node1" presStyleIdx="5" presStyleCnt="7"/>
      <dgm:spPr/>
    </dgm:pt>
    <dgm:pt modelId="{FD5FC2A7-0BA8-4300-83AF-7E939F36E271}" type="pres">
      <dgm:prSet presAssocID="{F18BCFBF-80ED-46B0-B3CE-B4959823BC5D}" presName="parentText" presStyleLbl="node1" presStyleIdx="6" presStyleCnt="7">
        <dgm:presLayoutVars>
          <dgm:chMax val="0"/>
          <dgm:bulletEnabled val="1"/>
        </dgm:presLayoutVars>
      </dgm:prSet>
      <dgm:spPr/>
    </dgm:pt>
    <dgm:pt modelId="{1BB1A899-CB8A-467F-ACA6-0EFE16739F3C}" type="pres">
      <dgm:prSet presAssocID="{F18BCFBF-80ED-46B0-B3CE-B4959823BC5D}" presName="negativeSpace" presStyleCnt="0"/>
      <dgm:spPr/>
    </dgm:pt>
    <dgm:pt modelId="{09E635DF-A225-406B-AAA9-4045BEAFE4AA}" type="pres">
      <dgm:prSet presAssocID="{F18BCFBF-80ED-46B0-B3CE-B4959823BC5D}" presName="childText" presStyleLbl="conFgAcc1" presStyleIdx="6" presStyleCnt="7">
        <dgm:presLayoutVars>
          <dgm:bulletEnabled val="1"/>
        </dgm:presLayoutVars>
      </dgm:prSet>
      <dgm:spPr/>
    </dgm:pt>
  </dgm:ptLst>
  <dgm:cxnLst>
    <dgm:cxn modelId="{416AF601-3124-4F04-8E7E-BDEDA41F36FD}" srcId="{24C5662D-AA59-4846-A595-18761760A571}" destId="{576764E9-8992-452B-9B0E-972D29A46063}" srcOrd="4" destOrd="0" parTransId="{1F564DF3-9C97-44F2-A6E0-8E97058635AA}" sibTransId="{D2739F40-3D6C-4793-93C2-BDF8E3809A2C}"/>
    <dgm:cxn modelId="{B7D96106-3581-449D-BFDD-047F01672B8A}" srcId="{24C5662D-AA59-4846-A595-18761760A571}" destId="{767DCE9D-25A1-46D6-81AD-3C89EC04DD1A}" srcOrd="1" destOrd="0" parTransId="{0F2789C7-8170-44F6-BCD9-A7B65CBD4B00}" sibTransId="{AFC78976-43E6-44AB-8455-913444D048D2}"/>
    <dgm:cxn modelId="{E652060E-6D95-4D70-87D7-480A6603C088}" type="presOf" srcId="{576764E9-8992-452B-9B0E-972D29A46063}" destId="{DC9C0EAD-63D2-4FDD-8592-C08AD098FA82}" srcOrd="1" destOrd="0" presId="urn:microsoft.com/office/officeart/2005/8/layout/list1"/>
    <dgm:cxn modelId="{30468E11-1A1C-4048-9590-8F367BE8C3F0}" type="presOf" srcId="{24C5662D-AA59-4846-A595-18761760A571}" destId="{3A991573-D713-4CFD-A0CD-889601887B73}" srcOrd="0" destOrd="0" presId="urn:microsoft.com/office/officeart/2005/8/layout/list1"/>
    <dgm:cxn modelId="{65266C36-4458-4608-9A55-B7927E245AAD}" type="presOf" srcId="{BBA4CA9A-EC36-486C-963B-B8A2DDCE83EA}" destId="{0CBC27D7-6426-4458-9AAC-EB401B921A49}" srcOrd="1" destOrd="0" presId="urn:microsoft.com/office/officeart/2005/8/layout/list1"/>
    <dgm:cxn modelId="{D2A30338-AC05-4161-9C60-A8369C935D5A}" type="presOf" srcId="{576764E9-8992-452B-9B0E-972D29A46063}" destId="{420FCDB9-29E2-4883-8BEC-B546D6BB17CB}" srcOrd="0" destOrd="0" presId="urn:microsoft.com/office/officeart/2005/8/layout/list1"/>
    <dgm:cxn modelId="{3BA2123B-8D95-4C22-B77F-323E2F6FA7AC}" type="presOf" srcId="{E6F1FF89-09BD-49B6-AEFF-9274FC9AC5A1}" destId="{F1C70B2A-62C4-40A1-B1FE-3BB52E4CC54B}" srcOrd="0" destOrd="0" presId="urn:microsoft.com/office/officeart/2005/8/layout/list1"/>
    <dgm:cxn modelId="{08C95262-42EE-480C-89CD-8FE5BC416A5F}" srcId="{24C5662D-AA59-4846-A595-18761760A571}" destId="{F18BCFBF-80ED-46B0-B3CE-B4959823BC5D}" srcOrd="6" destOrd="0" parTransId="{4D5DC6D4-B6F0-4E0E-916D-8C2DC2F0A2A4}" sibTransId="{B2306CA2-24E5-45ED-BEE9-C20D367683AD}"/>
    <dgm:cxn modelId="{2F76F24D-68EA-4F86-88B9-B035ED745C66}" type="presOf" srcId="{7294E363-72C1-4437-B841-25890E817E7E}" destId="{3CC16E50-7B7F-4AFB-8C35-F365C20F137D}" srcOrd="1" destOrd="0" presId="urn:microsoft.com/office/officeart/2005/8/layout/list1"/>
    <dgm:cxn modelId="{C9ACF054-3211-4027-A3ED-D6D5BD5DA9F4}" srcId="{24C5662D-AA59-4846-A595-18761760A571}" destId="{BBA4CA9A-EC36-486C-963B-B8A2DDCE83EA}" srcOrd="2" destOrd="0" parTransId="{5B636635-80B1-4969-99E1-041BCBE5F069}" sibTransId="{35CE2724-9D2A-4727-A6D0-1630B5327833}"/>
    <dgm:cxn modelId="{82236693-E059-4F09-B7DE-60DF2AB88A3A}" srcId="{24C5662D-AA59-4846-A595-18761760A571}" destId="{7294E363-72C1-4437-B841-25890E817E7E}" srcOrd="5" destOrd="0" parTransId="{00DB90C4-B193-420D-AA73-3AE4F73129C8}" sibTransId="{DB3466C3-DDA6-42BD-87BA-28EF93401679}"/>
    <dgm:cxn modelId="{9790EC93-5452-4C44-B014-BE953BD046C8}" type="presOf" srcId="{767DCE9D-25A1-46D6-81AD-3C89EC04DD1A}" destId="{69624529-2A56-4A8C-8B96-593FC2C50E5C}" srcOrd="1" destOrd="0" presId="urn:microsoft.com/office/officeart/2005/8/layout/list1"/>
    <dgm:cxn modelId="{1B997D99-E3F8-44C1-80C5-4E69BC120FDE}" type="presOf" srcId="{F18BCFBF-80ED-46B0-B3CE-B4959823BC5D}" destId="{423A9BD5-658E-479C-9F39-2495F45ACD88}" srcOrd="0" destOrd="0" presId="urn:microsoft.com/office/officeart/2005/8/layout/list1"/>
    <dgm:cxn modelId="{FA3DFD99-EDF1-4C62-ABC8-748B71641444}" srcId="{24C5662D-AA59-4846-A595-18761760A571}" destId="{E6F1FF89-09BD-49B6-AEFF-9274FC9AC5A1}" srcOrd="0" destOrd="0" parTransId="{6DCEFEF2-FF9B-4F4C-B2C8-540737E27E7A}" sibTransId="{BB3FE401-AE39-4779-88E0-699605028CC2}"/>
    <dgm:cxn modelId="{2AC615C0-7B1A-49CC-B047-329447726812}" type="presOf" srcId="{F18BCFBF-80ED-46B0-B3CE-B4959823BC5D}" destId="{FD5FC2A7-0BA8-4300-83AF-7E939F36E271}" srcOrd="1" destOrd="0" presId="urn:microsoft.com/office/officeart/2005/8/layout/list1"/>
    <dgm:cxn modelId="{621488D7-D301-4AA6-ACE1-821EC3383F34}" type="presOf" srcId="{ABBA510A-2326-41E8-A259-CDE4EC084DA1}" destId="{2A988A55-4BBD-4C5D-9431-378FD741297D}" srcOrd="0" destOrd="0" presId="urn:microsoft.com/office/officeart/2005/8/layout/list1"/>
    <dgm:cxn modelId="{8DF69DD9-A5CD-445B-8087-33A37784DC5B}" type="presOf" srcId="{ABBA510A-2326-41E8-A259-CDE4EC084DA1}" destId="{F237017C-4764-436B-8CB2-EFA76FF29415}" srcOrd="1" destOrd="0" presId="urn:microsoft.com/office/officeart/2005/8/layout/list1"/>
    <dgm:cxn modelId="{CE6797EA-14DF-4A8F-BC81-42231BCB7C21}" type="presOf" srcId="{767DCE9D-25A1-46D6-81AD-3C89EC04DD1A}" destId="{44477472-DF42-43C5-8C1F-72BE9411A2E3}" srcOrd="0" destOrd="0" presId="urn:microsoft.com/office/officeart/2005/8/layout/list1"/>
    <dgm:cxn modelId="{8D86A9F5-35D5-4F78-96DD-E0696EA1E867}" type="presOf" srcId="{7294E363-72C1-4437-B841-25890E817E7E}" destId="{775CF4F8-A424-4CD7-BA95-33AAD4945F18}" srcOrd="0" destOrd="0" presId="urn:microsoft.com/office/officeart/2005/8/layout/list1"/>
    <dgm:cxn modelId="{7FD001F6-0CDE-4DDE-B8B0-C0C9EB043E2A}" type="presOf" srcId="{E6F1FF89-09BD-49B6-AEFF-9274FC9AC5A1}" destId="{59F1F9EE-1D06-4567-9822-CBC07693F585}" srcOrd="1" destOrd="0" presId="urn:microsoft.com/office/officeart/2005/8/layout/list1"/>
    <dgm:cxn modelId="{2A723DF7-509D-4504-884B-4143345B7326}" srcId="{24C5662D-AA59-4846-A595-18761760A571}" destId="{ABBA510A-2326-41E8-A259-CDE4EC084DA1}" srcOrd="3" destOrd="0" parTransId="{86AD61F0-69D2-417A-96EE-07BA830048EC}" sibTransId="{AE9005CC-3B81-475C-A438-0A2FE730078C}"/>
    <dgm:cxn modelId="{C3767DF9-D7D6-4E53-BDAB-934A243BFF5B}" type="presOf" srcId="{BBA4CA9A-EC36-486C-963B-B8A2DDCE83EA}" destId="{EDB8E9D0-FC04-4C38-8979-7793DF87BDBF}" srcOrd="0" destOrd="0" presId="urn:microsoft.com/office/officeart/2005/8/layout/list1"/>
    <dgm:cxn modelId="{BD56973A-CFF9-4A11-9B53-A31A7C4486FB}" type="presParOf" srcId="{3A991573-D713-4CFD-A0CD-889601887B73}" destId="{163F3DA9-F4B5-46A0-AC8A-1A6BBC6B2096}" srcOrd="0" destOrd="0" presId="urn:microsoft.com/office/officeart/2005/8/layout/list1"/>
    <dgm:cxn modelId="{C0DB8994-90A7-46BB-B7AC-6BFF5D86CE6A}" type="presParOf" srcId="{163F3DA9-F4B5-46A0-AC8A-1A6BBC6B2096}" destId="{F1C70B2A-62C4-40A1-B1FE-3BB52E4CC54B}" srcOrd="0" destOrd="0" presId="urn:microsoft.com/office/officeart/2005/8/layout/list1"/>
    <dgm:cxn modelId="{4AF57898-72B0-4AC5-9089-14D55900F039}" type="presParOf" srcId="{163F3DA9-F4B5-46A0-AC8A-1A6BBC6B2096}" destId="{59F1F9EE-1D06-4567-9822-CBC07693F585}" srcOrd="1" destOrd="0" presId="urn:microsoft.com/office/officeart/2005/8/layout/list1"/>
    <dgm:cxn modelId="{34AD6B88-3510-4E67-BF6B-9AD767BA1BA4}" type="presParOf" srcId="{3A991573-D713-4CFD-A0CD-889601887B73}" destId="{81348CFD-03B1-4CB5-B2A8-361D17C6D573}" srcOrd="1" destOrd="0" presId="urn:microsoft.com/office/officeart/2005/8/layout/list1"/>
    <dgm:cxn modelId="{EFD07C64-DA4D-4D5F-AB7D-45F71BD960B5}" type="presParOf" srcId="{3A991573-D713-4CFD-A0CD-889601887B73}" destId="{1F9AEE6A-9971-4707-A0AA-ADDFA63FF35D}" srcOrd="2" destOrd="0" presId="urn:microsoft.com/office/officeart/2005/8/layout/list1"/>
    <dgm:cxn modelId="{B40C6929-908B-415A-9427-09E17E602813}" type="presParOf" srcId="{3A991573-D713-4CFD-A0CD-889601887B73}" destId="{93F1C35F-B42B-4D14-B3A4-734B05BE6E6E}" srcOrd="3" destOrd="0" presId="urn:microsoft.com/office/officeart/2005/8/layout/list1"/>
    <dgm:cxn modelId="{01413DAF-FCBD-402A-A420-F856E72233B5}" type="presParOf" srcId="{3A991573-D713-4CFD-A0CD-889601887B73}" destId="{3281A5C0-811A-4180-A9A7-092D19DF3AD3}" srcOrd="4" destOrd="0" presId="urn:microsoft.com/office/officeart/2005/8/layout/list1"/>
    <dgm:cxn modelId="{BB28F89C-B40C-49CD-A9D6-AB2E423A170E}" type="presParOf" srcId="{3281A5C0-811A-4180-A9A7-092D19DF3AD3}" destId="{44477472-DF42-43C5-8C1F-72BE9411A2E3}" srcOrd="0" destOrd="0" presId="urn:microsoft.com/office/officeart/2005/8/layout/list1"/>
    <dgm:cxn modelId="{04D72527-AC21-4CE9-BE0C-5A04F7DF7139}" type="presParOf" srcId="{3281A5C0-811A-4180-A9A7-092D19DF3AD3}" destId="{69624529-2A56-4A8C-8B96-593FC2C50E5C}" srcOrd="1" destOrd="0" presId="urn:microsoft.com/office/officeart/2005/8/layout/list1"/>
    <dgm:cxn modelId="{24929592-EC01-408E-B0FF-A75DF876575D}" type="presParOf" srcId="{3A991573-D713-4CFD-A0CD-889601887B73}" destId="{7B2BFBD0-A68F-498C-B32F-17417E522B31}" srcOrd="5" destOrd="0" presId="urn:microsoft.com/office/officeart/2005/8/layout/list1"/>
    <dgm:cxn modelId="{35F64DB8-7F98-4927-A5A4-202413F272D4}" type="presParOf" srcId="{3A991573-D713-4CFD-A0CD-889601887B73}" destId="{826AABCB-A9D3-40F4-9188-38D82E5FDFD0}" srcOrd="6" destOrd="0" presId="urn:microsoft.com/office/officeart/2005/8/layout/list1"/>
    <dgm:cxn modelId="{351240DE-6F58-4069-BFC5-D4F329DD3BA2}" type="presParOf" srcId="{3A991573-D713-4CFD-A0CD-889601887B73}" destId="{903C0D31-F752-4937-8CA3-63D0A7BEDA88}" srcOrd="7" destOrd="0" presId="urn:microsoft.com/office/officeart/2005/8/layout/list1"/>
    <dgm:cxn modelId="{818CA1AA-E201-4765-A52A-123C6E01712D}" type="presParOf" srcId="{3A991573-D713-4CFD-A0CD-889601887B73}" destId="{3D53B8AA-EFD8-48F8-AD48-5C8E9994B707}" srcOrd="8" destOrd="0" presId="urn:microsoft.com/office/officeart/2005/8/layout/list1"/>
    <dgm:cxn modelId="{20751A16-1249-4F9C-B084-35266F2C6E4F}" type="presParOf" srcId="{3D53B8AA-EFD8-48F8-AD48-5C8E9994B707}" destId="{EDB8E9D0-FC04-4C38-8979-7793DF87BDBF}" srcOrd="0" destOrd="0" presId="urn:microsoft.com/office/officeart/2005/8/layout/list1"/>
    <dgm:cxn modelId="{1E37935C-3D40-44C4-85A1-57A66847C8E0}" type="presParOf" srcId="{3D53B8AA-EFD8-48F8-AD48-5C8E9994B707}" destId="{0CBC27D7-6426-4458-9AAC-EB401B921A49}" srcOrd="1" destOrd="0" presId="urn:microsoft.com/office/officeart/2005/8/layout/list1"/>
    <dgm:cxn modelId="{BF0C24B9-8DEF-460E-8DC7-0B421682DE2D}" type="presParOf" srcId="{3A991573-D713-4CFD-A0CD-889601887B73}" destId="{33D9B1BD-C558-4EB9-99F9-4FDCA1F63CD8}" srcOrd="9" destOrd="0" presId="urn:microsoft.com/office/officeart/2005/8/layout/list1"/>
    <dgm:cxn modelId="{703CCB88-7E36-4EAC-9275-7FD97E467E72}" type="presParOf" srcId="{3A991573-D713-4CFD-A0CD-889601887B73}" destId="{8A0E91C5-13BB-4EBE-8030-9B20746568BD}" srcOrd="10" destOrd="0" presId="urn:microsoft.com/office/officeart/2005/8/layout/list1"/>
    <dgm:cxn modelId="{4D5082E6-F1BD-425A-9E67-46635154BEE8}" type="presParOf" srcId="{3A991573-D713-4CFD-A0CD-889601887B73}" destId="{C8E92143-A75C-4649-852E-91426F8D9A3E}" srcOrd="11" destOrd="0" presId="urn:microsoft.com/office/officeart/2005/8/layout/list1"/>
    <dgm:cxn modelId="{E558AF6F-0239-4EEB-BC50-827E36421561}" type="presParOf" srcId="{3A991573-D713-4CFD-A0CD-889601887B73}" destId="{6055D57B-C3D9-4754-911E-C9C2B959EAEF}" srcOrd="12" destOrd="0" presId="urn:microsoft.com/office/officeart/2005/8/layout/list1"/>
    <dgm:cxn modelId="{F59CD51C-40F9-47F1-B26C-64C4F38477F1}" type="presParOf" srcId="{6055D57B-C3D9-4754-911E-C9C2B959EAEF}" destId="{2A988A55-4BBD-4C5D-9431-378FD741297D}" srcOrd="0" destOrd="0" presId="urn:microsoft.com/office/officeart/2005/8/layout/list1"/>
    <dgm:cxn modelId="{D952EA67-6DEF-44CA-84D0-A3FAE130BEE1}" type="presParOf" srcId="{6055D57B-C3D9-4754-911E-C9C2B959EAEF}" destId="{F237017C-4764-436B-8CB2-EFA76FF29415}" srcOrd="1" destOrd="0" presId="urn:microsoft.com/office/officeart/2005/8/layout/list1"/>
    <dgm:cxn modelId="{1CDD548A-6639-4078-988D-FDD1A4638E3E}" type="presParOf" srcId="{3A991573-D713-4CFD-A0CD-889601887B73}" destId="{1860C06F-BB5B-49FD-9208-4B841E2509AF}" srcOrd="13" destOrd="0" presId="urn:microsoft.com/office/officeart/2005/8/layout/list1"/>
    <dgm:cxn modelId="{3922E8FB-9D3B-43EA-A144-51A18828867C}" type="presParOf" srcId="{3A991573-D713-4CFD-A0CD-889601887B73}" destId="{287CA479-3503-41DA-B6A5-764BE1A82D59}" srcOrd="14" destOrd="0" presId="urn:microsoft.com/office/officeart/2005/8/layout/list1"/>
    <dgm:cxn modelId="{45474BF3-00FE-420F-8A3D-922F0CFCF83C}" type="presParOf" srcId="{3A991573-D713-4CFD-A0CD-889601887B73}" destId="{B0B3FDA7-8119-40FF-BFF6-A94672A36854}" srcOrd="15" destOrd="0" presId="urn:microsoft.com/office/officeart/2005/8/layout/list1"/>
    <dgm:cxn modelId="{BAE30614-B137-4943-9995-DC18EEEE6899}" type="presParOf" srcId="{3A991573-D713-4CFD-A0CD-889601887B73}" destId="{B7D095E0-8146-4597-AF77-507CB4C18E4B}" srcOrd="16" destOrd="0" presId="urn:microsoft.com/office/officeart/2005/8/layout/list1"/>
    <dgm:cxn modelId="{362D51AE-346B-4108-848C-606FB9345D95}" type="presParOf" srcId="{B7D095E0-8146-4597-AF77-507CB4C18E4B}" destId="{420FCDB9-29E2-4883-8BEC-B546D6BB17CB}" srcOrd="0" destOrd="0" presId="urn:microsoft.com/office/officeart/2005/8/layout/list1"/>
    <dgm:cxn modelId="{E6B40E3B-CD72-4F58-9CA8-6F88C8BE2CA9}" type="presParOf" srcId="{B7D095E0-8146-4597-AF77-507CB4C18E4B}" destId="{DC9C0EAD-63D2-4FDD-8592-C08AD098FA82}" srcOrd="1" destOrd="0" presId="urn:microsoft.com/office/officeart/2005/8/layout/list1"/>
    <dgm:cxn modelId="{A32E8BF9-C0AD-475C-823D-DCB83CBDF641}" type="presParOf" srcId="{3A991573-D713-4CFD-A0CD-889601887B73}" destId="{CE179E41-FF67-4EC7-AF01-5E427A48CDCF}" srcOrd="17" destOrd="0" presId="urn:microsoft.com/office/officeart/2005/8/layout/list1"/>
    <dgm:cxn modelId="{23BF6246-893D-4141-A9BA-4E754A84319E}" type="presParOf" srcId="{3A991573-D713-4CFD-A0CD-889601887B73}" destId="{34F70579-F7B6-4C71-A930-1531A8CCC497}" srcOrd="18" destOrd="0" presId="urn:microsoft.com/office/officeart/2005/8/layout/list1"/>
    <dgm:cxn modelId="{D8E6745A-BBC0-4AC0-94DF-240B1293F61C}" type="presParOf" srcId="{3A991573-D713-4CFD-A0CD-889601887B73}" destId="{CD21AB1B-73E3-467B-8FA5-A644DBDBA86D}" srcOrd="19" destOrd="0" presId="urn:microsoft.com/office/officeart/2005/8/layout/list1"/>
    <dgm:cxn modelId="{8CEDF10D-51F6-4B2F-8F30-0C170CD0F4D1}" type="presParOf" srcId="{3A991573-D713-4CFD-A0CD-889601887B73}" destId="{86940A64-7637-4D8E-8B97-FCBD8BB1E884}" srcOrd="20" destOrd="0" presId="urn:microsoft.com/office/officeart/2005/8/layout/list1"/>
    <dgm:cxn modelId="{040A089F-A8E0-4CDB-8775-E9BD1C996726}" type="presParOf" srcId="{86940A64-7637-4D8E-8B97-FCBD8BB1E884}" destId="{775CF4F8-A424-4CD7-BA95-33AAD4945F18}" srcOrd="0" destOrd="0" presId="urn:microsoft.com/office/officeart/2005/8/layout/list1"/>
    <dgm:cxn modelId="{A9D2466D-F43F-4789-88FA-FE6D3F838FC0}" type="presParOf" srcId="{86940A64-7637-4D8E-8B97-FCBD8BB1E884}" destId="{3CC16E50-7B7F-4AFB-8C35-F365C20F137D}" srcOrd="1" destOrd="0" presId="urn:microsoft.com/office/officeart/2005/8/layout/list1"/>
    <dgm:cxn modelId="{257F96FB-A631-462E-977E-C03C995D615B}" type="presParOf" srcId="{3A991573-D713-4CFD-A0CD-889601887B73}" destId="{7972CE51-BDD5-4465-8FCB-5B131C845D52}" srcOrd="21" destOrd="0" presId="urn:microsoft.com/office/officeart/2005/8/layout/list1"/>
    <dgm:cxn modelId="{3FDCAEBA-96E1-41CB-AEDB-6DC91FFA0F11}" type="presParOf" srcId="{3A991573-D713-4CFD-A0CD-889601887B73}" destId="{CFE65A33-666C-440C-B03C-551D08901204}" srcOrd="22" destOrd="0" presId="urn:microsoft.com/office/officeart/2005/8/layout/list1"/>
    <dgm:cxn modelId="{7E5480D5-AD1B-4477-9B73-C9201BEE6FFA}" type="presParOf" srcId="{3A991573-D713-4CFD-A0CD-889601887B73}" destId="{57D73BE7-6954-4A80-B12F-BB2500F97E85}" srcOrd="23" destOrd="0" presId="urn:microsoft.com/office/officeart/2005/8/layout/list1"/>
    <dgm:cxn modelId="{1EA085E6-197E-4B77-A2E3-11A1074313B0}" type="presParOf" srcId="{3A991573-D713-4CFD-A0CD-889601887B73}" destId="{4E144514-D02A-43A0-A13C-E6D65F0165E2}" srcOrd="24" destOrd="0" presId="urn:microsoft.com/office/officeart/2005/8/layout/list1"/>
    <dgm:cxn modelId="{EB888BE9-672D-472E-A050-5F7958F30B8C}" type="presParOf" srcId="{4E144514-D02A-43A0-A13C-E6D65F0165E2}" destId="{423A9BD5-658E-479C-9F39-2495F45ACD88}" srcOrd="0" destOrd="0" presId="urn:microsoft.com/office/officeart/2005/8/layout/list1"/>
    <dgm:cxn modelId="{92468E83-B85C-4C38-892F-E1FABAFDE8FD}" type="presParOf" srcId="{4E144514-D02A-43A0-A13C-E6D65F0165E2}" destId="{FD5FC2A7-0BA8-4300-83AF-7E939F36E271}" srcOrd="1" destOrd="0" presId="urn:microsoft.com/office/officeart/2005/8/layout/list1"/>
    <dgm:cxn modelId="{5680126E-A87A-4EEE-B5BD-F22B4E98D026}" type="presParOf" srcId="{3A991573-D713-4CFD-A0CD-889601887B73}" destId="{1BB1A899-CB8A-467F-ACA6-0EFE16739F3C}" srcOrd="25" destOrd="0" presId="urn:microsoft.com/office/officeart/2005/8/layout/list1"/>
    <dgm:cxn modelId="{076EFC55-CDAD-45CB-94B2-F37BA08F4EF1}" type="presParOf" srcId="{3A991573-D713-4CFD-A0CD-889601887B73}" destId="{09E635DF-A225-406B-AAA9-4045BEAFE4AA}" srcOrd="2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28AFE7B-477C-403B-AA0D-0C5798DC4613}"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C87B1EEE-C967-4ED8-B9CD-84E5FE503BE1}">
      <dgm:prSet phldrT="[Text]"/>
      <dgm:spPr/>
      <dgm:t>
        <a:bodyPr/>
        <a:lstStyle/>
        <a:p>
          <a:pPr algn="l"/>
          <a:r>
            <a:rPr lang="en-US" dirty="0"/>
            <a:t>1</a:t>
          </a:r>
        </a:p>
        <a:p>
          <a:pPr algn="l"/>
          <a:endParaRPr lang="en-US" dirty="0"/>
        </a:p>
        <a:p>
          <a:pPr algn="l"/>
          <a:r>
            <a:rPr lang="en-US" dirty="0"/>
            <a:t>Dividing an Integer by Zero</a:t>
          </a:r>
        </a:p>
      </dgm:t>
    </dgm:pt>
    <dgm:pt modelId="{A69EBF48-31F6-4DBA-B74A-23E79A503D97}" type="parTrans" cxnId="{F7B376B8-AFD2-42E4-A038-5ABC24B771E5}">
      <dgm:prSet/>
      <dgm:spPr/>
      <dgm:t>
        <a:bodyPr/>
        <a:lstStyle/>
        <a:p>
          <a:endParaRPr lang="en-US"/>
        </a:p>
      </dgm:t>
    </dgm:pt>
    <dgm:pt modelId="{565C35BE-83FB-46CD-BF8C-3D4BA9D6D4C2}" type="sibTrans" cxnId="{F7B376B8-AFD2-42E4-A038-5ABC24B771E5}">
      <dgm:prSet/>
      <dgm:spPr/>
      <dgm:t>
        <a:bodyPr/>
        <a:lstStyle/>
        <a:p>
          <a:endParaRPr lang="en-US"/>
        </a:p>
      </dgm:t>
    </dgm:pt>
    <dgm:pt modelId="{F1AAF0F5-11F1-4E74-B322-206F687F62C3}">
      <dgm:prSet phldrT="[Text]"/>
      <dgm:spPr/>
      <dgm:t>
        <a:bodyPr/>
        <a:lstStyle/>
        <a:p>
          <a:pPr algn="l"/>
          <a:endParaRPr lang="en-US" dirty="0"/>
        </a:p>
      </dgm:t>
    </dgm:pt>
    <dgm:pt modelId="{29942763-4301-407F-B53F-0ABE3828C23E}" type="parTrans" cxnId="{7E5D8249-CEB3-48D1-8AC5-7F0066EA13B1}">
      <dgm:prSet/>
      <dgm:spPr/>
      <dgm:t>
        <a:bodyPr/>
        <a:lstStyle/>
        <a:p>
          <a:endParaRPr lang="en-US"/>
        </a:p>
      </dgm:t>
    </dgm:pt>
    <dgm:pt modelId="{2F68C4CC-B918-4417-99DE-D234A44EA06B}" type="sibTrans" cxnId="{7E5D8249-CEB3-48D1-8AC5-7F0066EA13B1}">
      <dgm:prSet/>
      <dgm:spPr/>
      <dgm:t>
        <a:bodyPr/>
        <a:lstStyle/>
        <a:p>
          <a:endParaRPr lang="en-US"/>
        </a:p>
      </dgm:t>
    </dgm:pt>
    <dgm:pt modelId="{3469150E-7A58-48AD-9402-9497A760FFDF}">
      <dgm:prSet phldrT="[Text]"/>
      <dgm:spPr/>
      <dgm:t>
        <a:bodyPr/>
        <a:lstStyle/>
        <a:p>
          <a:r>
            <a:rPr lang="en-US" dirty="0"/>
            <a:t>2</a:t>
          </a:r>
        </a:p>
        <a:p>
          <a:endParaRPr lang="en-US" dirty="0"/>
        </a:p>
        <a:p>
          <a:r>
            <a:rPr lang="en-US" dirty="0"/>
            <a:t> Out of the bounds of an array</a:t>
          </a:r>
        </a:p>
      </dgm:t>
    </dgm:pt>
    <dgm:pt modelId="{E749FF63-2A2F-446B-8C49-439C2DA040B4}" type="parTrans" cxnId="{F4D67F98-D2C4-4675-A7AF-8444B62F41EC}">
      <dgm:prSet/>
      <dgm:spPr/>
      <dgm:t>
        <a:bodyPr/>
        <a:lstStyle/>
        <a:p>
          <a:endParaRPr lang="en-US"/>
        </a:p>
      </dgm:t>
    </dgm:pt>
    <dgm:pt modelId="{2D8B097A-CC03-44FF-8C03-F9A65798F633}" type="sibTrans" cxnId="{F4D67F98-D2C4-4675-A7AF-8444B62F41EC}">
      <dgm:prSet/>
      <dgm:spPr/>
      <dgm:t>
        <a:bodyPr/>
        <a:lstStyle/>
        <a:p>
          <a:endParaRPr lang="en-US"/>
        </a:p>
      </dgm:t>
    </dgm:pt>
    <dgm:pt modelId="{8E982C81-E2E0-40C4-B4CF-5A41ACE9B88A}">
      <dgm:prSet phldrT="[Text]"/>
      <dgm:spPr/>
      <dgm:t>
        <a:bodyPr/>
        <a:lstStyle/>
        <a:p>
          <a:endParaRPr lang="en-US" dirty="0"/>
        </a:p>
      </dgm:t>
    </dgm:pt>
    <dgm:pt modelId="{A85539AF-37FD-4ABB-A68B-3C29442CE3BF}" type="parTrans" cxnId="{2E3DBAED-91DD-44EF-9939-106CA27C8610}">
      <dgm:prSet/>
      <dgm:spPr/>
      <dgm:t>
        <a:bodyPr/>
        <a:lstStyle/>
        <a:p>
          <a:endParaRPr lang="en-US"/>
        </a:p>
      </dgm:t>
    </dgm:pt>
    <dgm:pt modelId="{1DB0592D-0580-4C5C-92A6-99F859DDEFF2}" type="sibTrans" cxnId="{2E3DBAED-91DD-44EF-9939-106CA27C8610}">
      <dgm:prSet/>
      <dgm:spPr/>
      <dgm:t>
        <a:bodyPr/>
        <a:lstStyle/>
        <a:p>
          <a:endParaRPr lang="en-US"/>
        </a:p>
      </dgm:t>
    </dgm:pt>
    <dgm:pt modelId="{DC0B6144-8490-47BD-A30E-3552EF81C385}">
      <dgm:prSet phldrT="[Text]"/>
      <dgm:spPr/>
      <dgm:t>
        <a:bodyPr/>
        <a:lstStyle/>
        <a:p>
          <a:r>
            <a:rPr lang="en-US" dirty="0"/>
            <a:t>3</a:t>
          </a:r>
        </a:p>
        <a:p>
          <a:r>
            <a:rPr lang="en-US" dirty="0"/>
            <a:t>Store a value into an array of an incompatible type</a:t>
          </a:r>
        </a:p>
      </dgm:t>
    </dgm:pt>
    <dgm:pt modelId="{5B0D5374-A7EB-483C-96A8-0FCEC70563A8}" type="parTrans" cxnId="{9E037852-52FF-495F-AC35-A0CB9B745D90}">
      <dgm:prSet/>
      <dgm:spPr/>
      <dgm:t>
        <a:bodyPr/>
        <a:lstStyle/>
        <a:p>
          <a:endParaRPr lang="en-US"/>
        </a:p>
      </dgm:t>
    </dgm:pt>
    <dgm:pt modelId="{4B6DC44E-EEF7-4FBB-95BF-008D167B336D}" type="sibTrans" cxnId="{9E037852-52FF-495F-AC35-A0CB9B745D90}">
      <dgm:prSet/>
      <dgm:spPr/>
      <dgm:t>
        <a:bodyPr/>
        <a:lstStyle/>
        <a:p>
          <a:endParaRPr lang="en-US"/>
        </a:p>
      </dgm:t>
    </dgm:pt>
    <dgm:pt modelId="{66E9F729-73C9-41BD-A836-BB1C117C4526}">
      <dgm:prSet phldrT="[Text]"/>
      <dgm:spPr/>
      <dgm:t>
        <a:bodyPr/>
        <a:lstStyle/>
        <a:p>
          <a:r>
            <a:rPr lang="en-US" dirty="0"/>
            <a:t>4</a:t>
          </a:r>
        </a:p>
        <a:p>
          <a:r>
            <a:rPr lang="en-US" dirty="0"/>
            <a:t> Passing a parameter that is not in a valid range or value for method</a:t>
          </a:r>
        </a:p>
      </dgm:t>
    </dgm:pt>
    <dgm:pt modelId="{BA6974D5-B3DE-457B-AF09-BC08094A91DF}" type="parTrans" cxnId="{4E6087A5-8ADF-4910-BD54-E4E5597A1CC8}">
      <dgm:prSet/>
      <dgm:spPr/>
      <dgm:t>
        <a:bodyPr/>
        <a:lstStyle/>
        <a:p>
          <a:endParaRPr lang="en-US"/>
        </a:p>
      </dgm:t>
    </dgm:pt>
    <dgm:pt modelId="{07B2A656-0768-49D2-B1EA-ADF236DC031B}" type="sibTrans" cxnId="{4E6087A5-8ADF-4910-BD54-E4E5597A1CC8}">
      <dgm:prSet/>
      <dgm:spPr/>
      <dgm:t>
        <a:bodyPr/>
        <a:lstStyle/>
        <a:p>
          <a:endParaRPr lang="en-US"/>
        </a:p>
      </dgm:t>
    </dgm:pt>
    <dgm:pt modelId="{B8BF538A-5B77-46A6-B15F-CA865BDF115C}">
      <dgm:prSet phldrT="[Text]"/>
      <dgm:spPr/>
      <dgm:t>
        <a:bodyPr/>
        <a:lstStyle/>
        <a:p>
          <a:r>
            <a:rPr lang="en-US" dirty="0"/>
            <a:t>5</a:t>
          </a:r>
        </a:p>
        <a:p>
          <a:r>
            <a:rPr lang="en-US" dirty="0"/>
            <a:t>Attempting negative size of an array</a:t>
          </a:r>
        </a:p>
      </dgm:t>
    </dgm:pt>
    <dgm:pt modelId="{ABB39708-EE8B-4B82-AF50-CDBE388DF9DD}" type="parTrans" cxnId="{3DEE131D-C108-4F07-A3D2-02E96F26F8B1}">
      <dgm:prSet/>
      <dgm:spPr/>
      <dgm:t>
        <a:bodyPr/>
        <a:lstStyle/>
        <a:p>
          <a:endParaRPr lang="en-US"/>
        </a:p>
      </dgm:t>
    </dgm:pt>
    <dgm:pt modelId="{D5863D15-82BE-494C-B07C-56BC5099EE47}" type="sibTrans" cxnId="{3DEE131D-C108-4F07-A3D2-02E96F26F8B1}">
      <dgm:prSet/>
      <dgm:spPr/>
      <dgm:t>
        <a:bodyPr/>
        <a:lstStyle/>
        <a:p>
          <a:endParaRPr lang="en-US"/>
        </a:p>
      </dgm:t>
    </dgm:pt>
    <dgm:pt modelId="{AC2A155E-B882-40BF-AE4A-CCAB1A747F7F}">
      <dgm:prSet phldrT="[Text]"/>
      <dgm:spPr/>
      <dgm:t>
        <a:bodyPr/>
        <a:lstStyle/>
        <a:p>
          <a:r>
            <a:rPr lang="en-US" dirty="0"/>
            <a:t>6</a:t>
          </a:r>
        </a:p>
        <a:p>
          <a:r>
            <a:rPr lang="en-US" dirty="0"/>
            <a:t>Converting invalid string to a number</a:t>
          </a:r>
        </a:p>
      </dgm:t>
    </dgm:pt>
    <dgm:pt modelId="{86314BC5-B894-4FA8-8F77-72B9AD83C684}" type="parTrans" cxnId="{C5D4784B-9936-4DC8-9CB5-560580DB1E3A}">
      <dgm:prSet/>
      <dgm:spPr/>
      <dgm:t>
        <a:bodyPr/>
        <a:lstStyle/>
        <a:p>
          <a:endParaRPr lang="en-US"/>
        </a:p>
      </dgm:t>
    </dgm:pt>
    <dgm:pt modelId="{98DF8962-9DA3-413C-920B-4E41FCECBCF7}" type="sibTrans" cxnId="{C5D4784B-9936-4DC8-9CB5-560580DB1E3A}">
      <dgm:prSet/>
      <dgm:spPr/>
      <dgm:t>
        <a:bodyPr/>
        <a:lstStyle/>
        <a:p>
          <a:endParaRPr lang="en-US"/>
        </a:p>
      </dgm:t>
    </dgm:pt>
    <dgm:pt modelId="{53207C68-AD4A-45A0-B27E-8CD606B4751C}">
      <dgm:prSet phldrT="[Text]"/>
      <dgm:spPr/>
      <dgm:t>
        <a:bodyPr/>
        <a:lstStyle/>
        <a:p>
          <a:r>
            <a:rPr lang="en-US" dirty="0"/>
            <a:t>7</a:t>
          </a:r>
        </a:p>
        <a:p>
          <a:r>
            <a:rPr lang="en-US" dirty="0"/>
            <a:t>Accessing a character that is out of bounds of a string</a:t>
          </a:r>
        </a:p>
      </dgm:t>
    </dgm:pt>
    <dgm:pt modelId="{29C10084-B43D-486F-9839-9797BA8E7F33}" type="parTrans" cxnId="{54F5B8D1-12F6-453D-9EB8-1EA897310FE2}">
      <dgm:prSet/>
      <dgm:spPr/>
      <dgm:t>
        <a:bodyPr/>
        <a:lstStyle/>
        <a:p>
          <a:endParaRPr lang="en-US"/>
        </a:p>
      </dgm:t>
    </dgm:pt>
    <dgm:pt modelId="{2E25FE96-CD83-42A6-8841-E34EC382FDDE}" type="sibTrans" cxnId="{54F5B8D1-12F6-453D-9EB8-1EA897310FE2}">
      <dgm:prSet/>
      <dgm:spPr/>
      <dgm:t>
        <a:bodyPr/>
        <a:lstStyle/>
        <a:p>
          <a:endParaRPr lang="en-US"/>
        </a:p>
      </dgm:t>
    </dgm:pt>
    <dgm:pt modelId="{72A35C47-8B21-4C1E-BC1F-B2FE3DB16DD4}" type="pres">
      <dgm:prSet presAssocID="{A28AFE7B-477C-403B-AA0D-0C5798DC4613}" presName="Name0" presStyleCnt="0">
        <dgm:presLayoutVars>
          <dgm:dir/>
          <dgm:resizeHandles val="exact"/>
        </dgm:presLayoutVars>
      </dgm:prSet>
      <dgm:spPr/>
    </dgm:pt>
    <dgm:pt modelId="{06FC5A97-0720-4AA7-9514-0BFE5534811F}" type="pres">
      <dgm:prSet presAssocID="{C87B1EEE-C967-4ED8-B9CD-84E5FE503BE1}" presName="node" presStyleLbl="node1" presStyleIdx="0" presStyleCnt="7">
        <dgm:presLayoutVars>
          <dgm:bulletEnabled val="1"/>
        </dgm:presLayoutVars>
      </dgm:prSet>
      <dgm:spPr/>
    </dgm:pt>
    <dgm:pt modelId="{353E0BEF-C0B4-4076-BD89-03BC14617B8F}" type="pres">
      <dgm:prSet presAssocID="{565C35BE-83FB-46CD-BF8C-3D4BA9D6D4C2}" presName="sibTrans" presStyleCnt="0"/>
      <dgm:spPr/>
    </dgm:pt>
    <dgm:pt modelId="{BD3530F4-323A-47FF-AA9B-5573DA615487}" type="pres">
      <dgm:prSet presAssocID="{3469150E-7A58-48AD-9402-9497A760FFDF}" presName="node" presStyleLbl="node1" presStyleIdx="1" presStyleCnt="7">
        <dgm:presLayoutVars>
          <dgm:bulletEnabled val="1"/>
        </dgm:presLayoutVars>
      </dgm:prSet>
      <dgm:spPr/>
    </dgm:pt>
    <dgm:pt modelId="{450ED396-46A1-4E2F-9AE1-4C8F1A986FD2}" type="pres">
      <dgm:prSet presAssocID="{2D8B097A-CC03-44FF-8C03-F9A65798F633}" presName="sibTrans" presStyleCnt="0"/>
      <dgm:spPr/>
    </dgm:pt>
    <dgm:pt modelId="{F2530142-C7A4-45BB-A674-367DF82CCC08}" type="pres">
      <dgm:prSet presAssocID="{DC0B6144-8490-47BD-A30E-3552EF81C385}" presName="node" presStyleLbl="node1" presStyleIdx="2" presStyleCnt="7">
        <dgm:presLayoutVars>
          <dgm:bulletEnabled val="1"/>
        </dgm:presLayoutVars>
      </dgm:prSet>
      <dgm:spPr/>
    </dgm:pt>
    <dgm:pt modelId="{81F1CB78-E590-49CF-A5F8-626FF4473782}" type="pres">
      <dgm:prSet presAssocID="{4B6DC44E-EEF7-4FBB-95BF-008D167B336D}" presName="sibTrans" presStyleCnt="0"/>
      <dgm:spPr/>
    </dgm:pt>
    <dgm:pt modelId="{EAE27C95-3C78-4BB5-8421-64EF9D522129}" type="pres">
      <dgm:prSet presAssocID="{66E9F729-73C9-41BD-A836-BB1C117C4526}" presName="node" presStyleLbl="node1" presStyleIdx="3" presStyleCnt="7">
        <dgm:presLayoutVars>
          <dgm:bulletEnabled val="1"/>
        </dgm:presLayoutVars>
      </dgm:prSet>
      <dgm:spPr/>
    </dgm:pt>
    <dgm:pt modelId="{4A95D89E-D93F-4765-B5EE-B0738FC45D29}" type="pres">
      <dgm:prSet presAssocID="{07B2A656-0768-49D2-B1EA-ADF236DC031B}" presName="sibTrans" presStyleCnt="0"/>
      <dgm:spPr/>
    </dgm:pt>
    <dgm:pt modelId="{B5E790D5-548A-4BF5-A65A-57A0A78E623D}" type="pres">
      <dgm:prSet presAssocID="{B8BF538A-5B77-46A6-B15F-CA865BDF115C}" presName="node" presStyleLbl="node1" presStyleIdx="4" presStyleCnt="7">
        <dgm:presLayoutVars>
          <dgm:bulletEnabled val="1"/>
        </dgm:presLayoutVars>
      </dgm:prSet>
      <dgm:spPr/>
    </dgm:pt>
    <dgm:pt modelId="{36B0026E-6694-46C4-9B67-F29412BEE39D}" type="pres">
      <dgm:prSet presAssocID="{D5863D15-82BE-494C-B07C-56BC5099EE47}" presName="sibTrans" presStyleCnt="0"/>
      <dgm:spPr/>
    </dgm:pt>
    <dgm:pt modelId="{F8A92863-5495-4CF8-9327-A0FF86608674}" type="pres">
      <dgm:prSet presAssocID="{AC2A155E-B882-40BF-AE4A-CCAB1A747F7F}" presName="node" presStyleLbl="node1" presStyleIdx="5" presStyleCnt="7">
        <dgm:presLayoutVars>
          <dgm:bulletEnabled val="1"/>
        </dgm:presLayoutVars>
      </dgm:prSet>
      <dgm:spPr/>
    </dgm:pt>
    <dgm:pt modelId="{73601606-FBE5-48AC-9B14-08678CE02616}" type="pres">
      <dgm:prSet presAssocID="{98DF8962-9DA3-413C-920B-4E41FCECBCF7}" presName="sibTrans" presStyleCnt="0"/>
      <dgm:spPr/>
    </dgm:pt>
    <dgm:pt modelId="{768EB099-3987-4A2D-92BB-E8600A0F0201}" type="pres">
      <dgm:prSet presAssocID="{53207C68-AD4A-45A0-B27E-8CD606B4751C}" presName="node" presStyleLbl="node1" presStyleIdx="6" presStyleCnt="7">
        <dgm:presLayoutVars>
          <dgm:bulletEnabled val="1"/>
        </dgm:presLayoutVars>
      </dgm:prSet>
      <dgm:spPr/>
    </dgm:pt>
  </dgm:ptLst>
  <dgm:cxnLst>
    <dgm:cxn modelId="{3DEE131D-C108-4F07-A3D2-02E96F26F8B1}" srcId="{A28AFE7B-477C-403B-AA0D-0C5798DC4613}" destId="{B8BF538A-5B77-46A6-B15F-CA865BDF115C}" srcOrd="4" destOrd="0" parTransId="{ABB39708-EE8B-4B82-AF50-CDBE388DF9DD}" sibTransId="{D5863D15-82BE-494C-B07C-56BC5099EE47}"/>
    <dgm:cxn modelId="{DB98F95B-BB7D-456E-B1AC-886DC7F7F579}" type="presOf" srcId="{DC0B6144-8490-47BD-A30E-3552EF81C385}" destId="{F2530142-C7A4-45BB-A674-367DF82CCC08}" srcOrd="0" destOrd="0" presId="urn:microsoft.com/office/officeart/2005/8/layout/hList6"/>
    <dgm:cxn modelId="{7E5D8249-CEB3-48D1-8AC5-7F0066EA13B1}" srcId="{C87B1EEE-C967-4ED8-B9CD-84E5FE503BE1}" destId="{F1AAF0F5-11F1-4E74-B322-206F687F62C3}" srcOrd="0" destOrd="0" parTransId="{29942763-4301-407F-B53F-0ABE3828C23E}" sibTransId="{2F68C4CC-B918-4417-99DE-D234A44EA06B}"/>
    <dgm:cxn modelId="{C5D4784B-9936-4DC8-9CB5-560580DB1E3A}" srcId="{A28AFE7B-477C-403B-AA0D-0C5798DC4613}" destId="{AC2A155E-B882-40BF-AE4A-CCAB1A747F7F}" srcOrd="5" destOrd="0" parTransId="{86314BC5-B894-4FA8-8F77-72B9AD83C684}" sibTransId="{98DF8962-9DA3-413C-920B-4E41FCECBCF7}"/>
    <dgm:cxn modelId="{A7B9516D-0D34-4180-A707-F9B929ED561B}" type="presOf" srcId="{66E9F729-73C9-41BD-A836-BB1C117C4526}" destId="{EAE27C95-3C78-4BB5-8421-64EF9D522129}" srcOrd="0" destOrd="0" presId="urn:microsoft.com/office/officeart/2005/8/layout/hList6"/>
    <dgm:cxn modelId="{FCF35D72-CC4C-42BF-8F16-ED5FFBABFB65}" type="presOf" srcId="{C87B1EEE-C967-4ED8-B9CD-84E5FE503BE1}" destId="{06FC5A97-0720-4AA7-9514-0BFE5534811F}" srcOrd="0" destOrd="0" presId="urn:microsoft.com/office/officeart/2005/8/layout/hList6"/>
    <dgm:cxn modelId="{9E037852-52FF-495F-AC35-A0CB9B745D90}" srcId="{A28AFE7B-477C-403B-AA0D-0C5798DC4613}" destId="{DC0B6144-8490-47BD-A30E-3552EF81C385}" srcOrd="2" destOrd="0" parTransId="{5B0D5374-A7EB-483C-96A8-0FCEC70563A8}" sibTransId="{4B6DC44E-EEF7-4FBB-95BF-008D167B336D}"/>
    <dgm:cxn modelId="{6C332358-A652-4979-8A2E-881FDE9BCB69}" type="presOf" srcId="{53207C68-AD4A-45A0-B27E-8CD606B4751C}" destId="{768EB099-3987-4A2D-92BB-E8600A0F0201}" srcOrd="0" destOrd="0" presId="urn:microsoft.com/office/officeart/2005/8/layout/hList6"/>
    <dgm:cxn modelId="{F7FFE683-AB3E-4AA2-B3B1-1EE18DD500E5}" type="presOf" srcId="{A28AFE7B-477C-403B-AA0D-0C5798DC4613}" destId="{72A35C47-8B21-4C1E-BC1F-B2FE3DB16DD4}" srcOrd="0" destOrd="0" presId="urn:microsoft.com/office/officeart/2005/8/layout/hList6"/>
    <dgm:cxn modelId="{C8860891-F3A0-4035-9673-B52153F468F1}" type="presOf" srcId="{8E982C81-E2E0-40C4-B4CF-5A41ACE9B88A}" destId="{BD3530F4-323A-47FF-AA9B-5573DA615487}" srcOrd="0" destOrd="1" presId="urn:microsoft.com/office/officeart/2005/8/layout/hList6"/>
    <dgm:cxn modelId="{F4D67F98-D2C4-4675-A7AF-8444B62F41EC}" srcId="{A28AFE7B-477C-403B-AA0D-0C5798DC4613}" destId="{3469150E-7A58-48AD-9402-9497A760FFDF}" srcOrd="1" destOrd="0" parTransId="{E749FF63-2A2F-446B-8C49-439C2DA040B4}" sibTransId="{2D8B097A-CC03-44FF-8C03-F9A65798F633}"/>
    <dgm:cxn modelId="{5E86B39F-E1A1-404C-8698-98A3657B106F}" type="presOf" srcId="{B8BF538A-5B77-46A6-B15F-CA865BDF115C}" destId="{B5E790D5-548A-4BF5-A65A-57A0A78E623D}" srcOrd="0" destOrd="0" presId="urn:microsoft.com/office/officeart/2005/8/layout/hList6"/>
    <dgm:cxn modelId="{24DC87A1-09A9-472C-9903-FFC4C97FFDB5}" type="presOf" srcId="{F1AAF0F5-11F1-4E74-B322-206F687F62C3}" destId="{06FC5A97-0720-4AA7-9514-0BFE5534811F}" srcOrd="0" destOrd="1" presId="urn:microsoft.com/office/officeart/2005/8/layout/hList6"/>
    <dgm:cxn modelId="{4E6087A5-8ADF-4910-BD54-E4E5597A1CC8}" srcId="{A28AFE7B-477C-403B-AA0D-0C5798DC4613}" destId="{66E9F729-73C9-41BD-A836-BB1C117C4526}" srcOrd="3" destOrd="0" parTransId="{BA6974D5-B3DE-457B-AF09-BC08094A91DF}" sibTransId="{07B2A656-0768-49D2-B1EA-ADF236DC031B}"/>
    <dgm:cxn modelId="{F7B376B8-AFD2-42E4-A038-5ABC24B771E5}" srcId="{A28AFE7B-477C-403B-AA0D-0C5798DC4613}" destId="{C87B1EEE-C967-4ED8-B9CD-84E5FE503BE1}" srcOrd="0" destOrd="0" parTransId="{A69EBF48-31F6-4DBA-B74A-23E79A503D97}" sibTransId="{565C35BE-83FB-46CD-BF8C-3D4BA9D6D4C2}"/>
    <dgm:cxn modelId="{5B798FC6-BB60-4E42-A43F-405D4B71E4C7}" type="presOf" srcId="{AC2A155E-B882-40BF-AE4A-CCAB1A747F7F}" destId="{F8A92863-5495-4CF8-9327-A0FF86608674}" srcOrd="0" destOrd="0" presId="urn:microsoft.com/office/officeart/2005/8/layout/hList6"/>
    <dgm:cxn modelId="{DA24A4CF-4DD8-45A2-8E87-AC7EEA1406A4}" type="presOf" srcId="{3469150E-7A58-48AD-9402-9497A760FFDF}" destId="{BD3530F4-323A-47FF-AA9B-5573DA615487}" srcOrd="0" destOrd="0" presId="urn:microsoft.com/office/officeart/2005/8/layout/hList6"/>
    <dgm:cxn modelId="{54F5B8D1-12F6-453D-9EB8-1EA897310FE2}" srcId="{A28AFE7B-477C-403B-AA0D-0C5798DC4613}" destId="{53207C68-AD4A-45A0-B27E-8CD606B4751C}" srcOrd="6" destOrd="0" parTransId="{29C10084-B43D-486F-9839-9797BA8E7F33}" sibTransId="{2E25FE96-CD83-42A6-8841-E34EC382FDDE}"/>
    <dgm:cxn modelId="{2E3DBAED-91DD-44EF-9939-106CA27C8610}" srcId="{3469150E-7A58-48AD-9402-9497A760FFDF}" destId="{8E982C81-E2E0-40C4-B4CF-5A41ACE9B88A}" srcOrd="0" destOrd="0" parTransId="{A85539AF-37FD-4ABB-A68B-3C29442CE3BF}" sibTransId="{1DB0592D-0580-4C5C-92A6-99F859DDEFF2}"/>
    <dgm:cxn modelId="{AE7A51F8-C3AE-42E3-8A55-049D50B7E302}" type="presParOf" srcId="{72A35C47-8B21-4C1E-BC1F-B2FE3DB16DD4}" destId="{06FC5A97-0720-4AA7-9514-0BFE5534811F}" srcOrd="0" destOrd="0" presId="urn:microsoft.com/office/officeart/2005/8/layout/hList6"/>
    <dgm:cxn modelId="{71175405-4CDD-4170-8B37-8A8698C45118}" type="presParOf" srcId="{72A35C47-8B21-4C1E-BC1F-B2FE3DB16DD4}" destId="{353E0BEF-C0B4-4076-BD89-03BC14617B8F}" srcOrd="1" destOrd="0" presId="urn:microsoft.com/office/officeart/2005/8/layout/hList6"/>
    <dgm:cxn modelId="{A99D8150-8387-4B1D-8D49-AAC192A940F4}" type="presParOf" srcId="{72A35C47-8B21-4C1E-BC1F-B2FE3DB16DD4}" destId="{BD3530F4-323A-47FF-AA9B-5573DA615487}" srcOrd="2" destOrd="0" presId="urn:microsoft.com/office/officeart/2005/8/layout/hList6"/>
    <dgm:cxn modelId="{76613670-67DD-4EF0-9E40-440E868E705B}" type="presParOf" srcId="{72A35C47-8B21-4C1E-BC1F-B2FE3DB16DD4}" destId="{450ED396-46A1-4E2F-9AE1-4C8F1A986FD2}" srcOrd="3" destOrd="0" presId="urn:microsoft.com/office/officeart/2005/8/layout/hList6"/>
    <dgm:cxn modelId="{E900FCB8-BC8A-4B0B-8DBE-3C155B4FB3FD}" type="presParOf" srcId="{72A35C47-8B21-4C1E-BC1F-B2FE3DB16DD4}" destId="{F2530142-C7A4-45BB-A674-367DF82CCC08}" srcOrd="4" destOrd="0" presId="urn:microsoft.com/office/officeart/2005/8/layout/hList6"/>
    <dgm:cxn modelId="{F6928D89-2C24-43BA-82EF-19E824BC4B77}" type="presParOf" srcId="{72A35C47-8B21-4C1E-BC1F-B2FE3DB16DD4}" destId="{81F1CB78-E590-49CF-A5F8-626FF4473782}" srcOrd="5" destOrd="0" presId="urn:microsoft.com/office/officeart/2005/8/layout/hList6"/>
    <dgm:cxn modelId="{28048027-9B81-4077-94EE-A7823266461E}" type="presParOf" srcId="{72A35C47-8B21-4C1E-BC1F-B2FE3DB16DD4}" destId="{EAE27C95-3C78-4BB5-8421-64EF9D522129}" srcOrd="6" destOrd="0" presId="urn:microsoft.com/office/officeart/2005/8/layout/hList6"/>
    <dgm:cxn modelId="{EE6565C0-045C-4431-9379-7DC22FA73576}" type="presParOf" srcId="{72A35C47-8B21-4C1E-BC1F-B2FE3DB16DD4}" destId="{4A95D89E-D93F-4765-B5EE-B0738FC45D29}" srcOrd="7" destOrd="0" presId="urn:microsoft.com/office/officeart/2005/8/layout/hList6"/>
    <dgm:cxn modelId="{909BBE09-DEA9-41D8-A9DF-6525471AB490}" type="presParOf" srcId="{72A35C47-8B21-4C1E-BC1F-B2FE3DB16DD4}" destId="{B5E790D5-548A-4BF5-A65A-57A0A78E623D}" srcOrd="8" destOrd="0" presId="urn:microsoft.com/office/officeart/2005/8/layout/hList6"/>
    <dgm:cxn modelId="{951A3745-3C48-477C-8DB0-BC2179ED4AD0}" type="presParOf" srcId="{72A35C47-8B21-4C1E-BC1F-B2FE3DB16DD4}" destId="{36B0026E-6694-46C4-9B67-F29412BEE39D}" srcOrd="9" destOrd="0" presId="urn:microsoft.com/office/officeart/2005/8/layout/hList6"/>
    <dgm:cxn modelId="{164E9E13-1A08-4B9B-A46E-4C54F07779EA}" type="presParOf" srcId="{72A35C47-8B21-4C1E-BC1F-B2FE3DB16DD4}" destId="{F8A92863-5495-4CF8-9327-A0FF86608674}" srcOrd="10" destOrd="0" presId="urn:microsoft.com/office/officeart/2005/8/layout/hList6"/>
    <dgm:cxn modelId="{E543D771-65CE-42CA-A427-EB6A960A1B7B}" type="presParOf" srcId="{72A35C47-8B21-4C1E-BC1F-B2FE3DB16DD4}" destId="{73601606-FBE5-48AC-9B14-08678CE02616}" srcOrd="11" destOrd="0" presId="urn:microsoft.com/office/officeart/2005/8/layout/hList6"/>
    <dgm:cxn modelId="{8A925543-CD3E-49B9-8690-F7D14B5F5B01}" type="presParOf" srcId="{72A35C47-8B21-4C1E-BC1F-B2FE3DB16DD4}" destId="{768EB099-3987-4A2D-92BB-E8600A0F0201}" srcOrd="12"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BBE8D0-C1F0-4E9C-B138-2773263D35FC}">
      <dsp:nvSpPr>
        <dsp:cNvPr id="0" name=""/>
        <dsp:cNvSpPr/>
      </dsp:nvSpPr>
      <dsp:spPr>
        <a:xfrm>
          <a:off x="3870523" y="1756000"/>
          <a:ext cx="2128242" cy="1012849"/>
        </a:xfrm>
        <a:custGeom>
          <a:avLst/>
          <a:gdLst/>
          <a:ahLst/>
          <a:cxnLst/>
          <a:rect l="0" t="0" r="0" b="0"/>
          <a:pathLst>
            <a:path>
              <a:moveTo>
                <a:pt x="0" y="0"/>
              </a:moveTo>
              <a:lnTo>
                <a:pt x="0" y="690227"/>
              </a:lnTo>
              <a:lnTo>
                <a:pt x="2128242" y="690227"/>
              </a:lnTo>
              <a:lnTo>
                <a:pt x="2128242" y="1012849"/>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A4E58E-9120-4AB6-AE06-3DC4BF2F4227}">
      <dsp:nvSpPr>
        <dsp:cNvPr id="0" name=""/>
        <dsp:cNvSpPr/>
      </dsp:nvSpPr>
      <dsp:spPr>
        <a:xfrm>
          <a:off x="1742281" y="1756000"/>
          <a:ext cx="2128242" cy="1012849"/>
        </a:xfrm>
        <a:custGeom>
          <a:avLst/>
          <a:gdLst/>
          <a:ahLst/>
          <a:cxnLst/>
          <a:rect l="0" t="0" r="0" b="0"/>
          <a:pathLst>
            <a:path>
              <a:moveTo>
                <a:pt x="2128242" y="0"/>
              </a:moveTo>
              <a:lnTo>
                <a:pt x="2128242" y="690227"/>
              </a:lnTo>
              <a:lnTo>
                <a:pt x="0" y="690227"/>
              </a:lnTo>
              <a:lnTo>
                <a:pt x="0" y="1012849"/>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9E2553A-64F0-445C-AF98-E57D7E707529}">
      <dsp:nvSpPr>
        <dsp:cNvPr id="0" name=""/>
        <dsp:cNvSpPr/>
      </dsp:nvSpPr>
      <dsp:spPr>
        <a:xfrm>
          <a:off x="2129234" y="728124"/>
          <a:ext cx="3482578" cy="102787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FCCCA1A-0F52-4081-94C3-F812244AE351}">
      <dsp:nvSpPr>
        <dsp:cNvPr id="0" name=""/>
        <dsp:cNvSpPr/>
      </dsp:nvSpPr>
      <dsp:spPr>
        <a:xfrm>
          <a:off x="2516187" y="1095729"/>
          <a:ext cx="3482578" cy="102787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Type of Error</a:t>
          </a:r>
        </a:p>
      </dsp:txBody>
      <dsp:txXfrm>
        <a:off x="2546292" y="1125834"/>
        <a:ext cx="3422368" cy="967665"/>
      </dsp:txXfrm>
    </dsp:sp>
    <dsp:sp modelId="{86E9B37A-5313-45BE-881D-A67016F0D64C}">
      <dsp:nvSpPr>
        <dsp:cNvPr id="0" name=""/>
        <dsp:cNvSpPr/>
      </dsp:nvSpPr>
      <dsp:spPr>
        <a:xfrm>
          <a:off x="992" y="2768849"/>
          <a:ext cx="3482578" cy="155408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ACE134D-907C-4398-B5CB-F144EADE9817}">
      <dsp:nvSpPr>
        <dsp:cNvPr id="0" name=""/>
        <dsp:cNvSpPr/>
      </dsp:nvSpPr>
      <dsp:spPr>
        <a:xfrm>
          <a:off x="387945" y="3136455"/>
          <a:ext cx="3482578" cy="155408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Compile Time Error</a:t>
          </a:r>
        </a:p>
      </dsp:txBody>
      <dsp:txXfrm>
        <a:off x="433463" y="3181973"/>
        <a:ext cx="3391542" cy="1463051"/>
      </dsp:txXfrm>
    </dsp:sp>
    <dsp:sp modelId="{A5FBF65E-1981-46AB-A57E-33D055DCB3FB}">
      <dsp:nvSpPr>
        <dsp:cNvPr id="0" name=""/>
        <dsp:cNvSpPr/>
      </dsp:nvSpPr>
      <dsp:spPr>
        <a:xfrm>
          <a:off x="4257476" y="2768849"/>
          <a:ext cx="3482578" cy="149393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94FF528-627D-416B-8B4C-959D2A715175}">
      <dsp:nvSpPr>
        <dsp:cNvPr id="0" name=""/>
        <dsp:cNvSpPr/>
      </dsp:nvSpPr>
      <dsp:spPr>
        <a:xfrm>
          <a:off x="4644429" y="3136455"/>
          <a:ext cx="3482578" cy="149393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Run Time Error</a:t>
          </a:r>
        </a:p>
      </dsp:txBody>
      <dsp:txXfrm>
        <a:off x="4688185" y="3180211"/>
        <a:ext cx="3395066" cy="14064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9AEE6A-9971-4707-A0AA-ADDFA63FF35D}">
      <dsp:nvSpPr>
        <dsp:cNvPr id="0" name=""/>
        <dsp:cNvSpPr/>
      </dsp:nvSpPr>
      <dsp:spPr>
        <a:xfrm>
          <a:off x="0" y="463660"/>
          <a:ext cx="11212871" cy="428400"/>
        </a:xfrm>
        <a:prstGeom prst="rect">
          <a:avLst/>
        </a:prstGeom>
        <a:solidFill>
          <a:schemeClr val="lt1">
            <a:alpha val="90000"/>
            <a:hueOff val="0"/>
            <a:satOff val="0"/>
            <a:lumOff val="0"/>
            <a:alphaOff val="0"/>
          </a:schemeClr>
        </a:solidFill>
        <a:ln w="12700" cap="flat" cmpd="sng" algn="ctr">
          <a:solidFill>
            <a:srgbClr val="FF0000"/>
          </a:solidFill>
          <a:prstDash val="solid"/>
        </a:ln>
        <a:effectLst/>
      </dsp:spPr>
      <dsp:style>
        <a:lnRef idx="2">
          <a:scrgbClr r="0" g="0" b="0"/>
        </a:lnRef>
        <a:fillRef idx="1">
          <a:scrgbClr r="0" g="0" b="0"/>
        </a:fillRef>
        <a:effectRef idx="0">
          <a:scrgbClr r="0" g="0" b="0"/>
        </a:effectRef>
        <a:fontRef idx="minor"/>
      </dsp:style>
    </dsp:sp>
    <dsp:sp modelId="{59F1F9EE-1D06-4567-9822-CBC07693F585}">
      <dsp:nvSpPr>
        <dsp:cNvPr id="0" name=""/>
        <dsp:cNvSpPr/>
      </dsp:nvSpPr>
      <dsp:spPr>
        <a:xfrm>
          <a:off x="560643" y="157678"/>
          <a:ext cx="7849009" cy="556901"/>
        </a:xfrm>
        <a:prstGeom prst="roundRect">
          <a:avLst/>
        </a:prstGeom>
        <a:solidFill>
          <a:schemeClr val="bg1"/>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6674" tIns="0" rIns="296674" bIns="0"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tx1"/>
              </a:solidFill>
            </a:rPr>
            <a:t>Missing Semicolons</a:t>
          </a:r>
        </a:p>
      </dsp:txBody>
      <dsp:txXfrm>
        <a:off x="587829" y="184864"/>
        <a:ext cx="7794637" cy="502529"/>
      </dsp:txXfrm>
    </dsp:sp>
    <dsp:sp modelId="{826AABCB-A9D3-40F4-9188-38D82E5FDFD0}">
      <dsp:nvSpPr>
        <dsp:cNvPr id="0" name=""/>
        <dsp:cNvSpPr/>
      </dsp:nvSpPr>
      <dsp:spPr>
        <a:xfrm>
          <a:off x="0" y="1234780"/>
          <a:ext cx="11212871"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9624529-2A56-4A8C-8B96-593FC2C50E5C}">
      <dsp:nvSpPr>
        <dsp:cNvPr id="0" name=""/>
        <dsp:cNvSpPr/>
      </dsp:nvSpPr>
      <dsp:spPr>
        <a:xfrm>
          <a:off x="560643" y="983860"/>
          <a:ext cx="7849009" cy="501840"/>
        </a:xfrm>
        <a:prstGeom prst="roundRect">
          <a:avLst/>
        </a:prstGeom>
        <a:solidFill>
          <a:schemeClr val="bg1"/>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6674" tIns="0" rIns="296674" bIns="0"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tx1"/>
              </a:solidFill>
            </a:rPr>
            <a:t>Missing brackets in classes and methods</a:t>
          </a:r>
        </a:p>
      </dsp:txBody>
      <dsp:txXfrm>
        <a:off x="585141" y="1008358"/>
        <a:ext cx="7800013" cy="452844"/>
      </dsp:txXfrm>
    </dsp:sp>
    <dsp:sp modelId="{8A0E91C5-13BB-4EBE-8030-9B20746568BD}">
      <dsp:nvSpPr>
        <dsp:cNvPr id="0" name=""/>
        <dsp:cNvSpPr/>
      </dsp:nvSpPr>
      <dsp:spPr>
        <a:xfrm>
          <a:off x="0" y="2005900"/>
          <a:ext cx="11212871"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CBC27D7-6426-4458-9AAC-EB401B921A49}">
      <dsp:nvSpPr>
        <dsp:cNvPr id="0" name=""/>
        <dsp:cNvSpPr/>
      </dsp:nvSpPr>
      <dsp:spPr>
        <a:xfrm>
          <a:off x="560643" y="1754980"/>
          <a:ext cx="7849009" cy="501840"/>
        </a:xfrm>
        <a:prstGeom prst="roundRect">
          <a:avLst/>
        </a:prstGeom>
        <a:solidFill>
          <a:schemeClr val="bg1"/>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6674" tIns="0" rIns="296674" bIns="0"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tx1"/>
              </a:solidFill>
            </a:rPr>
            <a:t>Misspelling of identifiers and keywords</a:t>
          </a:r>
        </a:p>
      </dsp:txBody>
      <dsp:txXfrm>
        <a:off x="585141" y="1779478"/>
        <a:ext cx="7800013" cy="452844"/>
      </dsp:txXfrm>
    </dsp:sp>
    <dsp:sp modelId="{287CA479-3503-41DA-B6A5-764BE1A82D59}">
      <dsp:nvSpPr>
        <dsp:cNvPr id="0" name=""/>
        <dsp:cNvSpPr/>
      </dsp:nvSpPr>
      <dsp:spPr>
        <a:xfrm>
          <a:off x="0" y="2777020"/>
          <a:ext cx="11212871"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237017C-4764-436B-8CB2-EFA76FF29415}">
      <dsp:nvSpPr>
        <dsp:cNvPr id="0" name=""/>
        <dsp:cNvSpPr/>
      </dsp:nvSpPr>
      <dsp:spPr>
        <a:xfrm>
          <a:off x="533592" y="2513750"/>
          <a:ext cx="7849009" cy="501840"/>
        </a:xfrm>
        <a:prstGeom prst="roundRect">
          <a:avLst/>
        </a:prstGeom>
        <a:solidFill>
          <a:schemeClr val="bg1"/>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6674" tIns="0" rIns="296674" bIns="0"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tx1"/>
              </a:solidFill>
            </a:rPr>
            <a:t>Missing double quotes in string</a:t>
          </a:r>
        </a:p>
      </dsp:txBody>
      <dsp:txXfrm>
        <a:off x="558090" y="2538248"/>
        <a:ext cx="7800013" cy="452844"/>
      </dsp:txXfrm>
    </dsp:sp>
    <dsp:sp modelId="{34F70579-F7B6-4C71-A930-1531A8CCC497}">
      <dsp:nvSpPr>
        <dsp:cNvPr id="0" name=""/>
        <dsp:cNvSpPr/>
      </dsp:nvSpPr>
      <dsp:spPr>
        <a:xfrm>
          <a:off x="0" y="3548140"/>
          <a:ext cx="11212871"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C9C0EAD-63D2-4FDD-8592-C08AD098FA82}">
      <dsp:nvSpPr>
        <dsp:cNvPr id="0" name=""/>
        <dsp:cNvSpPr/>
      </dsp:nvSpPr>
      <dsp:spPr>
        <a:xfrm>
          <a:off x="560643" y="3297220"/>
          <a:ext cx="7849009" cy="501840"/>
        </a:xfrm>
        <a:prstGeom prst="roundRect">
          <a:avLst/>
        </a:prstGeom>
        <a:solidFill>
          <a:schemeClr val="bg1"/>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6674" tIns="0" rIns="296674" bIns="0"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tx1"/>
              </a:solidFill>
            </a:rPr>
            <a:t>Used of undeclared variables</a:t>
          </a:r>
        </a:p>
      </dsp:txBody>
      <dsp:txXfrm>
        <a:off x="585141" y="3321718"/>
        <a:ext cx="7800013" cy="452844"/>
      </dsp:txXfrm>
    </dsp:sp>
    <dsp:sp modelId="{CFE65A33-666C-440C-B03C-551D08901204}">
      <dsp:nvSpPr>
        <dsp:cNvPr id="0" name=""/>
        <dsp:cNvSpPr/>
      </dsp:nvSpPr>
      <dsp:spPr>
        <a:xfrm>
          <a:off x="0" y="4319260"/>
          <a:ext cx="11212871"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CC16E50-7B7F-4AFB-8C35-F365C20F137D}">
      <dsp:nvSpPr>
        <dsp:cNvPr id="0" name=""/>
        <dsp:cNvSpPr/>
      </dsp:nvSpPr>
      <dsp:spPr>
        <a:xfrm>
          <a:off x="560643" y="4068340"/>
          <a:ext cx="7849009" cy="501840"/>
        </a:xfrm>
        <a:prstGeom prst="roundRect">
          <a:avLst/>
        </a:prstGeom>
        <a:solidFill>
          <a:schemeClr val="bg1"/>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6674" tIns="0" rIns="296674" bIns="0"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tx1"/>
              </a:solidFill>
            </a:rPr>
            <a:t>Bad Reference to objects</a:t>
          </a:r>
        </a:p>
      </dsp:txBody>
      <dsp:txXfrm>
        <a:off x="585141" y="4092838"/>
        <a:ext cx="7800013" cy="452844"/>
      </dsp:txXfrm>
    </dsp:sp>
    <dsp:sp modelId="{09E635DF-A225-406B-AAA9-4045BEAFE4AA}">
      <dsp:nvSpPr>
        <dsp:cNvPr id="0" name=""/>
        <dsp:cNvSpPr/>
      </dsp:nvSpPr>
      <dsp:spPr>
        <a:xfrm>
          <a:off x="0" y="5090380"/>
          <a:ext cx="11212871"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D5FC2A7-0BA8-4300-83AF-7E939F36E271}">
      <dsp:nvSpPr>
        <dsp:cNvPr id="0" name=""/>
        <dsp:cNvSpPr/>
      </dsp:nvSpPr>
      <dsp:spPr>
        <a:xfrm>
          <a:off x="560643" y="4839460"/>
          <a:ext cx="7849009" cy="501840"/>
        </a:xfrm>
        <a:prstGeom prst="roundRect">
          <a:avLst/>
        </a:prstGeom>
        <a:solidFill>
          <a:schemeClr val="bg1"/>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6674" tIns="0" rIns="296674" bIns="0"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tx1"/>
              </a:solidFill>
            </a:rPr>
            <a:t>Use of = in place of == operator</a:t>
          </a:r>
        </a:p>
      </dsp:txBody>
      <dsp:txXfrm>
        <a:off x="585141" y="4863958"/>
        <a:ext cx="7800013" cy="4528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FC5A97-0720-4AA7-9514-0BFE5534811F}">
      <dsp:nvSpPr>
        <dsp:cNvPr id="0" name=""/>
        <dsp:cNvSpPr/>
      </dsp:nvSpPr>
      <dsp:spPr>
        <a:xfrm rot="16200000">
          <a:off x="-1130698" y="1139000"/>
          <a:ext cx="3810000" cy="1531999"/>
        </a:xfrm>
        <a:prstGeom prst="flowChartManualOperati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5930" bIns="0" numCol="1" spcCol="1270" anchor="t" anchorCtr="0">
          <a:noAutofit/>
        </a:bodyPr>
        <a:lstStyle/>
        <a:p>
          <a:pPr marL="0" lvl="0" indent="0" algn="l" defTabSz="933450">
            <a:lnSpc>
              <a:spcPct val="90000"/>
            </a:lnSpc>
            <a:spcBef>
              <a:spcPct val="0"/>
            </a:spcBef>
            <a:spcAft>
              <a:spcPct val="35000"/>
            </a:spcAft>
            <a:buNone/>
          </a:pPr>
          <a:r>
            <a:rPr lang="en-US" sz="2100" kern="1200" dirty="0"/>
            <a:t>1</a:t>
          </a:r>
        </a:p>
        <a:p>
          <a:pPr marL="0" lvl="0" indent="0" algn="l" defTabSz="933450">
            <a:lnSpc>
              <a:spcPct val="90000"/>
            </a:lnSpc>
            <a:spcBef>
              <a:spcPct val="0"/>
            </a:spcBef>
            <a:spcAft>
              <a:spcPct val="35000"/>
            </a:spcAft>
            <a:buNone/>
          </a:pPr>
          <a:endParaRPr lang="en-US" sz="2100" kern="1200" dirty="0"/>
        </a:p>
        <a:p>
          <a:pPr marL="0" lvl="0" indent="0" algn="l" defTabSz="933450">
            <a:lnSpc>
              <a:spcPct val="90000"/>
            </a:lnSpc>
            <a:spcBef>
              <a:spcPct val="0"/>
            </a:spcBef>
            <a:spcAft>
              <a:spcPct val="35000"/>
            </a:spcAft>
            <a:buNone/>
          </a:pPr>
          <a:r>
            <a:rPr lang="en-US" sz="2100" kern="1200" dirty="0"/>
            <a:t>Dividing an Integer by Zero</a:t>
          </a:r>
        </a:p>
        <a:p>
          <a:pPr marL="171450" lvl="1" indent="-171450" algn="l" defTabSz="711200">
            <a:lnSpc>
              <a:spcPct val="90000"/>
            </a:lnSpc>
            <a:spcBef>
              <a:spcPct val="0"/>
            </a:spcBef>
            <a:spcAft>
              <a:spcPct val="15000"/>
            </a:spcAft>
            <a:buChar char="•"/>
          </a:pPr>
          <a:endParaRPr lang="en-US" sz="1600" kern="1200" dirty="0"/>
        </a:p>
      </dsp:txBody>
      <dsp:txXfrm rot="5400000">
        <a:off x="8302" y="762000"/>
        <a:ext cx="1531999" cy="2286000"/>
      </dsp:txXfrm>
    </dsp:sp>
    <dsp:sp modelId="{BD3530F4-323A-47FF-AA9B-5573DA615487}">
      <dsp:nvSpPr>
        <dsp:cNvPr id="0" name=""/>
        <dsp:cNvSpPr/>
      </dsp:nvSpPr>
      <dsp:spPr>
        <a:xfrm rot="16200000">
          <a:off x="516201" y="1139000"/>
          <a:ext cx="3810000" cy="1531999"/>
        </a:xfrm>
        <a:prstGeom prst="flowChartManualOperati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5930" bIns="0" numCol="1" spcCol="1270" anchor="t" anchorCtr="0">
          <a:noAutofit/>
        </a:bodyPr>
        <a:lstStyle/>
        <a:p>
          <a:pPr marL="0" lvl="0" indent="0" algn="l" defTabSz="933450">
            <a:lnSpc>
              <a:spcPct val="90000"/>
            </a:lnSpc>
            <a:spcBef>
              <a:spcPct val="0"/>
            </a:spcBef>
            <a:spcAft>
              <a:spcPct val="35000"/>
            </a:spcAft>
            <a:buNone/>
          </a:pPr>
          <a:r>
            <a:rPr lang="en-US" sz="2100" kern="1200" dirty="0"/>
            <a:t>2</a:t>
          </a:r>
        </a:p>
        <a:p>
          <a:pPr marL="0" lvl="0" indent="0" algn="l" defTabSz="933450">
            <a:lnSpc>
              <a:spcPct val="90000"/>
            </a:lnSpc>
            <a:spcBef>
              <a:spcPct val="0"/>
            </a:spcBef>
            <a:spcAft>
              <a:spcPct val="35000"/>
            </a:spcAft>
            <a:buNone/>
          </a:pPr>
          <a:endParaRPr lang="en-US" sz="2100" kern="1200" dirty="0"/>
        </a:p>
        <a:p>
          <a:pPr marL="0" lvl="0" indent="0" algn="l" defTabSz="933450">
            <a:lnSpc>
              <a:spcPct val="90000"/>
            </a:lnSpc>
            <a:spcBef>
              <a:spcPct val="0"/>
            </a:spcBef>
            <a:spcAft>
              <a:spcPct val="35000"/>
            </a:spcAft>
            <a:buNone/>
          </a:pPr>
          <a:r>
            <a:rPr lang="en-US" sz="2100" kern="1200" dirty="0"/>
            <a:t> Out of the bounds of an array</a:t>
          </a:r>
        </a:p>
        <a:p>
          <a:pPr marL="171450" lvl="1" indent="-171450" algn="l" defTabSz="711200">
            <a:lnSpc>
              <a:spcPct val="90000"/>
            </a:lnSpc>
            <a:spcBef>
              <a:spcPct val="0"/>
            </a:spcBef>
            <a:spcAft>
              <a:spcPct val="15000"/>
            </a:spcAft>
            <a:buChar char="•"/>
          </a:pPr>
          <a:endParaRPr lang="en-US" sz="1600" kern="1200" dirty="0"/>
        </a:p>
      </dsp:txBody>
      <dsp:txXfrm rot="5400000">
        <a:off x="1655201" y="762000"/>
        <a:ext cx="1531999" cy="2286000"/>
      </dsp:txXfrm>
    </dsp:sp>
    <dsp:sp modelId="{F2530142-C7A4-45BB-A674-367DF82CCC08}">
      <dsp:nvSpPr>
        <dsp:cNvPr id="0" name=""/>
        <dsp:cNvSpPr/>
      </dsp:nvSpPr>
      <dsp:spPr>
        <a:xfrm rot="16200000">
          <a:off x="2163100" y="1139000"/>
          <a:ext cx="3810000" cy="1531999"/>
        </a:xfrm>
        <a:prstGeom prst="flowChartManualOperati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5930" bIns="0" numCol="1" spcCol="1270" anchor="ctr" anchorCtr="0">
          <a:noAutofit/>
        </a:bodyPr>
        <a:lstStyle/>
        <a:p>
          <a:pPr marL="0" lvl="0" indent="0" algn="ctr" defTabSz="933450">
            <a:lnSpc>
              <a:spcPct val="90000"/>
            </a:lnSpc>
            <a:spcBef>
              <a:spcPct val="0"/>
            </a:spcBef>
            <a:spcAft>
              <a:spcPct val="35000"/>
            </a:spcAft>
            <a:buNone/>
          </a:pPr>
          <a:r>
            <a:rPr lang="en-US" sz="2100" kern="1200" dirty="0"/>
            <a:t>3</a:t>
          </a:r>
        </a:p>
        <a:p>
          <a:pPr marL="0" lvl="0" indent="0" algn="ctr" defTabSz="933450">
            <a:lnSpc>
              <a:spcPct val="90000"/>
            </a:lnSpc>
            <a:spcBef>
              <a:spcPct val="0"/>
            </a:spcBef>
            <a:spcAft>
              <a:spcPct val="35000"/>
            </a:spcAft>
            <a:buNone/>
          </a:pPr>
          <a:r>
            <a:rPr lang="en-US" sz="2100" kern="1200" dirty="0"/>
            <a:t>Store a value into an array of an incompatible type</a:t>
          </a:r>
        </a:p>
      </dsp:txBody>
      <dsp:txXfrm rot="5400000">
        <a:off x="3302100" y="762000"/>
        <a:ext cx="1531999" cy="2286000"/>
      </dsp:txXfrm>
    </dsp:sp>
    <dsp:sp modelId="{EAE27C95-3C78-4BB5-8421-64EF9D522129}">
      <dsp:nvSpPr>
        <dsp:cNvPr id="0" name=""/>
        <dsp:cNvSpPr/>
      </dsp:nvSpPr>
      <dsp:spPr>
        <a:xfrm rot="16200000">
          <a:off x="3810000" y="1139000"/>
          <a:ext cx="3810000" cy="1531999"/>
        </a:xfrm>
        <a:prstGeom prst="flowChartManualOperati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5930" bIns="0" numCol="1" spcCol="1270" anchor="ctr" anchorCtr="0">
          <a:noAutofit/>
        </a:bodyPr>
        <a:lstStyle/>
        <a:p>
          <a:pPr marL="0" lvl="0" indent="0" algn="ctr" defTabSz="933450">
            <a:lnSpc>
              <a:spcPct val="90000"/>
            </a:lnSpc>
            <a:spcBef>
              <a:spcPct val="0"/>
            </a:spcBef>
            <a:spcAft>
              <a:spcPct val="35000"/>
            </a:spcAft>
            <a:buNone/>
          </a:pPr>
          <a:r>
            <a:rPr lang="en-US" sz="2100" kern="1200" dirty="0"/>
            <a:t>4</a:t>
          </a:r>
        </a:p>
        <a:p>
          <a:pPr marL="0" lvl="0" indent="0" algn="ctr" defTabSz="933450">
            <a:lnSpc>
              <a:spcPct val="90000"/>
            </a:lnSpc>
            <a:spcBef>
              <a:spcPct val="0"/>
            </a:spcBef>
            <a:spcAft>
              <a:spcPct val="35000"/>
            </a:spcAft>
            <a:buNone/>
          </a:pPr>
          <a:r>
            <a:rPr lang="en-US" sz="2100" kern="1200" dirty="0"/>
            <a:t> Passing a parameter that is not in a valid range or value for method</a:t>
          </a:r>
        </a:p>
      </dsp:txBody>
      <dsp:txXfrm rot="5400000">
        <a:off x="4949000" y="762000"/>
        <a:ext cx="1531999" cy="2286000"/>
      </dsp:txXfrm>
    </dsp:sp>
    <dsp:sp modelId="{B5E790D5-548A-4BF5-A65A-57A0A78E623D}">
      <dsp:nvSpPr>
        <dsp:cNvPr id="0" name=""/>
        <dsp:cNvSpPr/>
      </dsp:nvSpPr>
      <dsp:spPr>
        <a:xfrm rot="16200000">
          <a:off x="5456899" y="1139000"/>
          <a:ext cx="3810000" cy="1531999"/>
        </a:xfrm>
        <a:prstGeom prst="flowChartManualOperati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5930" bIns="0" numCol="1" spcCol="1270" anchor="ctr" anchorCtr="0">
          <a:noAutofit/>
        </a:bodyPr>
        <a:lstStyle/>
        <a:p>
          <a:pPr marL="0" lvl="0" indent="0" algn="ctr" defTabSz="933450">
            <a:lnSpc>
              <a:spcPct val="90000"/>
            </a:lnSpc>
            <a:spcBef>
              <a:spcPct val="0"/>
            </a:spcBef>
            <a:spcAft>
              <a:spcPct val="35000"/>
            </a:spcAft>
            <a:buNone/>
          </a:pPr>
          <a:r>
            <a:rPr lang="en-US" sz="2100" kern="1200" dirty="0"/>
            <a:t>5</a:t>
          </a:r>
        </a:p>
        <a:p>
          <a:pPr marL="0" lvl="0" indent="0" algn="ctr" defTabSz="933450">
            <a:lnSpc>
              <a:spcPct val="90000"/>
            </a:lnSpc>
            <a:spcBef>
              <a:spcPct val="0"/>
            </a:spcBef>
            <a:spcAft>
              <a:spcPct val="35000"/>
            </a:spcAft>
            <a:buNone/>
          </a:pPr>
          <a:r>
            <a:rPr lang="en-US" sz="2100" kern="1200" dirty="0"/>
            <a:t>Attempting negative size of an array</a:t>
          </a:r>
        </a:p>
      </dsp:txBody>
      <dsp:txXfrm rot="5400000">
        <a:off x="6595899" y="762000"/>
        <a:ext cx="1531999" cy="2286000"/>
      </dsp:txXfrm>
    </dsp:sp>
    <dsp:sp modelId="{F8A92863-5495-4CF8-9327-A0FF86608674}">
      <dsp:nvSpPr>
        <dsp:cNvPr id="0" name=""/>
        <dsp:cNvSpPr/>
      </dsp:nvSpPr>
      <dsp:spPr>
        <a:xfrm rot="16200000">
          <a:off x="7103798" y="1139000"/>
          <a:ext cx="3810000" cy="1531999"/>
        </a:xfrm>
        <a:prstGeom prst="flowChartManualOperati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5930" bIns="0" numCol="1" spcCol="1270" anchor="ctr" anchorCtr="0">
          <a:noAutofit/>
        </a:bodyPr>
        <a:lstStyle/>
        <a:p>
          <a:pPr marL="0" lvl="0" indent="0" algn="ctr" defTabSz="933450">
            <a:lnSpc>
              <a:spcPct val="90000"/>
            </a:lnSpc>
            <a:spcBef>
              <a:spcPct val="0"/>
            </a:spcBef>
            <a:spcAft>
              <a:spcPct val="35000"/>
            </a:spcAft>
            <a:buNone/>
          </a:pPr>
          <a:r>
            <a:rPr lang="en-US" sz="2100" kern="1200" dirty="0"/>
            <a:t>6</a:t>
          </a:r>
        </a:p>
        <a:p>
          <a:pPr marL="0" lvl="0" indent="0" algn="ctr" defTabSz="933450">
            <a:lnSpc>
              <a:spcPct val="90000"/>
            </a:lnSpc>
            <a:spcBef>
              <a:spcPct val="0"/>
            </a:spcBef>
            <a:spcAft>
              <a:spcPct val="35000"/>
            </a:spcAft>
            <a:buNone/>
          </a:pPr>
          <a:r>
            <a:rPr lang="en-US" sz="2100" kern="1200" dirty="0"/>
            <a:t>Converting invalid string to a number</a:t>
          </a:r>
        </a:p>
      </dsp:txBody>
      <dsp:txXfrm rot="5400000">
        <a:off x="8242798" y="762000"/>
        <a:ext cx="1531999" cy="2286000"/>
      </dsp:txXfrm>
    </dsp:sp>
    <dsp:sp modelId="{768EB099-3987-4A2D-92BB-E8600A0F0201}">
      <dsp:nvSpPr>
        <dsp:cNvPr id="0" name=""/>
        <dsp:cNvSpPr/>
      </dsp:nvSpPr>
      <dsp:spPr>
        <a:xfrm rot="16200000">
          <a:off x="8750698" y="1139000"/>
          <a:ext cx="3810000" cy="1531999"/>
        </a:xfrm>
        <a:prstGeom prst="flowChartManualOperati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5930" bIns="0" numCol="1" spcCol="1270" anchor="ctr" anchorCtr="0">
          <a:noAutofit/>
        </a:bodyPr>
        <a:lstStyle/>
        <a:p>
          <a:pPr marL="0" lvl="0" indent="0" algn="ctr" defTabSz="933450">
            <a:lnSpc>
              <a:spcPct val="90000"/>
            </a:lnSpc>
            <a:spcBef>
              <a:spcPct val="0"/>
            </a:spcBef>
            <a:spcAft>
              <a:spcPct val="35000"/>
            </a:spcAft>
            <a:buNone/>
          </a:pPr>
          <a:r>
            <a:rPr lang="en-US" sz="2100" kern="1200" dirty="0"/>
            <a:t>7</a:t>
          </a:r>
        </a:p>
        <a:p>
          <a:pPr marL="0" lvl="0" indent="0" algn="ctr" defTabSz="933450">
            <a:lnSpc>
              <a:spcPct val="90000"/>
            </a:lnSpc>
            <a:spcBef>
              <a:spcPct val="0"/>
            </a:spcBef>
            <a:spcAft>
              <a:spcPct val="35000"/>
            </a:spcAft>
            <a:buNone/>
          </a:pPr>
          <a:r>
            <a:rPr lang="en-US" sz="2100" kern="1200" dirty="0"/>
            <a:t>Accessing a character that is out of bounds of a string</a:t>
          </a:r>
        </a:p>
      </dsp:txBody>
      <dsp:txXfrm rot="5400000">
        <a:off x="9889698" y="762000"/>
        <a:ext cx="1531999" cy="228600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40E5EB6-5DAF-4980-B446-9539BF1CFFAB}" type="datetimeFigureOut">
              <a:rPr lang="en-US" smtClean="0"/>
              <a:pPr/>
              <a:t>9/11/2024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BFDF2B1-43BD-482C-9E62-B39F4B6BEB87}" type="slidenum">
              <a:rPr lang="en-US" smtClean="0"/>
              <a:pPr/>
              <a:t>‹#›</a:t>
            </a:fld>
            <a:endParaRPr lang="en-US"/>
          </a:p>
        </p:txBody>
      </p:sp>
    </p:spTree>
    <p:extLst>
      <p:ext uri="{BB962C8B-B14F-4D97-AF65-F5344CB8AC3E}">
        <p14:creationId xmlns:p14="http://schemas.microsoft.com/office/powerpoint/2010/main" val="33238938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useBgFill="1">
        <p:nvSpPr>
          <p:cNvPr id="13" name="Rounded Rectangle 12"/>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9578AC21-961D-4603-9B78-D77ED18E7A74}" type="datetimeFigureOut">
              <a:rPr lang="en-US" smtClean="0"/>
              <a:pPr/>
              <a:t>9/11/2024</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E09A66A1-C760-4BFC-894E-C0032962BE07}" type="slidenum">
              <a:rPr lang="en-US" smtClean="0"/>
              <a:pPr/>
              <a:t>‹#›</a:t>
            </a:fld>
            <a:endParaRPr lang="en-US"/>
          </a:p>
        </p:txBody>
      </p:sp>
      <p:sp>
        <p:nvSpPr>
          <p:cNvPr id="7" name="Rectangle 6"/>
          <p:cNvSpPr/>
          <p:nvPr/>
        </p:nvSpPr>
        <p:spPr>
          <a:xfrm>
            <a:off x="83909" y="1449304"/>
            <a:ext cx="12028716"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83909" y="1396720"/>
            <a:ext cx="12028716"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Rectangle 10"/>
          <p:cNvSpPr/>
          <p:nvPr/>
        </p:nvSpPr>
        <p:spPr>
          <a:xfrm>
            <a:off x="83909" y="2976649"/>
            <a:ext cx="12028716"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9578AC21-961D-4603-9B78-D77ED18E7A74}" type="datetimeFigureOut">
              <a:rPr lang="en-US" smtClean="0"/>
              <a:pPr/>
              <a:t>9/11/2024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9A66A1-C760-4BFC-894E-C0032962BE07}" type="slidenum">
              <a:rPr lang="en-US" smtClean="0"/>
              <a:pPr/>
              <a:t>‹#›</a:t>
            </a:fld>
            <a:endParaRPr lang="en-US"/>
          </a:p>
        </p:txBody>
      </p:sp>
      <p:sp>
        <p:nvSpPr>
          <p:cNvPr id="8" name="Content Placeholder 7"/>
          <p:cNvSpPr>
            <a:spLocks noGrp="1"/>
          </p:cNvSpPr>
          <p:nvPr>
            <p:ph sz="quarter" idx="1"/>
          </p:nvPr>
        </p:nvSpPr>
        <p:spPr>
          <a:xfrm>
            <a:off x="1219200" y="1447800"/>
            <a:ext cx="103632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useBgFill="1">
        <p:nvSpPr>
          <p:cNvPr id="10" name="Rounded Rectangle 9"/>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Title 1"/>
          <p:cNvSpPr>
            <a:spLocks noGrp="1"/>
          </p:cNvSpPr>
          <p:nvPr>
            <p:ph type="title"/>
          </p:nvPr>
        </p:nvSpPr>
        <p:spPr>
          <a:xfrm>
            <a:off x="963084" y="952501"/>
            <a:ext cx="103632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963084" y="2547938"/>
            <a:ext cx="103632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9578AC21-961D-4603-9B78-D77ED18E7A74}" type="datetimeFigureOut">
              <a:rPr lang="en-US" smtClean="0"/>
              <a:pPr/>
              <a:t>9/11/2024</a:t>
            </a:fld>
            <a:endParaRPr lang="en-US"/>
          </a:p>
        </p:txBody>
      </p:sp>
      <p:sp>
        <p:nvSpPr>
          <p:cNvPr id="5" name="Footer Placeholder 4"/>
          <p:cNvSpPr>
            <a:spLocks noGrp="1"/>
          </p:cNvSpPr>
          <p:nvPr>
            <p:ph type="ftr" sz="quarter" idx="11"/>
          </p:nvPr>
        </p:nvSpPr>
        <p:spPr>
          <a:xfrm>
            <a:off x="1066800" y="6172200"/>
            <a:ext cx="5334000" cy="457200"/>
          </a:xfrm>
        </p:spPr>
        <p:txBody>
          <a:bodyPr/>
          <a:lstStyle/>
          <a:p>
            <a:endParaRPr lang="en-US"/>
          </a:p>
        </p:txBody>
      </p:sp>
      <p:sp>
        <p:nvSpPr>
          <p:cNvPr id="7" name="Rectangle 6"/>
          <p:cNvSpPr/>
          <p:nvPr/>
        </p:nvSpPr>
        <p:spPr>
          <a:xfrm flipV="1">
            <a:off x="92550" y="2376830"/>
            <a:ext cx="120180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92195" y="2341476"/>
            <a:ext cx="12018375"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Rectangle 8"/>
          <p:cNvSpPr/>
          <p:nvPr/>
        </p:nvSpPr>
        <p:spPr>
          <a:xfrm>
            <a:off x="91075" y="2468880"/>
            <a:ext cx="12019495"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6" name="Slide Number Placeholder 5"/>
          <p:cNvSpPr>
            <a:spLocks noGrp="1"/>
          </p:cNvSpPr>
          <p:nvPr>
            <p:ph type="sldNum" sz="quarter" idx="12"/>
          </p:nvPr>
        </p:nvSpPr>
        <p:spPr>
          <a:xfrm>
            <a:off x="195072" y="6208776"/>
            <a:ext cx="609600" cy="457200"/>
          </a:xfrm>
        </p:spPr>
        <p:txBody>
          <a:bodyPr/>
          <a:lstStyle/>
          <a:p>
            <a:fld id="{E09A66A1-C760-4BFC-894E-C0032962BE07}"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9578AC21-961D-4603-9B78-D77ED18E7A74}" type="datetimeFigureOut">
              <a:rPr lang="en-US" smtClean="0"/>
              <a:pPr/>
              <a:t>9/11/2024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9A66A1-C760-4BFC-894E-C0032962BE07}" type="slidenum">
              <a:rPr lang="en-US" smtClean="0"/>
              <a:pPr/>
              <a:t>‹#›</a:t>
            </a:fld>
            <a:endParaRPr lang="en-US"/>
          </a:p>
        </p:txBody>
      </p:sp>
      <p:sp>
        <p:nvSpPr>
          <p:cNvPr id="9" name="Content Placeholder 8"/>
          <p:cNvSpPr>
            <a:spLocks noGrp="1"/>
          </p:cNvSpPr>
          <p:nvPr>
            <p:ph sz="quarter" idx="1"/>
          </p:nvPr>
        </p:nvSpPr>
        <p:spPr>
          <a:xfrm>
            <a:off x="12192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5786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9578AC21-961D-4603-9B78-D77ED18E7A74}" type="datetimeFigureOut">
              <a:rPr lang="en-US" smtClean="0"/>
              <a:pPr/>
              <a:t>9/11/2024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09A66A1-C760-4BFC-894E-C0032962BE07}" type="slidenum">
              <a:rPr lang="en-US" smtClean="0"/>
              <a:pPr/>
              <a:t>‹#›</a:t>
            </a:fld>
            <a:endParaRPr lang="en-US"/>
          </a:p>
        </p:txBody>
      </p:sp>
      <p:sp>
        <p:nvSpPr>
          <p:cNvPr id="11" name="Content Placeholder 10"/>
          <p:cNvSpPr>
            <a:spLocks noGrp="1"/>
          </p:cNvSpPr>
          <p:nvPr>
            <p:ph sz="half" idx="2"/>
          </p:nvPr>
        </p:nvSpPr>
        <p:spPr>
          <a:xfrm>
            <a:off x="12192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66040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9578AC21-961D-4603-9B78-D77ED18E7A74}" type="datetimeFigureOut">
              <a:rPr lang="en-US" smtClean="0"/>
              <a:pPr/>
              <a:t>9/11/2024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09A66A1-C760-4BFC-894E-C0032962BE0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78AC21-961D-4603-9B78-D77ED18E7A74}" type="datetimeFigureOut">
              <a:rPr lang="en-US" smtClean="0"/>
              <a:pPr/>
              <a:t>9/11/2024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09A66A1-C760-4BFC-894E-C0032962BE0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9" name="Rounded Rectangle 8"/>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Title 1"/>
          <p:cNvSpPr>
            <a:spLocks noGrp="1"/>
          </p:cNvSpPr>
          <p:nvPr>
            <p:ph type="title"/>
          </p:nvPr>
        </p:nvSpPr>
        <p:spPr>
          <a:xfrm>
            <a:off x="1219200" y="273050"/>
            <a:ext cx="103632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9578AC21-961D-4603-9B78-D77ED18E7A74}" type="datetimeFigureOut">
              <a:rPr lang="en-US" smtClean="0"/>
              <a:pPr/>
              <a:t>9/11/2024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9A66A1-C760-4BFC-894E-C0032962BE07}" type="slidenum">
              <a:rPr lang="en-US" smtClean="0"/>
              <a:pPr/>
              <a:t>‹#›</a:t>
            </a:fld>
            <a:endParaRPr lang="en-US"/>
          </a:p>
        </p:txBody>
      </p:sp>
      <p:sp>
        <p:nvSpPr>
          <p:cNvPr id="11" name="Content Placeholder 10"/>
          <p:cNvSpPr>
            <a:spLocks noGrp="1"/>
          </p:cNvSpPr>
          <p:nvPr>
            <p:ph sz="quarter" idx="1"/>
          </p:nvPr>
        </p:nvSpPr>
        <p:spPr>
          <a:xfrm>
            <a:off x="3962400" y="1600200"/>
            <a:ext cx="7620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4900550"/>
            <a:ext cx="97536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9578AC21-961D-4603-9B78-D77ED18E7A74}" type="datetimeFigureOut">
              <a:rPr lang="en-US" smtClean="0"/>
              <a:pPr/>
              <a:t>9/11/2024</a:t>
            </a:fld>
            <a:endParaRPr lang="en-US"/>
          </a:p>
        </p:txBody>
      </p:sp>
      <p:sp>
        <p:nvSpPr>
          <p:cNvPr id="6" name="Footer Placeholder 5"/>
          <p:cNvSpPr>
            <a:spLocks noGrp="1"/>
          </p:cNvSpPr>
          <p:nvPr>
            <p:ph type="ftr" sz="quarter" idx="11"/>
          </p:nvPr>
        </p:nvSpPr>
        <p:spPr>
          <a:xfrm>
            <a:off x="1219200" y="6172200"/>
            <a:ext cx="5181600" cy="457200"/>
          </a:xfrm>
        </p:spPr>
        <p:txBody>
          <a:bodyPr/>
          <a:lstStyle/>
          <a:p>
            <a:endParaRPr lang="en-US"/>
          </a:p>
        </p:txBody>
      </p:sp>
      <p:sp>
        <p:nvSpPr>
          <p:cNvPr id="7" name="Slide Number Placeholder 6"/>
          <p:cNvSpPr>
            <a:spLocks noGrp="1"/>
          </p:cNvSpPr>
          <p:nvPr>
            <p:ph type="sldNum" sz="quarter" idx="12"/>
          </p:nvPr>
        </p:nvSpPr>
        <p:spPr>
          <a:xfrm>
            <a:off x="195072" y="6208776"/>
            <a:ext cx="609600" cy="457200"/>
          </a:xfrm>
        </p:spPr>
        <p:txBody>
          <a:bodyPr/>
          <a:lstStyle/>
          <a:p>
            <a:fld id="{E09A66A1-C760-4BFC-894E-C0032962BE07}" type="slidenum">
              <a:rPr lang="en-US" smtClean="0"/>
              <a:pPr/>
              <a:t>‹#›</a:t>
            </a:fld>
            <a:endParaRPr lang="en-US"/>
          </a:p>
        </p:txBody>
      </p:sp>
      <p:sp>
        <p:nvSpPr>
          <p:cNvPr id="11" name="Rectangle 10"/>
          <p:cNvSpPr/>
          <p:nvPr/>
        </p:nvSpPr>
        <p:spPr>
          <a:xfrm flipV="1">
            <a:off x="91076" y="4683555"/>
            <a:ext cx="120091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Rectangle 11"/>
          <p:cNvSpPr/>
          <p:nvPr/>
        </p:nvSpPr>
        <p:spPr>
          <a:xfrm>
            <a:off x="91345" y="4650475"/>
            <a:ext cx="12008852"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3" name="Rectangle 12"/>
          <p:cNvSpPr/>
          <p:nvPr/>
        </p:nvSpPr>
        <p:spPr>
          <a:xfrm>
            <a:off x="91348" y="4773225"/>
            <a:ext cx="12008849"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 name="Picture Placeholder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578AC21-961D-4603-9B78-D77ED18E7A74}" type="datetimeFigureOut">
              <a:rPr lang="en-US" smtClean="0"/>
              <a:pPr/>
              <a:t>9/11/2024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9A66A1-C760-4BFC-894E-C0032962BE0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68224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219200" y="274641"/>
            <a:ext cx="7416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578AC21-961D-4603-9B78-D77ED18E7A74}" type="datetimeFigureOut">
              <a:rPr lang="en-US" smtClean="0"/>
              <a:pPr/>
              <a:t>9/11/2024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9A66A1-C760-4BFC-894E-C0032962BE0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4D1"/>
        </a:solidFill>
        <a:effectLst/>
      </p:bgPr>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useBgFill="1">
        <p:nvSpPr>
          <p:cNvPr id="8" name="Rounded Rectangle 7"/>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Title Placeholder 21"/>
          <p:cNvSpPr>
            <a:spLocks noGrp="1"/>
          </p:cNvSpPr>
          <p:nvPr>
            <p:ph type="title"/>
          </p:nvPr>
        </p:nvSpPr>
        <p:spPr>
          <a:xfrm>
            <a:off x="1219200" y="274638"/>
            <a:ext cx="103632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1219200" y="1447800"/>
            <a:ext cx="103632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400">
                <a:solidFill>
                  <a:schemeClr val="tx2"/>
                </a:solidFill>
              </a:defRPr>
            </a:lvl1pPr>
          </a:lstStyle>
          <a:p>
            <a:fld id="{9578AC21-961D-4603-9B78-D77ED18E7A74}" type="datetimeFigureOut">
              <a:rPr lang="en-US" smtClean="0"/>
              <a:pPr/>
              <a:t>9/11/2024</a:t>
            </a:fld>
            <a:endParaRPr lang="en-US"/>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95072" y="6210300"/>
            <a:ext cx="6096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E09A66A1-C760-4BFC-894E-C0032962BE0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26.png"/></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090AB-E27F-46EE-A6A7-58B415D4683E}"/>
              </a:ext>
            </a:extLst>
          </p:cNvPr>
          <p:cNvSpPr>
            <a:spLocks noGrp="1"/>
          </p:cNvSpPr>
          <p:nvPr>
            <p:ph type="title"/>
          </p:nvPr>
        </p:nvSpPr>
        <p:spPr/>
        <p:txBody>
          <a:bodyPr/>
          <a:lstStyle/>
          <a:p>
            <a:endParaRPr lang="en-IN"/>
          </a:p>
        </p:txBody>
      </p:sp>
      <p:sp>
        <p:nvSpPr>
          <p:cNvPr id="4" name="Title 1">
            <a:extLst>
              <a:ext uri="{FF2B5EF4-FFF2-40B4-BE49-F238E27FC236}">
                <a16:creationId xmlns:a16="http://schemas.microsoft.com/office/drawing/2014/main" id="{AA260A53-96E9-4339-BBEF-E2E097013407}"/>
              </a:ext>
            </a:extLst>
          </p:cNvPr>
          <p:cNvSpPr>
            <a:spLocks noGrp="1"/>
          </p:cNvSpPr>
          <p:nvPr>
            <p:ph sz="quarter" idx="1"/>
          </p:nvPr>
        </p:nvSpPr>
        <p:spPr>
          <a:xfrm>
            <a:off x="1447800" y="3345325"/>
            <a:ext cx="10363200" cy="1447800"/>
          </a:xfrm>
          <a:solidFill>
            <a:srgbClr val="0EADC2"/>
          </a:solidFill>
          <a:ln w="38100">
            <a:solidFill>
              <a:srgbClr val="FF0000"/>
            </a:solidFill>
          </a:ln>
        </p:spPr>
        <p:style>
          <a:lnRef idx="1">
            <a:schemeClr val="accent1"/>
          </a:lnRef>
          <a:fillRef idx="2">
            <a:schemeClr val="accent1"/>
          </a:fillRef>
          <a:effectRef idx="1">
            <a:schemeClr val="accent1"/>
          </a:effectRef>
          <a:fontRef idx="minor">
            <a:schemeClr val="dk1"/>
          </a:fontRef>
        </p:style>
        <p:txBody>
          <a:bodyPr>
            <a:normAutofit/>
          </a:bodyPr>
          <a:lstStyle/>
          <a:p>
            <a:pPr marL="0" indent="0" algn="ctr">
              <a:buNone/>
            </a:pPr>
            <a:r>
              <a:rPr lang="en-US" sz="4000" b="1" dirty="0"/>
              <a:t>UNIT :- V</a:t>
            </a:r>
          </a:p>
          <a:p>
            <a:pPr marL="0" indent="0" algn="ctr">
              <a:buNone/>
            </a:pPr>
            <a:r>
              <a:rPr lang="en-US" sz="4000" dirty="0">
                <a:highlight>
                  <a:srgbClr val="FFFF00"/>
                </a:highlight>
              </a:rPr>
              <a:t>Exception Handling , Multithreading, Applet</a:t>
            </a:r>
          </a:p>
        </p:txBody>
      </p:sp>
      <p:sp>
        <p:nvSpPr>
          <p:cNvPr id="6" name="Title 1">
            <a:extLst>
              <a:ext uri="{FF2B5EF4-FFF2-40B4-BE49-F238E27FC236}">
                <a16:creationId xmlns:a16="http://schemas.microsoft.com/office/drawing/2014/main" id="{898159E7-3EA1-4FD7-B5A0-D4EFABBD414E}"/>
              </a:ext>
            </a:extLst>
          </p:cNvPr>
          <p:cNvSpPr txBox="1">
            <a:spLocks/>
          </p:cNvSpPr>
          <p:nvPr/>
        </p:nvSpPr>
        <p:spPr>
          <a:xfrm>
            <a:off x="3657600" y="1767689"/>
            <a:ext cx="7002634" cy="715964"/>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vert="horz">
            <a:normAutofit fontScale="85000" lnSpcReduction="10000"/>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dk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dk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dk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dk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dk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dk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dk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dk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580"/>
              </a:spcBef>
              <a:spcAft>
                <a:spcPts val="0"/>
              </a:spcAft>
              <a:buClr>
                <a:srgbClr val="D34817"/>
              </a:buClr>
              <a:buSzPct val="85000"/>
              <a:buFont typeface="Wingdings 2"/>
              <a:buNone/>
              <a:tabLst/>
              <a:defRPr/>
            </a:pPr>
            <a:r>
              <a:rPr lang="en-US" sz="4000" b="1" dirty="0">
                <a:solidFill>
                  <a:prstClr val="black"/>
                </a:solidFill>
                <a:highlight>
                  <a:srgbClr val="66FFCC"/>
                </a:highlight>
                <a:latin typeface="Perpetua"/>
              </a:rPr>
              <a:t>Fundamental of JAVA Programming</a:t>
            </a:r>
            <a:r>
              <a:rPr kumimoji="0" lang="en-US" sz="4000" b="1" i="0" u="none" strike="noStrike" kern="1200" cap="none" spc="0" normalizeH="0" baseline="0" noProof="0" dirty="0">
                <a:ln>
                  <a:noFill/>
                </a:ln>
                <a:solidFill>
                  <a:prstClr val="black"/>
                </a:solidFill>
                <a:effectLst/>
                <a:highlight>
                  <a:srgbClr val="66FFCC"/>
                </a:highlight>
                <a:uLnTx/>
                <a:uFillTx/>
                <a:latin typeface="Perpetua"/>
                <a:ea typeface="+mn-ea"/>
                <a:cs typeface="+mn-cs"/>
              </a:rPr>
              <a:t> </a:t>
            </a:r>
            <a:endParaRPr kumimoji="0" lang="en-US" sz="4000" b="0" i="0" u="none" strike="noStrike" kern="1200" cap="none" spc="0" normalizeH="0" baseline="0" noProof="0" dirty="0">
              <a:ln>
                <a:noFill/>
              </a:ln>
              <a:solidFill>
                <a:prstClr val="black"/>
              </a:solidFill>
              <a:effectLst/>
              <a:highlight>
                <a:srgbClr val="66FFCC"/>
              </a:highlight>
              <a:uLnTx/>
              <a:uFillTx/>
              <a:latin typeface="Perpetua"/>
              <a:ea typeface="+mn-ea"/>
              <a:cs typeface="+mn-cs"/>
            </a:endParaRPr>
          </a:p>
        </p:txBody>
      </p:sp>
      <p:pic>
        <p:nvPicPr>
          <p:cNvPr id="7" name="Picture 6">
            <a:extLst>
              <a:ext uri="{FF2B5EF4-FFF2-40B4-BE49-F238E27FC236}">
                <a16:creationId xmlns:a16="http://schemas.microsoft.com/office/drawing/2014/main" id="{AFA590F3-CF26-41B4-AE97-C299C3E7ED9C}"/>
              </a:ext>
            </a:extLst>
          </p:cNvPr>
          <p:cNvPicPr>
            <a:picLocks noChangeAspect="1"/>
          </p:cNvPicPr>
          <p:nvPr/>
        </p:nvPicPr>
        <p:blipFill>
          <a:blip r:embed="rId2"/>
          <a:stretch>
            <a:fillRect/>
          </a:stretch>
        </p:blipFill>
        <p:spPr>
          <a:xfrm>
            <a:off x="1676400" y="1615582"/>
            <a:ext cx="1318341" cy="1280017"/>
          </a:xfrm>
          <a:prstGeom prst="rect">
            <a:avLst/>
          </a:prstGeom>
        </p:spPr>
      </p:pic>
    </p:spTree>
    <p:extLst>
      <p:ext uri="{BB962C8B-B14F-4D97-AF65-F5344CB8AC3E}">
        <p14:creationId xmlns:p14="http://schemas.microsoft.com/office/powerpoint/2010/main" val="3239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3400" y="990600"/>
            <a:ext cx="11049000" cy="5029200"/>
          </a:xfrm>
        </p:spPr>
        <p:txBody>
          <a:bodyPr/>
          <a:lstStyle/>
          <a:p>
            <a:endParaRPr lang="en-US" dirty="0"/>
          </a:p>
          <a:p>
            <a:endParaRPr lang="en-US" dirty="0"/>
          </a:p>
        </p:txBody>
      </p:sp>
      <p:pic>
        <p:nvPicPr>
          <p:cNvPr id="4" name="Picture 3">
            <a:extLst>
              <a:ext uri="{FF2B5EF4-FFF2-40B4-BE49-F238E27FC236}">
                <a16:creationId xmlns:a16="http://schemas.microsoft.com/office/drawing/2014/main" id="{B308BE5F-FC50-4313-A37C-F1D16C83D41A}"/>
              </a:ext>
            </a:extLst>
          </p:cNvPr>
          <p:cNvPicPr>
            <a:picLocks noChangeAspect="1"/>
          </p:cNvPicPr>
          <p:nvPr/>
        </p:nvPicPr>
        <p:blipFill>
          <a:blip r:embed="rId2"/>
          <a:stretch>
            <a:fillRect/>
          </a:stretch>
        </p:blipFill>
        <p:spPr>
          <a:xfrm>
            <a:off x="369529" y="153755"/>
            <a:ext cx="937341" cy="646786"/>
          </a:xfrm>
          <a:prstGeom prst="rect">
            <a:avLst/>
          </a:prstGeom>
        </p:spPr>
      </p:pic>
      <p:sp>
        <p:nvSpPr>
          <p:cNvPr id="5" name="Title 1">
            <a:extLst>
              <a:ext uri="{FF2B5EF4-FFF2-40B4-BE49-F238E27FC236}">
                <a16:creationId xmlns:a16="http://schemas.microsoft.com/office/drawing/2014/main" id="{E4593C6E-1E06-4697-B1EE-90CE68ABF96B}"/>
              </a:ext>
            </a:extLst>
          </p:cNvPr>
          <p:cNvSpPr txBox="1">
            <a:spLocks/>
          </p:cNvSpPr>
          <p:nvPr/>
        </p:nvSpPr>
        <p:spPr>
          <a:xfrm>
            <a:off x="1447800" y="211125"/>
            <a:ext cx="10287000" cy="5320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7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600" b="1" dirty="0">
                <a:solidFill>
                  <a:schemeClr val="tx1"/>
                </a:solidFill>
                <a:highlight>
                  <a:srgbClr val="FFFF00"/>
                </a:highlight>
              </a:rPr>
              <a:t>Types of Errors </a:t>
            </a:r>
            <a:endParaRPr lang="en-US" sz="3600" dirty="0">
              <a:solidFill>
                <a:schemeClr val="tx1"/>
              </a:solidFill>
              <a:highlight>
                <a:srgbClr val="FFFF00"/>
              </a:highlight>
            </a:endParaRPr>
          </a:p>
        </p:txBody>
      </p:sp>
      <p:graphicFrame>
        <p:nvGraphicFramePr>
          <p:cNvPr id="6" name="Diagram 5"/>
          <p:cNvGraphicFramePr/>
          <p:nvPr>
            <p:extLst>
              <p:ext uri="{D42A27DB-BD31-4B8C-83A1-F6EECF244321}">
                <p14:modId xmlns:p14="http://schemas.microsoft.com/office/powerpoint/2010/main" val="2022723925"/>
              </p:ext>
            </p:extLst>
          </p:nvPr>
        </p:nvGraphicFramePr>
        <p:xfrm>
          <a:off x="1524000" y="914400"/>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51743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3400" y="1066800"/>
            <a:ext cx="11009194" cy="2514600"/>
          </a:xfrm>
        </p:spPr>
        <p:txBody>
          <a:bodyPr>
            <a:normAutofit/>
          </a:bodyPr>
          <a:lstStyle/>
          <a:p>
            <a:r>
              <a:rPr lang="en-US" dirty="0">
                <a:highlight>
                  <a:srgbClr val="00FFFF"/>
                </a:highlight>
              </a:rPr>
              <a:t>All syntax errors will be detected and displayed by the Java compiler ,these errors are called as compile time errors.</a:t>
            </a:r>
          </a:p>
          <a:p>
            <a:r>
              <a:rPr lang="en-US" dirty="0"/>
              <a:t>Whenever the compiler displays an error, it will </a:t>
            </a:r>
            <a:r>
              <a:rPr lang="en-US" dirty="0">
                <a:highlight>
                  <a:srgbClr val="00FFFF"/>
                </a:highlight>
              </a:rPr>
              <a:t>not create the .class file</a:t>
            </a:r>
          </a:p>
          <a:p>
            <a:r>
              <a:rPr lang="en-US" dirty="0"/>
              <a:t>It is necessary to fix all these errors before we can successfully compile and run the program </a:t>
            </a:r>
          </a:p>
          <a:p>
            <a:endParaRPr lang="en-US" dirty="0"/>
          </a:p>
          <a:p>
            <a:endParaRPr lang="en-US" dirty="0"/>
          </a:p>
        </p:txBody>
      </p:sp>
      <p:pic>
        <p:nvPicPr>
          <p:cNvPr id="4" name="Picture 3">
            <a:extLst>
              <a:ext uri="{FF2B5EF4-FFF2-40B4-BE49-F238E27FC236}">
                <a16:creationId xmlns:a16="http://schemas.microsoft.com/office/drawing/2014/main" id="{B308BE5F-FC50-4313-A37C-F1D16C83D41A}"/>
              </a:ext>
            </a:extLst>
          </p:cNvPr>
          <p:cNvPicPr>
            <a:picLocks noChangeAspect="1"/>
          </p:cNvPicPr>
          <p:nvPr/>
        </p:nvPicPr>
        <p:blipFill>
          <a:blip r:embed="rId2"/>
          <a:stretch>
            <a:fillRect/>
          </a:stretch>
        </p:blipFill>
        <p:spPr>
          <a:xfrm>
            <a:off x="369529" y="153755"/>
            <a:ext cx="937341" cy="646786"/>
          </a:xfrm>
          <a:prstGeom prst="rect">
            <a:avLst/>
          </a:prstGeom>
        </p:spPr>
      </p:pic>
      <p:sp>
        <p:nvSpPr>
          <p:cNvPr id="5" name="Title 1">
            <a:extLst>
              <a:ext uri="{FF2B5EF4-FFF2-40B4-BE49-F238E27FC236}">
                <a16:creationId xmlns:a16="http://schemas.microsoft.com/office/drawing/2014/main" id="{E4593C6E-1E06-4697-B1EE-90CE68ABF96B}"/>
              </a:ext>
            </a:extLst>
          </p:cNvPr>
          <p:cNvSpPr txBox="1">
            <a:spLocks/>
          </p:cNvSpPr>
          <p:nvPr/>
        </p:nvSpPr>
        <p:spPr>
          <a:xfrm>
            <a:off x="1447800" y="211125"/>
            <a:ext cx="10287000" cy="5320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7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600" b="1" dirty="0">
                <a:solidFill>
                  <a:schemeClr val="tx1"/>
                </a:solidFill>
                <a:highlight>
                  <a:srgbClr val="FFFF00"/>
                </a:highlight>
              </a:rPr>
              <a:t>Compile Time Errors </a:t>
            </a:r>
            <a:endParaRPr lang="en-US" sz="3600" dirty="0">
              <a:solidFill>
                <a:schemeClr val="tx1"/>
              </a:solidFill>
              <a:highlight>
                <a:srgbClr val="FFFF00"/>
              </a:highlight>
            </a:endParaRPr>
          </a:p>
        </p:txBody>
      </p:sp>
      <p:sp>
        <p:nvSpPr>
          <p:cNvPr id="6" name="Rectangle 5"/>
          <p:cNvSpPr/>
          <p:nvPr/>
        </p:nvSpPr>
        <p:spPr>
          <a:xfrm>
            <a:off x="2667000" y="2971800"/>
            <a:ext cx="5791200" cy="2514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class </a:t>
            </a:r>
            <a:r>
              <a:rPr lang="en-US" sz="2000" dirty="0" err="1">
                <a:solidFill>
                  <a:schemeClr val="tx1"/>
                </a:solidFill>
              </a:rPr>
              <a:t>Myclass</a:t>
            </a:r>
            <a:endParaRPr lang="en-US" sz="2000" dirty="0">
              <a:solidFill>
                <a:schemeClr val="tx1"/>
              </a:solidFill>
            </a:endParaRPr>
          </a:p>
          <a:p>
            <a:r>
              <a:rPr lang="en-US" sz="2000" dirty="0">
                <a:solidFill>
                  <a:schemeClr val="tx1"/>
                </a:solidFill>
              </a:rPr>
              <a:t>{</a:t>
            </a:r>
          </a:p>
          <a:p>
            <a:r>
              <a:rPr lang="en-US" sz="2000" dirty="0">
                <a:solidFill>
                  <a:schemeClr val="tx1"/>
                </a:solidFill>
              </a:rPr>
              <a:t>    public static void main (String </a:t>
            </a:r>
            <a:r>
              <a:rPr lang="en-US" sz="2000" dirty="0" err="1">
                <a:solidFill>
                  <a:schemeClr val="tx1"/>
                </a:solidFill>
              </a:rPr>
              <a:t>args</a:t>
            </a:r>
            <a:r>
              <a:rPr lang="en-US" sz="2000" dirty="0">
                <a:solidFill>
                  <a:schemeClr val="tx1"/>
                </a:solidFill>
              </a:rPr>
              <a:t> [])</a:t>
            </a:r>
          </a:p>
          <a:p>
            <a:r>
              <a:rPr lang="en-US" sz="2000" dirty="0">
                <a:solidFill>
                  <a:schemeClr val="tx1"/>
                </a:solidFill>
              </a:rPr>
              <a:t>  {</a:t>
            </a:r>
          </a:p>
          <a:p>
            <a:r>
              <a:rPr lang="en-US" sz="2000" dirty="0">
                <a:solidFill>
                  <a:schemeClr val="tx1"/>
                </a:solidFill>
                <a:highlight>
                  <a:srgbClr val="00FF00"/>
                </a:highlight>
              </a:rPr>
              <a:t>      </a:t>
            </a:r>
            <a:r>
              <a:rPr lang="en-US" sz="2000" dirty="0" err="1">
                <a:solidFill>
                  <a:schemeClr val="tx1"/>
                </a:solidFill>
                <a:highlight>
                  <a:srgbClr val="00FF00"/>
                </a:highlight>
              </a:rPr>
              <a:t>System.out.println</a:t>
            </a:r>
            <a:r>
              <a:rPr lang="en-US" sz="2000" dirty="0">
                <a:solidFill>
                  <a:schemeClr val="tx1"/>
                </a:solidFill>
                <a:highlight>
                  <a:srgbClr val="00FF00"/>
                </a:highlight>
              </a:rPr>
              <a:t>(“Hello Java”)</a:t>
            </a:r>
          </a:p>
          <a:p>
            <a:r>
              <a:rPr lang="en-US" sz="2000" dirty="0">
                <a:solidFill>
                  <a:schemeClr val="tx1"/>
                </a:solidFill>
              </a:rPr>
              <a:t>    }</a:t>
            </a:r>
          </a:p>
          <a:p>
            <a:r>
              <a:rPr lang="en-US" sz="2000" dirty="0">
                <a:solidFill>
                  <a:schemeClr val="tx1"/>
                </a:solidFill>
              </a:rPr>
              <a:t>}</a:t>
            </a:r>
          </a:p>
        </p:txBody>
      </p:sp>
      <p:sp>
        <p:nvSpPr>
          <p:cNvPr id="7" name="Rectangle 6"/>
          <p:cNvSpPr/>
          <p:nvPr/>
        </p:nvSpPr>
        <p:spPr>
          <a:xfrm>
            <a:off x="2667000" y="5758543"/>
            <a:ext cx="4343400" cy="762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Syntax error, insert ";" to complete </a:t>
            </a:r>
            <a:r>
              <a:rPr lang="en-US" dirty="0" err="1">
                <a:solidFill>
                  <a:schemeClr val="tx1"/>
                </a:solidFill>
              </a:rPr>
              <a:t>BlockStatements</a:t>
            </a:r>
            <a:endParaRPr lang="en-US" dirty="0">
              <a:solidFill>
                <a:schemeClr val="tx1"/>
              </a:solidFill>
            </a:endParaRPr>
          </a:p>
        </p:txBody>
      </p:sp>
    </p:spTree>
    <p:extLst>
      <p:ext uri="{BB962C8B-B14F-4D97-AF65-F5344CB8AC3E}">
        <p14:creationId xmlns:p14="http://schemas.microsoft.com/office/powerpoint/2010/main" val="783004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08BE5F-FC50-4313-A37C-F1D16C83D41A}"/>
              </a:ext>
            </a:extLst>
          </p:cNvPr>
          <p:cNvPicPr>
            <a:picLocks noChangeAspect="1"/>
          </p:cNvPicPr>
          <p:nvPr/>
        </p:nvPicPr>
        <p:blipFill>
          <a:blip r:embed="rId2"/>
          <a:stretch>
            <a:fillRect/>
          </a:stretch>
        </p:blipFill>
        <p:spPr>
          <a:xfrm>
            <a:off x="369529" y="153755"/>
            <a:ext cx="937341" cy="646786"/>
          </a:xfrm>
          <a:prstGeom prst="rect">
            <a:avLst/>
          </a:prstGeom>
        </p:spPr>
      </p:pic>
      <p:sp>
        <p:nvSpPr>
          <p:cNvPr id="5" name="Title 1">
            <a:extLst>
              <a:ext uri="{FF2B5EF4-FFF2-40B4-BE49-F238E27FC236}">
                <a16:creationId xmlns:a16="http://schemas.microsoft.com/office/drawing/2014/main" id="{E4593C6E-1E06-4697-B1EE-90CE68ABF96B}"/>
              </a:ext>
            </a:extLst>
          </p:cNvPr>
          <p:cNvSpPr txBox="1">
            <a:spLocks/>
          </p:cNvSpPr>
          <p:nvPr/>
        </p:nvSpPr>
        <p:spPr>
          <a:xfrm>
            <a:off x="1447800" y="211125"/>
            <a:ext cx="10287000" cy="5320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7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600" b="1" dirty="0">
                <a:solidFill>
                  <a:schemeClr val="tx1"/>
                </a:solidFill>
                <a:highlight>
                  <a:srgbClr val="FFFF00"/>
                </a:highlight>
              </a:rPr>
              <a:t>Reasons for Compile Time Errors </a:t>
            </a:r>
            <a:endParaRPr lang="en-US" sz="3600" dirty="0">
              <a:solidFill>
                <a:schemeClr val="tx1"/>
              </a:solidFill>
              <a:highlight>
                <a:srgbClr val="FFFF00"/>
              </a:highlight>
            </a:endParaRPr>
          </a:p>
        </p:txBody>
      </p:sp>
      <p:graphicFrame>
        <p:nvGraphicFramePr>
          <p:cNvPr id="8" name="Content Placeholder 7"/>
          <p:cNvGraphicFramePr>
            <a:graphicFrameLocks noGrp="1"/>
          </p:cNvGraphicFramePr>
          <p:nvPr>
            <p:ph sz="quarter" idx="1"/>
            <p:extLst>
              <p:ext uri="{D42A27DB-BD31-4B8C-83A1-F6EECF244321}">
                <p14:modId xmlns:p14="http://schemas.microsoft.com/office/powerpoint/2010/main" val="1997688843"/>
              </p:ext>
            </p:extLst>
          </p:nvPr>
        </p:nvGraphicFramePr>
        <p:xfrm>
          <a:off x="369529" y="990600"/>
          <a:ext cx="11212871" cy="56764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17339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graphicEl>
                                              <a:dgm id="{59F1F9EE-1D06-4567-9822-CBC07693F585}"/>
                                            </p:graphicEl>
                                          </p:spTgt>
                                        </p:tgtEl>
                                        <p:attrNameLst>
                                          <p:attrName>style.visibility</p:attrName>
                                        </p:attrNameLst>
                                      </p:cBhvr>
                                      <p:to>
                                        <p:strVal val="visible"/>
                                      </p:to>
                                    </p:set>
                                    <p:animEffect transition="in" filter="fade">
                                      <p:cBhvr>
                                        <p:cTn id="7" dur="500"/>
                                        <p:tgtEl>
                                          <p:spTgt spid="8">
                                            <p:graphicEl>
                                              <a:dgm id="{59F1F9EE-1D06-4567-9822-CBC07693F585}"/>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graphicEl>
                                              <a:dgm id="{1F9AEE6A-9971-4707-A0AA-ADDFA63FF35D}"/>
                                            </p:graphicEl>
                                          </p:spTgt>
                                        </p:tgtEl>
                                        <p:attrNameLst>
                                          <p:attrName>style.visibility</p:attrName>
                                        </p:attrNameLst>
                                      </p:cBhvr>
                                      <p:to>
                                        <p:strVal val="visible"/>
                                      </p:to>
                                    </p:set>
                                    <p:animEffect transition="in" filter="fade">
                                      <p:cBhvr>
                                        <p:cTn id="12" dur="500"/>
                                        <p:tgtEl>
                                          <p:spTgt spid="8">
                                            <p:graphicEl>
                                              <a:dgm id="{1F9AEE6A-9971-4707-A0AA-ADDFA63FF35D}"/>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graphicEl>
                                              <a:dgm id="{69624529-2A56-4A8C-8B96-593FC2C50E5C}"/>
                                            </p:graphicEl>
                                          </p:spTgt>
                                        </p:tgtEl>
                                        <p:attrNameLst>
                                          <p:attrName>style.visibility</p:attrName>
                                        </p:attrNameLst>
                                      </p:cBhvr>
                                      <p:to>
                                        <p:strVal val="visible"/>
                                      </p:to>
                                    </p:set>
                                    <p:animEffect transition="in" filter="fade">
                                      <p:cBhvr>
                                        <p:cTn id="17" dur="500"/>
                                        <p:tgtEl>
                                          <p:spTgt spid="8">
                                            <p:graphicEl>
                                              <a:dgm id="{69624529-2A56-4A8C-8B96-593FC2C50E5C}"/>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graphicEl>
                                              <a:dgm id="{826AABCB-A9D3-40F4-9188-38D82E5FDFD0}"/>
                                            </p:graphicEl>
                                          </p:spTgt>
                                        </p:tgtEl>
                                        <p:attrNameLst>
                                          <p:attrName>style.visibility</p:attrName>
                                        </p:attrNameLst>
                                      </p:cBhvr>
                                      <p:to>
                                        <p:strVal val="visible"/>
                                      </p:to>
                                    </p:set>
                                    <p:animEffect transition="in" filter="fade">
                                      <p:cBhvr>
                                        <p:cTn id="22" dur="500"/>
                                        <p:tgtEl>
                                          <p:spTgt spid="8">
                                            <p:graphicEl>
                                              <a:dgm id="{826AABCB-A9D3-40F4-9188-38D82E5FDFD0}"/>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graphicEl>
                                              <a:dgm id="{0CBC27D7-6426-4458-9AAC-EB401B921A49}"/>
                                            </p:graphicEl>
                                          </p:spTgt>
                                        </p:tgtEl>
                                        <p:attrNameLst>
                                          <p:attrName>style.visibility</p:attrName>
                                        </p:attrNameLst>
                                      </p:cBhvr>
                                      <p:to>
                                        <p:strVal val="visible"/>
                                      </p:to>
                                    </p:set>
                                    <p:animEffect transition="in" filter="fade">
                                      <p:cBhvr>
                                        <p:cTn id="27" dur="500"/>
                                        <p:tgtEl>
                                          <p:spTgt spid="8">
                                            <p:graphicEl>
                                              <a:dgm id="{0CBC27D7-6426-4458-9AAC-EB401B921A49}"/>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graphicEl>
                                              <a:dgm id="{8A0E91C5-13BB-4EBE-8030-9B20746568BD}"/>
                                            </p:graphicEl>
                                          </p:spTgt>
                                        </p:tgtEl>
                                        <p:attrNameLst>
                                          <p:attrName>style.visibility</p:attrName>
                                        </p:attrNameLst>
                                      </p:cBhvr>
                                      <p:to>
                                        <p:strVal val="visible"/>
                                      </p:to>
                                    </p:set>
                                    <p:animEffect transition="in" filter="fade">
                                      <p:cBhvr>
                                        <p:cTn id="32" dur="500"/>
                                        <p:tgtEl>
                                          <p:spTgt spid="8">
                                            <p:graphicEl>
                                              <a:dgm id="{8A0E91C5-13BB-4EBE-8030-9B20746568BD}"/>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graphicEl>
                                              <a:dgm id="{F237017C-4764-436B-8CB2-EFA76FF29415}"/>
                                            </p:graphicEl>
                                          </p:spTgt>
                                        </p:tgtEl>
                                        <p:attrNameLst>
                                          <p:attrName>style.visibility</p:attrName>
                                        </p:attrNameLst>
                                      </p:cBhvr>
                                      <p:to>
                                        <p:strVal val="visible"/>
                                      </p:to>
                                    </p:set>
                                    <p:animEffect transition="in" filter="fade">
                                      <p:cBhvr>
                                        <p:cTn id="37" dur="500"/>
                                        <p:tgtEl>
                                          <p:spTgt spid="8">
                                            <p:graphicEl>
                                              <a:dgm id="{F237017C-4764-436B-8CB2-EFA76FF29415}"/>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8">
                                            <p:graphicEl>
                                              <a:dgm id="{287CA479-3503-41DA-B6A5-764BE1A82D59}"/>
                                            </p:graphicEl>
                                          </p:spTgt>
                                        </p:tgtEl>
                                        <p:attrNameLst>
                                          <p:attrName>style.visibility</p:attrName>
                                        </p:attrNameLst>
                                      </p:cBhvr>
                                      <p:to>
                                        <p:strVal val="visible"/>
                                      </p:to>
                                    </p:set>
                                    <p:animEffect transition="in" filter="fade">
                                      <p:cBhvr>
                                        <p:cTn id="42" dur="500"/>
                                        <p:tgtEl>
                                          <p:spTgt spid="8">
                                            <p:graphicEl>
                                              <a:dgm id="{287CA479-3503-41DA-B6A5-764BE1A82D59}"/>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8">
                                            <p:graphicEl>
                                              <a:dgm id="{DC9C0EAD-63D2-4FDD-8592-C08AD098FA82}"/>
                                            </p:graphicEl>
                                          </p:spTgt>
                                        </p:tgtEl>
                                        <p:attrNameLst>
                                          <p:attrName>style.visibility</p:attrName>
                                        </p:attrNameLst>
                                      </p:cBhvr>
                                      <p:to>
                                        <p:strVal val="visible"/>
                                      </p:to>
                                    </p:set>
                                    <p:animEffect transition="in" filter="fade">
                                      <p:cBhvr>
                                        <p:cTn id="47" dur="500"/>
                                        <p:tgtEl>
                                          <p:spTgt spid="8">
                                            <p:graphicEl>
                                              <a:dgm id="{DC9C0EAD-63D2-4FDD-8592-C08AD098FA82}"/>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8">
                                            <p:graphicEl>
                                              <a:dgm id="{34F70579-F7B6-4C71-A930-1531A8CCC497}"/>
                                            </p:graphicEl>
                                          </p:spTgt>
                                        </p:tgtEl>
                                        <p:attrNameLst>
                                          <p:attrName>style.visibility</p:attrName>
                                        </p:attrNameLst>
                                      </p:cBhvr>
                                      <p:to>
                                        <p:strVal val="visible"/>
                                      </p:to>
                                    </p:set>
                                    <p:animEffect transition="in" filter="fade">
                                      <p:cBhvr>
                                        <p:cTn id="52" dur="500"/>
                                        <p:tgtEl>
                                          <p:spTgt spid="8">
                                            <p:graphicEl>
                                              <a:dgm id="{34F70579-F7B6-4C71-A930-1531A8CCC497}"/>
                                            </p:graphic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8">
                                            <p:graphicEl>
                                              <a:dgm id="{3CC16E50-7B7F-4AFB-8C35-F365C20F137D}"/>
                                            </p:graphicEl>
                                          </p:spTgt>
                                        </p:tgtEl>
                                        <p:attrNameLst>
                                          <p:attrName>style.visibility</p:attrName>
                                        </p:attrNameLst>
                                      </p:cBhvr>
                                      <p:to>
                                        <p:strVal val="visible"/>
                                      </p:to>
                                    </p:set>
                                    <p:animEffect transition="in" filter="fade">
                                      <p:cBhvr>
                                        <p:cTn id="57" dur="500"/>
                                        <p:tgtEl>
                                          <p:spTgt spid="8">
                                            <p:graphicEl>
                                              <a:dgm id="{3CC16E50-7B7F-4AFB-8C35-F365C20F137D}"/>
                                            </p:graphic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8">
                                            <p:graphicEl>
                                              <a:dgm id="{CFE65A33-666C-440C-B03C-551D08901204}"/>
                                            </p:graphicEl>
                                          </p:spTgt>
                                        </p:tgtEl>
                                        <p:attrNameLst>
                                          <p:attrName>style.visibility</p:attrName>
                                        </p:attrNameLst>
                                      </p:cBhvr>
                                      <p:to>
                                        <p:strVal val="visible"/>
                                      </p:to>
                                    </p:set>
                                    <p:animEffect transition="in" filter="fade">
                                      <p:cBhvr>
                                        <p:cTn id="62" dur="500"/>
                                        <p:tgtEl>
                                          <p:spTgt spid="8">
                                            <p:graphicEl>
                                              <a:dgm id="{CFE65A33-666C-440C-B03C-551D08901204}"/>
                                            </p:graphic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8">
                                            <p:graphicEl>
                                              <a:dgm id="{FD5FC2A7-0BA8-4300-83AF-7E939F36E271}"/>
                                            </p:graphicEl>
                                          </p:spTgt>
                                        </p:tgtEl>
                                        <p:attrNameLst>
                                          <p:attrName>style.visibility</p:attrName>
                                        </p:attrNameLst>
                                      </p:cBhvr>
                                      <p:to>
                                        <p:strVal val="visible"/>
                                      </p:to>
                                    </p:set>
                                    <p:animEffect transition="in" filter="fade">
                                      <p:cBhvr>
                                        <p:cTn id="67" dur="500"/>
                                        <p:tgtEl>
                                          <p:spTgt spid="8">
                                            <p:graphicEl>
                                              <a:dgm id="{FD5FC2A7-0BA8-4300-83AF-7E939F36E271}"/>
                                            </p:graphic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8">
                                            <p:graphicEl>
                                              <a:dgm id="{09E635DF-A225-406B-AAA9-4045BEAFE4AA}"/>
                                            </p:graphicEl>
                                          </p:spTgt>
                                        </p:tgtEl>
                                        <p:attrNameLst>
                                          <p:attrName>style.visibility</p:attrName>
                                        </p:attrNameLst>
                                      </p:cBhvr>
                                      <p:to>
                                        <p:strVal val="visible"/>
                                      </p:to>
                                    </p:set>
                                    <p:animEffect transition="in" filter="fade">
                                      <p:cBhvr>
                                        <p:cTn id="72" dur="500"/>
                                        <p:tgtEl>
                                          <p:spTgt spid="8">
                                            <p:graphicEl>
                                              <a:dgm id="{09E635DF-A225-406B-AAA9-4045BEAFE4AA}"/>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09600" y="789655"/>
            <a:ext cx="10972800" cy="1981200"/>
          </a:xfrm>
        </p:spPr>
        <p:txBody>
          <a:bodyPr>
            <a:normAutofit fontScale="92500"/>
          </a:bodyPr>
          <a:lstStyle/>
          <a:p>
            <a:r>
              <a:rPr lang="en-US" dirty="0"/>
              <a:t>Sometime, a program may </a:t>
            </a:r>
            <a:r>
              <a:rPr lang="en-US" dirty="0">
                <a:highlight>
                  <a:srgbClr val="00FFFF"/>
                </a:highlight>
              </a:rPr>
              <a:t>compile successfully creating the .class file but may not run properly.</a:t>
            </a:r>
          </a:p>
          <a:p>
            <a:r>
              <a:rPr lang="en-US" dirty="0"/>
              <a:t>Such programs may </a:t>
            </a:r>
            <a:r>
              <a:rPr lang="en-US" dirty="0">
                <a:highlight>
                  <a:srgbClr val="00FFFF"/>
                </a:highlight>
              </a:rPr>
              <a:t>produce wrong results due to wrong logic or may terminate due to errors. </a:t>
            </a:r>
          </a:p>
          <a:p>
            <a:r>
              <a:rPr lang="en-US" dirty="0"/>
              <a:t>Most Run time Errors are</a:t>
            </a:r>
          </a:p>
        </p:txBody>
      </p:sp>
      <p:pic>
        <p:nvPicPr>
          <p:cNvPr id="4" name="Picture 3">
            <a:extLst>
              <a:ext uri="{FF2B5EF4-FFF2-40B4-BE49-F238E27FC236}">
                <a16:creationId xmlns:a16="http://schemas.microsoft.com/office/drawing/2014/main" id="{B308BE5F-FC50-4313-A37C-F1D16C83D41A}"/>
              </a:ext>
            </a:extLst>
          </p:cNvPr>
          <p:cNvPicPr>
            <a:picLocks noChangeAspect="1"/>
          </p:cNvPicPr>
          <p:nvPr/>
        </p:nvPicPr>
        <p:blipFill>
          <a:blip r:embed="rId2"/>
          <a:stretch>
            <a:fillRect/>
          </a:stretch>
        </p:blipFill>
        <p:spPr>
          <a:xfrm>
            <a:off x="369529" y="153755"/>
            <a:ext cx="937341" cy="646786"/>
          </a:xfrm>
          <a:prstGeom prst="rect">
            <a:avLst/>
          </a:prstGeom>
        </p:spPr>
      </p:pic>
      <p:sp>
        <p:nvSpPr>
          <p:cNvPr id="5" name="Title 1">
            <a:extLst>
              <a:ext uri="{FF2B5EF4-FFF2-40B4-BE49-F238E27FC236}">
                <a16:creationId xmlns:a16="http://schemas.microsoft.com/office/drawing/2014/main" id="{E4593C6E-1E06-4697-B1EE-90CE68ABF96B}"/>
              </a:ext>
            </a:extLst>
          </p:cNvPr>
          <p:cNvSpPr txBox="1">
            <a:spLocks/>
          </p:cNvSpPr>
          <p:nvPr/>
        </p:nvSpPr>
        <p:spPr>
          <a:xfrm>
            <a:off x="1447800" y="211125"/>
            <a:ext cx="10287000" cy="5320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7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600" b="1" dirty="0">
                <a:solidFill>
                  <a:schemeClr val="tx1"/>
                </a:solidFill>
                <a:highlight>
                  <a:srgbClr val="FFFF00"/>
                </a:highlight>
              </a:rPr>
              <a:t>Run Time Errors </a:t>
            </a:r>
            <a:endParaRPr lang="en-US" sz="3600" dirty="0">
              <a:solidFill>
                <a:schemeClr val="tx1"/>
              </a:solidFill>
              <a:highlight>
                <a:srgbClr val="FFFF00"/>
              </a:highlight>
            </a:endParaRPr>
          </a:p>
        </p:txBody>
      </p:sp>
      <p:graphicFrame>
        <p:nvGraphicFramePr>
          <p:cNvPr id="6" name="Diagram 5"/>
          <p:cNvGraphicFramePr/>
          <p:nvPr>
            <p:extLst>
              <p:ext uri="{D42A27DB-BD31-4B8C-83A1-F6EECF244321}">
                <p14:modId xmlns:p14="http://schemas.microsoft.com/office/powerpoint/2010/main" val="1203512850"/>
              </p:ext>
            </p:extLst>
          </p:nvPr>
        </p:nvGraphicFramePr>
        <p:xfrm>
          <a:off x="533400" y="2438400"/>
          <a:ext cx="11430000" cy="381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56024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graphicEl>
                                              <a:dgm id="{06FC5A97-0720-4AA7-9514-0BFE5534811F}"/>
                                            </p:graphicEl>
                                          </p:spTgt>
                                        </p:tgtEl>
                                        <p:attrNameLst>
                                          <p:attrName>style.visibility</p:attrName>
                                        </p:attrNameLst>
                                      </p:cBhvr>
                                      <p:to>
                                        <p:strVal val="visible"/>
                                      </p:to>
                                    </p:set>
                                    <p:animEffect transition="in" filter="fade">
                                      <p:cBhvr>
                                        <p:cTn id="20" dur="500"/>
                                        <p:tgtEl>
                                          <p:spTgt spid="6">
                                            <p:graphicEl>
                                              <a:dgm id="{06FC5A97-0720-4AA7-9514-0BFE5534811F}"/>
                                            </p:graphic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graphicEl>
                                              <a:dgm id="{BD3530F4-323A-47FF-AA9B-5573DA615487}"/>
                                            </p:graphicEl>
                                          </p:spTgt>
                                        </p:tgtEl>
                                        <p:attrNameLst>
                                          <p:attrName>style.visibility</p:attrName>
                                        </p:attrNameLst>
                                      </p:cBhvr>
                                      <p:to>
                                        <p:strVal val="visible"/>
                                      </p:to>
                                    </p:set>
                                    <p:animEffect transition="in" filter="fade">
                                      <p:cBhvr>
                                        <p:cTn id="25" dur="500"/>
                                        <p:tgtEl>
                                          <p:spTgt spid="6">
                                            <p:graphicEl>
                                              <a:dgm id="{BD3530F4-323A-47FF-AA9B-5573DA615487}"/>
                                            </p:graphic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6">
                                            <p:graphicEl>
                                              <a:dgm id="{F2530142-C7A4-45BB-A674-367DF82CCC08}"/>
                                            </p:graphicEl>
                                          </p:spTgt>
                                        </p:tgtEl>
                                        <p:attrNameLst>
                                          <p:attrName>style.visibility</p:attrName>
                                        </p:attrNameLst>
                                      </p:cBhvr>
                                      <p:to>
                                        <p:strVal val="visible"/>
                                      </p:to>
                                    </p:set>
                                    <p:animEffect transition="in" filter="fade">
                                      <p:cBhvr>
                                        <p:cTn id="30" dur="500"/>
                                        <p:tgtEl>
                                          <p:spTgt spid="6">
                                            <p:graphicEl>
                                              <a:dgm id="{F2530142-C7A4-45BB-A674-367DF82CCC08}"/>
                                            </p:graphic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6">
                                            <p:graphicEl>
                                              <a:dgm id="{EAE27C95-3C78-4BB5-8421-64EF9D522129}"/>
                                            </p:graphicEl>
                                          </p:spTgt>
                                        </p:tgtEl>
                                        <p:attrNameLst>
                                          <p:attrName>style.visibility</p:attrName>
                                        </p:attrNameLst>
                                      </p:cBhvr>
                                      <p:to>
                                        <p:strVal val="visible"/>
                                      </p:to>
                                    </p:set>
                                    <p:animEffect transition="in" filter="fade">
                                      <p:cBhvr>
                                        <p:cTn id="35" dur="500"/>
                                        <p:tgtEl>
                                          <p:spTgt spid="6">
                                            <p:graphicEl>
                                              <a:dgm id="{EAE27C95-3C78-4BB5-8421-64EF9D522129}"/>
                                            </p:graphic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6">
                                            <p:graphicEl>
                                              <a:dgm id="{B5E790D5-548A-4BF5-A65A-57A0A78E623D}"/>
                                            </p:graphicEl>
                                          </p:spTgt>
                                        </p:tgtEl>
                                        <p:attrNameLst>
                                          <p:attrName>style.visibility</p:attrName>
                                        </p:attrNameLst>
                                      </p:cBhvr>
                                      <p:to>
                                        <p:strVal val="visible"/>
                                      </p:to>
                                    </p:set>
                                    <p:animEffect transition="in" filter="fade">
                                      <p:cBhvr>
                                        <p:cTn id="40" dur="500"/>
                                        <p:tgtEl>
                                          <p:spTgt spid="6">
                                            <p:graphicEl>
                                              <a:dgm id="{B5E790D5-548A-4BF5-A65A-57A0A78E623D}"/>
                                            </p:graphic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6">
                                            <p:graphicEl>
                                              <a:dgm id="{F8A92863-5495-4CF8-9327-A0FF86608674}"/>
                                            </p:graphicEl>
                                          </p:spTgt>
                                        </p:tgtEl>
                                        <p:attrNameLst>
                                          <p:attrName>style.visibility</p:attrName>
                                        </p:attrNameLst>
                                      </p:cBhvr>
                                      <p:to>
                                        <p:strVal val="visible"/>
                                      </p:to>
                                    </p:set>
                                    <p:animEffect transition="in" filter="fade">
                                      <p:cBhvr>
                                        <p:cTn id="45" dur="500"/>
                                        <p:tgtEl>
                                          <p:spTgt spid="6">
                                            <p:graphicEl>
                                              <a:dgm id="{F8A92863-5495-4CF8-9327-A0FF86608674}"/>
                                            </p:graphic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6">
                                            <p:graphicEl>
                                              <a:dgm id="{768EB099-3987-4A2D-92BB-E8600A0F0201}"/>
                                            </p:graphicEl>
                                          </p:spTgt>
                                        </p:tgtEl>
                                        <p:attrNameLst>
                                          <p:attrName>style.visibility</p:attrName>
                                        </p:attrNameLst>
                                      </p:cBhvr>
                                      <p:to>
                                        <p:strVal val="visible"/>
                                      </p:to>
                                    </p:set>
                                    <p:animEffect transition="in" filter="fade">
                                      <p:cBhvr>
                                        <p:cTn id="50" dur="500"/>
                                        <p:tgtEl>
                                          <p:spTgt spid="6">
                                            <p:graphicEl>
                                              <a:dgm id="{768EB099-3987-4A2D-92BB-E8600A0F0201}"/>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08BE5F-FC50-4313-A37C-F1D16C83D41A}"/>
              </a:ext>
            </a:extLst>
          </p:cNvPr>
          <p:cNvPicPr>
            <a:picLocks noChangeAspect="1"/>
          </p:cNvPicPr>
          <p:nvPr/>
        </p:nvPicPr>
        <p:blipFill>
          <a:blip r:embed="rId2"/>
          <a:stretch>
            <a:fillRect/>
          </a:stretch>
        </p:blipFill>
        <p:spPr>
          <a:xfrm>
            <a:off x="369529" y="153755"/>
            <a:ext cx="937341" cy="646786"/>
          </a:xfrm>
          <a:prstGeom prst="rect">
            <a:avLst/>
          </a:prstGeom>
        </p:spPr>
      </p:pic>
      <p:sp>
        <p:nvSpPr>
          <p:cNvPr id="5" name="Title 1">
            <a:extLst>
              <a:ext uri="{FF2B5EF4-FFF2-40B4-BE49-F238E27FC236}">
                <a16:creationId xmlns:a16="http://schemas.microsoft.com/office/drawing/2014/main" id="{E4593C6E-1E06-4697-B1EE-90CE68ABF96B}"/>
              </a:ext>
            </a:extLst>
          </p:cNvPr>
          <p:cNvSpPr txBox="1">
            <a:spLocks/>
          </p:cNvSpPr>
          <p:nvPr/>
        </p:nvSpPr>
        <p:spPr>
          <a:xfrm>
            <a:off x="1447800" y="211125"/>
            <a:ext cx="10287000" cy="5320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7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600" b="1" dirty="0">
                <a:solidFill>
                  <a:schemeClr val="tx1"/>
                </a:solidFill>
                <a:highlight>
                  <a:srgbClr val="FFFF00"/>
                </a:highlight>
              </a:rPr>
              <a:t>Run Time Error Example </a:t>
            </a:r>
            <a:endParaRPr lang="en-US" sz="3600" dirty="0">
              <a:solidFill>
                <a:schemeClr val="tx1"/>
              </a:solidFill>
              <a:highlight>
                <a:srgbClr val="FFFF00"/>
              </a:highlight>
            </a:endParaRPr>
          </a:p>
        </p:txBody>
      </p:sp>
      <p:sp>
        <p:nvSpPr>
          <p:cNvPr id="6" name="Rectangle 5"/>
          <p:cNvSpPr/>
          <p:nvPr/>
        </p:nvSpPr>
        <p:spPr>
          <a:xfrm>
            <a:off x="820002" y="990600"/>
            <a:ext cx="5791200" cy="44958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class </a:t>
            </a:r>
            <a:r>
              <a:rPr lang="en-US" sz="2000" dirty="0" err="1">
                <a:solidFill>
                  <a:schemeClr val="tx1"/>
                </a:solidFill>
              </a:rPr>
              <a:t>Myclass</a:t>
            </a:r>
            <a:endParaRPr lang="en-US" sz="2000" dirty="0">
              <a:solidFill>
                <a:schemeClr val="tx1"/>
              </a:solidFill>
            </a:endParaRPr>
          </a:p>
          <a:p>
            <a:r>
              <a:rPr lang="en-US" sz="2000" dirty="0">
                <a:solidFill>
                  <a:schemeClr val="tx1"/>
                </a:solidFill>
              </a:rPr>
              <a:t>{</a:t>
            </a:r>
          </a:p>
          <a:p>
            <a:r>
              <a:rPr lang="en-US" sz="2000" dirty="0">
                <a:solidFill>
                  <a:schemeClr val="tx1"/>
                </a:solidFill>
              </a:rPr>
              <a:t>    public static void main (String </a:t>
            </a:r>
            <a:r>
              <a:rPr lang="en-US" sz="2000" dirty="0" err="1">
                <a:solidFill>
                  <a:schemeClr val="tx1"/>
                </a:solidFill>
              </a:rPr>
              <a:t>args</a:t>
            </a:r>
            <a:r>
              <a:rPr lang="en-US" sz="2000" dirty="0">
                <a:solidFill>
                  <a:schemeClr val="tx1"/>
                </a:solidFill>
              </a:rPr>
              <a:t> [])</a:t>
            </a:r>
          </a:p>
          <a:p>
            <a:r>
              <a:rPr lang="en-US" sz="2000" dirty="0">
                <a:solidFill>
                  <a:schemeClr val="tx1"/>
                </a:solidFill>
              </a:rPr>
              <a:t>  {</a:t>
            </a:r>
          </a:p>
          <a:p>
            <a:r>
              <a:rPr lang="en-US" sz="2000" dirty="0">
                <a:solidFill>
                  <a:schemeClr val="tx1"/>
                </a:solidFill>
              </a:rPr>
              <a:t>      </a:t>
            </a:r>
            <a:r>
              <a:rPr lang="en-US" sz="2000" dirty="0" err="1">
                <a:solidFill>
                  <a:schemeClr val="tx1"/>
                </a:solidFill>
              </a:rPr>
              <a:t>int</a:t>
            </a:r>
            <a:r>
              <a:rPr lang="en-US" sz="2000" dirty="0">
                <a:solidFill>
                  <a:schemeClr val="tx1"/>
                </a:solidFill>
              </a:rPr>
              <a:t> a=10;</a:t>
            </a:r>
          </a:p>
          <a:p>
            <a:r>
              <a:rPr lang="en-US" sz="2000" dirty="0">
                <a:solidFill>
                  <a:schemeClr val="tx1"/>
                </a:solidFill>
              </a:rPr>
              <a:t>      </a:t>
            </a:r>
            <a:r>
              <a:rPr lang="en-US" sz="2000" dirty="0" err="1">
                <a:solidFill>
                  <a:schemeClr val="tx1"/>
                </a:solidFill>
              </a:rPr>
              <a:t>int</a:t>
            </a:r>
            <a:r>
              <a:rPr lang="en-US" sz="2000" dirty="0">
                <a:solidFill>
                  <a:schemeClr val="tx1"/>
                </a:solidFill>
              </a:rPr>
              <a:t> b=5;</a:t>
            </a:r>
          </a:p>
          <a:p>
            <a:r>
              <a:rPr lang="en-US" sz="2000" dirty="0">
                <a:solidFill>
                  <a:schemeClr val="tx1"/>
                </a:solidFill>
              </a:rPr>
              <a:t>      </a:t>
            </a:r>
            <a:r>
              <a:rPr lang="en-US" sz="2000" dirty="0" err="1">
                <a:solidFill>
                  <a:schemeClr val="tx1"/>
                </a:solidFill>
              </a:rPr>
              <a:t>int</a:t>
            </a:r>
            <a:r>
              <a:rPr lang="en-US" sz="2000" dirty="0">
                <a:solidFill>
                  <a:schemeClr val="tx1"/>
                </a:solidFill>
              </a:rPr>
              <a:t> c=5;</a:t>
            </a:r>
          </a:p>
          <a:p>
            <a:r>
              <a:rPr lang="en-US" sz="2000" dirty="0">
                <a:solidFill>
                  <a:schemeClr val="tx1"/>
                </a:solidFill>
              </a:rPr>
              <a:t>      </a:t>
            </a:r>
            <a:r>
              <a:rPr lang="en-US" sz="2000" dirty="0" err="1">
                <a:solidFill>
                  <a:schemeClr val="tx1"/>
                </a:solidFill>
              </a:rPr>
              <a:t>int</a:t>
            </a:r>
            <a:r>
              <a:rPr lang="en-US" sz="2000" dirty="0">
                <a:solidFill>
                  <a:schemeClr val="tx1"/>
                </a:solidFill>
              </a:rPr>
              <a:t> x=</a:t>
            </a:r>
            <a:r>
              <a:rPr lang="en-US" sz="2000" dirty="0">
                <a:solidFill>
                  <a:schemeClr val="tx1"/>
                </a:solidFill>
                <a:highlight>
                  <a:srgbClr val="00FFFF"/>
                </a:highlight>
              </a:rPr>
              <a:t>a/(b-c);  </a:t>
            </a:r>
            <a:r>
              <a:rPr lang="en-US" sz="2000" dirty="0">
                <a:solidFill>
                  <a:schemeClr val="tx1"/>
                </a:solidFill>
              </a:rPr>
              <a:t>//Division by zero</a:t>
            </a:r>
          </a:p>
          <a:p>
            <a:r>
              <a:rPr lang="en-US" sz="2000" dirty="0">
                <a:solidFill>
                  <a:schemeClr val="tx1"/>
                </a:solidFill>
              </a:rPr>
              <a:t>       </a:t>
            </a:r>
            <a:r>
              <a:rPr lang="en-US" sz="2000" dirty="0" err="1">
                <a:solidFill>
                  <a:schemeClr val="tx1"/>
                </a:solidFill>
              </a:rPr>
              <a:t>System.out.println</a:t>
            </a:r>
            <a:r>
              <a:rPr lang="en-US" sz="2000" dirty="0">
                <a:solidFill>
                  <a:schemeClr val="tx1"/>
                </a:solidFill>
              </a:rPr>
              <a:t>(“ x=”+x);</a:t>
            </a:r>
          </a:p>
          <a:p>
            <a:r>
              <a:rPr lang="en-US" sz="2000" dirty="0">
                <a:solidFill>
                  <a:schemeClr val="tx1"/>
                </a:solidFill>
              </a:rPr>
              <a:t>       </a:t>
            </a:r>
            <a:r>
              <a:rPr lang="en-US" sz="2000" dirty="0" err="1">
                <a:solidFill>
                  <a:schemeClr val="tx1"/>
                </a:solidFill>
              </a:rPr>
              <a:t>int</a:t>
            </a:r>
            <a:r>
              <a:rPr lang="en-US" sz="2000" dirty="0">
                <a:solidFill>
                  <a:schemeClr val="tx1"/>
                </a:solidFill>
              </a:rPr>
              <a:t> y=a/(</a:t>
            </a:r>
            <a:r>
              <a:rPr lang="en-US" sz="2000" dirty="0" err="1">
                <a:solidFill>
                  <a:schemeClr val="tx1"/>
                </a:solidFill>
              </a:rPr>
              <a:t>b+c</a:t>
            </a:r>
            <a:r>
              <a:rPr lang="en-US" sz="2000" dirty="0">
                <a:solidFill>
                  <a:schemeClr val="tx1"/>
                </a:solidFill>
              </a:rPr>
              <a:t>);</a:t>
            </a:r>
          </a:p>
          <a:p>
            <a:r>
              <a:rPr lang="en-US" sz="2000" dirty="0">
                <a:solidFill>
                  <a:schemeClr val="tx1"/>
                </a:solidFill>
              </a:rPr>
              <a:t>      </a:t>
            </a:r>
            <a:r>
              <a:rPr lang="en-US" sz="2000" dirty="0" err="1">
                <a:solidFill>
                  <a:schemeClr val="tx1"/>
                </a:solidFill>
              </a:rPr>
              <a:t>System.out.println</a:t>
            </a:r>
            <a:r>
              <a:rPr lang="en-US" sz="2000" dirty="0">
                <a:solidFill>
                  <a:schemeClr val="tx1"/>
                </a:solidFill>
              </a:rPr>
              <a:t>(“y=”+y);</a:t>
            </a:r>
          </a:p>
          <a:p>
            <a:r>
              <a:rPr lang="en-US" sz="2000" dirty="0">
                <a:solidFill>
                  <a:schemeClr val="tx1"/>
                </a:solidFill>
              </a:rPr>
              <a:t>    }</a:t>
            </a:r>
          </a:p>
          <a:p>
            <a:r>
              <a:rPr lang="en-US" sz="2000" dirty="0">
                <a:solidFill>
                  <a:schemeClr val="tx1"/>
                </a:solidFill>
              </a:rPr>
              <a:t>}</a:t>
            </a:r>
          </a:p>
        </p:txBody>
      </p:sp>
      <p:sp>
        <p:nvSpPr>
          <p:cNvPr id="7" name="Rectangle 6"/>
          <p:cNvSpPr/>
          <p:nvPr/>
        </p:nvSpPr>
        <p:spPr>
          <a:xfrm>
            <a:off x="6781800" y="2286000"/>
            <a:ext cx="4953000" cy="1371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highlight>
                  <a:srgbClr val="00FF00"/>
                </a:highlight>
              </a:rPr>
              <a:t>Java.lang.ArithmeticException</a:t>
            </a:r>
            <a:r>
              <a:rPr lang="en-US" sz="2000" dirty="0">
                <a:solidFill>
                  <a:schemeClr val="tx1"/>
                </a:solidFill>
                <a:highlight>
                  <a:srgbClr val="00FF00"/>
                </a:highlight>
              </a:rPr>
              <a:t>: /by zero</a:t>
            </a:r>
          </a:p>
          <a:p>
            <a:pPr algn="ctr"/>
            <a:r>
              <a:rPr lang="en-US" sz="2000" dirty="0">
                <a:solidFill>
                  <a:schemeClr val="tx1"/>
                </a:solidFill>
                <a:highlight>
                  <a:srgbClr val="00FF00"/>
                </a:highlight>
              </a:rPr>
              <a:t>At </a:t>
            </a:r>
            <a:r>
              <a:rPr lang="en-US" sz="2000" dirty="0" err="1">
                <a:solidFill>
                  <a:schemeClr val="tx1"/>
                </a:solidFill>
                <a:highlight>
                  <a:srgbClr val="00FF00"/>
                </a:highlight>
              </a:rPr>
              <a:t>Myclass.main</a:t>
            </a:r>
            <a:r>
              <a:rPr lang="en-US" sz="2000" dirty="0">
                <a:solidFill>
                  <a:schemeClr val="tx1"/>
                </a:solidFill>
                <a:highlight>
                  <a:srgbClr val="00FF00"/>
                </a:highlight>
              </a:rPr>
              <a:t>(Myclass.java</a:t>
            </a:r>
            <a:r>
              <a:rPr lang="en-US" sz="2000" dirty="0">
                <a:solidFill>
                  <a:schemeClr val="tx1"/>
                </a:solidFill>
                <a:highlight>
                  <a:srgbClr val="00FF00"/>
                </a:highlight>
                <a:sym typeface="Wingdings" pitchFamily="2" charset="2"/>
              </a:rPr>
              <a:t>:)</a:t>
            </a:r>
            <a:endParaRPr lang="en-US" sz="2000" dirty="0">
              <a:solidFill>
                <a:schemeClr val="tx1"/>
              </a:solidFill>
              <a:highlight>
                <a:srgbClr val="00FF00"/>
              </a:highlight>
            </a:endParaRPr>
          </a:p>
        </p:txBody>
      </p:sp>
    </p:spTree>
    <p:extLst>
      <p:ext uri="{BB962C8B-B14F-4D97-AF65-F5344CB8AC3E}">
        <p14:creationId xmlns:p14="http://schemas.microsoft.com/office/powerpoint/2010/main" val="268991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69529" y="1066800"/>
            <a:ext cx="11212871" cy="4953000"/>
          </a:xfrm>
        </p:spPr>
        <p:txBody>
          <a:bodyPr>
            <a:normAutofit/>
          </a:bodyPr>
          <a:lstStyle/>
          <a:p>
            <a:r>
              <a:rPr lang="en-US" dirty="0">
                <a:highlight>
                  <a:srgbClr val="00FFFF"/>
                </a:highlight>
              </a:rPr>
              <a:t>Exception is a condition that is caused by a run time error in the program.</a:t>
            </a:r>
          </a:p>
          <a:p>
            <a:r>
              <a:rPr lang="en-US" dirty="0"/>
              <a:t>When the Java interpreter encounters an error such as dividing an integer by zero, it creates an exception object and throws</a:t>
            </a:r>
          </a:p>
          <a:p>
            <a:r>
              <a:rPr lang="en-US" dirty="0">
                <a:highlight>
                  <a:srgbClr val="00FFFF"/>
                </a:highlight>
              </a:rPr>
              <a:t>If the exception object is not caught and handled properly, the interpreter will display an error message as shown in the output of program and will terminate the program.</a:t>
            </a:r>
          </a:p>
          <a:p>
            <a:r>
              <a:rPr lang="en-US" dirty="0"/>
              <a:t>If we want the program to continue with the execution of the remaining code, then </a:t>
            </a:r>
            <a:r>
              <a:rPr lang="en-US" dirty="0">
                <a:highlight>
                  <a:srgbClr val="00FF00"/>
                </a:highlight>
              </a:rPr>
              <a:t>we should try to catch the exception object thrown by the error condition and then display an appropriate message for taking corrective actions. This task is known as exception handling.</a:t>
            </a:r>
          </a:p>
          <a:p>
            <a:endParaRPr lang="en-US" dirty="0"/>
          </a:p>
          <a:p>
            <a:endParaRPr lang="en-US" dirty="0"/>
          </a:p>
        </p:txBody>
      </p:sp>
      <p:pic>
        <p:nvPicPr>
          <p:cNvPr id="4" name="Picture 3">
            <a:extLst>
              <a:ext uri="{FF2B5EF4-FFF2-40B4-BE49-F238E27FC236}">
                <a16:creationId xmlns:a16="http://schemas.microsoft.com/office/drawing/2014/main" id="{B308BE5F-FC50-4313-A37C-F1D16C83D41A}"/>
              </a:ext>
            </a:extLst>
          </p:cNvPr>
          <p:cNvPicPr>
            <a:picLocks noChangeAspect="1"/>
          </p:cNvPicPr>
          <p:nvPr/>
        </p:nvPicPr>
        <p:blipFill>
          <a:blip r:embed="rId2"/>
          <a:stretch>
            <a:fillRect/>
          </a:stretch>
        </p:blipFill>
        <p:spPr>
          <a:xfrm>
            <a:off x="369529" y="153755"/>
            <a:ext cx="937341" cy="646786"/>
          </a:xfrm>
          <a:prstGeom prst="rect">
            <a:avLst/>
          </a:prstGeom>
        </p:spPr>
      </p:pic>
      <p:sp>
        <p:nvSpPr>
          <p:cNvPr id="5" name="Title 1">
            <a:extLst>
              <a:ext uri="{FF2B5EF4-FFF2-40B4-BE49-F238E27FC236}">
                <a16:creationId xmlns:a16="http://schemas.microsoft.com/office/drawing/2014/main" id="{E4593C6E-1E06-4697-B1EE-90CE68ABF96B}"/>
              </a:ext>
            </a:extLst>
          </p:cNvPr>
          <p:cNvSpPr txBox="1">
            <a:spLocks/>
          </p:cNvSpPr>
          <p:nvPr/>
        </p:nvSpPr>
        <p:spPr>
          <a:xfrm>
            <a:off x="1447800" y="211125"/>
            <a:ext cx="10287000" cy="5320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7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600" b="1" dirty="0">
                <a:solidFill>
                  <a:schemeClr val="tx1"/>
                </a:solidFill>
                <a:highlight>
                  <a:srgbClr val="FFFF00"/>
                </a:highlight>
              </a:rPr>
              <a:t>Exceptions </a:t>
            </a:r>
            <a:endParaRPr lang="en-US" sz="3600" dirty="0">
              <a:solidFill>
                <a:schemeClr val="tx1"/>
              </a:solidFill>
              <a:highlight>
                <a:srgbClr val="FFFF00"/>
              </a:highlight>
            </a:endParaRPr>
          </a:p>
        </p:txBody>
      </p:sp>
    </p:spTree>
    <p:extLst>
      <p:ext uri="{BB962C8B-B14F-4D97-AF65-F5344CB8AC3E}">
        <p14:creationId xmlns:p14="http://schemas.microsoft.com/office/powerpoint/2010/main" val="2182237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sz="quarter" idx="1"/>
            <p:extLst>
              <p:ext uri="{D42A27DB-BD31-4B8C-83A1-F6EECF244321}">
                <p14:modId xmlns:p14="http://schemas.microsoft.com/office/powerpoint/2010/main" val="633338179"/>
              </p:ext>
            </p:extLst>
          </p:nvPr>
        </p:nvGraphicFramePr>
        <p:xfrm>
          <a:off x="152400" y="800541"/>
          <a:ext cx="11277600" cy="5364480"/>
        </p:xfrm>
        <a:graphic>
          <a:graphicData uri="http://schemas.openxmlformats.org/drawingml/2006/table">
            <a:tbl>
              <a:tblPr firstRow="1" bandRow="1">
                <a:tableStyleId>{5C22544A-7EE6-4342-B048-85BDC9FD1C3A}</a:tableStyleId>
              </a:tblPr>
              <a:tblGrid>
                <a:gridCol w="3731558">
                  <a:extLst>
                    <a:ext uri="{9D8B030D-6E8A-4147-A177-3AD203B41FA5}">
                      <a16:colId xmlns:a16="http://schemas.microsoft.com/office/drawing/2014/main" val="20000"/>
                    </a:ext>
                  </a:extLst>
                </a:gridCol>
                <a:gridCol w="7546042">
                  <a:extLst>
                    <a:ext uri="{9D8B030D-6E8A-4147-A177-3AD203B41FA5}">
                      <a16:colId xmlns:a16="http://schemas.microsoft.com/office/drawing/2014/main" val="20001"/>
                    </a:ext>
                  </a:extLst>
                </a:gridCol>
              </a:tblGrid>
              <a:tr h="403332">
                <a:tc>
                  <a:txBody>
                    <a:bodyPr/>
                    <a:lstStyle/>
                    <a:p>
                      <a:r>
                        <a:rPr lang="en-US" sz="2200" dirty="0">
                          <a:solidFill>
                            <a:schemeClr val="tx1"/>
                          </a:solidFill>
                          <a:highlight>
                            <a:srgbClr val="FFFF00"/>
                          </a:highlight>
                        </a:rPr>
                        <a:t>Exception Type </a:t>
                      </a:r>
                    </a:p>
                  </a:txBody>
                  <a:tcPr/>
                </a:tc>
                <a:tc>
                  <a:txBody>
                    <a:bodyPr/>
                    <a:lstStyle/>
                    <a:p>
                      <a:r>
                        <a:rPr lang="en-US" sz="2200" dirty="0">
                          <a:solidFill>
                            <a:schemeClr val="tx1"/>
                          </a:solidFill>
                          <a:highlight>
                            <a:srgbClr val="FFFF00"/>
                          </a:highlight>
                        </a:rPr>
                        <a:t>Cause of Exception</a:t>
                      </a:r>
                    </a:p>
                  </a:txBody>
                  <a:tcPr/>
                </a:tc>
                <a:extLst>
                  <a:ext uri="{0D108BD9-81ED-4DB2-BD59-A6C34878D82A}">
                    <a16:rowId xmlns:a16="http://schemas.microsoft.com/office/drawing/2014/main" val="10000"/>
                  </a:ext>
                </a:extLst>
              </a:tr>
              <a:tr h="403332">
                <a:tc>
                  <a:txBody>
                    <a:bodyPr/>
                    <a:lstStyle/>
                    <a:p>
                      <a:r>
                        <a:rPr lang="en-US" sz="2200" dirty="0" err="1"/>
                        <a:t>ArithmaticException</a:t>
                      </a:r>
                      <a:endParaRPr lang="en-US" sz="2200" dirty="0"/>
                    </a:p>
                  </a:txBody>
                  <a:tcPr/>
                </a:tc>
                <a:tc>
                  <a:txBody>
                    <a:bodyPr/>
                    <a:lstStyle/>
                    <a:p>
                      <a:r>
                        <a:rPr lang="en-US" sz="2200" dirty="0"/>
                        <a:t>Caused by math errors</a:t>
                      </a:r>
                      <a:r>
                        <a:rPr lang="en-US" sz="2200" baseline="0" dirty="0"/>
                        <a:t> such as division by zero</a:t>
                      </a:r>
                      <a:endParaRPr lang="en-US" sz="2200" dirty="0"/>
                    </a:p>
                  </a:txBody>
                  <a:tcPr/>
                </a:tc>
                <a:extLst>
                  <a:ext uri="{0D108BD9-81ED-4DB2-BD59-A6C34878D82A}">
                    <a16:rowId xmlns:a16="http://schemas.microsoft.com/office/drawing/2014/main" val="10001"/>
                  </a:ext>
                </a:extLst>
              </a:tr>
              <a:tr h="403332">
                <a:tc>
                  <a:txBody>
                    <a:bodyPr/>
                    <a:lstStyle/>
                    <a:p>
                      <a:r>
                        <a:rPr lang="en-US" sz="2200" dirty="0" err="1"/>
                        <a:t>ArrayIndexOutOfBound</a:t>
                      </a:r>
                      <a:r>
                        <a:rPr lang="en-US" sz="2200" baseline="0" dirty="0" err="1"/>
                        <a:t>Exception</a:t>
                      </a:r>
                      <a:endParaRPr lang="en-US" sz="2200" dirty="0"/>
                    </a:p>
                  </a:txBody>
                  <a:tcPr/>
                </a:tc>
                <a:tc>
                  <a:txBody>
                    <a:bodyPr/>
                    <a:lstStyle/>
                    <a:p>
                      <a:r>
                        <a:rPr lang="en-US" sz="2200" dirty="0"/>
                        <a:t>Caused by</a:t>
                      </a:r>
                      <a:r>
                        <a:rPr lang="en-US" sz="2200" baseline="0" dirty="0"/>
                        <a:t> bad array indexes</a:t>
                      </a:r>
                      <a:endParaRPr lang="en-US" sz="2200" dirty="0"/>
                    </a:p>
                  </a:txBody>
                  <a:tcPr/>
                </a:tc>
                <a:extLst>
                  <a:ext uri="{0D108BD9-81ED-4DB2-BD59-A6C34878D82A}">
                    <a16:rowId xmlns:a16="http://schemas.microsoft.com/office/drawing/2014/main" val="10002"/>
                  </a:ext>
                </a:extLst>
              </a:tr>
              <a:tr h="403332">
                <a:tc>
                  <a:txBody>
                    <a:bodyPr/>
                    <a:lstStyle/>
                    <a:p>
                      <a:r>
                        <a:rPr lang="en-US" sz="2200" dirty="0" err="1"/>
                        <a:t>ArrayStore</a:t>
                      </a:r>
                      <a:r>
                        <a:rPr lang="en-US" sz="2200" baseline="0" dirty="0" err="1"/>
                        <a:t>Exception</a:t>
                      </a:r>
                      <a:endParaRPr lang="en-US" sz="2200" dirty="0"/>
                    </a:p>
                  </a:txBody>
                  <a:tcPr/>
                </a:tc>
                <a:tc>
                  <a:txBody>
                    <a:bodyPr/>
                    <a:lstStyle/>
                    <a:p>
                      <a:r>
                        <a:rPr lang="en-US" sz="2200" dirty="0"/>
                        <a:t>Caused when</a:t>
                      </a:r>
                      <a:r>
                        <a:rPr lang="en-US" sz="2200" baseline="0" dirty="0"/>
                        <a:t> a program tries to store the wrong type of data in array </a:t>
                      </a:r>
                      <a:endParaRPr lang="en-US" sz="2200" dirty="0"/>
                    </a:p>
                  </a:txBody>
                  <a:tcPr/>
                </a:tc>
                <a:extLst>
                  <a:ext uri="{0D108BD9-81ED-4DB2-BD59-A6C34878D82A}">
                    <a16:rowId xmlns:a16="http://schemas.microsoft.com/office/drawing/2014/main" val="10003"/>
                  </a:ext>
                </a:extLst>
              </a:tr>
              <a:tr h="403332">
                <a:tc>
                  <a:txBody>
                    <a:bodyPr/>
                    <a:lstStyle/>
                    <a:p>
                      <a:r>
                        <a:rPr lang="en-US" sz="2200" dirty="0" err="1"/>
                        <a:t>FileNotFoundException</a:t>
                      </a:r>
                      <a:endParaRPr lang="en-US" sz="2200" dirty="0"/>
                    </a:p>
                  </a:txBody>
                  <a:tcPr/>
                </a:tc>
                <a:tc>
                  <a:txBody>
                    <a:bodyPr/>
                    <a:lstStyle/>
                    <a:p>
                      <a:r>
                        <a:rPr lang="en-US" sz="2200" dirty="0"/>
                        <a:t>Caused</a:t>
                      </a:r>
                      <a:r>
                        <a:rPr lang="en-US" sz="2200" baseline="0" dirty="0"/>
                        <a:t> by an attempt to access a nonexistent file</a:t>
                      </a:r>
                      <a:endParaRPr lang="en-US" sz="2200" dirty="0"/>
                    </a:p>
                  </a:txBody>
                  <a:tcPr/>
                </a:tc>
                <a:extLst>
                  <a:ext uri="{0D108BD9-81ED-4DB2-BD59-A6C34878D82A}">
                    <a16:rowId xmlns:a16="http://schemas.microsoft.com/office/drawing/2014/main" val="10004"/>
                  </a:ext>
                </a:extLst>
              </a:tr>
              <a:tr h="403332">
                <a:tc>
                  <a:txBody>
                    <a:bodyPr/>
                    <a:lstStyle/>
                    <a:p>
                      <a:r>
                        <a:rPr lang="en-US" sz="2200" dirty="0" err="1"/>
                        <a:t>IOException</a:t>
                      </a:r>
                      <a:endParaRPr lang="en-US" sz="2200" dirty="0"/>
                    </a:p>
                  </a:txBody>
                  <a:tcPr/>
                </a:tc>
                <a:tc>
                  <a:txBody>
                    <a:bodyPr/>
                    <a:lstStyle/>
                    <a:p>
                      <a:r>
                        <a:rPr lang="en-US" sz="2200" dirty="0"/>
                        <a:t>Caused</a:t>
                      </a:r>
                      <a:r>
                        <a:rPr lang="en-US" sz="2200" baseline="0" dirty="0"/>
                        <a:t>  by general I/O failures, such as inability to read from a file</a:t>
                      </a:r>
                      <a:endParaRPr lang="en-US" sz="2200" dirty="0"/>
                    </a:p>
                  </a:txBody>
                  <a:tcPr/>
                </a:tc>
                <a:extLst>
                  <a:ext uri="{0D108BD9-81ED-4DB2-BD59-A6C34878D82A}">
                    <a16:rowId xmlns:a16="http://schemas.microsoft.com/office/drawing/2014/main" val="10005"/>
                  </a:ext>
                </a:extLst>
              </a:tr>
              <a:tr h="403332">
                <a:tc>
                  <a:txBody>
                    <a:bodyPr/>
                    <a:lstStyle/>
                    <a:p>
                      <a:r>
                        <a:rPr lang="en-US" sz="2200" dirty="0" err="1"/>
                        <a:t>NumberFormatException</a:t>
                      </a:r>
                      <a:endParaRPr lang="en-US" sz="2200" dirty="0"/>
                    </a:p>
                  </a:txBody>
                  <a:tcPr/>
                </a:tc>
                <a:tc>
                  <a:txBody>
                    <a:bodyPr/>
                    <a:lstStyle/>
                    <a:p>
                      <a:r>
                        <a:rPr lang="en-US" sz="2200" dirty="0"/>
                        <a:t>Caused when a conversion between strings and numbers fails</a:t>
                      </a:r>
                    </a:p>
                  </a:txBody>
                  <a:tcPr/>
                </a:tc>
                <a:extLst>
                  <a:ext uri="{0D108BD9-81ED-4DB2-BD59-A6C34878D82A}">
                    <a16:rowId xmlns:a16="http://schemas.microsoft.com/office/drawing/2014/main" val="10006"/>
                  </a:ext>
                </a:extLst>
              </a:tr>
              <a:tr h="403332">
                <a:tc>
                  <a:txBody>
                    <a:bodyPr/>
                    <a:lstStyle/>
                    <a:p>
                      <a:r>
                        <a:rPr lang="en-US" sz="2200" dirty="0" err="1"/>
                        <a:t>OutOfMemoryException</a:t>
                      </a:r>
                      <a:endParaRPr lang="en-US" sz="2200" dirty="0"/>
                    </a:p>
                  </a:txBody>
                  <a:tcPr/>
                </a:tc>
                <a:tc>
                  <a:txBody>
                    <a:bodyPr/>
                    <a:lstStyle/>
                    <a:p>
                      <a:r>
                        <a:rPr lang="en-US" sz="2200" dirty="0"/>
                        <a:t>Caused when there’s not enough memory to allocate a new object</a:t>
                      </a:r>
                    </a:p>
                  </a:txBody>
                  <a:tcPr/>
                </a:tc>
                <a:extLst>
                  <a:ext uri="{0D108BD9-81ED-4DB2-BD59-A6C34878D82A}">
                    <a16:rowId xmlns:a16="http://schemas.microsoft.com/office/drawing/2014/main" val="10007"/>
                  </a:ext>
                </a:extLst>
              </a:tr>
              <a:tr h="696162">
                <a:tc>
                  <a:txBody>
                    <a:bodyPr/>
                    <a:lstStyle/>
                    <a:p>
                      <a:r>
                        <a:rPr lang="en-US" sz="2200" dirty="0" err="1"/>
                        <a:t>SecurityException</a:t>
                      </a:r>
                      <a:endParaRPr lang="en-US" sz="2200" dirty="0"/>
                    </a:p>
                  </a:txBody>
                  <a:tcPr/>
                </a:tc>
                <a:tc>
                  <a:txBody>
                    <a:bodyPr/>
                    <a:lstStyle/>
                    <a:p>
                      <a:r>
                        <a:rPr lang="en-US" sz="2200" dirty="0"/>
                        <a:t>Caused when an applet tries to perform an action not allowed by the browser security setting</a:t>
                      </a:r>
                    </a:p>
                  </a:txBody>
                  <a:tcPr/>
                </a:tc>
                <a:extLst>
                  <a:ext uri="{0D108BD9-81ED-4DB2-BD59-A6C34878D82A}">
                    <a16:rowId xmlns:a16="http://schemas.microsoft.com/office/drawing/2014/main" val="10008"/>
                  </a:ext>
                </a:extLst>
              </a:tr>
              <a:tr h="403332">
                <a:tc>
                  <a:txBody>
                    <a:bodyPr/>
                    <a:lstStyle/>
                    <a:p>
                      <a:r>
                        <a:rPr lang="en-US" sz="2200" dirty="0" err="1"/>
                        <a:t>StackOverFlowException</a:t>
                      </a:r>
                      <a:endParaRPr lang="en-US" sz="2200" dirty="0"/>
                    </a:p>
                  </a:txBody>
                  <a:tcPr/>
                </a:tc>
                <a:tc>
                  <a:txBody>
                    <a:bodyPr/>
                    <a:lstStyle/>
                    <a:p>
                      <a:r>
                        <a:rPr lang="en-US" sz="2200" dirty="0"/>
                        <a:t>Caused when the system runs out of stack space</a:t>
                      </a:r>
                    </a:p>
                  </a:txBody>
                  <a:tcPr/>
                </a:tc>
                <a:extLst>
                  <a:ext uri="{0D108BD9-81ED-4DB2-BD59-A6C34878D82A}">
                    <a16:rowId xmlns:a16="http://schemas.microsoft.com/office/drawing/2014/main" val="10009"/>
                  </a:ext>
                </a:extLst>
              </a:tr>
              <a:tr h="403332">
                <a:tc>
                  <a:txBody>
                    <a:bodyPr/>
                    <a:lstStyle/>
                    <a:p>
                      <a:r>
                        <a:rPr lang="en-US" sz="2200" dirty="0" err="1"/>
                        <a:t>StringIndexOutOfBoundException</a:t>
                      </a:r>
                      <a:endParaRPr lang="en-US" sz="2200" dirty="0"/>
                    </a:p>
                  </a:txBody>
                  <a:tcPr/>
                </a:tc>
                <a:tc>
                  <a:txBody>
                    <a:bodyPr/>
                    <a:lstStyle/>
                    <a:p>
                      <a:r>
                        <a:rPr lang="en-US" sz="2200" dirty="0"/>
                        <a:t>Caused when a program attempts to access a nonexistent character position in a String</a:t>
                      </a:r>
                    </a:p>
                  </a:txBody>
                  <a:tcPr/>
                </a:tc>
                <a:extLst>
                  <a:ext uri="{0D108BD9-81ED-4DB2-BD59-A6C34878D82A}">
                    <a16:rowId xmlns:a16="http://schemas.microsoft.com/office/drawing/2014/main" val="10010"/>
                  </a:ext>
                </a:extLst>
              </a:tr>
            </a:tbl>
          </a:graphicData>
        </a:graphic>
      </p:graphicFrame>
      <p:pic>
        <p:nvPicPr>
          <p:cNvPr id="4" name="Picture 3">
            <a:extLst>
              <a:ext uri="{FF2B5EF4-FFF2-40B4-BE49-F238E27FC236}">
                <a16:creationId xmlns:a16="http://schemas.microsoft.com/office/drawing/2014/main" id="{C9EE5B12-273C-4B7F-B880-A69F3118E2A3}"/>
              </a:ext>
            </a:extLst>
          </p:cNvPr>
          <p:cNvPicPr>
            <a:picLocks noChangeAspect="1"/>
          </p:cNvPicPr>
          <p:nvPr/>
        </p:nvPicPr>
        <p:blipFill>
          <a:blip r:embed="rId2"/>
          <a:stretch>
            <a:fillRect/>
          </a:stretch>
        </p:blipFill>
        <p:spPr>
          <a:xfrm>
            <a:off x="369529" y="153755"/>
            <a:ext cx="937341" cy="646786"/>
          </a:xfrm>
          <a:prstGeom prst="rect">
            <a:avLst/>
          </a:prstGeom>
        </p:spPr>
      </p:pic>
      <p:sp>
        <p:nvSpPr>
          <p:cNvPr id="5" name="Title 1">
            <a:extLst>
              <a:ext uri="{FF2B5EF4-FFF2-40B4-BE49-F238E27FC236}">
                <a16:creationId xmlns:a16="http://schemas.microsoft.com/office/drawing/2014/main" id="{A65AB566-3DA7-4584-80E2-DB4AF0B885D3}"/>
              </a:ext>
            </a:extLst>
          </p:cNvPr>
          <p:cNvSpPr txBox="1">
            <a:spLocks/>
          </p:cNvSpPr>
          <p:nvPr/>
        </p:nvSpPr>
        <p:spPr>
          <a:xfrm>
            <a:off x="1447800" y="211125"/>
            <a:ext cx="10287000" cy="5320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7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600" b="1" dirty="0">
                <a:solidFill>
                  <a:schemeClr val="tx1"/>
                </a:solidFill>
                <a:highlight>
                  <a:srgbClr val="FFFF00"/>
                </a:highlight>
              </a:rPr>
              <a:t>Exceptions Type </a:t>
            </a:r>
            <a:endParaRPr lang="en-US" sz="3600" dirty="0">
              <a:solidFill>
                <a:schemeClr val="tx1"/>
              </a:solidFill>
              <a:highlight>
                <a:srgbClr val="FFFF00"/>
              </a:highlight>
            </a:endParaRPr>
          </a:p>
        </p:txBody>
      </p:sp>
    </p:spTree>
    <p:extLst>
      <p:ext uri="{BB962C8B-B14F-4D97-AF65-F5344CB8AC3E}">
        <p14:creationId xmlns:p14="http://schemas.microsoft.com/office/powerpoint/2010/main" val="2570159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00260C-B053-4EEF-8FCE-3113E5B56924}"/>
              </a:ext>
            </a:extLst>
          </p:cNvPr>
          <p:cNvSpPr>
            <a:spLocks noGrp="1"/>
          </p:cNvSpPr>
          <p:nvPr>
            <p:ph sz="quarter" idx="1"/>
          </p:nvPr>
        </p:nvSpPr>
        <p:spPr>
          <a:xfrm>
            <a:off x="533400" y="1066800"/>
            <a:ext cx="11049000" cy="2971800"/>
          </a:xfrm>
        </p:spPr>
        <p:txBody>
          <a:bodyPr/>
          <a:lstStyle/>
          <a:p>
            <a:r>
              <a:rPr lang="en-US" dirty="0">
                <a:highlight>
                  <a:srgbClr val="FFFF00"/>
                </a:highlight>
              </a:rPr>
              <a:t>For Error Handling performs the following tasks</a:t>
            </a:r>
          </a:p>
          <a:p>
            <a:pPr marL="514350" indent="-514350">
              <a:buFont typeface="+mj-lt"/>
              <a:buAutoNum type="arabicPeriod"/>
            </a:pPr>
            <a:r>
              <a:rPr lang="en-US" dirty="0"/>
              <a:t>Find the problem (Hit the exception)</a:t>
            </a:r>
          </a:p>
          <a:p>
            <a:pPr marL="514350" indent="-514350">
              <a:buFont typeface="+mj-lt"/>
              <a:buAutoNum type="arabicPeriod"/>
            </a:pPr>
            <a:r>
              <a:rPr lang="en-US" dirty="0"/>
              <a:t>Inform that an error has occurred (throw the exception)</a:t>
            </a:r>
          </a:p>
          <a:p>
            <a:pPr marL="514350" indent="-514350">
              <a:buFont typeface="+mj-lt"/>
              <a:buAutoNum type="arabicPeriod"/>
            </a:pPr>
            <a:r>
              <a:rPr lang="en-US" dirty="0"/>
              <a:t>Receive the error information (catch the exception)</a:t>
            </a:r>
          </a:p>
          <a:p>
            <a:pPr marL="514350" indent="-514350">
              <a:buFont typeface="+mj-lt"/>
              <a:buAutoNum type="arabicPeriod"/>
            </a:pPr>
            <a:r>
              <a:rPr lang="en-US" dirty="0"/>
              <a:t>Take corrective actions (handle the exception)</a:t>
            </a:r>
          </a:p>
          <a:p>
            <a:r>
              <a:rPr lang="en-IN" dirty="0">
                <a:highlight>
                  <a:srgbClr val="FFFF00"/>
                </a:highlight>
              </a:rPr>
              <a:t>Java Exception Handling is managed by five keywords</a:t>
            </a:r>
          </a:p>
          <a:p>
            <a:endParaRPr lang="en-IN" dirty="0"/>
          </a:p>
        </p:txBody>
      </p:sp>
      <p:pic>
        <p:nvPicPr>
          <p:cNvPr id="4" name="Picture 3">
            <a:extLst>
              <a:ext uri="{FF2B5EF4-FFF2-40B4-BE49-F238E27FC236}">
                <a16:creationId xmlns:a16="http://schemas.microsoft.com/office/drawing/2014/main" id="{08E4B84E-0E17-4DDB-892D-7710B31BD0D4}"/>
              </a:ext>
            </a:extLst>
          </p:cNvPr>
          <p:cNvPicPr>
            <a:picLocks noChangeAspect="1"/>
          </p:cNvPicPr>
          <p:nvPr/>
        </p:nvPicPr>
        <p:blipFill>
          <a:blip r:embed="rId2"/>
          <a:stretch>
            <a:fillRect/>
          </a:stretch>
        </p:blipFill>
        <p:spPr>
          <a:xfrm>
            <a:off x="369529" y="153755"/>
            <a:ext cx="937341" cy="646786"/>
          </a:xfrm>
          <a:prstGeom prst="rect">
            <a:avLst/>
          </a:prstGeom>
        </p:spPr>
      </p:pic>
      <p:sp>
        <p:nvSpPr>
          <p:cNvPr id="5" name="Title 1">
            <a:extLst>
              <a:ext uri="{FF2B5EF4-FFF2-40B4-BE49-F238E27FC236}">
                <a16:creationId xmlns:a16="http://schemas.microsoft.com/office/drawing/2014/main" id="{E514F301-4AD1-4241-9122-29F212AA3B31}"/>
              </a:ext>
            </a:extLst>
          </p:cNvPr>
          <p:cNvSpPr txBox="1">
            <a:spLocks/>
          </p:cNvSpPr>
          <p:nvPr/>
        </p:nvSpPr>
        <p:spPr>
          <a:xfrm>
            <a:off x="1447800" y="211125"/>
            <a:ext cx="10287000" cy="5320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7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600" b="1" dirty="0">
                <a:solidFill>
                  <a:schemeClr val="tx1"/>
                </a:solidFill>
                <a:highlight>
                  <a:srgbClr val="FFFF00"/>
                </a:highlight>
              </a:rPr>
              <a:t>Error Handling </a:t>
            </a:r>
            <a:endParaRPr lang="en-US" sz="3600" dirty="0">
              <a:solidFill>
                <a:schemeClr val="tx1"/>
              </a:solidFill>
              <a:highlight>
                <a:srgbClr val="FFFF00"/>
              </a:highlight>
            </a:endParaRPr>
          </a:p>
        </p:txBody>
      </p:sp>
      <p:sp>
        <p:nvSpPr>
          <p:cNvPr id="6" name="Rectangle 5">
            <a:extLst>
              <a:ext uri="{FF2B5EF4-FFF2-40B4-BE49-F238E27FC236}">
                <a16:creationId xmlns:a16="http://schemas.microsoft.com/office/drawing/2014/main" id="{60E65906-1E6D-44C9-9B5A-EC2D51047DC4}"/>
              </a:ext>
            </a:extLst>
          </p:cNvPr>
          <p:cNvSpPr/>
          <p:nvPr/>
        </p:nvSpPr>
        <p:spPr>
          <a:xfrm>
            <a:off x="1066800" y="4304859"/>
            <a:ext cx="7086600" cy="2133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t>                                             </a:t>
            </a:r>
            <a:r>
              <a:rPr lang="en-IN" sz="2400" dirty="0">
                <a:solidFill>
                  <a:schemeClr val="tx1"/>
                </a:solidFill>
              </a:rPr>
              <a:t>try{……..……….}</a:t>
            </a:r>
          </a:p>
          <a:p>
            <a:r>
              <a:rPr lang="en-IN" sz="2400" dirty="0">
                <a:solidFill>
                  <a:schemeClr val="tx1"/>
                </a:solidFill>
              </a:rPr>
              <a:t>                                  catch{…………….}</a:t>
            </a:r>
          </a:p>
          <a:p>
            <a:r>
              <a:rPr lang="en-IN" sz="2400" dirty="0">
                <a:solidFill>
                  <a:schemeClr val="tx1"/>
                </a:solidFill>
              </a:rPr>
              <a:t>                                  throw</a:t>
            </a:r>
          </a:p>
          <a:p>
            <a:r>
              <a:rPr lang="en-IN" sz="2400" dirty="0">
                <a:solidFill>
                  <a:schemeClr val="tx1"/>
                </a:solidFill>
              </a:rPr>
              <a:t>                                  throws</a:t>
            </a:r>
          </a:p>
          <a:p>
            <a:r>
              <a:rPr lang="en-IN" sz="2400" dirty="0">
                <a:solidFill>
                  <a:schemeClr val="tx1"/>
                </a:solidFill>
              </a:rPr>
              <a:t>                                   finally{…………..}</a:t>
            </a:r>
          </a:p>
          <a:p>
            <a:pPr algn="ctr"/>
            <a:endParaRPr lang="en-IN" dirty="0"/>
          </a:p>
        </p:txBody>
      </p:sp>
    </p:spTree>
    <p:extLst>
      <p:ext uri="{BB962C8B-B14F-4D97-AF65-F5344CB8AC3E}">
        <p14:creationId xmlns:p14="http://schemas.microsoft.com/office/powerpoint/2010/main" val="846605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7D1F904-3C81-4739-B1A1-EAA380AFC716}"/>
              </a:ext>
            </a:extLst>
          </p:cNvPr>
          <p:cNvPicPr>
            <a:picLocks noChangeAspect="1"/>
          </p:cNvPicPr>
          <p:nvPr/>
        </p:nvPicPr>
        <p:blipFill>
          <a:blip r:embed="rId2"/>
          <a:stretch>
            <a:fillRect/>
          </a:stretch>
        </p:blipFill>
        <p:spPr>
          <a:xfrm>
            <a:off x="369529" y="153755"/>
            <a:ext cx="937341" cy="646786"/>
          </a:xfrm>
          <a:prstGeom prst="rect">
            <a:avLst/>
          </a:prstGeom>
        </p:spPr>
      </p:pic>
      <p:sp>
        <p:nvSpPr>
          <p:cNvPr id="5" name="Title 1">
            <a:extLst>
              <a:ext uri="{FF2B5EF4-FFF2-40B4-BE49-F238E27FC236}">
                <a16:creationId xmlns:a16="http://schemas.microsoft.com/office/drawing/2014/main" id="{D0A6077F-EE83-4070-9060-C4C603D5BE51}"/>
              </a:ext>
            </a:extLst>
          </p:cNvPr>
          <p:cNvSpPr txBox="1">
            <a:spLocks/>
          </p:cNvSpPr>
          <p:nvPr/>
        </p:nvSpPr>
        <p:spPr>
          <a:xfrm>
            <a:off x="1447800" y="211125"/>
            <a:ext cx="10287000" cy="5320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7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600" b="1" dirty="0">
                <a:solidFill>
                  <a:schemeClr val="tx1"/>
                </a:solidFill>
                <a:highlight>
                  <a:srgbClr val="FFFF00"/>
                </a:highlight>
              </a:rPr>
              <a:t>Syntax of Exception Handling Code </a:t>
            </a:r>
            <a:endParaRPr lang="en-US" sz="3600" dirty="0">
              <a:solidFill>
                <a:schemeClr val="tx1"/>
              </a:solidFill>
              <a:highlight>
                <a:srgbClr val="FFFF00"/>
              </a:highlight>
            </a:endParaRPr>
          </a:p>
        </p:txBody>
      </p:sp>
      <p:sp>
        <p:nvSpPr>
          <p:cNvPr id="6" name="Rectangle 5">
            <a:extLst>
              <a:ext uri="{FF2B5EF4-FFF2-40B4-BE49-F238E27FC236}">
                <a16:creationId xmlns:a16="http://schemas.microsoft.com/office/drawing/2014/main" id="{39888810-7B97-4EB9-B44C-4968709197AA}"/>
              </a:ext>
            </a:extLst>
          </p:cNvPr>
          <p:cNvSpPr/>
          <p:nvPr/>
        </p:nvSpPr>
        <p:spPr>
          <a:xfrm>
            <a:off x="457200" y="1188693"/>
            <a:ext cx="5193071" cy="3657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chemeClr val="tx1"/>
                </a:solidFill>
              </a:rPr>
              <a:t>……..</a:t>
            </a:r>
          </a:p>
          <a:p>
            <a:r>
              <a:rPr lang="en-IN" sz="2000" dirty="0">
                <a:solidFill>
                  <a:schemeClr val="tx1"/>
                </a:solidFill>
              </a:rPr>
              <a:t>……..</a:t>
            </a:r>
          </a:p>
          <a:p>
            <a:r>
              <a:rPr lang="en-IN" sz="2000" dirty="0">
                <a:solidFill>
                  <a:schemeClr val="tx1"/>
                </a:solidFill>
                <a:highlight>
                  <a:srgbClr val="00FFFF"/>
                </a:highlight>
              </a:rPr>
              <a:t>try</a:t>
            </a:r>
          </a:p>
          <a:p>
            <a:r>
              <a:rPr lang="en-IN" sz="2000" dirty="0">
                <a:solidFill>
                  <a:schemeClr val="tx1"/>
                </a:solidFill>
              </a:rPr>
              <a:t>{</a:t>
            </a:r>
          </a:p>
          <a:p>
            <a:r>
              <a:rPr lang="en-IN" sz="2000" dirty="0">
                <a:solidFill>
                  <a:schemeClr val="tx1"/>
                </a:solidFill>
              </a:rPr>
              <a:t>    statement;   //Generates an Exception</a:t>
            </a:r>
          </a:p>
          <a:p>
            <a:r>
              <a:rPr lang="en-IN" sz="2000" dirty="0">
                <a:solidFill>
                  <a:schemeClr val="tx1"/>
                </a:solidFill>
              </a:rPr>
              <a:t>}</a:t>
            </a:r>
          </a:p>
          <a:p>
            <a:r>
              <a:rPr lang="en-IN" sz="2000" dirty="0">
                <a:solidFill>
                  <a:schemeClr val="tx1"/>
                </a:solidFill>
                <a:highlight>
                  <a:srgbClr val="00FFFF"/>
                </a:highlight>
              </a:rPr>
              <a:t>catch (Exception-Type e)</a:t>
            </a:r>
          </a:p>
          <a:p>
            <a:r>
              <a:rPr lang="en-IN" sz="2000" dirty="0">
                <a:solidFill>
                  <a:schemeClr val="tx1"/>
                </a:solidFill>
              </a:rPr>
              <a:t>{</a:t>
            </a:r>
          </a:p>
          <a:p>
            <a:r>
              <a:rPr lang="en-IN" sz="2000" dirty="0">
                <a:solidFill>
                  <a:schemeClr val="tx1"/>
                </a:solidFill>
              </a:rPr>
              <a:t>    statement ;     //Processes the exception</a:t>
            </a:r>
          </a:p>
          <a:p>
            <a:r>
              <a:rPr lang="en-IN" sz="2000" dirty="0">
                <a:solidFill>
                  <a:schemeClr val="tx1"/>
                </a:solidFill>
              </a:rPr>
              <a:t>}</a:t>
            </a:r>
          </a:p>
          <a:p>
            <a:r>
              <a:rPr lang="en-IN" sz="2000" dirty="0">
                <a:solidFill>
                  <a:schemeClr val="tx1"/>
                </a:solidFill>
              </a:rPr>
              <a:t>……………….</a:t>
            </a:r>
          </a:p>
          <a:p>
            <a:r>
              <a:rPr lang="en-IN" sz="2000" dirty="0">
                <a:solidFill>
                  <a:schemeClr val="tx1"/>
                </a:solidFill>
              </a:rPr>
              <a:t>…………….</a:t>
            </a:r>
          </a:p>
        </p:txBody>
      </p:sp>
      <p:sp>
        <p:nvSpPr>
          <p:cNvPr id="7" name="Rectangle 6">
            <a:extLst>
              <a:ext uri="{FF2B5EF4-FFF2-40B4-BE49-F238E27FC236}">
                <a16:creationId xmlns:a16="http://schemas.microsoft.com/office/drawing/2014/main" id="{C10C743A-D5A7-494C-ABBE-7F1426A51488}"/>
              </a:ext>
            </a:extLst>
          </p:cNvPr>
          <p:cNvSpPr/>
          <p:nvPr/>
        </p:nvSpPr>
        <p:spPr>
          <a:xfrm>
            <a:off x="7086600" y="901868"/>
            <a:ext cx="2362200" cy="1600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highlight>
                  <a:srgbClr val="00FFFF"/>
                </a:highlight>
              </a:rPr>
              <a:t>try block</a:t>
            </a:r>
          </a:p>
          <a:p>
            <a:endParaRPr lang="en-IN" sz="2000" dirty="0">
              <a:solidFill>
                <a:schemeClr val="tx1"/>
              </a:solidFill>
            </a:endParaRPr>
          </a:p>
          <a:p>
            <a:r>
              <a:rPr lang="en-IN" sz="2000" dirty="0">
                <a:solidFill>
                  <a:schemeClr val="tx1"/>
                </a:solidFill>
              </a:rPr>
              <a:t>Statement that cause an exception</a:t>
            </a:r>
          </a:p>
        </p:txBody>
      </p:sp>
      <p:cxnSp>
        <p:nvCxnSpPr>
          <p:cNvPr id="9" name="Straight Connector 8">
            <a:extLst>
              <a:ext uri="{FF2B5EF4-FFF2-40B4-BE49-F238E27FC236}">
                <a16:creationId xmlns:a16="http://schemas.microsoft.com/office/drawing/2014/main" id="{10225F6E-C6B4-495E-BCAC-3455EE414F63}"/>
              </a:ext>
            </a:extLst>
          </p:cNvPr>
          <p:cNvCxnSpPr/>
          <p:nvPr/>
        </p:nvCxnSpPr>
        <p:spPr>
          <a:xfrm>
            <a:off x="7086600" y="1511468"/>
            <a:ext cx="236220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D25F536-C9B5-4C3D-8F8A-202A142EA849}"/>
              </a:ext>
            </a:extLst>
          </p:cNvPr>
          <p:cNvSpPr/>
          <p:nvPr/>
        </p:nvSpPr>
        <p:spPr>
          <a:xfrm>
            <a:off x="7162800" y="3454568"/>
            <a:ext cx="2362200" cy="1600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highlight>
                  <a:srgbClr val="00FFFF"/>
                </a:highlight>
              </a:rPr>
              <a:t>catch block</a:t>
            </a:r>
          </a:p>
          <a:p>
            <a:endParaRPr lang="en-IN" sz="2000" dirty="0">
              <a:solidFill>
                <a:schemeClr val="tx1"/>
              </a:solidFill>
            </a:endParaRPr>
          </a:p>
          <a:p>
            <a:r>
              <a:rPr lang="en-IN" sz="2000" dirty="0">
                <a:solidFill>
                  <a:schemeClr val="tx1"/>
                </a:solidFill>
              </a:rPr>
              <a:t>Statement that handle an exception</a:t>
            </a:r>
          </a:p>
        </p:txBody>
      </p:sp>
      <p:cxnSp>
        <p:nvCxnSpPr>
          <p:cNvPr id="11" name="Straight Connector 10">
            <a:extLst>
              <a:ext uri="{FF2B5EF4-FFF2-40B4-BE49-F238E27FC236}">
                <a16:creationId xmlns:a16="http://schemas.microsoft.com/office/drawing/2014/main" id="{7E5BB6F4-87FD-43F0-9416-1F15DA81CE0D}"/>
              </a:ext>
            </a:extLst>
          </p:cNvPr>
          <p:cNvCxnSpPr/>
          <p:nvPr/>
        </p:nvCxnSpPr>
        <p:spPr>
          <a:xfrm>
            <a:off x="7162800" y="4064168"/>
            <a:ext cx="2362200"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Arrow: Curved Right 11">
            <a:extLst>
              <a:ext uri="{FF2B5EF4-FFF2-40B4-BE49-F238E27FC236}">
                <a16:creationId xmlns:a16="http://schemas.microsoft.com/office/drawing/2014/main" id="{B031CD21-9C33-46D8-8024-5C2BE6C40676}"/>
              </a:ext>
            </a:extLst>
          </p:cNvPr>
          <p:cNvSpPr/>
          <p:nvPr/>
        </p:nvSpPr>
        <p:spPr>
          <a:xfrm>
            <a:off x="5791200" y="1663868"/>
            <a:ext cx="1219200" cy="2286000"/>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3" name="TextBox 12">
            <a:extLst>
              <a:ext uri="{FF2B5EF4-FFF2-40B4-BE49-F238E27FC236}">
                <a16:creationId xmlns:a16="http://schemas.microsoft.com/office/drawing/2014/main" id="{59EFD5F4-63FF-47EA-A38D-B5C4D02C564B}"/>
              </a:ext>
            </a:extLst>
          </p:cNvPr>
          <p:cNvSpPr txBox="1"/>
          <p:nvPr/>
        </p:nvSpPr>
        <p:spPr>
          <a:xfrm>
            <a:off x="9702282" y="1156036"/>
            <a:ext cx="1371600" cy="1015663"/>
          </a:xfrm>
          <a:prstGeom prst="rect">
            <a:avLst/>
          </a:prstGeom>
          <a:noFill/>
        </p:spPr>
        <p:txBody>
          <a:bodyPr wrap="square" rtlCol="0">
            <a:spAutoFit/>
          </a:bodyPr>
          <a:lstStyle/>
          <a:p>
            <a:r>
              <a:rPr lang="en-IN" sz="2000" dirty="0"/>
              <a:t>Exception Object Creator</a:t>
            </a:r>
          </a:p>
        </p:txBody>
      </p:sp>
      <p:sp>
        <p:nvSpPr>
          <p:cNvPr id="14" name="TextBox 13">
            <a:extLst>
              <a:ext uri="{FF2B5EF4-FFF2-40B4-BE49-F238E27FC236}">
                <a16:creationId xmlns:a16="http://schemas.microsoft.com/office/drawing/2014/main" id="{2DA3DE15-0A84-4E0C-A69B-08C1D4CA9902}"/>
              </a:ext>
            </a:extLst>
          </p:cNvPr>
          <p:cNvSpPr txBox="1"/>
          <p:nvPr/>
        </p:nvSpPr>
        <p:spPr>
          <a:xfrm>
            <a:off x="9677400" y="3896963"/>
            <a:ext cx="1371600" cy="707886"/>
          </a:xfrm>
          <a:prstGeom prst="rect">
            <a:avLst/>
          </a:prstGeom>
          <a:noFill/>
        </p:spPr>
        <p:txBody>
          <a:bodyPr wrap="square" rtlCol="0">
            <a:spAutoFit/>
          </a:bodyPr>
          <a:lstStyle/>
          <a:p>
            <a:r>
              <a:rPr lang="en-IN" sz="2000" dirty="0"/>
              <a:t>Exception Handler</a:t>
            </a:r>
          </a:p>
        </p:txBody>
      </p:sp>
      <p:sp>
        <p:nvSpPr>
          <p:cNvPr id="15" name="TextBox 14">
            <a:extLst>
              <a:ext uri="{FF2B5EF4-FFF2-40B4-BE49-F238E27FC236}">
                <a16:creationId xmlns:a16="http://schemas.microsoft.com/office/drawing/2014/main" id="{CF9B9F7A-1DF2-4AB9-A8C6-AA0DEBDBE11E}"/>
              </a:ext>
            </a:extLst>
          </p:cNvPr>
          <p:cNvSpPr txBox="1"/>
          <p:nvPr/>
        </p:nvSpPr>
        <p:spPr>
          <a:xfrm>
            <a:off x="6019800" y="2698402"/>
            <a:ext cx="2541038" cy="400110"/>
          </a:xfrm>
          <a:prstGeom prst="rect">
            <a:avLst/>
          </a:prstGeom>
          <a:noFill/>
        </p:spPr>
        <p:txBody>
          <a:bodyPr wrap="square" rtlCol="0">
            <a:spAutoFit/>
          </a:bodyPr>
          <a:lstStyle/>
          <a:p>
            <a:r>
              <a:rPr lang="en-IN" sz="2000" dirty="0"/>
              <a:t>Throw Exception Object</a:t>
            </a:r>
          </a:p>
        </p:txBody>
      </p:sp>
    </p:spTree>
    <p:extLst>
      <p:ext uri="{BB962C8B-B14F-4D97-AF65-F5344CB8AC3E}">
        <p14:creationId xmlns:p14="http://schemas.microsoft.com/office/powerpoint/2010/main" val="3360594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08BE5F-FC50-4313-A37C-F1D16C83D41A}"/>
              </a:ext>
            </a:extLst>
          </p:cNvPr>
          <p:cNvPicPr>
            <a:picLocks noChangeAspect="1"/>
          </p:cNvPicPr>
          <p:nvPr/>
        </p:nvPicPr>
        <p:blipFill>
          <a:blip r:embed="rId2"/>
          <a:stretch>
            <a:fillRect/>
          </a:stretch>
        </p:blipFill>
        <p:spPr>
          <a:xfrm>
            <a:off x="369529" y="153755"/>
            <a:ext cx="937341" cy="646786"/>
          </a:xfrm>
          <a:prstGeom prst="rect">
            <a:avLst/>
          </a:prstGeom>
        </p:spPr>
      </p:pic>
      <p:sp>
        <p:nvSpPr>
          <p:cNvPr id="5" name="Title 1">
            <a:extLst>
              <a:ext uri="{FF2B5EF4-FFF2-40B4-BE49-F238E27FC236}">
                <a16:creationId xmlns:a16="http://schemas.microsoft.com/office/drawing/2014/main" id="{E4593C6E-1E06-4697-B1EE-90CE68ABF96B}"/>
              </a:ext>
            </a:extLst>
          </p:cNvPr>
          <p:cNvSpPr txBox="1">
            <a:spLocks/>
          </p:cNvSpPr>
          <p:nvPr/>
        </p:nvSpPr>
        <p:spPr>
          <a:xfrm>
            <a:off x="1447800" y="211125"/>
            <a:ext cx="10287000" cy="5320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7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3600" b="1" dirty="0">
                <a:solidFill>
                  <a:prstClr val="black"/>
                </a:solidFill>
                <a:highlight>
                  <a:srgbClr val="FFFF00"/>
                </a:highlight>
                <a:latin typeface="Perpetua"/>
              </a:rPr>
              <a:t>Exception Handling In Java</a:t>
            </a:r>
            <a:r>
              <a:rPr kumimoji="0" lang="en-US" sz="3600" b="1" i="0" u="none" strike="noStrike" kern="1200" cap="none" spc="0" normalizeH="0" baseline="0" noProof="0" dirty="0">
                <a:ln>
                  <a:noFill/>
                </a:ln>
                <a:solidFill>
                  <a:prstClr val="black"/>
                </a:solidFill>
                <a:effectLst/>
                <a:highlight>
                  <a:srgbClr val="FFFF00"/>
                </a:highlight>
                <a:uLnTx/>
                <a:uFillTx/>
                <a:latin typeface="Perpetua"/>
                <a:ea typeface="+mn-ea"/>
                <a:cs typeface="+mn-cs"/>
              </a:rPr>
              <a:t> </a:t>
            </a:r>
            <a:endParaRPr kumimoji="0" lang="en-US" sz="3600" b="0" i="0" u="none" strike="noStrike" kern="1200" cap="none" spc="0" normalizeH="0" baseline="0" noProof="0" dirty="0">
              <a:ln>
                <a:noFill/>
              </a:ln>
              <a:solidFill>
                <a:prstClr val="black"/>
              </a:solidFill>
              <a:effectLst/>
              <a:highlight>
                <a:srgbClr val="FFFF00"/>
              </a:highlight>
              <a:uLnTx/>
              <a:uFillTx/>
              <a:latin typeface="Perpetua"/>
              <a:ea typeface="+mn-ea"/>
              <a:cs typeface="+mn-cs"/>
            </a:endParaRPr>
          </a:p>
        </p:txBody>
      </p:sp>
      <p:sp>
        <p:nvSpPr>
          <p:cNvPr id="6" name="Rectangle 5"/>
          <p:cNvSpPr/>
          <p:nvPr/>
        </p:nvSpPr>
        <p:spPr>
          <a:xfrm>
            <a:off x="369529" y="914400"/>
            <a:ext cx="11365271" cy="578984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numCol="2"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class </a:t>
            </a:r>
            <a:r>
              <a:rPr kumimoji="0" lang="en-US" sz="2000" b="0" i="0" u="none" strike="noStrike" kern="1200" cap="none" spc="0" normalizeH="0" baseline="0" noProof="0" dirty="0" err="1">
                <a:ln>
                  <a:noFill/>
                </a:ln>
                <a:solidFill>
                  <a:prstClr val="black"/>
                </a:solidFill>
                <a:effectLst/>
                <a:uLnTx/>
                <a:uFillTx/>
                <a:latin typeface="Perpetua"/>
                <a:ea typeface="+mn-ea"/>
                <a:cs typeface="+mn-cs"/>
              </a:rPr>
              <a:t>Myclass</a:t>
            </a:r>
            <a:endParaRPr kumimoji="0" lang="en-US" sz="2000" b="0" i="0" u="none" strike="noStrike" kern="1200" cap="none" spc="0" normalizeH="0" baseline="0" noProof="0" dirty="0">
              <a:ln>
                <a:noFill/>
              </a:ln>
              <a:solidFill>
                <a:prstClr val="black"/>
              </a:solidFill>
              <a:effectLst/>
              <a:uLnTx/>
              <a:uFillTx/>
              <a:latin typeface="Perpetu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    public static void main (String </a:t>
            </a:r>
            <a:r>
              <a:rPr kumimoji="0" lang="en-US" sz="2000" b="0" i="0" u="none" strike="noStrike" kern="1200" cap="none" spc="0" normalizeH="0" baseline="0" noProof="0" dirty="0" err="1">
                <a:ln>
                  <a:noFill/>
                </a:ln>
                <a:solidFill>
                  <a:prstClr val="black"/>
                </a:solidFill>
                <a:effectLst/>
                <a:uLnTx/>
                <a:uFillTx/>
                <a:latin typeface="Perpetua"/>
                <a:ea typeface="+mn-ea"/>
                <a:cs typeface="+mn-cs"/>
              </a:rPr>
              <a:t>args</a:t>
            </a:r>
            <a:r>
              <a:rPr kumimoji="0" lang="en-US" sz="2000" b="0" i="0" u="none" strike="noStrike" kern="1200" cap="none" spc="0" normalizeH="0" baseline="0" noProof="0" dirty="0">
                <a:ln>
                  <a:noFill/>
                </a:ln>
                <a:solidFill>
                  <a:prstClr val="black"/>
                </a:solidFill>
                <a:effectLst/>
                <a:uLnTx/>
                <a:uFillTx/>
                <a:latin typeface="Perpetua"/>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      </a:t>
            </a:r>
            <a:r>
              <a:rPr kumimoji="0" lang="en-US" sz="2000" b="0" i="0" u="none" strike="noStrike" kern="1200" cap="none" spc="0" normalizeH="0" baseline="0" noProof="0" dirty="0" err="1">
                <a:ln>
                  <a:noFill/>
                </a:ln>
                <a:solidFill>
                  <a:prstClr val="black"/>
                </a:solidFill>
                <a:effectLst/>
                <a:uLnTx/>
                <a:uFillTx/>
                <a:latin typeface="Perpetua"/>
                <a:ea typeface="+mn-ea"/>
                <a:cs typeface="+mn-cs"/>
              </a:rPr>
              <a:t>int</a:t>
            </a:r>
            <a:r>
              <a:rPr kumimoji="0" lang="en-US" sz="2000" b="0" i="0" u="none" strike="noStrike" kern="1200" cap="none" spc="0" normalizeH="0" baseline="0" noProof="0" dirty="0">
                <a:ln>
                  <a:noFill/>
                </a:ln>
                <a:solidFill>
                  <a:prstClr val="black"/>
                </a:solidFill>
                <a:effectLst/>
                <a:uLnTx/>
                <a:uFillTx/>
                <a:latin typeface="Perpetua"/>
                <a:ea typeface="+mn-ea"/>
                <a:cs typeface="+mn-cs"/>
              </a:rPr>
              <a:t> a=10;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      </a:t>
            </a:r>
            <a:r>
              <a:rPr kumimoji="0" lang="en-US" sz="2000" b="0" i="0" u="none" strike="noStrike" kern="1200" cap="none" spc="0" normalizeH="0" baseline="0" noProof="0" dirty="0" err="1">
                <a:ln>
                  <a:noFill/>
                </a:ln>
                <a:solidFill>
                  <a:prstClr val="black"/>
                </a:solidFill>
                <a:effectLst/>
                <a:uLnTx/>
                <a:uFillTx/>
                <a:latin typeface="Perpetua"/>
                <a:ea typeface="+mn-ea"/>
                <a:cs typeface="+mn-cs"/>
              </a:rPr>
              <a:t>int</a:t>
            </a:r>
            <a:r>
              <a:rPr kumimoji="0" lang="en-US" sz="2000" b="0" i="0" u="none" strike="noStrike" kern="1200" cap="none" spc="0" normalizeH="0" baseline="0" noProof="0" dirty="0">
                <a:ln>
                  <a:noFill/>
                </a:ln>
                <a:solidFill>
                  <a:prstClr val="black"/>
                </a:solidFill>
                <a:effectLst/>
                <a:uLnTx/>
                <a:uFillTx/>
                <a:latin typeface="Perpetua"/>
                <a:ea typeface="+mn-ea"/>
                <a:cs typeface="+mn-cs"/>
              </a:rPr>
              <a:t> b=5;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      int c=5;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prstClr val="black"/>
                </a:solidFill>
                <a:latin typeface="Perpetua"/>
              </a:rPr>
              <a:t>      int </a:t>
            </a:r>
            <a:r>
              <a:rPr lang="en-US" sz="2000" dirty="0" err="1">
                <a:solidFill>
                  <a:prstClr val="black"/>
                </a:solidFill>
                <a:latin typeface="Perpetua"/>
              </a:rPr>
              <a:t>x,y</a:t>
            </a:r>
            <a:r>
              <a:rPr lang="en-US" sz="2000" dirty="0">
                <a:solidFill>
                  <a:prstClr val="black"/>
                </a:solidFill>
                <a:latin typeface="Perpetua"/>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      </a:t>
            </a:r>
            <a:r>
              <a:rPr kumimoji="0" lang="en-US" sz="2000" b="0" i="0" u="none" strike="noStrike" kern="1200" cap="none" spc="0" normalizeH="0" baseline="0" noProof="0" dirty="0">
                <a:ln>
                  <a:noFill/>
                </a:ln>
                <a:solidFill>
                  <a:prstClr val="black"/>
                </a:solidFill>
                <a:effectLst/>
                <a:highlight>
                  <a:srgbClr val="FFFF00"/>
                </a:highlight>
                <a:uLnTx/>
                <a:uFillTx/>
                <a:latin typeface="Perpetua"/>
                <a:ea typeface="+mn-ea"/>
                <a:cs typeface="+mn-cs"/>
              </a:rPr>
              <a:t>try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prstClr val="black"/>
                </a:solidFill>
                <a:latin typeface="Perpetua"/>
              </a:rPr>
              <a:t>    {</a:t>
            </a:r>
            <a:endParaRPr kumimoji="0" lang="en-US" sz="2000" b="0" i="0" u="none" strike="noStrike" kern="1200" cap="none" spc="0" normalizeH="0" baseline="0" noProof="0" dirty="0">
              <a:ln>
                <a:noFill/>
              </a:ln>
              <a:solidFill>
                <a:prstClr val="black"/>
              </a:solidFill>
              <a:effectLst/>
              <a:uLnTx/>
              <a:uFillTx/>
              <a:latin typeface="Perpetu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      x=</a:t>
            </a:r>
            <a:r>
              <a:rPr kumimoji="0" lang="en-US" sz="2000" b="0" i="0" u="none" strike="noStrike" kern="1200" cap="none" spc="0" normalizeH="0" baseline="0" noProof="0" dirty="0">
                <a:ln>
                  <a:noFill/>
                </a:ln>
                <a:solidFill>
                  <a:prstClr val="black"/>
                </a:solidFill>
                <a:effectLst/>
                <a:highlight>
                  <a:srgbClr val="00FFFF"/>
                </a:highlight>
                <a:uLnTx/>
                <a:uFillTx/>
                <a:latin typeface="Perpetua"/>
                <a:ea typeface="+mn-ea"/>
                <a:cs typeface="+mn-cs"/>
              </a:rPr>
              <a:t>a/(b-c);  </a:t>
            </a:r>
            <a:r>
              <a:rPr kumimoji="0" lang="en-US" sz="2000" b="0" i="0" u="none" strike="noStrike" kern="1200" cap="none" spc="0" normalizeH="0" baseline="0" noProof="0" dirty="0">
                <a:ln>
                  <a:noFill/>
                </a:ln>
                <a:solidFill>
                  <a:prstClr val="black"/>
                </a:solidFill>
                <a:effectLst/>
                <a:uLnTx/>
                <a:uFillTx/>
                <a:latin typeface="Perpetua"/>
                <a:ea typeface="+mn-ea"/>
                <a:cs typeface="+mn-cs"/>
              </a:rPr>
              <a:t>//Exception Here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       </a:t>
            </a:r>
            <a:r>
              <a:rPr kumimoji="0" lang="en-US" sz="2000" b="0" i="0" u="none" strike="noStrike" kern="1200" cap="none" spc="0" normalizeH="0" baseline="0" noProof="0" dirty="0" err="1">
                <a:ln>
                  <a:noFill/>
                </a:ln>
                <a:solidFill>
                  <a:prstClr val="black"/>
                </a:solidFill>
                <a:effectLst/>
                <a:uLnTx/>
                <a:uFillTx/>
                <a:latin typeface="Perpetua"/>
                <a:ea typeface="+mn-ea"/>
                <a:cs typeface="+mn-cs"/>
              </a:rPr>
              <a:t>System.out.println</a:t>
            </a:r>
            <a:r>
              <a:rPr kumimoji="0" lang="en-US" sz="2000" b="0" i="0" u="none" strike="noStrike" kern="1200" cap="none" spc="0" normalizeH="0" baseline="0" noProof="0" dirty="0">
                <a:ln>
                  <a:noFill/>
                </a:ln>
                <a:solidFill>
                  <a:prstClr val="black"/>
                </a:solidFill>
                <a:effectLst/>
                <a:uLnTx/>
                <a:uFillTx/>
                <a:latin typeface="Perpetua"/>
                <a:ea typeface="+mn-ea"/>
                <a:cs typeface="+mn-cs"/>
              </a:rPr>
              <a:t>(“ x=”+x);</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prstClr val="black"/>
                </a:solidFill>
                <a:latin typeface="Perpetua"/>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     </a:t>
            </a:r>
            <a:r>
              <a:rPr kumimoji="0" lang="en-US" sz="2000" b="0" i="0" u="none" strike="noStrike" kern="1200" cap="none" spc="0" normalizeH="0" baseline="0" noProof="0" dirty="0">
                <a:ln>
                  <a:noFill/>
                </a:ln>
                <a:solidFill>
                  <a:prstClr val="black"/>
                </a:solidFill>
                <a:effectLst/>
                <a:highlight>
                  <a:srgbClr val="FFFF00"/>
                </a:highlight>
                <a:uLnTx/>
                <a:uFillTx/>
                <a:latin typeface="Perpetua"/>
                <a:ea typeface="+mn-ea"/>
                <a:cs typeface="+mn-cs"/>
              </a:rPr>
              <a:t>catch(</a:t>
            </a:r>
            <a:r>
              <a:rPr kumimoji="0" lang="en-US" sz="2000" b="0" i="0" u="none" strike="noStrike" kern="1200" cap="none" spc="0" normalizeH="0" baseline="0" noProof="0" dirty="0" err="1">
                <a:ln>
                  <a:noFill/>
                </a:ln>
                <a:solidFill>
                  <a:prstClr val="black"/>
                </a:solidFill>
                <a:effectLst/>
                <a:highlight>
                  <a:srgbClr val="FFFF00"/>
                </a:highlight>
                <a:uLnTx/>
                <a:uFillTx/>
                <a:latin typeface="Perpetua"/>
                <a:ea typeface="+mn-ea"/>
                <a:cs typeface="+mn-cs"/>
              </a:rPr>
              <a:t>ArithmeticException</a:t>
            </a:r>
            <a:r>
              <a:rPr kumimoji="0" lang="en-US" sz="2000" b="0" i="0" u="none" strike="noStrike" kern="1200" cap="none" spc="0" normalizeH="0" baseline="0" noProof="0" dirty="0">
                <a:ln>
                  <a:noFill/>
                </a:ln>
                <a:solidFill>
                  <a:prstClr val="black"/>
                </a:solidFill>
                <a:effectLst/>
                <a:highlight>
                  <a:srgbClr val="FFFF00"/>
                </a:highlight>
                <a:uLnTx/>
                <a:uFillTx/>
                <a:latin typeface="Perpetua"/>
                <a:ea typeface="+mn-ea"/>
                <a:cs typeface="+mn-cs"/>
              </a:rPr>
              <a:t> 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prstClr val="black"/>
                </a:solidFill>
                <a:latin typeface="Perpetua"/>
              </a:rPr>
              <a:t>    {</a:t>
            </a:r>
            <a:endParaRPr kumimoji="0" lang="en-US" sz="2000" b="0" i="0" u="none" strike="noStrike" kern="1200" cap="none" spc="0" normalizeH="0" baseline="0" noProof="0" dirty="0">
              <a:ln>
                <a:noFill/>
              </a:ln>
              <a:solidFill>
                <a:prstClr val="black"/>
              </a:solidFill>
              <a:effectLst/>
              <a:uLnTx/>
              <a:uFillTx/>
              <a:latin typeface="Perpetua"/>
              <a:ea typeface="+mn-ea"/>
              <a:cs typeface="+mn-cs"/>
            </a:endParaRPr>
          </a:p>
          <a:p>
            <a:pPr lvl="0"/>
            <a:r>
              <a:rPr kumimoji="0" lang="en-US" sz="2000" b="0" i="0" u="none" strike="noStrike" kern="1200" cap="none" spc="0" normalizeH="0" baseline="0" noProof="0" dirty="0">
                <a:ln>
                  <a:noFill/>
                </a:ln>
                <a:solidFill>
                  <a:prstClr val="black"/>
                </a:solidFill>
                <a:effectLst/>
                <a:uLnTx/>
                <a:uFillTx/>
                <a:latin typeface="Perpetua"/>
                <a:ea typeface="+mn-ea"/>
                <a:cs typeface="+mn-cs"/>
              </a:rPr>
              <a:t>       </a:t>
            </a:r>
            <a:r>
              <a:rPr kumimoji="0" lang="en-US" sz="2000" b="0" i="0" u="none" strike="noStrike" kern="1200" cap="none" spc="0" normalizeH="0" baseline="0" noProof="0" dirty="0" err="1">
                <a:ln>
                  <a:noFill/>
                </a:ln>
                <a:solidFill>
                  <a:prstClr val="black"/>
                </a:solidFill>
                <a:effectLst/>
                <a:uLnTx/>
                <a:uFillTx/>
                <a:latin typeface="Perpetua"/>
                <a:ea typeface="+mn-ea"/>
                <a:cs typeface="+mn-cs"/>
              </a:rPr>
              <a:t>System.out.println</a:t>
            </a:r>
            <a:r>
              <a:rPr kumimoji="0" lang="en-US" sz="2000" b="0" i="0" u="none" strike="noStrike" kern="1200" cap="none" spc="0" normalizeH="0" baseline="0" noProof="0" dirty="0">
                <a:ln>
                  <a:noFill/>
                </a:ln>
                <a:solidFill>
                  <a:prstClr val="black"/>
                </a:solidFill>
                <a:effectLst/>
                <a:highlight>
                  <a:srgbClr val="00FFFF"/>
                </a:highlight>
                <a:uLnTx/>
                <a:uFillTx/>
                <a:latin typeface="Perpetua"/>
                <a:ea typeface="+mn-ea"/>
                <a:cs typeface="+mn-cs"/>
              </a:rPr>
              <a:t>(“Division by zero</a:t>
            </a:r>
            <a:r>
              <a:rPr lang="en-US" sz="2000" dirty="0">
                <a:solidFill>
                  <a:prstClr val="black"/>
                </a:solidFill>
                <a:highlight>
                  <a:srgbClr val="00FFFF"/>
                </a:highlight>
              </a:rPr>
              <a:t>”+ “Please take a       </a:t>
            </a:r>
          </a:p>
          <a:p>
            <a:pPr lvl="0"/>
            <a:r>
              <a:rPr lang="en-US" sz="2000" dirty="0">
                <a:solidFill>
                  <a:prstClr val="black"/>
                </a:solidFill>
                <a:highlight>
                  <a:srgbClr val="00FFFF"/>
                </a:highlight>
              </a:rPr>
              <a:t>       different value of c” </a:t>
            </a:r>
            <a:r>
              <a:rPr lang="en-US" sz="2000" dirty="0">
                <a:solidFill>
                  <a:prstClr val="black"/>
                </a:solidFill>
              </a:rPr>
              <a:t>);</a:t>
            </a:r>
          </a:p>
          <a:p>
            <a:pPr lvl="0"/>
            <a:r>
              <a:rPr kumimoji="0" lang="en-US" sz="2000" b="0" i="0" u="none" strike="noStrike" kern="1200" cap="none" spc="0" normalizeH="0" baseline="0" noProof="0" dirty="0">
                <a:ln>
                  <a:noFill/>
                </a:ln>
                <a:solidFill>
                  <a:prstClr val="black"/>
                </a:solidFill>
                <a:effectLst/>
                <a:uLnTx/>
                <a:uFillTx/>
                <a:latin typeface="Perpetua"/>
                <a:ea typeface="+mn-ea"/>
                <a:cs typeface="+mn-cs"/>
              </a:rPr>
              <a:t>      }</a:t>
            </a:r>
          </a:p>
          <a:p>
            <a:pPr lvl="0"/>
            <a:r>
              <a:rPr lang="en-US" sz="2000" dirty="0">
                <a:solidFill>
                  <a:prstClr val="black"/>
                </a:solidFill>
              </a:rPr>
              <a:t>      int y=a/(</a:t>
            </a:r>
            <a:r>
              <a:rPr lang="en-US" sz="2000" dirty="0" err="1">
                <a:solidFill>
                  <a:prstClr val="black"/>
                </a:solidFill>
              </a:rPr>
              <a:t>b+c</a:t>
            </a:r>
            <a:r>
              <a:rPr lang="en-US" sz="2000" dirty="0">
                <a:solidFill>
                  <a:prstClr val="black"/>
                </a:solidFill>
              </a:rPr>
              <a:t>);</a:t>
            </a:r>
          </a:p>
          <a:p>
            <a:pPr lvl="0">
              <a:defRPr/>
            </a:pPr>
            <a:r>
              <a:rPr lang="en-US" sz="2000" dirty="0">
                <a:solidFill>
                  <a:prstClr val="black"/>
                </a:solidFill>
              </a:rPr>
              <a:t>      </a:t>
            </a:r>
            <a:r>
              <a:rPr lang="en-US" sz="2000" dirty="0" err="1">
                <a:solidFill>
                  <a:prstClr val="black"/>
                </a:solidFill>
              </a:rPr>
              <a:t>System.out.println</a:t>
            </a:r>
            <a:r>
              <a:rPr lang="en-US" sz="2000" dirty="0">
                <a:solidFill>
                  <a:prstClr val="black"/>
                </a:solidFill>
              </a:rPr>
              <a:t>(“y=”+y);</a:t>
            </a:r>
            <a:endParaRPr kumimoji="0" lang="en-US" sz="2000" b="0" i="0" u="none" strike="noStrike" kern="1200" cap="none" spc="0" normalizeH="0" baseline="0" noProof="0" dirty="0">
              <a:ln>
                <a:noFill/>
              </a:ln>
              <a:solidFill>
                <a:prstClr val="black"/>
              </a:solidFill>
              <a:effectLst/>
              <a:uLnTx/>
              <a:uFillTx/>
              <a:latin typeface="Perpetu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a:t>
            </a:r>
          </a:p>
        </p:txBody>
      </p:sp>
      <p:sp>
        <p:nvSpPr>
          <p:cNvPr id="8" name="Rectangle 7">
            <a:extLst>
              <a:ext uri="{FF2B5EF4-FFF2-40B4-BE49-F238E27FC236}">
                <a16:creationId xmlns:a16="http://schemas.microsoft.com/office/drawing/2014/main" id="{90615DF3-64C0-43CC-8797-6CECC52A8296}"/>
              </a:ext>
            </a:extLst>
          </p:cNvPr>
          <p:cNvSpPr/>
          <p:nvPr/>
        </p:nvSpPr>
        <p:spPr>
          <a:xfrm>
            <a:off x="6248400" y="2971800"/>
            <a:ext cx="4953000" cy="1371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prstClr val="black"/>
                </a:solidFill>
                <a:latin typeface="Perpetua"/>
              </a:rPr>
              <a:t>Output:-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prstClr val="black"/>
                </a:solidFill>
                <a:highlight>
                  <a:srgbClr val="00FF00"/>
                </a:highlight>
                <a:latin typeface="Perpetua"/>
              </a:rPr>
              <a:t>Division by zero Please take a different value of c</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prstClr val="black"/>
                </a:solidFill>
                <a:highlight>
                  <a:srgbClr val="00FF00"/>
                </a:highlight>
                <a:latin typeface="Perpetua"/>
              </a:rPr>
              <a:t>y</a:t>
            </a:r>
            <a:r>
              <a:rPr kumimoji="0" lang="en-US" sz="2000" b="0" i="0" u="none" strike="noStrike" kern="1200" cap="none" spc="0" normalizeH="0" baseline="0" noProof="0" dirty="0">
                <a:ln>
                  <a:noFill/>
                </a:ln>
                <a:solidFill>
                  <a:prstClr val="black"/>
                </a:solidFill>
                <a:effectLst/>
                <a:highlight>
                  <a:srgbClr val="00FF00"/>
                </a:highlight>
                <a:uLnTx/>
                <a:uFillTx/>
                <a:latin typeface="Perpetua"/>
                <a:ea typeface="+mn-ea"/>
                <a:cs typeface="+mn-cs"/>
              </a:rPr>
              <a:t>=1</a:t>
            </a:r>
          </a:p>
        </p:txBody>
      </p:sp>
    </p:spTree>
    <p:extLst>
      <p:ext uri="{BB962C8B-B14F-4D97-AF65-F5344CB8AC3E}">
        <p14:creationId xmlns:p14="http://schemas.microsoft.com/office/powerpoint/2010/main" val="81447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08BE5F-FC50-4313-A37C-F1D16C83D41A}"/>
              </a:ext>
            </a:extLst>
          </p:cNvPr>
          <p:cNvPicPr>
            <a:picLocks noChangeAspect="1"/>
          </p:cNvPicPr>
          <p:nvPr/>
        </p:nvPicPr>
        <p:blipFill>
          <a:blip r:embed="rId2"/>
          <a:stretch>
            <a:fillRect/>
          </a:stretch>
        </p:blipFill>
        <p:spPr>
          <a:xfrm>
            <a:off x="369529" y="153755"/>
            <a:ext cx="937341" cy="646786"/>
          </a:xfrm>
          <a:prstGeom prst="rect">
            <a:avLst/>
          </a:prstGeom>
        </p:spPr>
      </p:pic>
      <p:sp>
        <p:nvSpPr>
          <p:cNvPr id="5" name="Title 1">
            <a:extLst>
              <a:ext uri="{FF2B5EF4-FFF2-40B4-BE49-F238E27FC236}">
                <a16:creationId xmlns:a16="http://schemas.microsoft.com/office/drawing/2014/main" id="{E4593C6E-1E06-4697-B1EE-90CE68ABF96B}"/>
              </a:ext>
            </a:extLst>
          </p:cNvPr>
          <p:cNvSpPr txBox="1">
            <a:spLocks/>
          </p:cNvSpPr>
          <p:nvPr/>
        </p:nvSpPr>
        <p:spPr>
          <a:xfrm>
            <a:off x="1447800" y="211125"/>
            <a:ext cx="10287000" cy="5320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7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highlight>
                  <a:srgbClr val="FFFF00"/>
                </a:highlight>
                <a:uLnTx/>
                <a:uFillTx/>
                <a:latin typeface="Perpetua"/>
                <a:ea typeface="+mn-ea"/>
                <a:cs typeface="+mn-cs"/>
              </a:rPr>
              <a:t>Exception Handling In Java </a:t>
            </a:r>
            <a:endParaRPr kumimoji="0" lang="en-US" sz="3600" b="0" i="0" u="none" strike="noStrike" kern="1200" cap="none" spc="0" normalizeH="0" baseline="0" noProof="0" dirty="0">
              <a:ln>
                <a:noFill/>
              </a:ln>
              <a:solidFill>
                <a:prstClr val="black"/>
              </a:solidFill>
              <a:effectLst/>
              <a:highlight>
                <a:srgbClr val="FFFF00"/>
              </a:highlight>
              <a:uLnTx/>
              <a:uFillTx/>
              <a:latin typeface="Perpetua"/>
              <a:ea typeface="+mn-ea"/>
              <a:cs typeface="+mn-cs"/>
            </a:endParaRPr>
          </a:p>
        </p:txBody>
      </p:sp>
      <p:sp>
        <p:nvSpPr>
          <p:cNvPr id="6" name="Rectangle 5"/>
          <p:cNvSpPr/>
          <p:nvPr/>
        </p:nvSpPr>
        <p:spPr>
          <a:xfrm>
            <a:off x="369529" y="914400"/>
            <a:ext cx="11365271" cy="578984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numCol="2"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class </a:t>
            </a:r>
            <a:r>
              <a:rPr lang="en-US" sz="2000" dirty="0" err="1">
                <a:solidFill>
                  <a:prstClr val="black"/>
                </a:solidFill>
                <a:latin typeface="Perpetua"/>
              </a:rPr>
              <a:t>CLineInput</a:t>
            </a:r>
            <a:endParaRPr kumimoji="0" lang="en-US" sz="2000" b="0" i="0" u="none" strike="noStrike" kern="1200" cap="none" spc="0" normalizeH="0" baseline="0" noProof="0" dirty="0">
              <a:ln>
                <a:noFill/>
              </a:ln>
              <a:solidFill>
                <a:prstClr val="black"/>
              </a:solidFill>
              <a:effectLst/>
              <a:uLnTx/>
              <a:uFillTx/>
              <a:latin typeface="Perpetu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    public static void main (String </a:t>
            </a:r>
            <a:r>
              <a:rPr kumimoji="0" lang="en-US" sz="2000" b="0" i="0" u="none" strike="noStrike" kern="1200" cap="none" spc="0" normalizeH="0" baseline="0" noProof="0" dirty="0" err="1">
                <a:ln>
                  <a:noFill/>
                </a:ln>
                <a:solidFill>
                  <a:prstClr val="black"/>
                </a:solidFill>
                <a:effectLst/>
                <a:uLnTx/>
                <a:uFillTx/>
                <a:latin typeface="Perpetua"/>
                <a:ea typeface="+mn-ea"/>
                <a:cs typeface="+mn-cs"/>
              </a:rPr>
              <a:t>args</a:t>
            </a:r>
            <a:r>
              <a:rPr kumimoji="0" lang="en-US" sz="2000" b="0" i="0" u="none" strike="noStrike" kern="1200" cap="none" spc="0" normalizeH="0" baseline="0" noProof="0" dirty="0">
                <a:ln>
                  <a:noFill/>
                </a:ln>
                <a:solidFill>
                  <a:prstClr val="black"/>
                </a:solidFill>
                <a:effectLst/>
                <a:uLnTx/>
                <a:uFillTx/>
                <a:latin typeface="Perpetua"/>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      int </a:t>
            </a:r>
            <a:r>
              <a:rPr lang="en-US" sz="2000" dirty="0">
                <a:solidFill>
                  <a:prstClr val="black"/>
                </a:solidFill>
                <a:latin typeface="Perpetua"/>
              </a:rPr>
              <a:t>invalid</a:t>
            </a:r>
            <a:r>
              <a:rPr kumimoji="0" lang="en-US" sz="2000" b="0" i="0" u="none" strike="noStrike" kern="1200" cap="none" spc="0" normalizeH="0" baseline="0" noProof="0" dirty="0">
                <a:ln>
                  <a:noFill/>
                </a:ln>
                <a:solidFill>
                  <a:prstClr val="black"/>
                </a:solidFill>
                <a:effectLst/>
                <a:uLnTx/>
                <a:uFillTx/>
                <a:latin typeface="Perpetua"/>
                <a:ea typeface="+mn-ea"/>
                <a:cs typeface="+mn-cs"/>
              </a:rPr>
              <a:t>= 0;     //Number of Invalid </a:t>
            </a:r>
            <a:r>
              <a:rPr lang="en-US" sz="2000" dirty="0">
                <a:solidFill>
                  <a:prstClr val="black"/>
                </a:solidFill>
                <a:latin typeface="Perpetua"/>
              </a:rPr>
              <a:t>Argument</a:t>
            </a:r>
            <a:endParaRPr kumimoji="0" lang="en-US" sz="2000" b="0" i="0" u="none" strike="noStrike" kern="1200" cap="none" spc="0" normalizeH="0" baseline="0" noProof="0" dirty="0">
              <a:ln>
                <a:noFill/>
              </a:ln>
              <a:solidFill>
                <a:prstClr val="black"/>
              </a:solidFill>
              <a:effectLst/>
              <a:uLnTx/>
              <a:uFillTx/>
              <a:latin typeface="Perpetu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      int</a:t>
            </a:r>
            <a:r>
              <a:rPr lang="en-US" sz="2000" dirty="0">
                <a:solidFill>
                  <a:prstClr val="black"/>
                </a:solidFill>
                <a:latin typeface="Perpetua"/>
              </a:rPr>
              <a:t> number, count=0</a:t>
            </a:r>
            <a:endParaRPr kumimoji="0" lang="en-US" sz="2000" b="0" i="0" u="none" strike="noStrike" kern="1200" cap="none" spc="0" normalizeH="0" baseline="0" noProof="0" dirty="0">
              <a:ln>
                <a:noFill/>
              </a:ln>
              <a:solidFill>
                <a:prstClr val="black"/>
              </a:solidFill>
              <a:effectLst/>
              <a:uLnTx/>
              <a:uFillTx/>
              <a:latin typeface="Perpetu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highlight>
                  <a:srgbClr val="00FF00"/>
                </a:highlight>
                <a:uLnTx/>
                <a:uFillTx/>
                <a:latin typeface="Perpetua"/>
                <a:ea typeface="+mn-ea"/>
                <a:cs typeface="+mn-cs"/>
              </a:rPr>
              <a:t>      </a:t>
            </a:r>
            <a:r>
              <a:rPr lang="en-US" sz="2000" dirty="0">
                <a:solidFill>
                  <a:prstClr val="black"/>
                </a:solidFill>
                <a:highlight>
                  <a:srgbClr val="00FF00"/>
                </a:highlight>
                <a:latin typeface="Perpetua"/>
              </a:rPr>
              <a:t>for(int </a:t>
            </a:r>
            <a:r>
              <a:rPr lang="en-US" sz="2000" dirty="0" err="1">
                <a:solidFill>
                  <a:prstClr val="black"/>
                </a:solidFill>
                <a:highlight>
                  <a:srgbClr val="00FF00"/>
                </a:highlight>
                <a:latin typeface="Perpetua"/>
              </a:rPr>
              <a:t>i</a:t>
            </a:r>
            <a:r>
              <a:rPr lang="en-US" sz="2000" dirty="0">
                <a:solidFill>
                  <a:prstClr val="black"/>
                </a:solidFill>
                <a:highlight>
                  <a:srgbClr val="00FF00"/>
                </a:highlight>
                <a:latin typeface="Perpetua"/>
              </a:rPr>
              <a:t>=0;i&lt;</a:t>
            </a:r>
            <a:r>
              <a:rPr lang="en-US" sz="2000" dirty="0" err="1">
                <a:solidFill>
                  <a:prstClr val="black"/>
                </a:solidFill>
                <a:highlight>
                  <a:srgbClr val="00FF00"/>
                </a:highlight>
                <a:latin typeface="Perpetua"/>
              </a:rPr>
              <a:t>args.length;i</a:t>
            </a:r>
            <a:r>
              <a:rPr lang="en-US" sz="2000" dirty="0">
                <a:solidFill>
                  <a:prstClr val="black"/>
                </a:solidFill>
                <a:highlight>
                  <a:srgbClr val="00FF00"/>
                </a:highlight>
                <a:latin typeface="Perpetua"/>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highlight>
                  <a:srgbClr val="00FF00"/>
                </a:highlight>
                <a:uLnTx/>
                <a:uFillTx/>
                <a:latin typeface="Perpetua"/>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highlight>
                  <a:srgbClr val="FFFF00"/>
                </a:highlight>
                <a:uLnTx/>
                <a:uFillTx/>
                <a:latin typeface="Perpetua"/>
                <a:ea typeface="+mn-ea"/>
                <a:cs typeface="+mn-cs"/>
              </a:rPr>
              <a:t>       try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highlight>
                  <a:srgbClr val="FFFF00"/>
                </a:highlight>
                <a:uLnTx/>
                <a:uFillTx/>
                <a:latin typeface="Perpetua"/>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          number=</a:t>
            </a:r>
            <a:r>
              <a:rPr kumimoji="0" lang="en-US" sz="2000" b="0" i="0" u="none" strike="noStrike" kern="1200" cap="none" spc="0" normalizeH="0" baseline="0" noProof="0" dirty="0" err="1">
                <a:ln>
                  <a:noFill/>
                </a:ln>
                <a:solidFill>
                  <a:prstClr val="black"/>
                </a:solidFill>
                <a:effectLst/>
                <a:uLnTx/>
                <a:uFillTx/>
                <a:latin typeface="Perpetua"/>
                <a:ea typeface="+mn-ea"/>
                <a:cs typeface="+mn-cs"/>
              </a:rPr>
              <a:t>Integer.parseInt</a:t>
            </a:r>
            <a:r>
              <a:rPr kumimoji="0" lang="en-US" sz="2000" b="0" i="0" u="none" strike="noStrike" kern="1200" cap="none" spc="0" normalizeH="0" baseline="0" noProof="0" dirty="0">
                <a:ln>
                  <a:noFill/>
                </a:ln>
                <a:solidFill>
                  <a:prstClr val="black"/>
                </a:solidFill>
                <a:effectLst/>
                <a:uLnTx/>
                <a:uFillTx/>
                <a:latin typeface="Perpetua"/>
                <a:ea typeface="+mn-ea"/>
                <a:cs typeface="+mn-cs"/>
              </a:rPr>
              <a:t>(</a:t>
            </a:r>
            <a:r>
              <a:rPr kumimoji="0" lang="en-US" sz="2000" b="0" i="0" u="none" strike="noStrike" kern="1200" cap="none" spc="0" normalizeH="0" baseline="0" noProof="0" dirty="0" err="1">
                <a:ln>
                  <a:noFill/>
                </a:ln>
                <a:solidFill>
                  <a:prstClr val="black"/>
                </a:solidFill>
                <a:effectLst/>
                <a:uLnTx/>
                <a:uFillTx/>
                <a:latin typeface="Perpetua"/>
                <a:ea typeface="+mn-ea"/>
                <a:cs typeface="+mn-cs"/>
              </a:rPr>
              <a:t>args</a:t>
            </a:r>
            <a:r>
              <a:rPr kumimoji="0" lang="en-US" sz="2000" b="0" i="0" u="none" strike="noStrike" kern="1200" cap="none" spc="0" normalizeH="0" baseline="0" noProof="0" dirty="0">
                <a:ln>
                  <a:noFill/>
                </a:ln>
                <a:solidFill>
                  <a:prstClr val="black"/>
                </a:solidFill>
                <a:effectLst/>
                <a:uLnTx/>
                <a:uFillTx/>
                <a:latin typeface="Perpetua"/>
                <a:ea typeface="+mn-ea"/>
                <a:cs typeface="+mn-cs"/>
              </a:rPr>
              <a:t>[</a:t>
            </a:r>
            <a:r>
              <a:rPr kumimoji="0" lang="en-US" sz="2000" b="0" i="0" u="none" strike="noStrike" kern="1200" cap="none" spc="0" normalizeH="0" baseline="0" noProof="0" dirty="0" err="1">
                <a:ln>
                  <a:noFill/>
                </a:ln>
                <a:solidFill>
                  <a:prstClr val="black"/>
                </a:solidFill>
                <a:effectLst/>
                <a:uLnTx/>
                <a:uFillTx/>
                <a:latin typeface="Perpetua"/>
                <a:ea typeface="+mn-ea"/>
                <a:cs typeface="+mn-cs"/>
              </a:rPr>
              <a:t>i</a:t>
            </a:r>
            <a:r>
              <a:rPr kumimoji="0" lang="en-US" sz="2000" b="0" i="0" u="none" strike="noStrike" kern="1200" cap="none" spc="0" normalizeH="0" baseline="0" noProof="0" dirty="0">
                <a:ln>
                  <a:noFill/>
                </a:ln>
                <a:solidFill>
                  <a:prstClr val="black"/>
                </a:solidFill>
                <a:effectLst/>
                <a:uLnTx/>
                <a:uFillTx/>
                <a:latin typeface="Perpetua"/>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highlight>
                  <a:srgbClr val="FFFF00"/>
                </a:highlight>
                <a:uLnTx/>
                <a:uFillTx/>
                <a:latin typeface="Perpetua"/>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     </a:t>
            </a:r>
            <a:r>
              <a:rPr kumimoji="0" lang="en-US" sz="2000" b="0" i="0" u="none" strike="noStrike" kern="1200" cap="none" spc="0" normalizeH="0" baseline="0" noProof="0" dirty="0">
                <a:ln>
                  <a:noFill/>
                </a:ln>
                <a:solidFill>
                  <a:prstClr val="black"/>
                </a:solidFill>
                <a:effectLst/>
                <a:highlight>
                  <a:srgbClr val="FFFF00"/>
                </a:highlight>
                <a:uLnTx/>
                <a:uFillTx/>
                <a:latin typeface="Perpetua"/>
                <a:ea typeface="+mn-ea"/>
                <a:cs typeface="+mn-cs"/>
              </a:rPr>
              <a:t>catch(</a:t>
            </a:r>
            <a:r>
              <a:rPr kumimoji="0" lang="en-US" sz="2000" b="0" i="0" u="none" strike="noStrike" kern="1200" cap="none" spc="0" normalizeH="0" baseline="0" noProof="0" dirty="0" err="1">
                <a:ln>
                  <a:noFill/>
                </a:ln>
                <a:solidFill>
                  <a:prstClr val="black"/>
                </a:solidFill>
                <a:effectLst/>
                <a:highlight>
                  <a:srgbClr val="FFFF00"/>
                </a:highlight>
                <a:uLnTx/>
                <a:uFillTx/>
                <a:latin typeface="Perpetua"/>
                <a:ea typeface="+mn-ea"/>
                <a:cs typeface="+mn-cs"/>
              </a:rPr>
              <a:t>NumberFormatException</a:t>
            </a:r>
            <a:r>
              <a:rPr kumimoji="0" lang="en-US" sz="2000" b="0" i="0" u="none" strike="noStrike" kern="1200" cap="none" spc="0" normalizeH="0" baseline="0" noProof="0" dirty="0">
                <a:ln>
                  <a:noFill/>
                </a:ln>
                <a:solidFill>
                  <a:prstClr val="black"/>
                </a:solidFill>
                <a:effectLst/>
                <a:highlight>
                  <a:srgbClr val="FFFF00"/>
                </a:highlight>
                <a:uLnTx/>
                <a:uFillTx/>
                <a:latin typeface="Perpetua"/>
                <a:ea typeface="+mn-ea"/>
                <a:cs typeface="+mn-cs"/>
              </a:rPr>
              <a:t> 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     </a:t>
            </a:r>
            <a:r>
              <a:rPr kumimoji="0" lang="en-US" sz="2000" b="0" i="0" u="none" strike="noStrike" kern="1200" cap="none" spc="0" normalizeH="0" baseline="0" noProof="0" dirty="0">
                <a:ln>
                  <a:noFill/>
                </a:ln>
                <a:solidFill>
                  <a:prstClr val="black"/>
                </a:solidFill>
                <a:effectLst/>
                <a:highlight>
                  <a:srgbClr val="FFFF00"/>
                </a:highlight>
                <a:uLnTx/>
                <a:uFillTx/>
                <a:latin typeface="Perpetua"/>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        invalid=invalid +1;   //Caught an Invalid Number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prstClr val="black"/>
                </a:solidFill>
                <a:latin typeface="Perpetua"/>
              </a:rPr>
              <a:t>        </a:t>
            </a:r>
            <a:r>
              <a:rPr lang="en-US" sz="2000" dirty="0" err="1">
                <a:solidFill>
                  <a:prstClr val="black"/>
                </a:solidFill>
                <a:latin typeface="Perpetua"/>
              </a:rPr>
              <a:t>System.out.println</a:t>
            </a:r>
            <a:r>
              <a:rPr lang="en-US" sz="2000" dirty="0">
                <a:solidFill>
                  <a:prstClr val="black"/>
                </a:solidFill>
                <a:latin typeface="Perpetua"/>
              </a:rPr>
              <a:t>(“Invalid Number:- “+</a:t>
            </a:r>
            <a:r>
              <a:rPr lang="en-US" sz="2000" dirty="0" err="1">
                <a:solidFill>
                  <a:prstClr val="black"/>
                </a:solidFill>
                <a:latin typeface="Perpetua"/>
              </a:rPr>
              <a:t>args</a:t>
            </a:r>
            <a:r>
              <a:rPr lang="en-US" sz="2000" dirty="0">
                <a:solidFill>
                  <a:prstClr val="black"/>
                </a:solidFill>
                <a:latin typeface="Perpetua"/>
              </a:rPr>
              <a:t>[</a:t>
            </a:r>
            <a:r>
              <a:rPr lang="en-US" sz="2000" dirty="0" err="1">
                <a:solidFill>
                  <a:prstClr val="black"/>
                </a:solidFill>
                <a:latin typeface="Perpetua"/>
              </a:rPr>
              <a:t>i</a:t>
            </a:r>
            <a:r>
              <a:rPr lang="en-US" sz="2000" dirty="0">
                <a:solidFill>
                  <a:prstClr val="black"/>
                </a:solidFill>
                <a:latin typeface="Perpetua"/>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        continue;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highlight>
                  <a:srgbClr val="FFFF00"/>
                </a:highlight>
                <a:uLnTx/>
                <a:uFillTx/>
                <a:latin typeface="Perpetua"/>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prstClr val="black"/>
                </a:solidFill>
                <a:latin typeface="Perpetua"/>
              </a:rPr>
              <a:t>        c</a:t>
            </a:r>
            <a:r>
              <a:rPr kumimoji="0" lang="en-US" sz="2000" b="0" i="0" u="none" strike="noStrike" kern="1200" cap="none" spc="0" normalizeH="0" baseline="0" noProof="0" dirty="0" err="1">
                <a:ln>
                  <a:noFill/>
                </a:ln>
                <a:solidFill>
                  <a:prstClr val="black"/>
                </a:solidFill>
                <a:effectLst/>
                <a:uLnTx/>
                <a:uFillTx/>
                <a:latin typeface="Perpetua"/>
                <a:ea typeface="+mn-ea"/>
                <a:cs typeface="+mn-cs"/>
              </a:rPr>
              <a:t>ount</a:t>
            </a:r>
            <a:r>
              <a:rPr kumimoji="0" lang="en-US" sz="2000" b="0" i="0" u="none" strike="noStrike" kern="1200" cap="none" spc="0" normalizeH="0" baseline="0" noProof="0" dirty="0">
                <a:ln>
                  <a:noFill/>
                </a:ln>
                <a:solidFill>
                  <a:prstClr val="black"/>
                </a:solidFill>
                <a:effectLst/>
                <a:uLnTx/>
                <a:uFillTx/>
                <a:latin typeface="Perpetua"/>
                <a:ea typeface="+mn-ea"/>
                <a:cs typeface="+mn-cs"/>
              </a:rPr>
              <a:t>=count+1;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prstClr val="black"/>
                </a:solidFill>
                <a:highlight>
                  <a:srgbClr val="00FF00"/>
                </a:highlight>
                <a:latin typeface="Perpetua"/>
              </a:rPr>
              <a:t>     }    //End of For loop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prstClr val="black"/>
                </a:solidFill>
                <a:latin typeface="Perpetua"/>
              </a:rPr>
              <a:t>    </a:t>
            </a:r>
            <a:r>
              <a:rPr lang="en-US" sz="2000" dirty="0" err="1">
                <a:solidFill>
                  <a:prstClr val="black"/>
                </a:solidFill>
                <a:latin typeface="Perpetua"/>
              </a:rPr>
              <a:t>System.out.pirntln</a:t>
            </a:r>
            <a:r>
              <a:rPr lang="en-US" sz="2000" dirty="0">
                <a:solidFill>
                  <a:prstClr val="black"/>
                </a:solidFill>
                <a:latin typeface="Perpetua"/>
              </a:rPr>
              <a:t>(“Total Valid Number=”+count);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prstClr val="black"/>
                </a:solidFill>
                <a:latin typeface="Perpetua"/>
              </a:rPr>
              <a:t>    </a:t>
            </a:r>
            <a:r>
              <a:rPr lang="en-US" sz="2000" dirty="0" err="1">
                <a:solidFill>
                  <a:prstClr val="black"/>
                </a:solidFill>
                <a:latin typeface="Perpetua"/>
              </a:rPr>
              <a:t>System.out.println</a:t>
            </a:r>
            <a:r>
              <a:rPr lang="en-US" sz="2000" dirty="0">
                <a:solidFill>
                  <a:prstClr val="black"/>
                </a:solidFill>
                <a:latin typeface="Perpetua"/>
              </a:rPr>
              <a:t>(“Total Invalid Number=”+invalid);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prstClr val="black"/>
                </a:solidFill>
                <a:latin typeface="Perpetua"/>
              </a:rPr>
              <a:t>}</a:t>
            </a:r>
            <a:endParaRPr kumimoji="0" lang="en-US" sz="2000" b="0" i="0" u="none" strike="noStrike" kern="1200" cap="none" spc="0" normalizeH="0" baseline="0" noProof="0" dirty="0">
              <a:ln>
                <a:noFill/>
              </a:ln>
              <a:solidFill>
                <a:prstClr val="black"/>
              </a:solidFill>
              <a:effectLst/>
              <a:uLnTx/>
              <a:uFillTx/>
              <a:latin typeface="Perpetua"/>
              <a:ea typeface="+mn-ea"/>
              <a:cs typeface="+mn-cs"/>
            </a:endParaRPr>
          </a:p>
        </p:txBody>
      </p:sp>
      <p:sp>
        <p:nvSpPr>
          <p:cNvPr id="8" name="Rectangle 7">
            <a:extLst>
              <a:ext uri="{FF2B5EF4-FFF2-40B4-BE49-F238E27FC236}">
                <a16:creationId xmlns:a16="http://schemas.microsoft.com/office/drawing/2014/main" id="{90615DF3-64C0-43CC-8797-6CECC52A8296}"/>
              </a:ext>
            </a:extLst>
          </p:cNvPr>
          <p:cNvSpPr/>
          <p:nvPr/>
        </p:nvSpPr>
        <p:spPr>
          <a:xfrm>
            <a:off x="5943600" y="2971800"/>
            <a:ext cx="4953000" cy="2438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Java </a:t>
            </a:r>
            <a:r>
              <a:rPr kumimoji="0" lang="en-US" sz="2000" b="0" i="0" u="none" strike="noStrike" kern="1200" cap="none" spc="0" normalizeH="0" baseline="0" noProof="0" dirty="0" err="1">
                <a:ln>
                  <a:noFill/>
                </a:ln>
                <a:solidFill>
                  <a:prstClr val="black"/>
                </a:solidFill>
                <a:effectLst/>
                <a:uLnTx/>
                <a:uFillTx/>
                <a:latin typeface="Perpetua"/>
                <a:ea typeface="+mn-ea"/>
                <a:cs typeface="+mn-cs"/>
              </a:rPr>
              <a:t>ClineInput</a:t>
            </a:r>
            <a:r>
              <a:rPr kumimoji="0" lang="en-US" sz="2000" b="0" i="0" u="none" strike="noStrike" kern="1200" cap="none" spc="0" normalizeH="0" baseline="0" noProof="0" dirty="0">
                <a:ln>
                  <a:noFill/>
                </a:ln>
                <a:solidFill>
                  <a:prstClr val="black"/>
                </a:solidFill>
                <a:effectLst/>
                <a:uLnTx/>
                <a:uFillTx/>
                <a:latin typeface="Perpetua"/>
                <a:ea typeface="+mn-ea"/>
                <a:cs typeface="+mn-cs"/>
              </a:rPr>
              <a:t> 15 25.75 40 Java 10.5 65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Output:-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prstClr val="black"/>
                </a:solidFill>
                <a:highlight>
                  <a:srgbClr val="FF00FF"/>
                </a:highlight>
                <a:latin typeface="Perpetua"/>
              </a:rPr>
              <a:t>Invalid Number:- 25.75</a:t>
            </a:r>
          </a:p>
          <a:p>
            <a:pPr algn="ctr"/>
            <a:r>
              <a:rPr lang="en-US" sz="2000" dirty="0">
                <a:solidFill>
                  <a:prstClr val="black"/>
                </a:solidFill>
                <a:highlight>
                  <a:srgbClr val="FF00FF"/>
                </a:highlight>
              </a:rPr>
              <a:t>Invalid Number:- Java</a:t>
            </a:r>
          </a:p>
          <a:p>
            <a:pPr algn="ctr"/>
            <a:r>
              <a:rPr lang="en-US" sz="2000" dirty="0">
                <a:solidFill>
                  <a:prstClr val="black"/>
                </a:solidFill>
                <a:highlight>
                  <a:srgbClr val="FF00FF"/>
                </a:highlight>
              </a:rPr>
              <a:t>Invalid Number:- 10.5</a:t>
            </a:r>
          </a:p>
          <a:p>
            <a:pPr algn="ctr"/>
            <a:r>
              <a:rPr lang="en-US" sz="2000" dirty="0">
                <a:solidFill>
                  <a:prstClr val="black"/>
                </a:solidFill>
                <a:highlight>
                  <a:srgbClr val="FF00FF"/>
                </a:highlight>
              </a:rPr>
              <a:t>Total Valid Number:- 3</a:t>
            </a:r>
          </a:p>
          <a:p>
            <a:pPr algn="ctr"/>
            <a:r>
              <a:rPr lang="en-US" sz="2000" dirty="0">
                <a:solidFill>
                  <a:prstClr val="black"/>
                </a:solidFill>
                <a:highlight>
                  <a:srgbClr val="FF00FF"/>
                </a:highlight>
              </a:rPr>
              <a:t>Total Invalid Number:- 3</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highlight>
                <a:srgbClr val="00FF00"/>
              </a:highlight>
              <a:uLnTx/>
              <a:uFillTx/>
              <a:latin typeface="Perpetua"/>
              <a:ea typeface="+mn-ea"/>
              <a:cs typeface="+mn-cs"/>
            </a:endParaRPr>
          </a:p>
        </p:txBody>
      </p:sp>
    </p:spTree>
    <p:extLst>
      <p:ext uri="{BB962C8B-B14F-4D97-AF65-F5344CB8AC3E}">
        <p14:creationId xmlns:p14="http://schemas.microsoft.com/office/powerpoint/2010/main" val="8424570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7D1F904-3C81-4739-B1A1-EAA380AFC716}"/>
              </a:ext>
            </a:extLst>
          </p:cNvPr>
          <p:cNvPicPr>
            <a:picLocks noChangeAspect="1"/>
          </p:cNvPicPr>
          <p:nvPr/>
        </p:nvPicPr>
        <p:blipFill>
          <a:blip r:embed="rId2"/>
          <a:stretch>
            <a:fillRect/>
          </a:stretch>
        </p:blipFill>
        <p:spPr>
          <a:xfrm>
            <a:off x="369529" y="153755"/>
            <a:ext cx="937341" cy="646786"/>
          </a:xfrm>
          <a:prstGeom prst="rect">
            <a:avLst/>
          </a:prstGeom>
        </p:spPr>
      </p:pic>
      <p:sp>
        <p:nvSpPr>
          <p:cNvPr id="5" name="Title 1">
            <a:extLst>
              <a:ext uri="{FF2B5EF4-FFF2-40B4-BE49-F238E27FC236}">
                <a16:creationId xmlns:a16="http://schemas.microsoft.com/office/drawing/2014/main" id="{D0A6077F-EE83-4070-9060-C4C603D5BE51}"/>
              </a:ext>
            </a:extLst>
          </p:cNvPr>
          <p:cNvSpPr txBox="1">
            <a:spLocks/>
          </p:cNvSpPr>
          <p:nvPr/>
        </p:nvSpPr>
        <p:spPr>
          <a:xfrm>
            <a:off x="1447800" y="211125"/>
            <a:ext cx="10287000" cy="5320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7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600" b="1" dirty="0">
                <a:solidFill>
                  <a:schemeClr val="tx1"/>
                </a:solidFill>
                <a:highlight>
                  <a:srgbClr val="FFFF00"/>
                </a:highlight>
              </a:rPr>
              <a:t>Multiple Catch Statement </a:t>
            </a:r>
            <a:endParaRPr lang="en-US" sz="3600" dirty="0">
              <a:solidFill>
                <a:schemeClr val="tx1"/>
              </a:solidFill>
              <a:highlight>
                <a:srgbClr val="FFFF00"/>
              </a:highlight>
            </a:endParaRPr>
          </a:p>
        </p:txBody>
      </p:sp>
      <p:sp>
        <p:nvSpPr>
          <p:cNvPr id="6" name="Rectangle 5">
            <a:extLst>
              <a:ext uri="{FF2B5EF4-FFF2-40B4-BE49-F238E27FC236}">
                <a16:creationId xmlns:a16="http://schemas.microsoft.com/office/drawing/2014/main" id="{39888810-7B97-4EB9-B44C-4968709197AA}"/>
              </a:ext>
            </a:extLst>
          </p:cNvPr>
          <p:cNvSpPr/>
          <p:nvPr/>
        </p:nvSpPr>
        <p:spPr>
          <a:xfrm>
            <a:off x="369529" y="800541"/>
            <a:ext cx="5193071" cy="598125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chemeClr val="tx1"/>
                </a:solidFill>
              </a:rPr>
              <a:t>……..</a:t>
            </a:r>
          </a:p>
          <a:p>
            <a:r>
              <a:rPr lang="en-IN" sz="2000" dirty="0">
                <a:solidFill>
                  <a:schemeClr val="tx1"/>
                </a:solidFill>
              </a:rPr>
              <a:t>……..</a:t>
            </a:r>
          </a:p>
          <a:p>
            <a:r>
              <a:rPr lang="en-IN" sz="2000" dirty="0">
                <a:solidFill>
                  <a:schemeClr val="tx1"/>
                </a:solidFill>
                <a:highlight>
                  <a:srgbClr val="00FFFF"/>
                </a:highlight>
              </a:rPr>
              <a:t>try</a:t>
            </a:r>
          </a:p>
          <a:p>
            <a:r>
              <a:rPr lang="en-IN" sz="2000" dirty="0">
                <a:solidFill>
                  <a:schemeClr val="tx1"/>
                </a:solidFill>
              </a:rPr>
              <a:t>{</a:t>
            </a:r>
          </a:p>
          <a:p>
            <a:r>
              <a:rPr lang="en-IN" sz="2000" dirty="0">
                <a:solidFill>
                  <a:schemeClr val="tx1"/>
                </a:solidFill>
              </a:rPr>
              <a:t>    statement;   //Generates an Exception</a:t>
            </a:r>
          </a:p>
          <a:p>
            <a:r>
              <a:rPr lang="en-IN" sz="2000" dirty="0">
                <a:solidFill>
                  <a:schemeClr val="tx1"/>
                </a:solidFill>
              </a:rPr>
              <a:t>}</a:t>
            </a:r>
          </a:p>
          <a:p>
            <a:r>
              <a:rPr lang="en-IN" sz="2000" dirty="0">
                <a:solidFill>
                  <a:schemeClr val="tx1"/>
                </a:solidFill>
                <a:highlight>
                  <a:srgbClr val="00FFFF"/>
                </a:highlight>
              </a:rPr>
              <a:t>catch (Exception-Type-1 e)</a:t>
            </a:r>
          </a:p>
          <a:p>
            <a:r>
              <a:rPr lang="en-IN" sz="2000" dirty="0">
                <a:solidFill>
                  <a:schemeClr val="tx1"/>
                </a:solidFill>
              </a:rPr>
              <a:t>{</a:t>
            </a:r>
          </a:p>
          <a:p>
            <a:r>
              <a:rPr lang="en-IN" sz="2000" dirty="0">
                <a:solidFill>
                  <a:schemeClr val="tx1"/>
                </a:solidFill>
              </a:rPr>
              <a:t>    statement ;     //Processes the exception type 1</a:t>
            </a:r>
          </a:p>
          <a:p>
            <a:r>
              <a:rPr lang="en-IN" sz="2000" dirty="0">
                <a:solidFill>
                  <a:schemeClr val="tx1"/>
                </a:solidFill>
              </a:rPr>
              <a:t>}</a:t>
            </a:r>
          </a:p>
          <a:p>
            <a:r>
              <a:rPr lang="en-IN" sz="2000" dirty="0">
                <a:solidFill>
                  <a:schemeClr val="tx1"/>
                </a:solidFill>
              </a:rPr>
              <a:t>catch(Exception-Type-2 e)</a:t>
            </a:r>
          </a:p>
          <a:p>
            <a:r>
              <a:rPr lang="en-IN" sz="2000" dirty="0">
                <a:solidFill>
                  <a:schemeClr val="tx1"/>
                </a:solidFill>
              </a:rPr>
              <a:t>{</a:t>
            </a:r>
          </a:p>
          <a:p>
            <a:r>
              <a:rPr lang="en-IN" sz="2000" dirty="0">
                <a:solidFill>
                  <a:schemeClr val="tx1"/>
                </a:solidFill>
              </a:rPr>
              <a:t>   statement; //Process the exception type 2</a:t>
            </a:r>
          </a:p>
          <a:p>
            <a:r>
              <a:rPr lang="en-IN" sz="2000" dirty="0">
                <a:solidFill>
                  <a:schemeClr val="tx1"/>
                </a:solidFill>
              </a:rPr>
              <a:t>}</a:t>
            </a:r>
          </a:p>
          <a:p>
            <a:r>
              <a:rPr lang="en-IN" sz="2000" dirty="0">
                <a:solidFill>
                  <a:schemeClr val="tx1"/>
                </a:solidFill>
              </a:rPr>
              <a:t>.</a:t>
            </a:r>
          </a:p>
          <a:p>
            <a:r>
              <a:rPr lang="en-IN" sz="2000" dirty="0">
                <a:solidFill>
                  <a:schemeClr val="tx1"/>
                </a:solidFill>
              </a:rPr>
              <a:t>.</a:t>
            </a:r>
          </a:p>
          <a:p>
            <a:r>
              <a:rPr lang="en-IN" sz="2000" dirty="0">
                <a:solidFill>
                  <a:schemeClr val="tx1"/>
                </a:solidFill>
              </a:rPr>
              <a:t>.</a:t>
            </a:r>
          </a:p>
          <a:p>
            <a:r>
              <a:rPr lang="en-IN" sz="2000" dirty="0">
                <a:solidFill>
                  <a:schemeClr val="tx1"/>
                </a:solidFill>
              </a:rPr>
              <a:t>catch(Exception Type-N e)</a:t>
            </a:r>
          </a:p>
          <a:p>
            <a:r>
              <a:rPr lang="en-IN" sz="2000" dirty="0">
                <a:solidFill>
                  <a:schemeClr val="tx1"/>
                </a:solidFill>
              </a:rPr>
              <a:t>{</a:t>
            </a:r>
          </a:p>
          <a:p>
            <a:r>
              <a:rPr lang="en-IN" sz="2000" dirty="0">
                <a:solidFill>
                  <a:schemeClr val="tx1"/>
                </a:solidFill>
              </a:rPr>
              <a:t>     statement;</a:t>
            </a:r>
          </a:p>
          <a:p>
            <a:r>
              <a:rPr lang="en-IN" sz="2000" dirty="0">
                <a:solidFill>
                  <a:schemeClr val="tx1"/>
                </a:solidFill>
              </a:rPr>
              <a:t>}</a:t>
            </a:r>
          </a:p>
          <a:p>
            <a:endParaRPr lang="en-IN" sz="2000" dirty="0">
              <a:solidFill>
                <a:schemeClr val="tx1"/>
              </a:solidFill>
            </a:endParaRPr>
          </a:p>
        </p:txBody>
      </p:sp>
      <p:sp>
        <p:nvSpPr>
          <p:cNvPr id="7" name="Rectangle 6">
            <a:extLst>
              <a:ext uri="{FF2B5EF4-FFF2-40B4-BE49-F238E27FC236}">
                <a16:creationId xmlns:a16="http://schemas.microsoft.com/office/drawing/2014/main" id="{C10C743A-D5A7-494C-ABBE-7F1426A51488}"/>
              </a:ext>
            </a:extLst>
          </p:cNvPr>
          <p:cNvSpPr/>
          <p:nvPr/>
        </p:nvSpPr>
        <p:spPr>
          <a:xfrm>
            <a:off x="7434943" y="901868"/>
            <a:ext cx="2362200" cy="1600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highlight>
                  <a:srgbClr val="00FFFF"/>
                </a:highlight>
              </a:rPr>
              <a:t>try block</a:t>
            </a:r>
          </a:p>
          <a:p>
            <a:endParaRPr lang="en-IN" sz="2000" dirty="0">
              <a:solidFill>
                <a:schemeClr val="tx1"/>
              </a:solidFill>
            </a:endParaRPr>
          </a:p>
          <a:p>
            <a:r>
              <a:rPr lang="en-IN" sz="2000" dirty="0">
                <a:solidFill>
                  <a:schemeClr val="tx1"/>
                </a:solidFill>
              </a:rPr>
              <a:t>Statement that cause an exception</a:t>
            </a:r>
          </a:p>
        </p:txBody>
      </p:sp>
      <p:cxnSp>
        <p:nvCxnSpPr>
          <p:cNvPr id="9" name="Straight Connector 8">
            <a:extLst>
              <a:ext uri="{FF2B5EF4-FFF2-40B4-BE49-F238E27FC236}">
                <a16:creationId xmlns:a16="http://schemas.microsoft.com/office/drawing/2014/main" id="{10225F6E-C6B4-495E-BCAC-3455EE414F63}"/>
              </a:ext>
            </a:extLst>
          </p:cNvPr>
          <p:cNvCxnSpPr/>
          <p:nvPr/>
        </p:nvCxnSpPr>
        <p:spPr>
          <a:xfrm>
            <a:off x="7434943" y="1511468"/>
            <a:ext cx="236220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D25F536-C9B5-4C3D-8F8A-202A142EA849}"/>
              </a:ext>
            </a:extLst>
          </p:cNvPr>
          <p:cNvSpPr/>
          <p:nvPr/>
        </p:nvSpPr>
        <p:spPr>
          <a:xfrm>
            <a:off x="7532914" y="3149768"/>
            <a:ext cx="2362200" cy="1600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highlight>
                  <a:srgbClr val="00FFFF"/>
                </a:highlight>
              </a:rPr>
              <a:t>catch block 1</a:t>
            </a:r>
          </a:p>
          <a:p>
            <a:endParaRPr lang="en-IN" sz="2000" dirty="0">
              <a:solidFill>
                <a:schemeClr val="tx1"/>
              </a:solidFill>
            </a:endParaRPr>
          </a:p>
          <a:p>
            <a:r>
              <a:rPr lang="en-IN" sz="2000" dirty="0">
                <a:solidFill>
                  <a:schemeClr val="tx1"/>
                </a:solidFill>
              </a:rPr>
              <a:t>Statement that handle the exception</a:t>
            </a:r>
          </a:p>
        </p:txBody>
      </p:sp>
      <p:cxnSp>
        <p:nvCxnSpPr>
          <p:cNvPr id="11" name="Straight Connector 10">
            <a:extLst>
              <a:ext uri="{FF2B5EF4-FFF2-40B4-BE49-F238E27FC236}">
                <a16:creationId xmlns:a16="http://schemas.microsoft.com/office/drawing/2014/main" id="{7E5BB6F4-87FD-43F0-9416-1F15DA81CE0D}"/>
              </a:ext>
            </a:extLst>
          </p:cNvPr>
          <p:cNvCxnSpPr/>
          <p:nvPr/>
        </p:nvCxnSpPr>
        <p:spPr>
          <a:xfrm>
            <a:off x="7532914" y="3791170"/>
            <a:ext cx="2362200"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Arrow: Curved Right 11">
            <a:extLst>
              <a:ext uri="{FF2B5EF4-FFF2-40B4-BE49-F238E27FC236}">
                <a16:creationId xmlns:a16="http://schemas.microsoft.com/office/drawing/2014/main" id="{B031CD21-9C33-46D8-8024-5C2BE6C40676}"/>
              </a:ext>
            </a:extLst>
          </p:cNvPr>
          <p:cNvSpPr/>
          <p:nvPr/>
        </p:nvSpPr>
        <p:spPr>
          <a:xfrm>
            <a:off x="6215743" y="1854560"/>
            <a:ext cx="1219200" cy="2286000"/>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3" name="TextBox 12">
            <a:extLst>
              <a:ext uri="{FF2B5EF4-FFF2-40B4-BE49-F238E27FC236}">
                <a16:creationId xmlns:a16="http://schemas.microsoft.com/office/drawing/2014/main" id="{59EFD5F4-63FF-47EA-A38D-B5C4D02C564B}"/>
              </a:ext>
            </a:extLst>
          </p:cNvPr>
          <p:cNvSpPr txBox="1"/>
          <p:nvPr/>
        </p:nvSpPr>
        <p:spPr>
          <a:xfrm>
            <a:off x="10050625" y="1156036"/>
            <a:ext cx="1371600" cy="1015663"/>
          </a:xfrm>
          <a:prstGeom prst="rect">
            <a:avLst/>
          </a:prstGeom>
          <a:noFill/>
        </p:spPr>
        <p:txBody>
          <a:bodyPr wrap="square" rtlCol="0">
            <a:spAutoFit/>
          </a:bodyPr>
          <a:lstStyle/>
          <a:p>
            <a:r>
              <a:rPr lang="en-IN" sz="2000" dirty="0"/>
              <a:t>Exception Object Creator</a:t>
            </a:r>
          </a:p>
        </p:txBody>
      </p:sp>
      <p:sp>
        <p:nvSpPr>
          <p:cNvPr id="14" name="TextBox 13">
            <a:extLst>
              <a:ext uri="{FF2B5EF4-FFF2-40B4-BE49-F238E27FC236}">
                <a16:creationId xmlns:a16="http://schemas.microsoft.com/office/drawing/2014/main" id="{2DA3DE15-0A84-4E0C-A69B-08C1D4CA9902}"/>
              </a:ext>
            </a:extLst>
          </p:cNvPr>
          <p:cNvSpPr txBox="1"/>
          <p:nvPr/>
        </p:nvSpPr>
        <p:spPr>
          <a:xfrm>
            <a:off x="10072396" y="3454445"/>
            <a:ext cx="1371600" cy="707886"/>
          </a:xfrm>
          <a:prstGeom prst="rect">
            <a:avLst/>
          </a:prstGeom>
          <a:noFill/>
        </p:spPr>
        <p:txBody>
          <a:bodyPr wrap="square" rtlCol="0">
            <a:spAutoFit/>
          </a:bodyPr>
          <a:lstStyle/>
          <a:p>
            <a:r>
              <a:rPr lang="en-IN" sz="2000" dirty="0"/>
              <a:t>Exception Handler 1</a:t>
            </a:r>
          </a:p>
        </p:txBody>
      </p:sp>
      <p:sp>
        <p:nvSpPr>
          <p:cNvPr id="15" name="TextBox 14">
            <a:extLst>
              <a:ext uri="{FF2B5EF4-FFF2-40B4-BE49-F238E27FC236}">
                <a16:creationId xmlns:a16="http://schemas.microsoft.com/office/drawing/2014/main" id="{CF9B9F7A-1DF2-4AB9-A8C6-AA0DEBDBE11E}"/>
              </a:ext>
            </a:extLst>
          </p:cNvPr>
          <p:cNvSpPr txBox="1"/>
          <p:nvPr/>
        </p:nvSpPr>
        <p:spPr>
          <a:xfrm>
            <a:off x="6368143" y="2606813"/>
            <a:ext cx="2541038" cy="400110"/>
          </a:xfrm>
          <a:prstGeom prst="rect">
            <a:avLst/>
          </a:prstGeom>
          <a:noFill/>
        </p:spPr>
        <p:txBody>
          <a:bodyPr wrap="square" rtlCol="0">
            <a:spAutoFit/>
          </a:bodyPr>
          <a:lstStyle/>
          <a:p>
            <a:r>
              <a:rPr lang="en-IN" sz="2000" dirty="0"/>
              <a:t>Throw Exception Object</a:t>
            </a:r>
          </a:p>
        </p:txBody>
      </p:sp>
      <p:sp>
        <p:nvSpPr>
          <p:cNvPr id="16" name="Rectangle 15">
            <a:extLst>
              <a:ext uri="{FF2B5EF4-FFF2-40B4-BE49-F238E27FC236}">
                <a16:creationId xmlns:a16="http://schemas.microsoft.com/office/drawing/2014/main" id="{ED25F536-C9B5-4C3D-8F8A-202A142EA849}"/>
              </a:ext>
            </a:extLst>
          </p:cNvPr>
          <p:cNvSpPr/>
          <p:nvPr/>
        </p:nvSpPr>
        <p:spPr>
          <a:xfrm>
            <a:off x="7565571" y="5029200"/>
            <a:ext cx="2362200" cy="1600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highlight>
                  <a:srgbClr val="00FFFF"/>
                </a:highlight>
              </a:rPr>
              <a:t>catch block 2</a:t>
            </a:r>
          </a:p>
          <a:p>
            <a:endParaRPr lang="en-IN" sz="2000" dirty="0">
              <a:solidFill>
                <a:schemeClr val="tx1"/>
              </a:solidFill>
            </a:endParaRPr>
          </a:p>
          <a:p>
            <a:r>
              <a:rPr lang="en-IN" sz="2000" dirty="0">
                <a:solidFill>
                  <a:schemeClr val="tx1"/>
                </a:solidFill>
              </a:rPr>
              <a:t>Statement that handle the exception</a:t>
            </a:r>
          </a:p>
        </p:txBody>
      </p:sp>
      <p:cxnSp>
        <p:nvCxnSpPr>
          <p:cNvPr id="17" name="Straight Connector 16">
            <a:extLst>
              <a:ext uri="{FF2B5EF4-FFF2-40B4-BE49-F238E27FC236}">
                <a16:creationId xmlns:a16="http://schemas.microsoft.com/office/drawing/2014/main" id="{7E5BB6F4-87FD-43F0-9416-1F15DA81CE0D}"/>
              </a:ext>
            </a:extLst>
          </p:cNvPr>
          <p:cNvCxnSpPr/>
          <p:nvPr/>
        </p:nvCxnSpPr>
        <p:spPr>
          <a:xfrm>
            <a:off x="7565571" y="5670602"/>
            <a:ext cx="2362200"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DA3DE15-0A84-4E0C-A69B-08C1D4CA9902}"/>
              </a:ext>
            </a:extLst>
          </p:cNvPr>
          <p:cNvSpPr txBox="1"/>
          <p:nvPr/>
        </p:nvSpPr>
        <p:spPr>
          <a:xfrm>
            <a:off x="5584371" y="5943162"/>
            <a:ext cx="1371600" cy="707886"/>
          </a:xfrm>
          <a:prstGeom prst="rect">
            <a:avLst/>
          </a:prstGeom>
          <a:noFill/>
        </p:spPr>
        <p:txBody>
          <a:bodyPr wrap="square" rtlCol="0">
            <a:spAutoFit/>
          </a:bodyPr>
          <a:lstStyle/>
          <a:p>
            <a:r>
              <a:rPr lang="en-IN" sz="2000" dirty="0"/>
              <a:t>Exception Handler 2</a:t>
            </a:r>
          </a:p>
        </p:txBody>
      </p:sp>
      <p:sp>
        <p:nvSpPr>
          <p:cNvPr id="2" name="Curved Right Arrow 1"/>
          <p:cNvSpPr/>
          <p:nvPr/>
        </p:nvSpPr>
        <p:spPr>
          <a:xfrm>
            <a:off x="5714999" y="1156825"/>
            <a:ext cx="1643743" cy="4884937"/>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85478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08BE5F-FC50-4313-A37C-F1D16C83D41A}"/>
              </a:ext>
            </a:extLst>
          </p:cNvPr>
          <p:cNvPicPr>
            <a:picLocks noChangeAspect="1"/>
          </p:cNvPicPr>
          <p:nvPr/>
        </p:nvPicPr>
        <p:blipFill>
          <a:blip r:embed="rId2"/>
          <a:stretch>
            <a:fillRect/>
          </a:stretch>
        </p:blipFill>
        <p:spPr>
          <a:xfrm>
            <a:off x="369529" y="153755"/>
            <a:ext cx="937341" cy="646786"/>
          </a:xfrm>
          <a:prstGeom prst="rect">
            <a:avLst/>
          </a:prstGeom>
        </p:spPr>
      </p:pic>
      <p:sp>
        <p:nvSpPr>
          <p:cNvPr id="5" name="Title 1">
            <a:extLst>
              <a:ext uri="{FF2B5EF4-FFF2-40B4-BE49-F238E27FC236}">
                <a16:creationId xmlns:a16="http://schemas.microsoft.com/office/drawing/2014/main" id="{E4593C6E-1E06-4697-B1EE-90CE68ABF96B}"/>
              </a:ext>
            </a:extLst>
          </p:cNvPr>
          <p:cNvSpPr txBox="1">
            <a:spLocks/>
          </p:cNvSpPr>
          <p:nvPr/>
        </p:nvSpPr>
        <p:spPr>
          <a:xfrm>
            <a:off x="1447800" y="211125"/>
            <a:ext cx="10287000" cy="5320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7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highlight>
                  <a:srgbClr val="FFFF00"/>
                </a:highlight>
                <a:uLnTx/>
                <a:uFillTx/>
                <a:latin typeface="Perpetua"/>
                <a:ea typeface="+mn-ea"/>
                <a:cs typeface="+mn-cs"/>
              </a:rPr>
              <a:t>Example</a:t>
            </a:r>
            <a:r>
              <a:rPr kumimoji="0" lang="en-US" sz="3600" b="1" i="0" u="none" strike="noStrike" kern="1200" cap="none" spc="0" normalizeH="0" noProof="0" dirty="0">
                <a:ln>
                  <a:noFill/>
                </a:ln>
                <a:solidFill>
                  <a:prstClr val="black"/>
                </a:solidFill>
                <a:effectLst/>
                <a:highlight>
                  <a:srgbClr val="FFFF00"/>
                </a:highlight>
                <a:uLnTx/>
                <a:uFillTx/>
                <a:latin typeface="Perpetua"/>
                <a:ea typeface="+mn-ea"/>
                <a:cs typeface="+mn-cs"/>
              </a:rPr>
              <a:t> of Multiple Catch Blocks</a:t>
            </a:r>
            <a:r>
              <a:rPr kumimoji="0" lang="en-US" sz="3600" b="1" i="0" u="none" strike="noStrike" kern="1200" cap="none" spc="0" normalizeH="0" baseline="0" noProof="0" dirty="0">
                <a:ln>
                  <a:noFill/>
                </a:ln>
                <a:solidFill>
                  <a:prstClr val="black"/>
                </a:solidFill>
                <a:effectLst/>
                <a:highlight>
                  <a:srgbClr val="FFFF00"/>
                </a:highlight>
                <a:uLnTx/>
                <a:uFillTx/>
                <a:latin typeface="Perpetua"/>
                <a:ea typeface="+mn-ea"/>
                <a:cs typeface="+mn-cs"/>
              </a:rPr>
              <a:t> </a:t>
            </a:r>
            <a:endParaRPr kumimoji="0" lang="en-US" sz="3600" b="0" i="0" u="none" strike="noStrike" kern="1200" cap="none" spc="0" normalizeH="0" baseline="0" noProof="0" dirty="0">
              <a:ln>
                <a:noFill/>
              </a:ln>
              <a:solidFill>
                <a:prstClr val="black"/>
              </a:solidFill>
              <a:effectLst/>
              <a:highlight>
                <a:srgbClr val="FFFF00"/>
              </a:highlight>
              <a:uLnTx/>
              <a:uFillTx/>
              <a:latin typeface="Perpetua"/>
              <a:ea typeface="+mn-ea"/>
              <a:cs typeface="+mn-cs"/>
            </a:endParaRPr>
          </a:p>
        </p:txBody>
      </p:sp>
      <p:sp>
        <p:nvSpPr>
          <p:cNvPr id="6" name="Rectangle 5"/>
          <p:cNvSpPr/>
          <p:nvPr/>
        </p:nvSpPr>
        <p:spPr>
          <a:xfrm>
            <a:off x="369529" y="914400"/>
            <a:ext cx="11365271" cy="578984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numCol="2"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class </a:t>
            </a:r>
            <a:r>
              <a:rPr lang="en-US" sz="2000" noProof="0" dirty="0" err="1">
                <a:solidFill>
                  <a:prstClr val="black"/>
                </a:solidFill>
                <a:latin typeface="Perpetua"/>
              </a:rPr>
              <a:t>MyClass</a:t>
            </a:r>
            <a:endParaRPr kumimoji="0" lang="en-US" sz="2000" b="0" i="0" u="none" strike="noStrike" kern="1200" cap="none" spc="0" normalizeH="0" baseline="0" noProof="0" dirty="0">
              <a:ln>
                <a:noFill/>
              </a:ln>
              <a:solidFill>
                <a:prstClr val="black"/>
              </a:solidFill>
              <a:effectLst/>
              <a:uLnTx/>
              <a:uFillTx/>
              <a:latin typeface="Perpetu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    public static void main (String </a:t>
            </a:r>
            <a:r>
              <a:rPr kumimoji="0" lang="en-US" sz="2000" b="0" i="0" u="none" strike="noStrike" kern="1200" cap="none" spc="0" normalizeH="0" baseline="0" noProof="0" dirty="0" err="1">
                <a:ln>
                  <a:noFill/>
                </a:ln>
                <a:solidFill>
                  <a:prstClr val="black"/>
                </a:solidFill>
                <a:effectLst/>
                <a:uLnTx/>
                <a:uFillTx/>
                <a:latin typeface="Perpetua"/>
                <a:ea typeface="+mn-ea"/>
                <a:cs typeface="+mn-cs"/>
              </a:rPr>
              <a:t>args</a:t>
            </a:r>
            <a:r>
              <a:rPr kumimoji="0" lang="en-US" sz="2000" b="0" i="0" u="none" strike="noStrike" kern="1200" cap="none" spc="0" normalizeH="0" baseline="0" noProof="0" dirty="0">
                <a:ln>
                  <a:noFill/>
                </a:ln>
                <a:solidFill>
                  <a:prstClr val="black"/>
                </a:solidFill>
                <a:effectLst/>
                <a:uLnTx/>
                <a:uFillTx/>
                <a:latin typeface="Perpetua"/>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      </a:t>
            </a:r>
            <a:r>
              <a:rPr kumimoji="0" lang="en-US" sz="2000" b="0" i="0" u="none" strike="noStrike" kern="1200" cap="none" spc="0" normalizeH="0" baseline="0" noProof="0" dirty="0" err="1">
                <a:ln>
                  <a:noFill/>
                </a:ln>
                <a:solidFill>
                  <a:prstClr val="black"/>
                </a:solidFill>
                <a:effectLst/>
                <a:uLnTx/>
                <a:uFillTx/>
                <a:latin typeface="Perpetua"/>
                <a:ea typeface="+mn-ea"/>
                <a:cs typeface="+mn-cs"/>
              </a:rPr>
              <a:t>int</a:t>
            </a:r>
            <a:r>
              <a:rPr kumimoji="0" lang="en-US" sz="2000" b="0" i="0" u="none" strike="noStrike" kern="1200" cap="none" spc="0" normalizeH="0" baseline="0" noProof="0" dirty="0">
                <a:ln>
                  <a:noFill/>
                </a:ln>
                <a:solidFill>
                  <a:prstClr val="black"/>
                </a:solidFill>
                <a:effectLst/>
                <a:uLnTx/>
                <a:uFillTx/>
                <a:latin typeface="Perpetua"/>
                <a:ea typeface="+mn-ea"/>
                <a:cs typeface="+mn-cs"/>
              </a:rPr>
              <a:t> a[]</a:t>
            </a:r>
            <a:r>
              <a:rPr kumimoji="0" lang="en-US" sz="2000" b="0" i="0" u="none" strike="noStrike" kern="1200" cap="none" spc="0" normalizeH="0" noProof="0" dirty="0">
                <a:ln>
                  <a:noFill/>
                </a:ln>
                <a:solidFill>
                  <a:prstClr val="black"/>
                </a:solidFill>
                <a:effectLst/>
                <a:uLnTx/>
                <a:uFillTx/>
                <a:latin typeface="Perpetua"/>
                <a:ea typeface="+mn-ea"/>
                <a:cs typeface="+mn-cs"/>
              </a:rPr>
              <a:t> = {5,10};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prstClr val="black"/>
                </a:solidFill>
                <a:latin typeface="Perpetua"/>
              </a:rPr>
              <a:t>      </a:t>
            </a:r>
            <a:r>
              <a:rPr lang="en-US" sz="2000" dirty="0" err="1">
                <a:solidFill>
                  <a:prstClr val="black"/>
                </a:solidFill>
                <a:latin typeface="Perpetua"/>
              </a:rPr>
              <a:t>int</a:t>
            </a:r>
            <a:r>
              <a:rPr lang="en-US" sz="2000" dirty="0">
                <a:solidFill>
                  <a:prstClr val="black"/>
                </a:solidFill>
                <a:latin typeface="Perpetua"/>
              </a:rPr>
              <a:t> b=5;</a:t>
            </a:r>
            <a:endParaRPr kumimoji="0" lang="en-US" sz="2000" b="0" i="0" u="none" strike="noStrike" kern="1200" cap="none" spc="0" normalizeH="0" noProof="0" dirty="0">
              <a:ln>
                <a:noFill/>
              </a:ln>
              <a:solidFill>
                <a:prstClr val="black"/>
              </a:solidFill>
              <a:effectLst/>
              <a:uLnTx/>
              <a:uFillTx/>
              <a:latin typeface="Perpetu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noProof="0" dirty="0">
                <a:ln>
                  <a:noFill/>
                </a:ln>
                <a:solidFill>
                  <a:prstClr val="black"/>
                </a:solidFill>
                <a:effectLst/>
                <a:highlight>
                  <a:srgbClr val="FFFF00"/>
                </a:highlight>
                <a:uLnTx/>
                <a:uFillTx/>
                <a:latin typeface="Perpetua"/>
                <a:ea typeface="+mn-ea"/>
                <a:cs typeface="+mn-cs"/>
              </a:rPr>
              <a:t>       </a:t>
            </a:r>
            <a:r>
              <a:rPr kumimoji="0" lang="en-US" sz="2000" b="0" i="0" u="none" strike="noStrike" kern="1200" cap="none" spc="0" normalizeH="0" baseline="0" noProof="0" dirty="0">
                <a:ln>
                  <a:noFill/>
                </a:ln>
                <a:solidFill>
                  <a:prstClr val="black"/>
                </a:solidFill>
                <a:effectLst/>
                <a:highlight>
                  <a:srgbClr val="FFFF00"/>
                </a:highlight>
                <a:uLnTx/>
                <a:uFillTx/>
                <a:latin typeface="Perpetua"/>
                <a:ea typeface="+mn-ea"/>
                <a:cs typeface="+mn-cs"/>
              </a:rPr>
              <a:t>try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highlight>
                  <a:srgbClr val="FFFF00"/>
                </a:highlight>
                <a:uLnTx/>
                <a:uFillTx/>
                <a:latin typeface="Perpetua"/>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          </a:t>
            </a:r>
            <a:r>
              <a:rPr lang="en-US" sz="2000" dirty="0" err="1">
                <a:solidFill>
                  <a:prstClr val="black"/>
                </a:solidFill>
                <a:latin typeface="Perpetua"/>
              </a:rPr>
              <a:t>int</a:t>
            </a:r>
            <a:r>
              <a:rPr lang="en-US" sz="2000" dirty="0">
                <a:solidFill>
                  <a:prstClr val="black"/>
                </a:solidFill>
                <a:latin typeface="Perpetua"/>
              </a:rPr>
              <a:t> x=a[2]/b – a[1];</a:t>
            </a:r>
            <a:endParaRPr kumimoji="0" lang="en-US" sz="2000" b="0" i="0" u="none" strike="noStrike" kern="1200" cap="none" spc="0" normalizeH="0" baseline="0" noProof="0" dirty="0">
              <a:ln>
                <a:noFill/>
              </a:ln>
              <a:solidFill>
                <a:prstClr val="black"/>
              </a:solidFill>
              <a:effectLst/>
              <a:uLnTx/>
              <a:uFillTx/>
              <a:latin typeface="Perpetu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highlight>
                  <a:srgbClr val="FFFF00"/>
                </a:highlight>
                <a:uLnTx/>
                <a:uFillTx/>
                <a:latin typeface="Perpetua"/>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     </a:t>
            </a:r>
            <a:r>
              <a:rPr kumimoji="0" lang="en-US" sz="2000" b="0" i="0" u="none" strike="noStrike" kern="1200" cap="none" spc="0" normalizeH="0" baseline="0" noProof="0" dirty="0">
                <a:ln>
                  <a:noFill/>
                </a:ln>
                <a:solidFill>
                  <a:prstClr val="black"/>
                </a:solidFill>
                <a:effectLst/>
                <a:highlight>
                  <a:srgbClr val="FFFF00"/>
                </a:highlight>
                <a:uLnTx/>
                <a:uFillTx/>
                <a:latin typeface="Perpetua"/>
                <a:ea typeface="+mn-ea"/>
                <a:cs typeface="+mn-cs"/>
              </a:rPr>
              <a:t>catch(Arithmetic</a:t>
            </a:r>
            <a:r>
              <a:rPr lang="en-US" sz="2000" dirty="0">
                <a:solidFill>
                  <a:prstClr val="black"/>
                </a:solidFill>
                <a:highlight>
                  <a:srgbClr val="FFFF00"/>
                </a:highlight>
                <a:latin typeface="Perpetua"/>
              </a:rPr>
              <a:t>Exception </a:t>
            </a:r>
            <a:r>
              <a:rPr kumimoji="0" lang="en-US" sz="2000" b="0" i="0" u="none" strike="noStrike" kern="1200" cap="none" spc="0" normalizeH="0" baseline="0" noProof="0" dirty="0">
                <a:ln>
                  <a:noFill/>
                </a:ln>
                <a:solidFill>
                  <a:prstClr val="black"/>
                </a:solidFill>
                <a:effectLst/>
                <a:highlight>
                  <a:srgbClr val="FFFF00"/>
                </a:highlight>
                <a:uLnTx/>
                <a:uFillTx/>
                <a:latin typeface="Perpetua"/>
                <a:ea typeface="+mn-ea"/>
                <a:cs typeface="+mn-cs"/>
              </a:rPr>
              <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     </a:t>
            </a:r>
            <a:r>
              <a:rPr kumimoji="0" lang="en-US" sz="2000" b="0" i="0" u="none" strike="noStrike" kern="1200" cap="none" spc="0" normalizeH="0" baseline="0" noProof="0" dirty="0">
                <a:ln>
                  <a:noFill/>
                </a:ln>
                <a:solidFill>
                  <a:prstClr val="black"/>
                </a:solidFill>
                <a:effectLst/>
                <a:highlight>
                  <a:srgbClr val="FFFF00"/>
                </a:highlight>
                <a:uLnTx/>
                <a:uFillTx/>
                <a:latin typeface="Perpetua"/>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noProof="0" dirty="0">
                <a:ln>
                  <a:noFill/>
                </a:ln>
                <a:solidFill>
                  <a:prstClr val="black"/>
                </a:solidFill>
                <a:effectLst/>
                <a:highlight>
                  <a:srgbClr val="FFFF00"/>
                </a:highlight>
                <a:uLnTx/>
                <a:uFillTx/>
                <a:latin typeface="Perpetua"/>
                <a:ea typeface="+mn-ea"/>
                <a:cs typeface="+mn-cs"/>
              </a:rPr>
              <a:t>      </a:t>
            </a:r>
            <a:r>
              <a:rPr kumimoji="0" lang="en-US" sz="2000" b="0" i="0" u="none" strike="noStrike" kern="1200" cap="none" spc="0" normalizeH="0" noProof="0" dirty="0" err="1">
                <a:ln>
                  <a:noFill/>
                </a:ln>
                <a:solidFill>
                  <a:prstClr val="black"/>
                </a:solidFill>
                <a:effectLst/>
                <a:highlight>
                  <a:srgbClr val="FFFF00"/>
                </a:highlight>
                <a:uLnTx/>
                <a:uFillTx/>
                <a:latin typeface="Perpetua"/>
                <a:ea typeface="+mn-ea"/>
                <a:cs typeface="+mn-cs"/>
              </a:rPr>
              <a:t>System.outprintln</a:t>
            </a:r>
            <a:r>
              <a:rPr kumimoji="0" lang="en-US" sz="2000" b="0" i="0" u="none" strike="noStrike" kern="1200" cap="none" spc="0" normalizeH="0" noProof="0" dirty="0">
                <a:ln>
                  <a:noFill/>
                </a:ln>
                <a:solidFill>
                  <a:prstClr val="black"/>
                </a:solidFill>
                <a:effectLst/>
                <a:highlight>
                  <a:srgbClr val="FFFF00"/>
                </a:highlight>
                <a:uLnTx/>
                <a:uFillTx/>
                <a:latin typeface="Perpetua"/>
                <a:ea typeface="+mn-ea"/>
                <a:cs typeface="+mn-cs"/>
              </a:rPr>
              <a:t>(“Division by zero”);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aseline="0" dirty="0">
                <a:solidFill>
                  <a:prstClr val="black"/>
                </a:solidFill>
                <a:highlight>
                  <a:srgbClr val="FFFF00"/>
                </a:highlight>
                <a:latin typeface="Perpetua"/>
              </a:rPr>
              <a:t>      </a:t>
            </a:r>
            <a:r>
              <a:rPr kumimoji="0" lang="en-US" sz="2000" b="0" i="0" u="none" strike="noStrike" kern="1200" cap="none" spc="0" normalizeH="0" baseline="0" noProof="0" dirty="0">
                <a:ln>
                  <a:noFill/>
                </a:ln>
                <a:solidFill>
                  <a:prstClr val="black"/>
                </a:solidFill>
                <a:effectLst/>
                <a:highlight>
                  <a:srgbClr val="FFFF00"/>
                </a:highlight>
                <a:uLnTx/>
                <a:uFillTx/>
                <a:latin typeface="Perpetua"/>
                <a:ea typeface="+mn-ea"/>
                <a:cs typeface="+mn-cs"/>
              </a:rPr>
              <a:t>}</a:t>
            </a:r>
          </a:p>
          <a:p>
            <a:pPr>
              <a:defRPr/>
            </a:pPr>
            <a:r>
              <a:rPr lang="en-US" sz="2000" dirty="0">
                <a:solidFill>
                  <a:prstClr val="black"/>
                </a:solidFill>
                <a:highlight>
                  <a:srgbClr val="FFFF00"/>
                </a:highlight>
                <a:latin typeface="Perpetua"/>
              </a:rPr>
              <a:t>      </a:t>
            </a:r>
            <a:r>
              <a:rPr lang="en-US" sz="2000" dirty="0">
                <a:solidFill>
                  <a:prstClr val="black"/>
                </a:solidFill>
                <a:highlight>
                  <a:srgbClr val="00FF00"/>
                </a:highlight>
              </a:rPr>
              <a:t>catch (</a:t>
            </a:r>
            <a:r>
              <a:rPr lang="en-US" sz="2000" dirty="0" err="1">
                <a:solidFill>
                  <a:prstClr val="black"/>
                </a:solidFill>
                <a:highlight>
                  <a:srgbClr val="00FF00"/>
                </a:highlight>
              </a:rPr>
              <a:t>ArrayIndexOutOfBoundsException</a:t>
            </a:r>
            <a:r>
              <a:rPr lang="en-US" sz="2000" dirty="0">
                <a:solidFill>
                  <a:prstClr val="black"/>
                </a:solidFill>
                <a:highlight>
                  <a:srgbClr val="00FF00"/>
                </a:highlight>
              </a:rPr>
              <a:t> e)</a:t>
            </a:r>
          </a:p>
          <a:p>
            <a:pPr>
              <a:defRPr/>
            </a:pPr>
            <a:r>
              <a:rPr lang="en-US" sz="2000" dirty="0">
                <a:solidFill>
                  <a:prstClr val="black"/>
                </a:solidFill>
                <a:highlight>
                  <a:srgbClr val="00FF00"/>
                </a:highlight>
              </a:rPr>
              <a:t>      {</a:t>
            </a:r>
          </a:p>
          <a:p>
            <a:pPr>
              <a:defRPr/>
            </a:pPr>
            <a:r>
              <a:rPr lang="en-US" sz="2000" dirty="0">
                <a:solidFill>
                  <a:prstClr val="black"/>
                </a:solidFill>
                <a:highlight>
                  <a:srgbClr val="00FF00"/>
                </a:highlight>
              </a:rPr>
              <a:t>          </a:t>
            </a:r>
            <a:r>
              <a:rPr lang="en-US" sz="2000" dirty="0" err="1">
                <a:solidFill>
                  <a:prstClr val="black"/>
                </a:solidFill>
                <a:highlight>
                  <a:srgbClr val="00FF00"/>
                </a:highlight>
              </a:rPr>
              <a:t>System.out.println</a:t>
            </a:r>
            <a:r>
              <a:rPr lang="en-US" sz="2000" dirty="0">
                <a:solidFill>
                  <a:prstClr val="black"/>
                </a:solidFill>
                <a:highlight>
                  <a:srgbClr val="00FF00"/>
                </a:highlight>
              </a:rPr>
              <a:t>(“Array Index Error”);</a:t>
            </a:r>
          </a:p>
          <a:p>
            <a:pPr>
              <a:defRPr/>
            </a:pPr>
            <a:r>
              <a:rPr lang="en-US" sz="2000" dirty="0">
                <a:solidFill>
                  <a:prstClr val="black"/>
                </a:solidFill>
                <a:highlight>
                  <a:srgbClr val="00FF00"/>
                </a:highlight>
              </a:rPr>
              <a:t>       }</a:t>
            </a:r>
          </a:p>
          <a:p>
            <a:pPr>
              <a:defRPr/>
            </a:pPr>
            <a:r>
              <a:rPr lang="en-US" sz="2000" dirty="0">
                <a:solidFill>
                  <a:prstClr val="black"/>
                </a:solidFill>
                <a:highlight>
                  <a:srgbClr val="00FF00"/>
                </a:highlight>
              </a:rPr>
              <a:t>catch(</a:t>
            </a:r>
            <a:r>
              <a:rPr lang="en-US" sz="2000" dirty="0" err="1">
                <a:solidFill>
                  <a:prstClr val="black"/>
                </a:solidFill>
                <a:highlight>
                  <a:srgbClr val="00FF00"/>
                </a:highlight>
              </a:rPr>
              <a:t>ArrayStoreException</a:t>
            </a:r>
            <a:r>
              <a:rPr lang="en-US" sz="2000" dirty="0">
                <a:solidFill>
                  <a:prstClr val="black"/>
                </a:solidFill>
                <a:highlight>
                  <a:srgbClr val="00FF00"/>
                </a:highlight>
              </a:rPr>
              <a:t> e)</a:t>
            </a:r>
          </a:p>
          <a:p>
            <a:pPr>
              <a:defRPr/>
            </a:pPr>
            <a:r>
              <a:rPr lang="en-US" sz="2000" dirty="0">
                <a:solidFill>
                  <a:prstClr val="black"/>
                </a:solidFill>
                <a:highlight>
                  <a:srgbClr val="00FF00"/>
                </a:highlight>
              </a:rPr>
              <a:t>       {</a:t>
            </a:r>
          </a:p>
          <a:p>
            <a:pPr>
              <a:defRPr/>
            </a:pPr>
            <a:r>
              <a:rPr lang="en-US" sz="2000" dirty="0">
                <a:solidFill>
                  <a:prstClr val="black"/>
                </a:solidFill>
                <a:highlight>
                  <a:srgbClr val="00FF00"/>
                </a:highlight>
              </a:rPr>
              <a:t>            </a:t>
            </a:r>
            <a:r>
              <a:rPr lang="en-US" sz="2000" dirty="0" err="1">
                <a:solidFill>
                  <a:prstClr val="black"/>
                </a:solidFill>
                <a:highlight>
                  <a:srgbClr val="00FF00"/>
                </a:highlight>
              </a:rPr>
              <a:t>System.out.println</a:t>
            </a:r>
            <a:r>
              <a:rPr lang="en-US" sz="2000" dirty="0">
                <a:solidFill>
                  <a:prstClr val="black"/>
                </a:solidFill>
                <a:highlight>
                  <a:srgbClr val="00FF00"/>
                </a:highlight>
              </a:rPr>
              <a:t>(“Wrong  Data Type”);</a:t>
            </a:r>
            <a:endParaRPr kumimoji="0" lang="en-US" sz="2000" b="0" i="0" u="none" strike="noStrike" kern="1200" cap="none" spc="0" normalizeH="0" baseline="0" noProof="0" dirty="0">
              <a:ln>
                <a:noFill/>
              </a:ln>
              <a:solidFill>
                <a:prstClr val="black"/>
              </a:solidFill>
              <a:effectLst/>
              <a:highlight>
                <a:srgbClr val="FFFF00"/>
              </a:highlight>
              <a:uLnTx/>
              <a:uFillTx/>
              <a:latin typeface="Perpetu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prstClr val="black"/>
                </a:solidFill>
                <a:highlight>
                  <a:srgbClr val="00FF00"/>
                </a:highlight>
                <a:latin typeface="Perpetua"/>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prstClr val="black"/>
                </a:solidFill>
                <a:latin typeface="Perpetua"/>
              </a:rPr>
              <a:t>      int y=a[1]/a[0];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prstClr val="black"/>
                </a:solidFill>
                <a:latin typeface="Perpetua"/>
              </a:rPr>
              <a:t>     </a:t>
            </a:r>
            <a:r>
              <a:rPr lang="en-US" sz="2000" dirty="0" err="1">
                <a:solidFill>
                  <a:prstClr val="black"/>
                </a:solidFill>
                <a:latin typeface="Perpetua"/>
              </a:rPr>
              <a:t>System.out.println</a:t>
            </a:r>
            <a:r>
              <a:rPr lang="en-US" sz="2000" dirty="0">
                <a:solidFill>
                  <a:prstClr val="black"/>
                </a:solidFill>
                <a:latin typeface="Perpetua"/>
              </a:rPr>
              <a:t>(“y=”+y);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prstClr val="black"/>
                </a:solidFill>
                <a:latin typeface="Perpetua"/>
              </a:rPr>
              <a:t>}</a:t>
            </a:r>
            <a:endParaRPr kumimoji="0" lang="en-US" sz="2000" b="0" i="0" u="none" strike="noStrike" kern="1200" cap="none" spc="0" normalizeH="0" baseline="0" noProof="0" dirty="0">
              <a:ln>
                <a:noFill/>
              </a:ln>
              <a:solidFill>
                <a:prstClr val="black"/>
              </a:solidFill>
              <a:effectLst/>
              <a:uLnTx/>
              <a:uFillTx/>
              <a:latin typeface="Perpetua"/>
              <a:ea typeface="+mn-ea"/>
              <a:cs typeface="+mn-cs"/>
            </a:endParaRPr>
          </a:p>
        </p:txBody>
      </p:sp>
      <p:sp>
        <p:nvSpPr>
          <p:cNvPr id="8" name="Rectangle 7">
            <a:extLst>
              <a:ext uri="{FF2B5EF4-FFF2-40B4-BE49-F238E27FC236}">
                <a16:creationId xmlns:a16="http://schemas.microsoft.com/office/drawing/2014/main" id="{90615DF3-64C0-43CC-8797-6CECC52A8296}"/>
              </a:ext>
            </a:extLst>
          </p:cNvPr>
          <p:cNvSpPr/>
          <p:nvPr/>
        </p:nvSpPr>
        <p:spPr>
          <a:xfrm>
            <a:off x="5562600" y="5029200"/>
            <a:ext cx="3200400" cy="152264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Perpetua"/>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Perpetua"/>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Perpetua"/>
                <a:ea typeface="+mn-ea"/>
                <a:cs typeface="+mn-cs"/>
              </a:rPr>
              <a:t>Output:-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prstClr val="black"/>
                </a:solidFill>
                <a:highlight>
                  <a:srgbClr val="FF00FF"/>
                </a:highlight>
                <a:latin typeface="Perpetua"/>
              </a:rPr>
              <a:t>Array Index Error</a:t>
            </a:r>
          </a:p>
          <a:p>
            <a:pPr algn="ctr"/>
            <a:r>
              <a:rPr lang="en-US" sz="2000" dirty="0">
                <a:solidFill>
                  <a:prstClr val="black"/>
                </a:solidFill>
                <a:highlight>
                  <a:srgbClr val="FF00FF"/>
                </a:highlight>
              </a:rPr>
              <a:t>y =2</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highlight>
                <a:srgbClr val="00FF00"/>
              </a:highlight>
              <a:uLnTx/>
              <a:uFillTx/>
              <a:latin typeface="Perpetua"/>
              <a:ea typeface="+mn-ea"/>
              <a:cs typeface="+mn-cs"/>
            </a:endParaRPr>
          </a:p>
        </p:txBody>
      </p:sp>
    </p:spTree>
    <p:extLst>
      <p:ext uri="{BB962C8B-B14F-4D97-AF65-F5344CB8AC3E}">
        <p14:creationId xmlns:p14="http://schemas.microsoft.com/office/powerpoint/2010/main" val="2573120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7D1F904-3C81-4739-B1A1-EAA380AFC716}"/>
              </a:ext>
            </a:extLst>
          </p:cNvPr>
          <p:cNvPicPr>
            <a:picLocks noChangeAspect="1"/>
          </p:cNvPicPr>
          <p:nvPr/>
        </p:nvPicPr>
        <p:blipFill>
          <a:blip r:embed="rId2"/>
          <a:stretch>
            <a:fillRect/>
          </a:stretch>
        </p:blipFill>
        <p:spPr>
          <a:xfrm>
            <a:off x="369529" y="153755"/>
            <a:ext cx="937341" cy="646786"/>
          </a:xfrm>
          <a:prstGeom prst="rect">
            <a:avLst/>
          </a:prstGeom>
        </p:spPr>
      </p:pic>
      <p:sp>
        <p:nvSpPr>
          <p:cNvPr id="5" name="Title 1">
            <a:extLst>
              <a:ext uri="{FF2B5EF4-FFF2-40B4-BE49-F238E27FC236}">
                <a16:creationId xmlns:a16="http://schemas.microsoft.com/office/drawing/2014/main" id="{D0A6077F-EE83-4070-9060-C4C603D5BE51}"/>
              </a:ext>
            </a:extLst>
          </p:cNvPr>
          <p:cNvSpPr txBox="1">
            <a:spLocks/>
          </p:cNvSpPr>
          <p:nvPr/>
        </p:nvSpPr>
        <p:spPr>
          <a:xfrm>
            <a:off x="1447800" y="211125"/>
            <a:ext cx="10287000" cy="5320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7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600" b="1" dirty="0">
                <a:solidFill>
                  <a:schemeClr val="tx1"/>
                </a:solidFill>
                <a:highlight>
                  <a:srgbClr val="FFFF00"/>
                </a:highlight>
              </a:rPr>
              <a:t>Exception Handling Code with Finally Statement </a:t>
            </a:r>
            <a:endParaRPr lang="en-US" sz="3600" dirty="0">
              <a:solidFill>
                <a:schemeClr val="tx1"/>
              </a:solidFill>
              <a:highlight>
                <a:srgbClr val="FFFF00"/>
              </a:highlight>
            </a:endParaRPr>
          </a:p>
        </p:txBody>
      </p:sp>
      <p:sp>
        <p:nvSpPr>
          <p:cNvPr id="6" name="Rectangle 5">
            <a:extLst>
              <a:ext uri="{FF2B5EF4-FFF2-40B4-BE49-F238E27FC236}">
                <a16:creationId xmlns:a16="http://schemas.microsoft.com/office/drawing/2014/main" id="{39888810-7B97-4EB9-B44C-4968709197AA}"/>
              </a:ext>
            </a:extLst>
          </p:cNvPr>
          <p:cNvSpPr/>
          <p:nvPr/>
        </p:nvSpPr>
        <p:spPr>
          <a:xfrm>
            <a:off x="979129" y="3733800"/>
            <a:ext cx="5193071" cy="2895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chemeClr val="tx1"/>
                </a:solidFill>
                <a:highlight>
                  <a:srgbClr val="00FFFF"/>
                </a:highlight>
              </a:rPr>
              <a:t>try</a:t>
            </a:r>
          </a:p>
          <a:p>
            <a:r>
              <a:rPr lang="en-IN" sz="2000" dirty="0">
                <a:solidFill>
                  <a:schemeClr val="tx1"/>
                </a:solidFill>
              </a:rPr>
              <a:t>{</a:t>
            </a:r>
          </a:p>
          <a:p>
            <a:r>
              <a:rPr lang="en-IN" sz="2000" dirty="0">
                <a:solidFill>
                  <a:schemeClr val="tx1"/>
                </a:solidFill>
              </a:rPr>
              <a:t>    statement;   //Generates an Exception</a:t>
            </a:r>
          </a:p>
          <a:p>
            <a:r>
              <a:rPr lang="en-IN" sz="2000" dirty="0">
                <a:solidFill>
                  <a:schemeClr val="tx1"/>
                </a:solidFill>
              </a:rPr>
              <a:t>}</a:t>
            </a:r>
          </a:p>
          <a:p>
            <a:r>
              <a:rPr lang="en-IN" sz="2000" dirty="0">
                <a:solidFill>
                  <a:schemeClr val="tx1"/>
                </a:solidFill>
                <a:highlight>
                  <a:srgbClr val="00FFFF"/>
                </a:highlight>
              </a:rPr>
              <a:t>finally </a:t>
            </a:r>
          </a:p>
          <a:p>
            <a:r>
              <a:rPr lang="en-IN" sz="2000" dirty="0">
                <a:solidFill>
                  <a:schemeClr val="tx1"/>
                </a:solidFill>
              </a:rPr>
              <a:t>{</a:t>
            </a:r>
          </a:p>
          <a:p>
            <a:r>
              <a:rPr lang="en-IN" sz="2000" dirty="0">
                <a:solidFill>
                  <a:schemeClr val="tx1"/>
                </a:solidFill>
              </a:rPr>
              <a:t>    statement ;     //Processes the exception</a:t>
            </a:r>
          </a:p>
          <a:p>
            <a:r>
              <a:rPr lang="en-IN" sz="2000" dirty="0">
                <a:solidFill>
                  <a:schemeClr val="tx1"/>
                </a:solidFill>
              </a:rPr>
              <a:t>}</a:t>
            </a:r>
          </a:p>
          <a:p>
            <a:r>
              <a:rPr lang="en-IN" sz="2000" dirty="0">
                <a:solidFill>
                  <a:schemeClr val="tx1"/>
                </a:solidFill>
              </a:rPr>
              <a:t>……………….</a:t>
            </a:r>
          </a:p>
        </p:txBody>
      </p:sp>
      <p:sp>
        <p:nvSpPr>
          <p:cNvPr id="16" name="Rectangle 15">
            <a:extLst>
              <a:ext uri="{FF2B5EF4-FFF2-40B4-BE49-F238E27FC236}">
                <a16:creationId xmlns:a16="http://schemas.microsoft.com/office/drawing/2014/main" id="{39888810-7B97-4EB9-B44C-4968709197AA}"/>
              </a:ext>
            </a:extLst>
          </p:cNvPr>
          <p:cNvSpPr/>
          <p:nvPr/>
        </p:nvSpPr>
        <p:spPr>
          <a:xfrm>
            <a:off x="6324600" y="800541"/>
            <a:ext cx="5193071" cy="491445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2000" dirty="0">
              <a:solidFill>
                <a:schemeClr val="tx1"/>
              </a:solidFill>
            </a:endParaRPr>
          </a:p>
          <a:p>
            <a:endParaRPr lang="en-IN" sz="2000" dirty="0">
              <a:solidFill>
                <a:schemeClr val="tx1"/>
              </a:solidFill>
              <a:highlight>
                <a:srgbClr val="00FFFF"/>
              </a:highlight>
            </a:endParaRPr>
          </a:p>
          <a:p>
            <a:endParaRPr lang="en-IN" sz="2000" dirty="0">
              <a:solidFill>
                <a:schemeClr val="tx1"/>
              </a:solidFill>
              <a:highlight>
                <a:srgbClr val="00FFFF"/>
              </a:highlight>
            </a:endParaRPr>
          </a:p>
          <a:p>
            <a:r>
              <a:rPr lang="en-IN" sz="2000" dirty="0">
                <a:solidFill>
                  <a:schemeClr val="tx1"/>
                </a:solidFill>
                <a:highlight>
                  <a:srgbClr val="00FFFF"/>
                </a:highlight>
              </a:rPr>
              <a:t>try</a:t>
            </a:r>
          </a:p>
          <a:p>
            <a:r>
              <a:rPr lang="en-IN" sz="2000" dirty="0">
                <a:solidFill>
                  <a:schemeClr val="tx1"/>
                </a:solidFill>
              </a:rPr>
              <a:t>{</a:t>
            </a:r>
          </a:p>
          <a:p>
            <a:r>
              <a:rPr lang="en-IN" sz="2000" dirty="0">
                <a:solidFill>
                  <a:schemeClr val="tx1"/>
                </a:solidFill>
              </a:rPr>
              <a:t>    statement;   //Generates an Exception</a:t>
            </a:r>
          </a:p>
          <a:p>
            <a:r>
              <a:rPr lang="en-IN" sz="2000" dirty="0">
                <a:solidFill>
                  <a:schemeClr val="tx1"/>
                </a:solidFill>
              </a:rPr>
              <a:t>}</a:t>
            </a:r>
          </a:p>
          <a:p>
            <a:r>
              <a:rPr lang="en-IN" sz="2000" dirty="0">
                <a:solidFill>
                  <a:schemeClr val="tx1"/>
                </a:solidFill>
                <a:highlight>
                  <a:srgbClr val="00FFFF"/>
                </a:highlight>
              </a:rPr>
              <a:t>catch (Exception-Type e)</a:t>
            </a:r>
          </a:p>
          <a:p>
            <a:r>
              <a:rPr lang="en-IN" sz="2000" dirty="0">
                <a:solidFill>
                  <a:schemeClr val="tx1"/>
                </a:solidFill>
              </a:rPr>
              <a:t>{</a:t>
            </a:r>
          </a:p>
          <a:p>
            <a:r>
              <a:rPr lang="en-IN" sz="2000" dirty="0">
                <a:solidFill>
                  <a:schemeClr val="tx1"/>
                </a:solidFill>
              </a:rPr>
              <a:t>    statement ;     //Processes the exception</a:t>
            </a:r>
          </a:p>
          <a:p>
            <a:r>
              <a:rPr lang="en-IN" sz="2000" dirty="0">
                <a:solidFill>
                  <a:schemeClr val="tx1"/>
                </a:solidFill>
              </a:rPr>
              <a:t>}</a:t>
            </a:r>
          </a:p>
          <a:p>
            <a:r>
              <a:rPr lang="en-IN" sz="2000" dirty="0">
                <a:solidFill>
                  <a:schemeClr val="tx1"/>
                </a:solidFill>
                <a:highlight>
                  <a:srgbClr val="00FFFF"/>
                </a:highlight>
              </a:rPr>
              <a:t>catch (Exception-Type e)</a:t>
            </a:r>
          </a:p>
          <a:p>
            <a:r>
              <a:rPr lang="en-IN" sz="2000" dirty="0">
                <a:solidFill>
                  <a:schemeClr val="tx1"/>
                </a:solidFill>
              </a:rPr>
              <a:t>{</a:t>
            </a:r>
          </a:p>
          <a:p>
            <a:r>
              <a:rPr lang="en-IN" sz="2000" dirty="0">
                <a:solidFill>
                  <a:schemeClr val="tx1"/>
                </a:solidFill>
              </a:rPr>
              <a:t>    statement ;     //Processes the exception</a:t>
            </a:r>
          </a:p>
          <a:p>
            <a:r>
              <a:rPr lang="en-IN" sz="2000" dirty="0">
                <a:solidFill>
                  <a:schemeClr val="tx1"/>
                </a:solidFill>
              </a:rPr>
              <a:t>}</a:t>
            </a:r>
          </a:p>
          <a:p>
            <a:r>
              <a:rPr lang="en-IN" sz="2000" dirty="0">
                <a:solidFill>
                  <a:schemeClr val="tx1"/>
                </a:solidFill>
                <a:highlight>
                  <a:srgbClr val="00FFFF"/>
                </a:highlight>
              </a:rPr>
              <a:t>finally </a:t>
            </a:r>
          </a:p>
          <a:p>
            <a:r>
              <a:rPr lang="en-IN" sz="2000" dirty="0">
                <a:solidFill>
                  <a:schemeClr val="tx1"/>
                </a:solidFill>
              </a:rPr>
              <a:t>{</a:t>
            </a:r>
          </a:p>
          <a:p>
            <a:r>
              <a:rPr lang="en-IN" sz="2000" dirty="0">
                <a:solidFill>
                  <a:schemeClr val="tx1"/>
                </a:solidFill>
              </a:rPr>
              <a:t>    statement ;     //Processes the exception</a:t>
            </a:r>
          </a:p>
          <a:p>
            <a:r>
              <a:rPr lang="en-IN" sz="2000" dirty="0">
                <a:solidFill>
                  <a:schemeClr val="tx1"/>
                </a:solidFill>
              </a:rPr>
              <a:t>}</a:t>
            </a: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p:txBody>
      </p:sp>
      <p:sp>
        <p:nvSpPr>
          <p:cNvPr id="2" name="Rectangle 1"/>
          <p:cNvSpPr/>
          <p:nvPr/>
        </p:nvSpPr>
        <p:spPr>
          <a:xfrm>
            <a:off x="457200" y="914400"/>
            <a:ext cx="5715000" cy="2667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v"/>
            </a:pPr>
            <a:r>
              <a:rPr lang="en-US" sz="2000" dirty="0"/>
              <a:t>Finally statement that can be used to handle an exception that is not caught by any of the previous catch statements.</a:t>
            </a:r>
          </a:p>
          <a:p>
            <a:pPr marL="285750" indent="-285750">
              <a:buFont typeface="Wingdings" panose="05000000000000000000" pitchFamily="2" charset="2"/>
              <a:buChar char="v"/>
            </a:pPr>
            <a:r>
              <a:rPr lang="en-US" sz="2000" dirty="0"/>
              <a:t>Finally block can be used to handle any exception </a:t>
            </a:r>
          </a:p>
          <a:p>
            <a:pPr marL="285750" indent="-285750">
              <a:buFont typeface="Wingdings" panose="05000000000000000000" pitchFamily="2" charset="2"/>
              <a:buChar char="v"/>
            </a:pPr>
            <a:r>
              <a:rPr lang="en-US" sz="2000" dirty="0"/>
              <a:t>It may be added immediately after the try block or after the last catch block</a:t>
            </a:r>
          </a:p>
          <a:p>
            <a:pPr marL="285750" indent="-285750">
              <a:buFont typeface="Wingdings" panose="05000000000000000000" pitchFamily="2" charset="2"/>
              <a:buChar char="v"/>
            </a:pPr>
            <a:r>
              <a:rPr lang="en-US" sz="2000" dirty="0"/>
              <a:t>When finally block is defined, then it is guaranteed to execute, regardless of whether or not an exception is thrown</a:t>
            </a:r>
          </a:p>
        </p:txBody>
      </p:sp>
    </p:spTree>
    <p:extLst>
      <p:ext uri="{BB962C8B-B14F-4D97-AF65-F5344CB8AC3E}">
        <p14:creationId xmlns:p14="http://schemas.microsoft.com/office/powerpoint/2010/main" val="40606209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08BE5F-FC50-4313-A37C-F1D16C83D41A}"/>
              </a:ext>
            </a:extLst>
          </p:cNvPr>
          <p:cNvPicPr>
            <a:picLocks noChangeAspect="1"/>
          </p:cNvPicPr>
          <p:nvPr/>
        </p:nvPicPr>
        <p:blipFill>
          <a:blip r:embed="rId2"/>
          <a:stretch>
            <a:fillRect/>
          </a:stretch>
        </p:blipFill>
        <p:spPr>
          <a:xfrm>
            <a:off x="369529" y="153755"/>
            <a:ext cx="937341" cy="646786"/>
          </a:xfrm>
          <a:prstGeom prst="rect">
            <a:avLst/>
          </a:prstGeom>
        </p:spPr>
      </p:pic>
      <p:sp>
        <p:nvSpPr>
          <p:cNvPr id="5" name="Title 1">
            <a:extLst>
              <a:ext uri="{FF2B5EF4-FFF2-40B4-BE49-F238E27FC236}">
                <a16:creationId xmlns:a16="http://schemas.microsoft.com/office/drawing/2014/main" id="{E4593C6E-1E06-4697-B1EE-90CE68ABF96B}"/>
              </a:ext>
            </a:extLst>
          </p:cNvPr>
          <p:cNvSpPr txBox="1">
            <a:spLocks/>
          </p:cNvSpPr>
          <p:nvPr/>
        </p:nvSpPr>
        <p:spPr>
          <a:xfrm>
            <a:off x="1447800" y="211125"/>
            <a:ext cx="10287000" cy="5320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7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3600" b="1" dirty="0">
                <a:solidFill>
                  <a:prstClr val="black"/>
                </a:solidFill>
                <a:highlight>
                  <a:srgbClr val="FFFF00"/>
                </a:highlight>
              </a:rPr>
              <a:t>Example of Multiple Catch </a:t>
            </a:r>
            <a:r>
              <a:rPr lang="en-US" sz="3600" b="1">
                <a:solidFill>
                  <a:prstClr val="black"/>
                </a:solidFill>
                <a:highlight>
                  <a:srgbClr val="FFFF00"/>
                </a:highlight>
              </a:rPr>
              <a:t>Blocks with Finally </a:t>
            </a:r>
            <a:endParaRPr lang="en-US" sz="3600" dirty="0">
              <a:solidFill>
                <a:prstClr val="black"/>
              </a:solidFill>
              <a:highlight>
                <a:srgbClr val="FFFF00"/>
              </a:highlight>
            </a:endParaRPr>
          </a:p>
        </p:txBody>
      </p:sp>
      <p:sp>
        <p:nvSpPr>
          <p:cNvPr id="6" name="Rectangle 5"/>
          <p:cNvSpPr/>
          <p:nvPr/>
        </p:nvSpPr>
        <p:spPr>
          <a:xfrm>
            <a:off x="369529" y="914400"/>
            <a:ext cx="11365271" cy="578984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numCol="2" rtlCol="0" anchor="ctr"/>
          <a:lstStyle/>
          <a:p>
            <a:pPr>
              <a:defRPr/>
            </a:pPr>
            <a:r>
              <a:rPr lang="en-US" sz="2000" dirty="0">
                <a:solidFill>
                  <a:prstClr val="black"/>
                </a:solidFill>
              </a:rPr>
              <a:t>class </a:t>
            </a:r>
            <a:r>
              <a:rPr lang="en-US" sz="2000" dirty="0" err="1">
                <a:solidFill>
                  <a:prstClr val="black"/>
                </a:solidFill>
              </a:rPr>
              <a:t>MyClass</a:t>
            </a:r>
            <a:endParaRPr lang="en-US" sz="2000" dirty="0">
              <a:solidFill>
                <a:prstClr val="black"/>
              </a:solidFill>
            </a:endParaRPr>
          </a:p>
          <a:p>
            <a:pPr>
              <a:defRPr/>
            </a:pPr>
            <a:r>
              <a:rPr lang="en-US" sz="2000" dirty="0">
                <a:solidFill>
                  <a:prstClr val="black"/>
                </a:solidFill>
              </a:rPr>
              <a:t>{</a:t>
            </a:r>
          </a:p>
          <a:p>
            <a:pPr>
              <a:defRPr/>
            </a:pPr>
            <a:r>
              <a:rPr lang="en-US" sz="2000" dirty="0">
                <a:solidFill>
                  <a:prstClr val="black"/>
                </a:solidFill>
              </a:rPr>
              <a:t>    public static void main (String </a:t>
            </a:r>
            <a:r>
              <a:rPr lang="en-US" sz="2000" dirty="0" err="1">
                <a:solidFill>
                  <a:prstClr val="black"/>
                </a:solidFill>
              </a:rPr>
              <a:t>args</a:t>
            </a:r>
            <a:r>
              <a:rPr lang="en-US" sz="2000" dirty="0">
                <a:solidFill>
                  <a:prstClr val="black"/>
                </a:solidFill>
              </a:rPr>
              <a:t> [])</a:t>
            </a:r>
          </a:p>
          <a:p>
            <a:pPr>
              <a:defRPr/>
            </a:pPr>
            <a:r>
              <a:rPr lang="en-US" sz="2000" dirty="0">
                <a:solidFill>
                  <a:prstClr val="black"/>
                </a:solidFill>
              </a:rPr>
              <a:t>  {</a:t>
            </a:r>
          </a:p>
          <a:p>
            <a:pPr>
              <a:defRPr/>
            </a:pPr>
            <a:r>
              <a:rPr lang="en-US" sz="2000" dirty="0">
                <a:solidFill>
                  <a:prstClr val="black"/>
                </a:solidFill>
              </a:rPr>
              <a:t>      </a:t>
            </a:r>
            <a:r>
              <a:rPr lang="en-US" sz="2000" dirty="0" err="1">
                <a:solidFill>
                  <a:prstClr val="black"/>
                </a:solidFill>
              </a:rPr>
              <a:t>int</a:t>
            </a:r>
            <a:r>
              <a:rPr lang="en-US" sz="2000" dirty="0">
                <a:solidFill>
                  <a:prstClr val="black"/>
                </a:solidFill>
              </a:rPr>
              <a:t> a[] = {5,10};</a:t>
            </a:r>
          </a:p>
          <a:p>
            <a:pPr>
              <a:defRPr/>
            </a:pPr>
            <a:r>
              <a:rPr lang="en-US" sz="2000" dirty="0">
                <a:solidFill>
                  <a:prstClr val="black"/>
                </a:solidFill>
              </a:rPr>
              <a:t>      </a:t>
            </a:r>
            <a:r>
              <a:rPr lang="en-US" sz="2000" dirty="0" err="1">
                <a:solidFill>
                  <a:prstClr val="black"/>
                </a:solidFill>
              </a:rPr>
              <a:t>int</a:t>
            </a:r>
            <a:r>
              <a:rPr lang="en-US" sz="2000" dirty="0">
                <a:solidFill>
                  <a:prstClr val="black"/>
                </a:solidFill>
              </a:rPr>
              <a:t> b=5;</a:t>
            </a:r>
          </a:p>
          <a:p>
            <a:pPr>
              <a:defRPr/>
            </a:pPr>
            <a:r>
              <a:rPr lang="en-US" sz="2000" dirty="0">
                <a:solidFill>
                  <a:prstClr val="black"/>
                </a:solidFill>
                <a:highlight>
                  <a:srgbClr val="FFFF00"/>
                </a:highlight>
              </a:rPr>
              <a:t>       try</a:t>
            </a:r>
          </a:p>
          <a:p>
            <a:pPr>
              <a:defRPr/>
            </a:pPr>
            <a:r>
              <a:rPr lang="en-US" sz="2000" dirty="0">
                <a:solidFill>
                  <a:prstClr val="black"/>
                </a:solidFill>
                <a:highlight>
                  <a:srgbClr val="FFFF00"/>
                </a:highlight>
              </a:rPr>
              <a:t>       {  </a:t>
            </a:r>
          </a:p>
          <a:p>
            <a:pPr>
              <a:defRPr/>
            </a:pPr>
            <a:r>
              <a:rPr lang="en-US" sz="2000" dirty="0">
                <a:solidFill>
                  <a:prstClr val="black"/>
                </a:solidFill>
              </a:rPr>
              <a:t>          </a:t>
            </a:r>
            <a:r>
              <a:rPr lang="en-US" sz="2000" dirty="0" err="1">
                <a:solidFill>
                  <a:prstClr val="black"/>
                </a:solidFill>
              </a:rPr>
              <a:t>int</a:t>
            </a:r>
            <a:r>
              <a:rPr lang="en-US" sz="2000" dirty="0">
                <a:solidFill>
                  <a:prstClr val="black"/>
                </a:solidFill>
              </a:rPr>
              <a:t> x=a[2]/b – a[1];</a:t>
            </a:r>
          </a:p>
          <a:p>
            <a:pPr>
              <a:defRPr/>
            </a:pPr>
            <a:r>
              <a:rPr lang="en-US" sz="2000" dirty="0">
                <a:solidFill>
                  <a:prstClr val="black"/>
                </a:solidFill>
                <a:highlight>
                  <a:srgbClr val="FFFF00"/>
                </a:highlight>
              </a:rPr>
              <a:t>        }</a:t>
            </a:r>
          </a:p>
          <a:p>
            <a:pPr>
              <a:defRPr/>
            </a:pPr>
            <a:r>
              <a:rPr lang="en-US" sz="2000" dirty="0">
                <a:solidFill>
                  <a:prstClr val="black"/>
                </a:solidFill>
              </a:rPr>
              <a:t>     </a:t>
            </a:r>
            <a:r>
              <a:rPr lang="en-US" sz="2000" dirty="0">
                <a:solidFill>
                  <a:prstClr val="black"/>
                </a:solidFill>
                <a:highlight>
                  <a:srgbClr val="FFFF00"/>
                </a:highlight>
              </a:rPr>
              <a:t>catch(ArithmeticException e)</a:t>
            </a:r>
          </a:p>
          <a:p>
            <a:pPr>
              <a:defRPr/>
            </a:pPr>
            <a:r>
              <a:rPr lang="en-US" sz="2000" dirty="0">
                <a:solidFill>
                  <a:prstClr val="black"/>
                </a:solidFill>
              </a:rPr>
              <a:t>     </a:t>
            </a:r>
            <a:r>
              <a:rPr lang="en-US" sz="2000" dirty="0">
                <a:solidFill>
                  <a:prstClr val="black"/>
                </a:solidFill>
                <a:highlight>
                  <a:srgbClr val="FFFF00"/>
                </a:highlight>
              </a:rPr>
              <a:t>{</a:t>
            </a:r>
          </a:p>
          <a:p>
            <a:pPr>
              <a:defRPr/>
            </a:pPr>
            <a:r>
              <a:rPr lang="en-US" sz="2000" dirty="0">
                <a:solidFill>
                  <a:prstClr val="black"/>
                </a:solidFill>
                <a:highlight>
                  <a:srgbClr val="FFFF00"/>
                </a:highlight>
              </a:rPr>
              <a:t>      </a:t>
            </a:r>
            <a:r>
              <a:rPr lang="en-US" sz="2000" dirty="0" err="1">
                <a:solidFill>
                  <a:prstClr val="black"/>
                </a:solidFill>
                <a:highlight>
                  <a:srgbClr val="FFFF00"/>
                </a:highlight>
              </a:rPr>
              <a:t>System.outprintln</a:t>
            </a:r>
            <a:r>
              <a:rPr lang="en-US" sz="2000" dirty="0">
                <a:solidFill>
                  <a:prstClr val="black"/>
                </a:solidFill>
                <a:highlight>
                  <a:srgbClr val="FFFF00"/>
                </a:highlight>
              </a:rPr>
              <a:t>(“Division by zero”);</a:t>
            </a:r>
          </a:p>
          <a:p>
            <a:pPr>
              <a:defRPr/>
            </a:pPr>
            <a:r>
              <a:rPr lang="en-US" sz="2000" dirty="0">
                <a:solidFill>
                  <a:prstClr val="black"/>
                </a:solidFill>
                <a:highlight>
                  <a:srgbClr val="FFFF00"/>
                </a:highlight>
              </a:rPr>
              <a:t>      }</a:t>
            </a:r>
          </a:p>
          <a:p>
            <a:pPr>
              <a:defRPr/>
            </a:pPr>
            <a:r>
              <a:rPr lang="en-US" sz="2000" dirty="0">
                <a:solidFill>
                  <a:prstClr val="black"/>
                </a:solidFill>
                <a:highlight>
                  <a:srgbClr val="FFFF00"/>
                </a:highlight>
              </a:rPr>
              <a:t>      </a:t>
            </a:r>
            <a:r>
              <a:rPr lang="en-US" sz="2000" dirty="0">
                <a:solidFill>
                  <a:prstClr val="black"/>
                </a:solidFill>
                <a:highlight>
                  <a:srgbClr val="00FF00"/>
                </a:highlight>
              </a:rPr>
              <a:t>catch (</a:t>
            </a:r>
            <a:r>
              <a:rPr lang="en-US" sz="2000" dirty="0" err="1">
                <a:solidFill>
                  <a:prstClr val="black"/>
                </a:solidFill>
                <a:highlight>
                  <a:srgbClr val="00FF00"/>
                </a:highlight>
              </a:rPr>
              <a:t>ArrayIndexOutOfBoundsException</a:t>
            </a:r>
            <a:r>
              <a:rPr lang="en-US" sz="2000" dirty="0">
                <a:solidFill>
                  <a:prstClr val="black"/>
                </a:solidFill>
                <a:highlight>
                  <a:srgbClr val="00FF00"/>
                </a:highlight>
              </a:rPr>
              <a:t> e)</a:t>
            </a:r>
          </a:p>
          <a:p>
            <a:pPr>
              <a:defRPr/>
            </a:pPr>
            <a:r>
              <a:rPr lang="en-US" sz="2000" dirty="0">
                <a:solidFill>
                  <a:prstClr val="black"/>
                </a:solidFill>
                <a:highlight>
                  <a:srgbClr val="00FF00"/>
                </a:highlight>
              </a:rPr>
              <a:t>      {</a:t>
            </a:r>
          </a:p>
          <a:p>
            <a:pPr>
              <a:defRPr/>
            </a:pPr>
            <a:r>
              <a:rPr lang="en-US" sz="2000" dirty="0">
                <a:solidFill>
                  <a:prstClr val="black"/>
                </a:solidFill>
                <a:highlight>
                  <a:srgbClr val="00FF00"/>
                </a:highlight>
              </a:rPr>
              <a:t>          </a:t>
            </a:r>
            <a:r>
              <a:rPr lang="en-US" sz="2000" dirty="0" err="1">
                <a:solidFill>
                  <a:prstClr val="black"/>
                </a:solidFill>
                <a:highlight>
                  <a:srgbClr val="00FF00"/>
                </a:highlight>
              </a:rPr>
              <a:t>System.out.println</a:t>
            </a:r>
            <a:r>
              <a:rPr lang="en-US" sz="2000" dirty="0">
                <a:solidFill>
                  <a:prstClr val="black"/>
                </a:solidFill>
                <a:highlight>
                  <a:srgbClr val="00FF00"/>
                </a:highlight>
              </a:rPr>
              <a:t>(“Array Index Error”);</a:t>
            </a:r>
          </a:p>
          <a:p>
            <a:pPr>
              <a:defRPr/>
            </a:pPr>
            <a:r>
              <a:rPr lang="en-US" sz="2000" dirty="0">
                <a:solidFill>
                  <a:prstClr val="black"/>
                </a:solidFill>
                <a:highlight>
                  <a:srgbClr val="00FF00"/>
                </a:highlight>
              </a:rPr>
              <a:t>       }</a:t>
            </a:r>
          </a:p>
          <a:p>
            <a:pPr>
              <a:defRPr/>
            </a:pPr>
            <a:r>
              <a:rPr lang="en-US" sz="2000" dirty="0">
                <a:solidFill>
                  <a:prstClr val="black"/>
                </a:solidFill>
                <a:highlight>
                  <a:srgbClr val="00FF00"/>
                </a:highlight>
              </a:rPr>
              <a:t>    catch(</a:t>
            </a:r>
            <a:r>
              <a:rPr lang="en-US" sz="2000" dirty="0" err="1">
                <a:solidFill>
                  <a:prstClr val="black"/>
                </a:solidFill>
                <a:highlight>
                  <a:srgbClr val="00FF00"/>
                </a:highlight>
              </a:rPr>
              <a:t>ArrayStoreException</a:t>
            </a:r>
            <a:r>
              <a:rPr lang="en-US" sz="2000" dirty="0">
                <a:solidFill>
                  <a:prstClr val="black"/>
                </a:solidFill>
                <a:highlight>
                  <a:srgbClr val="00FF00"/>
                </a:highlight>
              </a:rPr>
              <a:t> e)</a:t>
            </a:r>
          </a:p>
          <a:p>
            <a:pPr>
              <a:defRPr/>
            </a:pPr>
            <a:r>
              <a:rPr lang="en-US" sz="2000" dirty="0">
                <a:solidFill>
                  <a:prstClr val="black"/>
                </a:solidFill>
                <a:highlight>
                  <a:srgbClr val="00FF00"/>
                </a:highlight>
              </a:rPr>
              <a:t>     {</a:t>
            </a:r>
          </a:p>
          <a:p>
            <a:pPr>
              <a:defRPr/>
            </a:pPr>
            <a:r>
              <a:rPr lang="en-US" sz="2000" dirty="0">
                <a:solidFill>
                  <a:prstClr val="black"/>
                </a:solidFill>
                <a:highlight>
                  <a:srgbClr val="00FF00"/>
                </a:highlight>
              </a:rPr>
              <a:t>           </a:t>
            </a:r>
            <a:r>
              <a:rPr lang="en-US" sz="2000" dirty="0" err="1">
                <a:solidFill>
                  <a:prstClr val="black"/>
                </a:solidFill>
                <a:highlight>
                  <a:srgbClr val="00FF00"/>
                </a:highlight>
              </a:rPr>
              <a:t>System.out.println</a:t>
            </a:r>
            <a:r>
              <a:rPr lang="en-US" sz="2000" dirty="0">
                <a:solidFill>
                  <a:prstClr val="black"/>
                </a:solidFill>
                <a:highlight>
                  <a:srgbClr val="00FF00"/>
                </a:highlight>
              </a:rPr>
              <a:t>(“Array Index Error”);</a:t>
            </a:r>
          </a:p>
          <a:p>
            <a:pPr>
              <a:defRPr/>
            </a:pPr>
            <a:r>
              <a:rPr lang="en-US" sz="2000" dirty="0">
                <a:solidFill>
                  <a:prstClr val="black"/>
                </a:solidFill>
                <a:highlight>
                  <a:srgbClr val="00FF00"/>
                </a:highlight>
              </a:rPr>
              <a:t>      }</a:t>
            </a:r>
          </a:p>
          <a:p>
            <a:pPr>
              <a:defRPr/>
            </a:pPr>
            <a:r>
              <a:rPr lang="en-US" sz="2000" dirty="0">
                <a:solidFill>
                  <a:prstClr val="black"/>
                </a:solidFill>
                <a:highlight>
                  <a:srgbClr val="00FF00"/>
                </a:highlight>
              </a:rPr>
              <a:t>      catch(</a:t>
            </a:r>
            <a:r>
              <a:rPr lang="en-US" sz="2000" dirty="0" err="1">
                <a:solidFill>
                  <a:prstClr val="black"/>
                </a:solidFill>
                <a:highlight>
                  <a:srgbClr val="00FF00"/>
                </a:highlight>
              </a:rPr>
              <a:t>ArrayStoreException</a:t>
            </a:r>
            <a:r>
              <a:rPr lang="en-US" sz="2000" dirty="0">
                <a:solidFill>
                  <a:prstClr val="black"/>
                </a:solidFill>
                <a:highlight>
                  <a:srgbClr val="00FF00"/>
                </a:highlight>
              </a:rPr>
              <a:t> e)</a:t>
            </a:r>
          </a:p>
          <a:p>
            <a:pPr>
              <a:defRPr/>
            </a:pPr>
            <a:r>
              <a:rPr lang="en-US" sz="2000" dirty="0">
                <a:solidFill>
                  <a:prstClr val="black"/>
                </a:solidFill>
                <a:highlight>
                  <a:srgbClr val="00FF00"/>
                </a:highlight>
              </a:rPr>
              <a:t>       {</a:t>
            </a:r>
          </a:p>
          <a:p>
            <a:pPr>
              <a:defRPr/>
            </a:pPr>
            <a:r>
              <a:rPr lang="en-US" sz="2000" dirty="0">
                <a:solidFill>
                  <a:prstClr val="black"/>
                </a:solidFill>
                <a:highlight>
                  <a:srgbClr val="00FF00"/>
                </a:highlight>
              </a:rPr>
              <a:t>            </a:t>
            </a:r>
            <a:r>
              <a:rPr lang="en-US" sz="2000" dirty="0" err="1">
                <a:solidFill>
                  <a:prstClr val="black"/>
                </a:solidFill>
                <a:highlight>
                  <a:srgbClr val="00FF00"/>
                </a:highlight>
              </a:rPr>
              <a:t>System.out.println</a:t>
            </a:r>
            <a:r>
              <a:rPr lang="en-US" sz="2000" dirty="0">
                <a:solidFill>
                  <a:prstClr val="black"/>
                </a:solidFill>
                <a:highlight>
                  <a:srgbClr val="00FF00"/>
                </a:highlight>
              </a:rPr>
              <a:t>(“Wrong  Data Type”);</a:t>
            </a:r>
            <a:endParaRPr lang="en-US" sz="2000" dirty="0">
              <a:solidFill>
                <a:prstClr val="black"/>
              </a:solidFill>
              <a:highlight>
                <a:srgbClr val="FFFF00"/>
              </a:highlight>
            </a:endParaRPr>
          </a:p>
          <a:p>
            <a:pPr>
              <a:defRPr/>
            </a:pPr>
            <a:r>
              <a:rPr lang="en-US" sz="2000" dirty="0">
                <a:solidFill>
                  <a:prstClr val="black"/>
                </a:solidFill>
                <a:highlight>
                  <a:srgbClr val="00FF00"/>
                </a:highlight>
              </a:rPr>
              <a:t>        } </a:t>
            </a:r>
          </a:p>
          <a:p>
            <a:pPr>
              <a:defRPr/>
            </a:pPr>
            <a:r>
              <a:rPr lang="en-US" sz="2000" dirty="0">
                <a:solidFill>
                  <a:prstClr val="black"/>
                </a:solidFill>
              </a:rPr>
              <a:t>      finally</a:t>
            </a:r>
          </a:p>
          <a:p>
            <a:pPr>
              <a:defRPr/>
            </a:pPr>
            <a:r>
              <a:rPr lang="en-US" sz="2000" dirty="0">
                <a:solidFill>
                  <a:prstClr val="black"/>
                </a:solidFill>
              </a:rPr>
              <a:t>      {     int y=a[1]/a[0];</a:t>
            </a:r>
          </a:p>
          <a:p>
            <a:pPr>
              <a:defRPr/>
            </a:pPr>
            <a:r>
              <a:rPr lang="en-US" sz="2000" dirty="0">
                <a:solidFill>
                  <a:prstClr val="black"/>
                </a:solidFill>
              </a:rPr>
              <a:t>             </a:t>
            </a:r>
            <a:r>
              <a:rPr lang="en-US" sz="2000" dirty="0" err="1">
                <a:solidFill>
                  <a:prstClr val="black"/>
                </a:solidFill>
              </a:rPr>
              <a:t>System.out.println</a:t>
            </a:r>
            <a:r>
              <a:rPr lang="en-US" sz="2000" dirty="0">
                <a:solidFill>
                  <a:prstClr val="black"/>
                </a:solidFill>
              </a:rPr>
              <a:t>(“y=”+y);</a:t>
            </a:r>
          </a:p>
          <a:p>
            <a:pPr>
              <a:defRPr/>
            </a:pPr>
            <a:r>
              <a:rPr lang="en-US" sz="2000" dirty="0">
                <a:solidFill>
                  <a:prstClr val="black"/>
                </a:solidFill>
              </a:rPr>
              <a:t>       }</a:t>
            </a:r>
          </a:p>
          <a:p>
            <a:pPr>
              <a:defRPr/>
            </a:pPr>
            <a:r>
              <a:rPr lang="en-US" sz="2000" dirty="0">
                <a:solidFill>
                  <a:prstClr val="black"/>
                </a:solidFill>
              </a:rPr>
              <a:t>}</a:t>
            </a:r>
          </a:p>
        </p:txBody>
      </p:sp>
      <p:sp>
        <p:nvSpPr>
          <p:cNvPr id="8" name="Rectangle 7">
            <a:extLst>
              <a:ext uri="{FF2B5EF4-FFF2-40B4-BE49-F238E27FC236}">
                <a16:creationId xmlns:a16="http://schemas.microsoft.com/office/drawing/2014/main" id="{90615DF3-64C0-43CC-8797-6CECC52A8296}"/>
              </a:ext>
            </a:extLst>
          </p:cNvPr>
          <p:cNvSpPr/>
          <p:nvPr/>
        </p:nvSpPr>
        <p:spPr>
          <a:xfrm>
            <a:off x="5791200" y="5105400"/>
            <a:ext cx="3200400" cy="152264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dirty="0">
              <a:solidFill>
                <a:prstClr val="black"/>
              </a:solidFill>
            </a:endParaRPr>
          </a:p>
          <a:p>
            <a:pPr algn="ctr">
              <a:defRPr/>
            </a:pPr>
            <a:endParaRPr lang="en-US" sz="2000" dirty="0">
              <a:solidFill>
                <a:prstClr val="black"/>
              </a:solidFill>
            </a:endParaRPr>
          </a:p>
          <a:p>
            <a:pPr algn="ctr">
              <a:defRPr/>
            </a:pPr>
            <a:r>
              <a:rPr lang="en-US" sz="2000" dirty="0">
                <a:solidFill>
                  <a:prstClr val="black"/>
                </a:solidFill>
              </a:rPr>
              <a:t>Output:-</a:t>
            </a:r>
          </a:p>
          <a:p>
            <a:pPr algn="ctr">
              <a:defRPr/>
            </a:pPr>
            <a:r>
              <a:rPr lang="en-US" sz="2000" dirty="0">
                <a:solidFill>
                  <a:prstClr val="black"/>
                </a:solidFill>
                <a:highlight>
                  <a:srgbClr val="FF00FF"/>
                </a:highlight>
              </a:rPr>
              <a:t>Array Index Error</a:t>
            </a:r>
          </a:p>
          <a:p>
            <a:pPr algn="ctr"/>
            <a:r>
              <a:rPr lang="en-US" sz="2000" dirty="0">
                <a:solidFill>
                  <a:prstClr val="black"/>
                </a:solidFill>
                <a:highlight>
                  <a:srgbClr val="FF00FF"/>
                </a:highlight>
              </a:rPr>
              <a:t>y =2</a:t>
            </a:r>
          </a:p>
          <a:p>
            <a:pPr algn="ctr">
              <a:defRPr/>
            </a:pPr>
            <a:endParaRPr lang="en-US" sz="2000" dirty="0">
              <a:solidFill>
                <a:prstClr val="black"/>
              </a:solidFill>
              <a:highlight>
                <a:srgbClr val="00FF00"/>
              </a:highlight>
            </a:endParaRPr>
          </a:p>
        </p:txBody>
      </p:sp>
    </p:spTree>
    <p:extLst>
      <p:ext uri="{BB962C8B-B14F-4D97-AF65-F5344CB8AC3E}">
        <p14:creationId xmlns:p14="http://schemas.microsoft.com/office/powerpoint/2010/main" val="3632416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3400" y="1295400"/>
            <a:ext cx="10668000" cy="2133600"/>
          </a:xfrm>
        </p:spPr>
        <p:style>
          <a:lnRef idx="2">
            <a:schemeClr val="dk1"/>
          </a:lnRef>
          <a:fillRef idx="1">
            <a:schemeClr val="lt1"/>
          </a:fillRef>
          <a:effectRef idx="0">
            <a:schemeClr val="dk1"/>
          </a:effectRef>
          <a:fontRef idx="minor">
            <a:schemeClr val="dk1"/>
          </a:fontRef>
        </p:style>
        <p:txBody>
          <a:bodyPr>
            <a:normAutofit/>
          </a:bodyPr>
          <a:lstStyle/>
          <a:p>
            <a:pPr lvl="0" algn="just"/>
            <a:endParaRPr lang="en-US" sz="2000" dirty="0">
              <a:highlight>
                <a:srgbClr val="FFFF00"/>
              </a:highlight>
              <a:latin typeface="Comic Sans MS" pitchFamily="66" charset="0"/>
            </a:endParaRPr>
          </a:p>
          <a:p>
            <a:pPr lvl="0" algn="just"/>
            <a:r>
              <a:rPr lang="en-US" sz="2000" dirty="0">
                <a:effectLst/>
                <a:highlight>
                  <a:srgbClr val="FFFF00"/>
                </a:highlight>
                <a:latin typeface="Comic Sans MS" panose="030F0702030302020204" pitchFamily="66" charset="0"/>
                <a:ea typeface="Times New Roman" panose="02020603050405020304" pitchFamily="18" charset="0"/>
                <a:cs typeface="Times New Roman" panose="02020603050405020304" pitchFamily="18" charset="0"/>
              </a:rPr>
              <a:t>Implement the exception handling using try and catch statements to solve runtime errors</a:t>
            </a: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a:t>
            </a:r>
            <a:endParaRPr lang="en-US" sz="2000" dirty="0">
              <a:highlight>
                <a:srgbClr val="FFFF00"/>
              </a:highlight>
              <a:latin typeface="Comic Sans MS" pitchFamily="66" charset="0"/>
            </a:endParaRPr>
          </a:p>
          <a:p>
            <a:pPr lvl="0" algn="just"/>
            <a:r>
              <a:rPr lang="en-US" sz="2000" dirty="0">
                <a:highlight>
                  <a:srgbClr val="FFFF00"/>
                </a:highlight>
                <a:latin typeface="Comic Sans MS" pitchFamily="66" charset="0"/>
              </a:rPr>
              <a:t>Assignment Deadline :- </a:t>
            </a:r>
          </a:p>
          <a:p>
            <a:pPr algn="just">
              <a:buNone/>
            </a:pPr>
            <a:endParaRPr lang="en-US" sz="2000" dirty="0">
              <a:latin typeface="Comic Sans MS" pitchFamily="66" charset="0"/>
            </a:endParaRPr>
          </a:p>
        </p:txBody>
      </p:sp>
      <p:pic>
        <p:nvPicPr>
          <p:cNvPr id="9" name="Picture 8">
            <a:extLst>
              <a:ext uri="{FF2B5EF4-FFF2-40B4-BE49-F238E27FC236}">
                <a16:creationId xmlns:a16="http://schemas.microsoft.com/office/drawing/2014/main" id="{482C9401-F65F-48D7-98B5-AF377FB28D6F}"/>
              </a:ext>
            </a:extLst>
          </p:cNvPr>
          <p:cNvPicPr>
            <a:picLocks noChangeAspect="1"/>
          </p:cNvPicPr>
          <p:nvPr/>
        </p:nvPicPr>
        <p:blipFill>
          <a:blip r:embed="rId2"/>
          <a:stretch>
            <a:fillRect/>
          </a:stretch>
        </p:blipFill>
        <p:spPr>
          <a:xfrm>
            <a:off x="381000" y="161361"/>
            <a:ext cx="937341" cy="646786"/>
          </a:xfrm>
          <a:prstGeom prst="rect">
            <a:avLst/>
          </a:prstGeom>
        </p:spPr>
      </p:pic>
      <p:sp>
        <p:nvSpPr>
          <p:cNvPr id="10" name="Title 1">
            <a:extLst>
              <a:ext uri="{FF2B5EF4-FFF2-40B4-BE49-F238E27FC236}">
                <a16:creationId xmlns:a16="http://schemas.microsoft.com/office/drawing/2014/main" id="{DF8FA20B-2DC3-4081-A7A5-16D80A32F67B}"/>
              </a:ext>
            </a:extLst>
          </p:cNvPr>
          <p:cNvSpPr txBox="1">
            <a:spLocks/>
          </p:cNvSpPr>
          <p:nvPr/>
        </p:nvSpPr>
        <p:spPr>
          <a:xfrm>
            <a:off x="1539551" y="161361"/>
            <a:ext cx="10287000" cy="646786"/>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lnSpcReduction="1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600" dirty="0">
                <a:solidFill>
                  <a:schemeClr val="tx1"/>
                </a:solidFill>
              </a:rPr>
              <a:t>Unit No.5, Part I Assignment No.9 </a:t>
            </a:r>
            <a:endParaRPr lang="en-US" sz="3600" dirty="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6384F-4873-4FB5-846B-CD0260638789}"/>
              </a:ext>
            </a:extLst>
          </p:cNvPr>
          <p:cNvSpPr>
            <a:spLocks noGrp="1"/>
          </p:cNvSpPr>
          <p:nvPr>
            <p:ph type="title"/>
          </p:nvPr>
        </p:nvSpPr>
        <p:spPr/>
        <p:txBody>
          <a:bodyPr/>
          <a:lstStyle/>
          <a:p>
            <a:endParaRPr lang="en-IN"/>
          </a:p>
        </p:txBody>
      </p:sp>
      <p:sp>
        <p:nvSpPr>
          <p:cNvPr id="4" name="Title 1">
            <a:extLst>
              <a:ext uri="{FF2B5EF4-FFF2-40B4-BE49-F238E27FC236}">
                <a16:creationId xmlns:a16="http://schemas.microsoft.com/office/drawing/2014/main" id="{2CFFB715-AA38-4F37-8FA3-490872AD7183}"/>
              </a:ext>
            </a:extLst>
          </p:cNvPr>
          <p:cNvSpPr txBox="1">
            <a:spLocks/>
          </p:cNvSpPr>
          <p:nvPr/>
        </p:nvSpPr>
        <p:spPr>
          <a:xfrm>
            <a:off x="1219200" y="1828800"/>
            <a:ext cx="10363200" cy="1447800"/>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dk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dk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dk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dk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dk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dk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dk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dk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580"/>
              </a:spcBef>
              <a:spcAft>
                <a:spcPts val="0"/>
              </a:spcAft>
              <a:buClr>
                <a:srgbClr val="D34817"/>
              </a:buClr>
              <a:buSzPct val="85000"/>
              <a:buFont typeface="Wingdings 2"/>
              <a:buNone/>
              <a:tabLst/>
              <a:defRPr/>
            </a:pPr>
            <a:r>
              <a:rPr kumimoji="0" lang="en-US" sz="4000" b="1" i="0" u="none" strike="noStrike" kern="1200" cap="none" spc="0" normalizeH="0" baseline="0" noProof="0" dirty="0">
                <a:ln>
                  <a:noFill/>
                </a:ln>
                <a:solidFill>
                  <a:prstClr val="black"/>
                </a:solidFill>
                <a:effectLst/>
                <a:uLnTx/>
                <a:uFillTx/>
                <a:latin typeface="Perpetua"/>
                <a:ea typeface="+mn-ea"/>
                <a:cs typeface="+mn-cs"/>
              </a:rPr>
              <a:t>UNIT :- V</a:t>
            </a:r>
          </a:p>
          <a:p>
            <a:pPr marL="0" marR="0" lvl="0" indent="0" algn="ctr" defTabSz="914400" rtl="0" eaLnBrk="1" fontAlgn="auto" latinLnBrk="0" hangingPunct="1">
              <a:lnSpc>
                <a:spcPct val="100000"/>
              </a:lnSpc>
              <a:spcBef>
                <a:spcPts val="580"/>
              </a:spcBef>
              <a:spcAft>
                <a:spcPts val="0"/>
              </a:spcAft>
              <a:buClr>
                <a:srgbClr val="D34817"/>
              </a:buClr>
              <a:buSzPct val="85000"/>
              <a:buFont typeface="Wingdings 2"/>
              <a:buNone/>
              <a:tabLst/>
              <a:defRPr/>
            </a:pPr>
            <a:r>
              <a:rPr kumimoji="0" lang="en-US" sz="4000" b="0" i="0" u="none" strike="noStrike" kern="1200" cap="none" spc="0" normalizeH="0" baseline="0" noProof="0" dirty="0">
                <a:ln>
                  <a:noFill/>
                </a:ln>
                <a:solidFill>
                  <a:prstClr val="black"/>
                </a:solidFill>
                <a:effectLst/>
                <a:highlight>
                  <a:srgbClr val="FFFF00"/>
                </a:highlight>
                <a:uLnTx/>
                <a:uFillTx/>
                <a:latin typeface="Perpetua"/>
                <a:ea typeface="+mn-ea"/>
                <a:cs typeface="+mn-cs"/>
              </a:rPr>
              <a:t>Exception Handling , Multithreading, Applet</a:t>
            </a:r>
          </a:p>
        </p:txBody>
      </p:sp>
      <p:sp>
        <p:nvSpPr>
          <p:cNvPr id="5" name="Title 1">
            <a:extLst>
              <a:ext uri="{FF2B5EF4-FFF2-40B4-BE49-F238E27FC236}">
                <a16:creationId xmlns:a16="http://schemas.microsoft.com/office/drawing/2014/main" id="{EF7909CC-FDA4-47A2-9674-600781EE9C5B}"/>
              </a:ext>
            </a:extLst>
          </p:cNvPr>
          <p:cNvSpPr txBox="1">
            <a:spLocks/>
          </p:cNvSpPr>
          <p:nvPr/>
        </p:nvSpPr>
        <p:spPr>
          <a:xfrm>
            <a:off x="3429000" y="448516"/>
            <a:ext cx="7002634" cy="715964"/>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vert="horz">
            <a:normAutofit fontScale="85000" lnSpcReduction="10000"/>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dk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dk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dk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dk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dk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dk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dk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dk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580"/>
              </a:spcBef>
              <a:spcAft>
                <a:spcPts val="0"/>
              </a:spcAft>
              <a:buClr>
                <a:srgbClr val="D34817"/>
              </a:buClr>
              <a:buSzPct val="85000"/>
              <a:buFont typeface="Wingdings 2"/>
              <a:buNone/>
              <a:tabLst/>
              <a:defRPr/>
            </a:pPr>
            <a:r>
              <a:rPr lang="en-US" sz="4000" b="1" dirty="0">
                <a:solidFill>
                  <a:prstClr val="black"/>
                </a:solidFill>
                <a:highlight>
                  <a:srgbClr val="66FFCC"/>
                </a:highlight>
                <a:latin typeface="Perpetua"/>
              </a:rPr>
              <a:t>Fundamental of JAVA Programming</a:t>
            </a:r>
            <a:r>
              <a:rPr kumimoji="0" lang="en-US" sz="4000" b="1" i="0" u="none" strike="noStrike" kern="1200" cap="none" spc="0" normalizeH="0" baseline="0" noProof="0" dirty="0">
                <a:ln>
                  <a:noFill/>
                </a:ln>
                <a:solidFill>
                  <a:prstClr val="black"/>
                </a:solidFill>
                <a:effectLst/>
                <a:highlight>
                  <a:srgbClr val="66FFCC"/>
                </a:highlight>
                <a:uLnTx/>
                <a:uFillTx/>
                <a:latin typeface="Perpetua"/>
                <a:ea typeface="+mn-ea"/>
                <a:cs typeface="+mn-cs"/>
              </a:rPr>
              <a:t> </a:t>
            </a:r>
            <a:endParaRPr kumimoji="0" lang="en-US" sz="4000" b="0" i="0" u="none" strike="noStrike" kern="1200" cap="none" spc="0" normalizeH="0" baseline="0" noProof="0" dirty="0">
              <a:ln>
                <a:noFill/>
              </a:ln>
              <a:solidFill>
                <a:prstClr val="black"/>
              </a:solidFill>
              <a:effectLst/>
              <a:highlight>
                <a:srgbClr val="66FFCC"/>
              </a:highlight>
              <a:uLnTx/>
              <a:uFillTx/>
              <a:latin typeface="Perpetua"/>
              <a:ea typeface="+mn-ea"/>
              <a:cs typeface="+mn-cs"/>
            </a:endParaRPr>
          </a:p>
        </p:txBody>
      </p:sp>
      <p:pic>
        <p:nvPicPr>
          <p:cNvPr id="6" name="Picture 5">
            <a:extLst>
              <a:ext uri="{FF2B5EF4-FFF2-40B4-BE49-F238E27FC236}">
                <a16:creationId xmlns:a16="http://schemas.microsoft.com/office/drawing/2014/main" id="{41DDF156-E00E-408F-8BE2-D0A0A0609E5E}"/>
              </a:ext>
            </a:extLst>
          </p:cNvPr>
          <p:cNvPicPr>
            <a:picLocks noChangeAspect="1"/>
          </p:cNvPicPr>
          <p:nvPr/>
        </p:nvPicPr>
        <p:blipFill>
          <a:blip r:embed="rId2"/>
          <a:stretch>
            <a:fillRect/>
          </a:stretch>
        </p:blipFill>
        <p:spPr>
          <a:xfrm>
            <a:off x="1447800" y="296409"/>
            <a:ext cx="1318341" cy="1280017"/>
          </a:xfrm>
          <a:prstGeom prst="rect">
            <a:avLst/>
          </a:prstGeom>
        </p:spPr>
      </p:pic>
      <p:sp>
        <p:nvSpPr>
          <p:cNvPr id="7" name="Title 1">
            <a:extLst>
              <a:ext uri="{FF2B5EF4-FFF2-40B4-BE49-F238E27FC236}">
                <a16:creationId xmlns:a16="http://schemas.microsoft.com/office/drawing/2014/main" id="{93CAA07E-9F97-4A1E-A431-30EEB5758AA3}"/>
              </a:ext>
            </a:extLst>
          </p:cNvPr>
          <p:cNvSpPr txBox="1">
            <a:spLocks noGrp="1"/>
          </p:cNvSpPr>
          <p:nvPr>
            <p:ph sz="quarter" idx="1"/>
          </p:nvPr>
        </p:nvSpPr>
        <p:spPr>
          <a:xfrm>
            <a:off x="1219200" y="4495800"/>
            <a:ext cx="10363200" cy="1524000"/>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dk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dk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dk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dk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dk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dk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dk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dk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dk1"/>
                </a:solidFill>
                <a:latin typeface="+mn-lt"/>
                <a:ea typeface="+mn-ea"/>
                <a:cs typeface="+mn-cs"/>
              </a:defRPr>
            </a:lvl9pPr>
          </a:lstStyle>
          <a:p>
            <a:pPr marL="0" indent="0" algn="ctr">
              <a:buFont typeface="Wingdings 2"/>
              <a:buNone/>
            </a:pPr>
            <a:r>
              <a:rPr lang="en-US" sz="4000" b="1" dirty="0"/>
              <a:t>Topic </a:t>
            </a:r>
          </a:p>
          <a:p>
            <a:pPr marL="0" indent="0" algn="ctr">
              <a:buFont typeface="Wingdings 2"/>
              <a:buNone/>
            </a:pPr>
            <a:r>
              <a:rPr lang="en-US" sz="4000" dirty="0">
                <a:highlight>
                  <a:srgbClr val="FFFF00"/>
                </a:highlight>
              </a:rPr>
              <a:t>Applet</a:t>
            </a:r>
          </a:p>
        </p:txBody>
      </p:sp>
    </p:spTree>
    <p:extLst>
      <p:ext uri="{BB962C8B-B14F-4D97-AF65-F5344CB8AC3E}">
        <p14:creationId xmlns:p14="http://schemas.microsoft.com/office/powerpoint/2010/main" val="23784678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074DDB-4596-4C04-92F8-2E089B2F2F05}"/>
              </a:ext>
            </a:extLst>
          </p:cNvPr>
          <p:cNvSpPr>
            <a:spLocks noGrp="1"/>
          </p:cNvSpPr>
          <p:nvPr>
            <p:ph sz="quarter" idx="1"/>
          </p:nvPr>
        </p:nvSpPr>
        <p:spPr>
          <a:xfrm>
            <a:off x="457200" y="990600"/>
            <a:ext cx="11125200" cy="5029200"/>
          </a:xfrm>
        </p:spPr>
        <p:style>
          <a:lnRef idx="2">
            <a:schemeClr val="accent1"/>
          </a:lnRef>
          <a:fillRef idx="1">
            <a:schemeClr val="lt1"/>
          </a:fillRef>
          <a:effectRef idx="0">
            <a:schemeClr val="accent1"/>
          </a:effectRef>
          <a:fontRef idx="minor">
            <a:schemeClr val="dk1"/>
          </a:fontRef>
        </p:style>
        <p:txBody>
          <a:bodyPr>
            <a:normAutofit lnSpcReduction="10000"/>
          </a:bodyPr>
          <a:lstStyle/>
          <a:p>
            <a:r>
              <a:rPr lang="en-IN" dirty="0"/>
              <a:t>Java Programs are available in </a:t>
            </a:r>
            <a:r>
              <a:rPr lang="en-IN" dirty="0">
                <a:highlight>
                  <a:srgbClr val="FFFF00"/>
                </a:highlight>
              </a:rPr>
              <a:t>two flavours</a:t>
            </a:r>
          </a:p>
          <a:p>
            <a:r>
              <a:rPr lang="en-IN" dirty="0">
                <a:highlight>
                  <a:srgbClr val="00FFFF"/>
                </a:highlight>
              </a:rPr>
              <a:t>Application :- </a:t>
            </a:r>
            <a:r>
              <a:rPr lang="en-IN" dirty="0"/>
              <a:t>It is similar to all other kind of programs like in C , C++ etc. to solve a real time problem</a:t>
            </a:r>
          </a:p>
          <a:p>
            <a:r>
              <a:rPr lang="en-IN" dirty="0">
                <a:highlight>
                  <a:srgbClr val="00FFFF"/>
                </a:highlight>
              </a:rPr>
              <a:t>Applet :- </a:t>
            </a:r>
            <a:r>
              <a:rPr lang="en-IN" dirty="0"/>
              <a:t>Applet is </a:t>
            </a:r>
            <a:r>
              <a:rPr lang="en-IN" dirty="0">
                <a:highlight>
                  <a:srgbClr val="FFFF00"/>
                </a:highlight>
              </a:rPr>
              <a:t>small Java programs that performs specific task and primarily used in internet computing </a:t>
            </a:r>
          </a:p>
          <a:p>
            <a:r>
              <a:rPr lang="en-IN" dirty="0"/>
              <a:t>They can be </a:t>
            </a:r>
            <a:r>
              <a:rPr lang="en-IN" dirty="0">
                <a:highlight>
                  <a:srgbClr val="FFFF00"/>
                </a:highlight>
              </a:rPr>
              <a:t>transported over the Internet from one computer to another and run using the Applet viewer or any web browser that supports Java. </a:t>
            </a:r>
          </a:p>
          <a:p>
            <a:r>
              <a:rPr lang="en-IN" dirty="0"/>
              <a:t>An applet , like any application program, can do many things for us. </a:t>
            </a:r>
            <a:r>
              <a:rPr lang="en-IN" dirty="0">
                <a:highlight>
                  <a:srgbClr val="FFFF00"/>
                </a:highlight>
              </a:rPr>
              <a:t>It can perform arithmetic operations, display graphics, play sounds, accept user input, create animation and play interactive games.</a:t>
            </a:r>
          </a:p>
          <a:p>
            <a:r>
              <a:rPr lang="en-IN" dirty="0"/>
              <a:t>A web page can now contain </a:t>
            </a:r>
            <a:r>
              <a:rPr lang="en-IN" dirty="0">
                <a:highlight>
                  <a:srgbClr val="FFFF00"/>
                </a:highlight>
              </a:rPr>
              <a:t>not only a simple text or a static image but also a Java applet which run graphics, sounds and moving images</a:t>
            </a:r>
            <a:r>
              <a:rPr lang="en-IN" dirty="0"/>
              <a:t>.</a:t>
            </a:r>
          </a:p>
        </p:txBody>
      </p:sp>
      <p:pic>
        <p:nvPicPr>
          <p:cNvPr id="4" name="Picture 3">
            <a:extLst>
              <a:ext uri="{FF2B5EF4-FFF2-40B4-BE49-F238E27FC236}">
                <a16:creationId xmlns:a16="http://schemas.microsoft.com/office/drawing/2014/main" id="{40C64BBC-EFF0-4676-A51E-7A32555831FA}"/>
              </a:ext>
            </a:extLst>
          </p:cNvPr>
          <p:cNvPicPr>
            <a:picLocks noChangeAspect="1"/>
          </p:cNvPicPr>
          <p:nvPr/>
        </p:nvPicPr>
        <p:blipFill>
          <a:blip r:embed="rId2"/>
          <a:stretch>
            <a:fillRect/>
          </a:stretch>
        </p:blipFill>
        <p:spPr>
          <a:xfrm>
            <a:off x="369529" y="153755"/>
            <a:ext cx="937341" cy="646786"/>
          </a:xfrm>
          <a:prstGeom prst="rect">
            <a:avLst/>
          </a:prstGeom>
        </p:spPr>
      </p:pic>
      <p:sp>
        <p:nvSpPr>
          <p:cNvPr id="5" name="Title 1">
            <a:extLst>
              <a:ext uri="{FF2B5EF4-FFF2-40B4-BE49-F238E27FC236}">
                <a16:creationId xmlns:a16="http://schemas.microsoft.com/office/drawing/2014/main" id="{007D940D-7851-43AA-8DAE-E603FBBA0294}"/>
              </a:ext>
            </a:extLst>
          </p:cNvPr>
          <p:cNvSpPr txBox="1">
            <a:spLocks/>
          </p:cNvSpPr>
          <p:nvPr/>
        </p:nvSpPr>
        <p:spPr>
          <a:xfrm>
            <a:off x="1447800" y="153755"/>
            <a:ext cx="10287000" cy="5320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7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3600" b="1" dirty="0">
                <a:solidFill>
                  <a:prstClr val="black"/>
                </a:solidFill>
                <a:highlight>
                  <a:srgbClr val="FFFF00"/>
                </a:highlight>
              </a:rPr>
              <a:t>Applet </a:t>
            </a:r>
            <a:endParaRPr lang="en-US" sz="3600" dirty="0">
              <a:solidFill>
                <a:prstClr val="black"/>
              </a:solidFill>
              <a:highlight>
                <a:srgbClr val="FFFF00"/>
              </a:highlight>
            </a:endParaRPr>
          </a:p>
        </p:txBody>
      </p:sp>
    </p:spTree>
    <p:extLst>
      <p:ext uri="{BB962C8B-B14F-4D97-AF65-F5344CB8AC3E}">
        <p14:creationId xmlns:p14="http://schemas.microsoft.com/office/powerpoint/2010/main" val="31440170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07AEB7-7ACA-4082-9725-7880427A3819}"/>
              </a:ext>
            </a:extLst>
          </p:cNvPr>
          <p:cNvSpPr>
            <a:spLocks noGrp="1"/>
          </p:cNvSpPr>
          <p:nvPr>
            <p:ph sz="quarter" idx="1"/>
          </p:nvPr>
        </p:nvSpPr>
        <p:spPr>
          <a:xfrm>
            <a:off x="838200" y="1066800"/>
            <a:ext cx="10668000" cy="5219259"/>
          </a:xfrm>
        </p:spPr>
        <p:txBody>
          <a:bodyPr/>
          <a:lstStyle/>
          <a:p>
            <a:r>
              <a:rPr lang="en-IN" dirty="0"/>
              <a:t>We can embed applets into web pages in two ways</a:t>
            </a:r>
          </a:p>
          <a:p>
            <a:r>
              <a:rPr lang="en-IN" dirty="0">
                <a:highlight>
                  <a:srgbClr val="00FFFF"/>
                </a:highlight>
              </a:rPr>
              <a:t>One , we can write our own applet and embed them into web pages</a:t>
            </a:r>
          </a:p>
          <a:p>
            <a:r>
              <a:rPr lang="en-IN" dirty="0">
                <a:highlight>
                  <a:srgbClr val="00FFFF"/>
                </a:highlight>
              </a:rPr>
              <a:t>Second, we can download an applet from a remote computer system and then embed into a web page.</a:t>
            </a:r>
          </a:p>
        </p:txBody>
      </p:sp>
      <p:pic>
        <p:nvPicPr>
          <p:cNvPr id="4" name="Picture 3">
            <a:extLst>
              <a:ext uri="{FF2B5EF4-FFF2-40B4-BE49-F238E27FC236}">
                <a16:creationId xmlns:a16="http://schemas.microsoft.com/office/drawing/2014/main" id="{EE4E1EEA-ED94-46BB-9016-FF081D4323FE}"/>
              </a:ext>
            </a:extLst>
          </p:cNvPr>
          <p:cNvPicPr>
            <a:picLocks noChangeAspect="1"/>
          </p:cNvPicPr>
          <p:nvPr/>
        </p:nvPicPr>
        <p:blipFill>
          <a:blip r:embed="rId2"/>
          <a:stretch>
            <a:fillRect/>
          </a:stretch>
        </p:blipFill>
        <p:spPr>
          <a:xfrm>
            <a:off x="369529" y="153755"/>
            <a:ext cx="937341" cy="646786"/>
          </a:xfrm>
          <a:prstGeom prst="rect">
            <a:avLst/>
          </a:prstGeom>
        </p:spPr>
      </p:pic>
      <p:sp>
        <p:nvSpPr>
          <p:cNvPr id="5" name="Title 1">
            <a:extLst>
              <a:ext uri="{FF2B5EF4-FFF2-40B4-BE49-F238E27FC236}">
                <a16:creationId xmlns:a16="http://schemas.microsoft.com/office/drawing/2014/main" id="{92276AF5-ACAD-4FC2-8A7E-7821C4C2B1F3}"/>
              </a:ext>
            </a:extLst>
          </p:cNvPr>
          <p:cNvSpPr txBox="1">
            <a:spLocks/>
          </p:cNvSpPr>
          <p:nvPr/>
        </p:nvSpPr>
        <p:spPr>
          <a:xfrm>
            <a:off x="1447800" y="153755"/>
            <a:ext cx="10287000" cy="5320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7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3600" b="1" dirty="0">
                <a:solidFill>
                  <a:prstClr val="black"/>
                </a:solidFill>
                <a:highlight>
                  <a:srgbClr val="FFFF00"/>
                </a:highlight>
              </a:rPr>
              <a:t>Local and Remote Applet </a:t>
            </a:r>
            <a:endParaRPr lang="en-US" sz="3600" dirty="0">
              <a:solidFill>
                <a:prstClr val="black"/>
              </a:solidFill>
              <a:highlight>
                <a:srgbClr val="FFFF00"/>
              </a:highlight>
            </a:endParaRPr>
          </a:p>
        </p:txBody>
      </p:sp>
    </p:spTree>
    <p:extLst>
      <p:ext uri="{BB962C8B-B14F-4D97-AF65-F5344CB8AC3E}">
        <p14:creationId xmlns:p14="http://schemas.microsoft.com/office/powerpoint/2010/main" val="23379261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806388-10B0-4D66-8756-A2EB9CC80B51}"/>
              </a:ext>
            </a:extLst>
          </p:cNvPr>
          <p:cNvSpPr>
            <a:spLocks noGrp="1"/>
          </p:cNvSpPr>
          <p:nvPr>
            <p:ph sz="quarter" idx="1"/>
          </p:nvPr>
        </p:nvSpPr>
        <p:spPr>
          <a:xfrm>
            <a:off x="533400" y="1295400"/>
            <a:ext cx="11049000" cy="5181600"/>
          </a:xfrm>
        </p:spPr>
        <p:style>
          <a:lnRef idx="2">
            <a:schemeClr val="accent1"/>
          </a:lnRef>
          <a:fillRef idx="1">
            <a:schemeClr val="lt1"/>
          </a:fillRef>
          <a:effectRef idx="0">
            <a:schemeClr val="accent1"/>
          </a:effectRef>
          <a:fontRef idx="minor">
            <a:schemeClr val="dk1"/>
          </a:fontRef>
        </p:style>
        <p:txBody>
          <a:bodyPr>
            <a:normAutofit/>
          </a:bodyPr>
          <a:lstStyle/>
          <a:p>
            <a:r>
              <a:rPr lang="en-IN" dirty="0"/>
              <a:t>Applets and stand alone applications are Java programs</a:t>
            </a:r>
          </a:p>
          <a:p>
            <a:r>
              <a:rPr lang="en-IN" dirty="0"/>
              <a:t>Significant difference between them:- </a:t>
            </a:r>
            <a:r>
              <a:rPr lang="en-IN" dirty="0">
                <a:highlight>
                  <a:srgbClr val="00FFFF"/>
                </a:highlight>
              </a:rPr>
              <a:t>Applets are not full featured application programs.</a:t>
            </a:r>
          </a:p>
          <a:p>
            <a:r>
              <a:rPr lang="en-IN" dirty="0"/>
              <a:t>They are usually written </a:t>
            </a:r>
            <a:r>
              <a:rPr lang="en-IN" dirty="0">
                <a:highlight>
                  <a:srgbClr val="00FFFF"/>
                </a:highlight>
              </a:rPr>
              <a:t>to complete a small task or a component of a task.</a:t>
            </a:r>
          </a:p>
          <a:p>
            <a:r>
              <a:rPr lang="en-IN" dirty="0"/>
              <a:t>They are </a:t>
            </a:r>
            <a:r>
              <a:rPr lang="en-IN" dirty="0">
                <a:highlight>
                  <a:srgbClr val="00FFFF"/>
                </a:highlight>
              </a:rPr>
              <a:t>usually designed for use on the internet</a:t>
            </a:r>
          </a:p>
          <a:p>
            <a:endParaRPr lang="en-IN" dirty="0">
              <a:highlight>
                <a:srgbClr val="00FFFF"/>
              </a:highlight>
            </a:endParaRPr>
          </a:p>
          <a:p>
            <a:pPr marL="514350" indent="-514350">
              <a:buFont typeface="+mj-lt"/>
              <a:buAutoNum type="arabicPeriod"/>
            </a:pPr>
            <a:r>
              <a:rPr lang="en-IN" dirty="0"/>
              <a:t>Applets do </a:t>
            </a:r>
            <a:r>
              <a:rPr lang="en-IN" dirty="0">
                <a:highlight>
                  <a:srgbClr val="FFFF00"/>
                </a:highlight>
              </a:rPr>
              <a:t>not use the main() method </a:t>
            </a:r>
            <a:r>
              <a:rPr lang="en-IN" dirty="0"/>
              <a:t>for initiating the execution of the code</a:t>
            </a:r>
          </a:p>
          <a:p>
            <a:pPr marL="514350" indent="-514350">
              <a:buFont typeface="+mj-lt"/>
              <a:buAutoNum type="arabicPeriod"/>
            </a:pPr>
            <a:r>
              <a:rPr lang="en-IN" dirty="0"/>
              <a:t>Unlike stand alone application, </a:t>
            </a:r>
            <a:r>
              <a:rPr lang="en-IN" dirty="0">
                <a:highlight>
                  <a:srgbClr val="FFFF00"/>
                </a:highlight>
              </a:rPr>
              <a:t>applets can not be run independently </a:t>
            </a:r>
          </a:p>
          <a:p>
            <a:pPr marL="514350" indent="-514350">
              <a:buFont typeface="+mj-lt"/>
              <a:buAutoNum type="arabicPeriod"/>
            </a:pPr>
            <a:r>
              <a:rPr lang="en-IN" dirty="0"/>
              <a:t>Applets </a:t>
            </a:r>
            <a:r>
              <a:rPr lang="en-IN" dirty="0">
                <a:highlight>
                  <a:srgbClr val="FFFF00"/>
                </a:highlight>
              </a:rPr>
              <a:t>can not read form or write to the files in the local computer</a:t>
            </a:r>
          </a:p>
          <a:p>
            <a:pPr marL="514350" indent="-514350">
              <a:buFont typeface="+mj-lt"/>
              <a:buAutoNum type="arabicPeriod"/>
            </a:pPr>
            <a:r>
              <a:rPr lang="en-IN" dirty="0"/>
              <a:t>Applets </a:t>
            </a:r>
            <a:r>
              <a:rPr lang="en-IN" dirty="0">
                <a:highlight>
                  <a:srgbClr val="FFFF00"/>
                </a:highlight>
              </a:rPr>
              <a:t>can not communicate with other servers on the network </a:t>
            </a:r>
          </a:p>
          <a:p>
            <a:pPr marL="514350" indent="-514350">
              <a:buFont typeface="+mj-lt"/>
              <a:buAutoNum type="arabicPeriod"/>
            </a:pPr>
            <a:r>
              <a:rPr lang="en-IN" dirty="0"/>
              <a:t>Applets </a:t>
            </a:r>
            <a:r>
              <a:rPr lang="en-IN" dirty="0">
                <a:highlight>
                  <a:srgbClr val="FFFF00"/>
                </a:highlight>
              </a:rPr>
              <a:t>can not run any program from the local computer</a:t>
            </a:r>
          </a:p>
        </p:txBody>
      </p:sp>
      <p:pic>
        <p:nvPicPr>
          <p:cNvPr id="4" name="Picture 3">
            <a:extLst>
              <a:ext uri="{FF2B5EF4-FFF2-40B4-BE49-F238E27FC236}">
                <a16:creationId xmlns:a16="http://schemas.microsoft.com/office/drawing/2014/main" id="{F4ED9A21-CAEE-4A42-B7F4-5F835564FE64}"/>
              </a:ext>
            </a:extLst>
          </p:cNvPr>
          <p:cNvPicPr>
            <a:picLocks noChangeAspect="1"/>
          </p:cNvPicPr>
          <p:nvPr/>
        </p:nvPicPr>
        <p:blipFill>
          <a:blip r:embed="rId2"/>
          <a:stretch>
            <a:fillRect/>
          </a:stretch>
        </p:blipFill>
        <p:spPr>
          <a:xfrm>
            <a:off x="369529" y="153755"/>
            <a:ext cx="937341" cy="924686"/>
          </a:xfrm>
          <a:prstGeom prst="rect">
            <a:avLst/>
          </a:prstGeom>
        </p:spPr>
      </p:pic>
      <p:sp>
        <p:nvSpPr>
          <p:cNvPr id="5" name="Title 1">
            <a:extLst>
              <a:ext uri="{FF2B5EF4-FFF2-40B4-BE49-F238E27FC236}">
                <a16:creationId xmlns:a16="http://schemas.microsoft.com/office/drawing/2014/main" id="{505E102E-E5A9-466F-B521-4F8F0074E860}"/>
              </a:ext>
            </a:extLst>
          </p:cNvPr>
          <p:cNvSpPr txBox="1">
            <a:spLocks/>
          </p:cNvSpPr>
          <p:nvPr/>
        </p:nvSpPr>
        <p:spPr>
          <a:xfrm>
            <a:off x="1447800" y="153755"/>
            <a:ext cx="10287000" cy="7606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3600" b="1" dirty="0">
                <a:solidFill>
                  <a:prstClr val="black"/>
                </a:solidFill>
                <a:highlight>
                  <a:srgbClr val="FFFF00"/>
                </a:highlight>
              </a:rPr>
              <a:t>How Applets  Differ from Applications </a:t>
            </a:r>
            <a:endParaRPr lang="en-US" sz="3600" dirty="0">
              <a:solidFill>
                <a:prstClr val="black"/>
              </a:solidFill>
              <a:highlight>
                <a:srgbClr val="FFFF00"/>
              </a:highlight>
            </a:endParaRPr>
          </a:p>
        </p:txBody>
      </p:sp>
    </p:spTree>
    <p:extLst>
      <p:ext uri="{BB962C8B-B14F-4D97-AF65-F5344CB8AC3E}">
        <p14:creationId xmlns:p14="http://schemas.microsoft.com/office/powerpoint/2010/main" val="2982264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E47D51-8EEC-4EE7-A5AB-8E9F94B64D02}"/>
              </a:ext>
            </a:extLst>
          </p:cNvPr>
          <p:cNvSpPr>
            <a:spLocks noGrp="1"/>
          </p:cNvSpPr>
          <p:nvPr>
            <p:ph sz="quarter" idx="1"/>
          </p:nvPr>
        </p:nvSpPr>
        <p:spPr>
          <a:xfrm>
            <a:off x="457200" y="1447800"/>
            <a:ext cx="11125200" cy="4648200"/>
          </a:xfrm>
        </p:spPr>
        <p:style>
          <a:lnRef idx="2">
            <a:schemeClr val="accent1"/>
          </a:lnRef>
          <a:fillRef idx="1">
            <a:schemeClr val="lt1"/>
          </a:fillRef>
          <a:effectRef idx="0">
            <a:schemeClr val="accent1"/>
          </a:effectRef>
          <a:fontRef idx="minor">
            <a:schemeClr val="dk1"/>
          </a:fontRef>
        </p:style>
        <p:txBody>
          <a:bodyPr>
            <a:normAutofit lnSpcReduction="10000"/>
          </a:bodyPr>
          <a:lstStyle/>
          <a:p>
            <a:r>
              <a:rPr lang="en-IN" dirty="0"/>
              <a:t>Before we try to write applets, we must make sure that </a:t>
            </a:r>
            <a:r>
              <a:rPr lang="en-IN" dirty="0">
                <a:highlight>
                  <a:srgbClr val="FFFF00"/>
                </a:highlight>
              </a:rPr>
              <a:t>Java is installed properly</a:t>
            </a:r>
            <a:r>
              <a:rPr lang="en-IN" dirty="0"/>
              <a:t>, and also ensure that either the </a:t>
            </a:r>
            <a:r>
              <a:rPr lang="en-IN" dirty="0">
                <a:highlight>
                  <a:srgbClr val="FFFF00"/>
                </a:highlight>
              </a:rPr>
              <a:t>Java </a:t>
            </a:r>
            <a:r>
              <a:rPr lang="en-IN" dirty="0" err="1">
                <a:highlight>
                  <a:srgbClr val="FFFF00"/>
                </a:highlight>
              </a:rPr>
              <a:t>appletviewer</a:t>
            </a:r>
            <a:r>
              <a:rPr lang="en-IN" dirty="0">
                <a:highlight>
                  <a:srgbClr val="FFFF00"/>
                </a:highlight>
              </a:rPr>
              <a:t> </a:t>
            </a:r>
            <a:r>
              <a:rPr lang="en-IN" dirty="0"/>
              <a:t>or a </a:t>
            </a:r>
            <a:r>
              <a:rPr lang="en-IN" dirty="0">
                <a:highlight>
                  <a:srgbClr val="FFFF00"/>
                </a:highlight>
              </a:rPr>
              <a:t>Java enabled browser </a:t>
            </a:r>
            <a:r>
              <a:rPr lang="en-IN" dirty="0"/>
              <a:t>is available</a:t>
            </a:r>
          </a:p>
          <a:p>
            <a:r>
              <a:rPr lang="en-IN" dirty="0"/>
              <a:t>Steps involved in developing and testing in applet are</a:t>
            </a:r>
          </a:p>
          <a:p>
            <a:endParaRPr lang="en-IN" dirty="0"/>
          </a:p>
          <a:p>
            <a:pPr marL="514350" indent="-514350">
              <a:buFont typeface="+mj-lt"/>
              <a:buAutoNum type="arabicPeriod"/>
            </a:pPr>
            <a:r>
              <a:rPr lang="en-IN" dirty="0">
                <a:highlight>
                  <a:srgbClr val="00FFFF"/>
                </a:highlight>
              </a:rPr>
              <a:t>Building an applet code (.java file)</a:t>
            </a:r>
          </a:p>
          <a:p>
            <a:pPr marL="514350" indent="-514350">
              <a:buFont typeface="+mj-lt"/>
              <a:buAutoNum type="arabicPeriod"/>
            </a:pPr>
            <a:r>
              <a:rPr lang="en-IN" dirty="0">
                <a:highlight>
                  <a:srgbClr val="00FFFF"/>
                </a:highlight>
              </a:rPr>
              <a:t>Creating an executable applet (.class file)</a:t>
            </a:r>
          </a:p>
          <a:p>
            <a:pPr marL="514350" indent="-514350">
              <a:buFont typeface="+mj-lt"/>
              <a:buAutoNum type="arabicPeriod"/>
            </a:pPr>
            <a:r>
              <a:rPr lang="en-IN" dirty="0">
                <a:highlight>
                  <a:srgbClr val="00FFFF"/>
                </a:highlight>
              </a:rPr>
              <a:t>Designing a web page using HTML tag</a:t>
            </a:r>
          </a:p>
          <a:p>
            <a:pPr marL="514350" indent="-514350">
              <a:buFont typeface="+mj-lt"/>
              <a:buAutoNum type="arabicPeriod"/>
            </a:pPr>
            <a:r>
              <a:rPr lang="en-IN" dirty="0"/>
              <a:t>Preparing &lt;APPLET&gt;tag</a:t>
            </a:r>
          </a:p>
          <a:p>
            <a:pPr marL="514350" indent="-514350">
              <a:buFont typeface="+mj-lt"/>
              <a:buAutoNum type="arabicPeriod"/>
            </a:pPr>
            <a:r>
              <a:rPr lang="en-IN" dirty="0"/>
              <a:t>Incorporating &lt;APPLET&gt; tag into the web page</a:t>
            </a:r>
            <a:endParaRPr lang="en-IN" dirty="0">
              <a:highlight>
                <a:srgbClr val="00FFFF"/>
              </a:highlight>
            </a:endParaRPr>
          </a:p>
          <a:p>
            <a:pPr marL="514350" indent="-514350">
              <a:buFont typeface="+mj-lt"/>
              <a:buAutoNum type="arabicPeriod"/>
            </a:pPr>
            <a:r>
              <a:rPr lang="en-IN" dirty="0">
                <a:highlight>
                  <a:srgbClr val="00FFFF"/>
                </a:highlight>
              </a:rPr>
              <a:t>Testing the applet code</a:t>
            </a:r>
          </a:p>
        </p:txBody>
      </p:sp>
      <p:pic>
        <p:nvPicPr>
          <p:cNvPr id="4" name="Picture 3">
            <a:extLst>
              <a:ext uri="{FF2B5EF4-FFF2-40B4-BE49-F238E27FC236}">
                <a16:creationId xmlns:a16="http://schemas.microsoft.com/office/drawing/2014/main" id="{093D7E2C-5D89-4AD9-A237-1FED47519140}"/>
              </a:ext>
            </a:extLst>
          </p:cNvPr>
          <p:cNvPicPr>
            <a:picLocks noChangeAspect="1"/>
          </p:cNvPicPr>
          <p:nvPr/>
        </p:nvPicPr>
        <p:blipFill>
          <a:blip r:embed="rId2"/>
          <a:stretch>
            <a:fillRect/>
          </a:stretch>
        </p:blipFill>
        <p:spPr>
          <a:xfrm>
            <a:off x="369529" y="153755"/>
            <a:ext cx="937341" cy="924686"/>
          </a:xfrm>
          <a:prstGeom prst="rect">
            <a:avLst/>
          </a:prstGeom>
        </p:spPr>
      </p:pic>
      <p:sp>
        <p:nvSpPr>
          <p:cNvPr id="5" name="Title 1">
            <a:extLst>
              <a:ext uri="{FF2B5EF4-FFF2-40B4-BE49-F238E27FC236}">
                <a16:creationId xmlns:a16="http://schemas.microsoft.com/office/drawing/2014/main" id="{ABEC04BA-5A67-419A-B829-66D9D19D4C7D}"/>
              </a:ext>
            </a:extLst>
          </p:cNvPr>
          <p:cNvSpPr txBox="1">
            <a:spLocks/>
          </p:cNvSpPr>
          <p:nvPr/>
        </p:nvSpPr>
        <p:spPr>
          <a:xfrm>
            <a:off x="1447800" y="153755"/>
            <a:ext cx="10287000" cy="7606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3600" b="1" dirty="0">
                <a:solidFill>
                  <a:prstClr val="black"/>
                </a:solidFill>
                <a:highlight>
                  <a:srgbClr val="FFFF00"/>
                </a:highlight>
              </a:rPr>
              <a:t>Preparing to Write Applets </a:t>
            </a:r>
            <a:endParaRPr lang="en-US" sz="3600" dirty="0">
              <a:solidFill>
                <a:prstClr val="black"/>
              </a:solidFill>
              <a:highlight>
                <a:srgbClr val="FFFF00"/>
              </a:highlight>
            </a:endParaRPr>
          </a:p>
        </p:txBody>
      </p:sp>
    </p:spTree>
    <p:extLst>
      <p:ext uri="{BB962C8B-B14F-4D97-AF65-F5344CB8AC3E}">
        <p14:creationId xmlns:p14="http://schemas.microsoft.com/office/powerpoint/2010/main" val="12810581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124200" y="4724400"/>
            <a:ext cx="3581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018C125-F016-4C63-8EB3-509EDF045CDC}"/>
              </a:ext>
            </a:extLst>
          </p:cNvPr>
          <p:cNvSpPr>
            <a:spLocks noGrp="1"/>
          </p:cNvSpPr>
          <p:nvPr>
            <p:ph sz="quarter" idx="1"/>
          </p:nvPr>
        </p:nvSpPr>
        <p:spPr>
          <a:xfrm>
            <a:off x="533400" y="1371600"/>
            <a:ext cx="11049000" cy="5105400"/>
          </a:xfrm>
        </p:spPr>
        <p:txBody>
          <a:bodyPr>
            <a:normAutofit fontScale="92500"/>
          </a:bodyPr>
          <a:lstStyle/>
          <a:p>
            <a:r>
              <a:rPr lang="en-IN" dirty="0"/>
              <a:t>Our applet code use the services of two classes, namely, </a:t>
            </a:r>
            <a:r>
              <a:rPr lang="en-IN" dirty="0">
                <a:highlight>
                  <a:srgbClr val="00FF00"/>
                </a:highlight>
              </a:rPr>
              <a:t>Applet and Graphics </a:t>
            </a:r>
            <a:r>
              <a:rPr lang="en-IN" dirty="0"/>
              <a:t>from the Java class library.</a:t>
            </a:r>
          </a:p>
          <a:p>
            <a:r>
              <a:rPr lang="en-IN" dirty="0">
                <a:highlight>
                  <a:srgbClr val="00FF00"/>
                </a:highlight>
              </a:rPr>
              <a:t>Applet class which is contained in the </a:t>
            </a:r>
            <a:r>
              <a:rPr lang="en-IN" dirty="0" err="1">
                <a:highlight>
                  <a:srgbClr val="00FF00"/>
                </a:highlight>
              </a:rPr>
              <a:t>java.applet</a:t>
            </a:r>
            <a:r>
              <a:rPr lang="en-IN" dirty="0">
                <a:highlight>
                  <a:srgbClr val="00FF00"/>
                </a:highlight>
              </a:rPr>
              <a:t> package provides life and behaviour of applet </a:t>
            </a:r>
            <a:r>
              <a:rPr lang="en-IN" dirty="0"/>
              <a:t>through its methods such as </a:t>
            </a:r>
            <a:r>
              <a:rPr lang="en-IN" dirty="0" err="1">
                <a:highlight>
                  <a:srgbClr val="00FFFF"/>
                </a:highlight>
              </a:rPr>
              <a:t>init</a:t>
            </a:r>
            <a:r>
              <a:rPr lang="en-IN" dirty="0">
                <a:highlight>
                  <a:srgbClr val="00FFFF"/>
                </a:highlight>
              </a:rPr>
              <a:t>(), start(), paint(), close().</a:t>
            </a:r>
          </a:p>
          <a:p>
            <a:r>
              <a:rPr lang="en-IN" dirty="0"/>
              <a:t>Therefore Applet class is the life cycle of applet.</a:t>
            </a:r>
          </a:p>
          <a:p>
            <a:r>
              <a:rPr lang="en-IN" dirty="0">
                <a:highlight>
                  <a:srgbClr val="00FFFF"/>
                </a:highlight>
              </a:rPr>
              <a:t>paint () method of the Applet class, when it is called, actually displays the result of the applet code on the screen.</a:t>
            </a:r>
            <a:r>
              <a:rPr lang="en-IN" dirty="0"/>
              <a:t> Output may be text, graphics, sound etc.</a:t>
            </a:r>
          </a:p>
          <a:p>
            <a:r>
              <a:rPr lang="en-IN" dirty="0">
                <a:highlight>
                  <a:srgbClr val="00FFFF"/>
                </a:highlight>
              </a:rPr>
              <a:t>paint() method, which requires a Graphics object as an argument is defined as </a:t>
            </a:r>
          </a:p>
          <a:p>
            <a:pPr marL="0" indent="0">
              <a:buNone/>
            </a:pPr>
            <a:r>
              <a:rPr lang="en-IN" dirty="0"/>
              <a:t>                                       public void paint(Graphics g)</a:t>
            </a:r>
          </a:p>
          <a:p>
            <a:r>
              <a:rPr lang="en-IN" dirty="0"/>
              <a:t>This requires that the applet code import the </a:t>
            </a:r>
            <a:r>
              <a:rPr lang="en-IN" dirty="0" err="1">
                <a:highlight>
                  <a:srgbClr val="00FFFF"/>
                </a:highlight>
              </a:rPr>
              <a:t>java.awt</a:t>
            </a:r>
            <a:r>
              <a:rPr lang="en-IN" dirty="0">
                <a:highlight>
                  <a:srgbClr val="00FFFF"/>
                </a:highlight>
              </a:rPr>
              <a:t> </a:t>
            </a:r>
            <a:r>
              <a:rPr lang="en-IN" dirty="0"/>
              <a:t>package that contain the Graphics class.</a:t>
            </a:r>
          </a:p>
          <a:p>
            <a:r>
              <a:rPr lang="en-IN" dirty="0">
                <a:highlight>
                  <a:srgbClr val="00FF00"/>
                </a:highlight>
              </a:rPr>
              <a:t>All output operation of an applet are performed using the methods defined  in the Graphics class.</a:t>
            </a:r>
          </a:p>
        </p:txBody>
      </p:sp>
      <p:pic>
        <p:nvPicPr>
          <p:cNvPr id="4" name="Picture 3">
            <a:extLst>
              <a:ext uri="{FF2B5EF4-FFF2-40B4-BE49-F238E27FC236}">
                <a16:creationId xmlns:a16="http://schemas.microsoft.com/office/drawing/2014/main" id="{4685BFB6-9806-463B-BD2E-1314ED224CC7}"/>
              </a:ext>
            </a:extLst>
          </p:cNvPr>
          <p:cNvPicPr>
            <a:picLocks noChangeAspect="1"/>
          </p:cNvPicPr>
          <p:nvPr/>
        </p:nvPicPr>
        <p:blipFill>
          <a:blip r:embed="rId2"/>
          <a:stretch>
            <a:fillRect/>
          </a:stretch>
        </p:blipFill>
        <p:spPr>
          <a:xfrm>
            <a:off x="369529" y="153755"/>
            <a:ext cx="937341" cy="924686"/>
          </a:xfrm>
          <a:prstGeom prst="rect">
            <a:avLst/>
          </a:prstGeom>
        </p:spPr>
      </p:pic>
      <p:sp>
        <p:nvSpPr>
          <p:cNvPr id="5" name="Title 1">
            <a:extLst>
              <a:ext uri="{FF2B5EF4-FFF2-40B4-BE49-F238E27FC236}">
                <a16:creationId xmlns:a16="http://schemas.microsoft.com/office/drawing/2014/main" id="{4C7AD34D-26E1-45EE-B657-F7B0BBFFE09A}"/>
              </a:ext>
            </a:extLst>
          </p:cNvPr>
          <p:cNvSpPr txBox="1">
            <a:spLocks/>
          </p:cNvSpPr>
          <p:nvPr/>
        </p:nvSpPr>
        <p:spPr>
          <a:xfrm>
            <a:off x="1447800" y="153755"/>
            <a:ext cx="10287000" cy="7606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3600" b="1" dirty="0">
                <a:solidFill>
                  <a:prstClr val="black"/>
                </a:solidFill>
                <a:highlight>
                  <a:srgbClr val="FFFF00"/>
                </a:highlight>
              </a:rPr>
              <a:t>Building Applet Code </a:t>
            </a:r>
            <a:endParaRPr lang="en-US" sz="3600" dirty="0">
              <a:solidFill>
                <a:prstClr val="black"/>
              </a:solidFill>
              <a:highlight>
                <a:srgbClr val="FFFF00"/>
              </a:highlight>
            </a:endParaRPr>
          </a:p>
        </p:txBody>
      </p:sp>
    </p:spTree>
    <p:extLst>
      <p:ext uri="{BB962C8B-B14F-4D97-AF65-F5344CB8AC3E}">
        <p14:creationId xmlns:p14="http://schemas.microsoft.com/office/powerpoint/2010/main" val="25740671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990600"/>
            <a:ext cx="5562600" cy="5656274"/>
          </a:xfrm>
        </p:spPr>
        <p:style>
          <a:lnRef idx="1">
            <a:schemeClr val="accent1"/>
          </a:lnRef>
          <a:fillRef idx="2">
            <a:schemeClr val="accent1"/>
          </a:fillRef>
          <a:effectRef idx="1">
            <a:schemeClr val="accent1"/>
          </a:effectRef>
          <a:fontRef idx="minor">
            <a:schemeClr val="dk1"/>
          </a:fontRef>
        </p:style>
        <p:txBody>
          <a:bodyPr>
            <a:normAutofit/>
          </a:bodyPr>
          <a:lstStyle/>
          <a:p>
            <a:pPr marL="0" indent="0">
              <a:buNone/>
            </a:pPr>
            <a:endParaRPr lang="en-US" dirty="0">
              <a:highlight>
                <a:srgbClr val="00FF00"/>
              </a:highlight>
            </a:endParaRPr>
          </a:p>
          <a:p>
            <a:pPr>
              <a:buFont typeface="Wingdings" panose="05000000000000000000" pitchFamily="2" charset="2"/>
              <a:buChar char="Ø"/>
            </a:pPr>
            <a:r>
              <a:rPr lang="en-US" dirty="0">
                <a:highlight>
                  <a:srgbClr val="FFFF00"/>
                </a:highlight>
              </a:rPr>
              <a:t>Process-1) </a:t>
            </a:r>
            <a:r>
              <a:rPr lang="en-US" dirty="0"/>
              <a:t>Import Applet and Graphics class from applet and </a:t>
            </a:r>
            <a:r>
              <a:rPr lang="en-US" dirty="0" err="1"/>
              <a:t>awt</a:t>
            </a:r>
            <a:r>
              <a:rPr lang="en-US" dirty="0"/>
              <a:t> package respectively</a:t>
            </a:r>
          </a:p>
          <a:p>
            <a:pPr>
              <a:buFont typeface="Wingdings" panose="05000000000000000000" pitchFamily="2" charset="2"/>
              <a:buChar char="Ø"/>
            </a:pPr>
            <a:r>
              <a:rPr lang="en-US" dirty="0">
                <a:highlight>
                  <a:srgbClr val="FFFF00"/>
                </a:highlight>
              </a:rPr>
              <a:t>Process -2)</a:t>
            </a:r>
            <a:r>
              <a:rPr lang="en-US" dirty="0"/>
              <a:t> Define applet class from extending the properties of Applet class</a:t>
            </a:r>
          </a:p>
          <a:p>
            <a:pPr>
              <a:buFont typeface="Wingdings" panose="05000000000000000000" pitchFamily="2" charset="2"/>
              <a:buChar char="Ø"/>
            </a:pPr>
            <a:r>
              <a:rPr lang="en-US" dirty="0">
                <a:highlight>
                  <a:srgbClr val="FFFF00"/>
                </a:highlight>
              </a:rPr>
              <a:t>Process-3)</a:t>
            </a:r>
            <a:r>
              <a:rPr lang="en-US" dirty="0"/>
              <a:t> Override the method paint that shows the result of applet code</a:t>
            </a:r>
          </a:p>
          <a:p>
            <a:pPr>
              <a:buFont typeface="Wingdings" panose="05000000000000000000" pitchFamily="2" charset="2"/>
              <a:buChar char="Ø"/>
            </a:pPr>
            <a:r>
              <a:rPr lang="en-US" dirty="0">
                <a:highlight>
                  <a:srgbClr val="FFFF00"/>
                </a:highlight>
              </a:rPr>
              <a:t>Process -4) </a:t>
            </a:r>
            <a:r>
              <a:rPr lang="en-US" dirty="0"/>
              <a:t>By using object of Graphics class access the methods that perform the all operation of applet</a:t>
            </a:r>
          </a:p>
          <a:p>
            <a:pPr>
              <a:buFont typeface="Arial" panose="020B0604020202020204" pitchFamily="34" charset="0"/>
              <a:buChar char="•"/>
            </a:pPr>
            <a:r>
              <a:rPr lang="en-US" dirty="0">
                <a:highlight>
                  <a:srgbClr val="00FFFF"/>
                </a:highlight>
              </a:rPr>
              <a:t>Compile this file to creating a .class file for execution of applet code</a:t>
            </a:r>
          </a:p>
        </p:txBody>
      </p:sp>
      <p:pic>
        <p:nvPicPr>
          <p:cNvPr id="4" name="Picture 3">
            <a:extLst>
              <a:ext uri="{FF2B5EF4-FFF2-40B4-BE49-F238E27FC236}">
                <a16:creationId xmlns:a16="http://schemas.microsoft.com/office/drawing/2014/main" id="{B308BE5F-FC50-4313-A37C-F1D16C83D41A}"/>
              </a:ext>
            </a:extLst>
          </p:cNvPr>
          <p:cNvPicPr>
            <a:picLocks noChangeAspect="1"/>
          </p:cNvPicPr>
          <p:nvPr/>
        </p:nvPicPr>
        <p:blipFill>
          <a:blip r:embed="rId2"/>
          <a:stretch>
            <a:fillRect/>
          </a:stretch>
        </p:blipFill>
        <p:spPr>
          <a:xfrm>
            <a:off x="369529" y="153755"/>
            <a:ext cx="937341" cy="646786"/>
          </a:xfrm>
          <a:prstGeom prst="rect">
            <a:avLst/>
          </a:prstGeom>
        </p:spPr>
      </p:pic>
      <p:sp>
        <p:nvSpPr>
          <p:cNvPr id="5" name="Title 1">
            <a:extLst>
              <a:ext uri="{FF2B5EF4-FFF2-40B4-BE49-F238E27FC236}">
                <a16:creationId xmlns:a16="http://schemas.microsoft.com/office/drawing/2014/main" id="{E4593C6E-1E06-4697-B1EE-90CE68ABF96B}"/>
              </a:ext>
            </a:extLst>
          </p:cNvPr>
          <p:cNvSpPr txBox="1">
            <a:spLocks/>
          </p:cNvSpPr>
          <p:nvPr/>
        </p:nvSpPr>
        <p:spPr>
          <a:xfrm>
            <a:off x="1447800" y="211125"/>
            <a:ext cx="10287000" cy="5320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7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highlight>
                  <a:srgbClr val="FFFF00"/>
                </a:highlight>
                <a:uLnTx/>
                <a:uFillTx/>
                <a:latin typeface="Perpetua"/>
                <a:ea typeface="+mn-ea"/>
                <a:cs typeface="+mn-cs"/>
              </a:rPr>
              <a:t>Building an Applet Code </a:t>
            </a:r>
            <a:endParaRPr kumimoji="0" lang="en-US" sz="3600" b="0" i="0" u="none" strike="noStrike" kern="1200" cap="none" spc="0" normalizeH="0" baseline="0" noProof="0" dirty="0">
              <a:ln>
                <a:noFill/>
              </a:ln>
              <a:solidFill>
                <a:prstClr val="black"/>
              </a:solidFill>
              <a:effectLst/>
              <a:highlight>
                <a:srgbClr val="FFFF00"/>
              </a:highlight>
              <a:uLnTx/>
              <a:uFillTx/>
              <a:latin typeface="Perpetua"/>
              <a:ea typeface="+mn-ea"/>
              <a:cs typeface="+mn-cs"/>
            </a:endParaRPr>
          </a:p>
        </p:txBody>
      </p:sp>
      <p:sp>
        <p:nvSpPr>
          <p:cNvPr id="2" name="Rectangle 1"/>
          <p:cNvSpPr/>
          <p:nvPr/>
        </p:nvSpPr>
        <p:spPr>
          <a:xfrm>
            <a:off x="6019800" y="914401"/>
            <a:ext cx="5715000" cy="5791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highlight>
                  <a:srgbClr val="00FF00"/>
                </a:highlight>
                <a:uLnTx/>
                <a:uFillTx/>
                <a:latin typeface="Perpetua"/>
              </a:rPr>
              <a:t>//</a:t>
            </a:r>
            <a:r>
              <a:rPr lang="en-US" sz="2400" dirty="0">
                <a:solidFill>
                  <a:prstClr val="black"/>
                </a:solidFill>
                <a:highlight>
                  <a:srgbClr val="00FF00"/>
                </a:highlight>
                <a:latin typeface="Perpetua"/>
              </a:rPr>
              <a:t>File Name is :- AppletClassName.java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Perpetua"/>
              </a:rPr>
              <a:t>import java.</a:t>
            </a:r>
            <a:r>
              <a:rPr lang="en-US" sz="2400" dirty="0">
                <a:solidFill>
                  <a:prstClr val="black"/>
                </a:solidFill>
                <a:latin typeface="Perpetua"/>
              </a:rPr>
              <a:t>applet</a:t>
            </a:r>
            <a:r>
              <a:rPr kumimoji="0" lang="en-US" sz="2400" b="0" i="0" u="none" strike="noStrike" kern="1200" cap="none" spc="0" normalizeH="0" baseline="0" noProof="0" dirty="0">
                <a:ln>
                  <a:noFill/>
                </a:ln>
                <a:solidFill>
                  <a:prstClr val="black"/>
                </a:solidFill>
                <a:effectLst/>
                <a:uLnTx/>
                <a:uFillTx/>
                <a:latin typeface="Perpetua"/>
              </a:rPr>
              <a:t>.Applet;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prstClr val="black"/>
                </a:solidFill>
                <a:latin typeface="Perpetua"/>
              </a:rPr>
              <a:t>import </a:t>
            </a:r>
            <a:r>
              <a:rPr lang="en-US" sz="2400" dirty="0" err="1">
                <a:solidFill>
                  <a:prstClr val="black"/>
                </a:solidFill>
                <a:latin typeface="Perpetua"/>
              </a:rPr>
              <a:t>java.awt.Graphics</a:t>
            </a:r>
            <a:r>
              <a:rPr lang="en-US" sz="2400" dirty="0">
                <a:solidFill>
                  <a:prstClr val="black"/>
                </a:solidFill>
                <a:latin typeface="Perpetua"/>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Perpetu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prstClr val="black"/>
                </a:solidFill>
                <a:latin typeface="Perpetua"/>
              </a:rPr>
              <a:t>p</a:t>
            </a:r>
            <a:r>
              <a:rPr kumimoji="0" lang="en-US" sz="2400" b="0" i="0" u="none" strike="noStrike" kern="1200" cap="none" spc="0" normalizeH="0" baseline="0" noProof="0" dirty="0" err="1">
                <a:ln>
                  <a:noFill/>
                </a:ln>
                <a:solidFill>
                  <a:prstClr val="black"/>
                </a:solidFill>
                <a:effectLst/>
                <a:uLnTx/>
                <a:uFillTx/>
                <a:latin typeface="Perpetua"/>
              </a:rPr>
              <a:t>ublic</a:t>
            </a:r>
            <a:r>
              <a:rPr kumimoji="0" lang="en-US" sz="2400" b="0" i="0" u="none" strike="noStrike" kern="1200" cap="none" spc="0" normalizeH="0" baseline="0" noProof="0" dirty="0">
                <a:ln>
                  <a:noFill/>
                </a:ln>
                <a:solidFill>
                  <a:prstClr val="black"/>
                </a:solidFill>
                <a:effectLst/>
                <a:uLnTx/>
                <a:uFillTx/>
                <a:latin typeface="Perpetua"/>
              </a:rPr>
              <a:t> class </a:t>
            </a:r>
            <a:r>
              <a:rPr lang="en-US" sz="2400" dirty="0" err="1">
                <a:solidFill>
                  <a:prstClr val="black"/>
                </a:solidFill>
                <a:latin typeface="Perpetua"/>
              </a:rPr>
              <a:t>AppletClassName</a:t>
            </a:r>
            <a:r>
              <a:rPr kumimoji="0" lang="en-US" sz="2400" b="0" i="0" u="none" strike="noStrike" kern="1200" cap="none" spc="0" normalizeH="0" baseline="0" noProof="0" dirty="0">
                <a:ln>
                  <a:noFill/>
                </a:ln>
                <a:solidFill>
                  <a:prstClr val="black"/>
                </a:solidFill>
                <a:effectLst/>
                <a:uLnTx/>
                <a:uFillTx/>
                <a:latin typeface="Perpetua"/>
              </a:rPr>
              <a:t> extends </a:t>
            </a:r>
            <a:r>
              <a:rPr lang="en-US" sz="2400" dirty="0">
                <a:solidFill>
                  <a:prstClr val="black"/>
                </a:solidFill>
                <a:latin typeface="Perpetua"/>
              </a:rPr>
              <a:t>Applet</a:t>
            </a:r>
            <a:endParaRPr kumimoji="0" lang="en-US" sz="2400" b="0" i="0" u="none" strike="noStrike" kern="1200" cap="none" spc="0" normalizeH="0" baseline="0" noProof="0" dirty="0">
              <a:ln>
                <a:noFill/>
              </a:ln>
              <a:solidFill>
                <a:prstClr val="black"/>
              </a:solidFill>
              <a:effectLst/>
              <a:uLnTx/>
              <a:uFillTx/>
              <a:latin typeface="Perpetu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Perpetua"/>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prstClr val="black"/>
                </a:solidFill>
                <a:latin typeface="Perpetua"/>
              </a:rPr>
              <a:t>     -----------------</a:t>
            </a:r>
            <a:endParaRPr kumimoji="0" lang="en-US" sz="2400" b="0" i="0" u="none" strike="noStrike" kern="1200" cap="none" spc="0" normalizeH="0" baseline="0" noProof="0" dirty="0">
              <a:ln>
                <a:noFill/>
              </a:ln>
              <a:solidFill>
                <a:prstClr val="black"/>
              </a:solidFill>
              <a:effectLst/>
              <a:uLnTx/>
              <a:uFillTx/>
              <a:latin typeface="Perpetu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Perpetua"/>
              </a:rPr>
              <a:t>      public void </a:t>
            </a:r>
            <a:r>
              <a:rPr lang="en-US" sz="2400" dirty="0">
                <a:solidFill>
                  <a:prstClr val="black"/>
                </a:solidFill>
                <a:latin typeface="Perpetua"/>
              </a:rPr>
              <a:t>paint</a:t>
            </a:r>
            <a:r>
              <a:rPr kumimoji="0" lang="en-US" sz="2400" b="0" i="0" u="none" strike="noStrike" kern="1200" cap="none" spc="0" normalizeH="0" baseline="0" noProof="0" dirty="0">
                <a:ln>
                  <a:noFill/>
                </a:ln>
                <a:solidFill>
                  <a:prstClr val="black"/>
                </a:solidFill>
                <a:effectLst/>
                <a:uLnTx/>
                <a:uFillTx/>
                <a:latin typeface="Perpetua"/>
              </a:rPr>
              <a:t>(Graphics g)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Perpetua"/>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Perpetua"/>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Perpetua"/>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Perpetua"/>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prstClr val="black"/>
                </a:solidFill>
                <a:latin typeface="Perpetua"/>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Perpetua"/>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Perpetua"/>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Perpetua"/>
              <a:ea typeface="+mn-ea"/>
              <a:cs typeface="+mn-cs"/>
            </a:endParaRPr>
          </a:p>
        </p:txBody>
      </p:sp>
    </p:spTree>
    <p:extLst>
      <p:ext uri="{BB962C8B-B14F-4D97-AF65-F5344CB8AC3E}">
        <p14:creationId xmlns:p14="http://schemas.microsoft.com/office/powerpoint/2010/main" val="2517111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500"/>
                                        <p:tgtEl>
                                          <p:spTgt spid="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Effect transition="in" filter="fade">
                                      <p:cBhvr>
                                        <p:cTn id="25" dur="500"/>
                                        <p:tgtEl>
                                          <p:spTgt spid="2">
                                            <p:txEl>
                                              <p:pRg st="4" end="4"/>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
                                            <p:txEl>
                                              <p:pRg st="5" end="5"/>
                                            </p:txEl>
                                          </p:spTgt>
                                        </p:tgtEl>
                                        <p:attrNameLst>
                                          <p:attrName>style.visibility</p:attrName>
                                        </p:attrNameLst>
                                      </p:cBhvr>
                                      <p:to>
                                        <p:strVal val="visible"/>
                                      </p:to>
                                    </p:set>
                                    <p:animEffect transition="in" filter="fade">
                                      <p:cBhvr>
                                        <p:cTn id="28" dur="500"/>
                                        <p:tgtEl>
                                          <p:spTgt spid="2">
                                            <p:txEl>
                                              <p:pRg st="5" end="5"/>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animEffect transition="in" filter="fade">
                                      <p:cBhvr>
                                        <p:cTn id="31" dur="500"/>
                                        <p:tgtEl>
                                          <p:spTgt spid="2">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3" end="3"/>
                                            </p:txEl>
                                          </p:spTgt>
                                        </p:tgtEl>
                                        <p:attrNameLst>
                                          <p:attrName>style.visibility</p:attrName>
                                        </p:attrNameLst>
                                      </p:cBhvr>
                                      <p:to>
                                        <p:strVal val="visible"/>
                                      </p:to>
                                    </p:set>
                                    <p:animEffect transition="in" filter="fade">
                                      <p:cBhvr>
                                        <p:cTn id="36" dur="500"/>
                                        <p:tgtEl>
                                          <p:spTgt spid="3">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
                                            <p:txEl>
                                              <p:pRg st="7" end="7"/>
                                            </p:txEl>
                                          </p:spTgt>
                                        </p:tgtEl>
                                        <p:attrNameLst>
                                          <p:attrName>style.visibility</p:attrName>
                                        </p:attrNameLst>
                                      </p:cBhvr>
                                      <p:to>
                                        <p:strVal val="visible"/>
                                      </p:to>
                                    </p:set>
                                    <p:animEffect transition="in" filter="fade">
                                      <p:cBhvr>
                                        <p:cTn id="41" dur="500"/>
                                        <p:tgtEl>
                                          <p:spTgt spid="2">
                                            <p:txEl>
                                              <p:pRg st="7" end="7"/>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2">
                                            <p:txEl>
                                              <p:pRg st="8" end="8"/>
                                            </p:txEl>
                                          </p:spTgt>
                                        </p:tgtEl>
                                        <p:attrNameLst>
                                          <p:attrName>style.visibility</p:attrName>
                                        </p:attrNameLst>
                                      </p:cBhvr>
                                      <p:to>
                                        <p:strVal val="visible"/>
                                      </p:to>
                                    </p:set>
                                    <p:animEffect transition="in" filter="fade">
                                      <p:cBhvr>
                                        <p:cTn id="44" dur="500"/>
                                        <p:tgtEl>
                                          <p:spTgt spid="2">
                                            <p:txEl>
                                              <p:pRg st="8" end="8"/>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animEffect transition="in" filter="fade">
                                      <p:cBhvr>
                                        <p:cTn id="47" dur="500"/>
                                        <p:tgtEl>
                                          <p:spTgt spid="2">
                                            <p:txEl>
                                              <p:pRg st="9" end="9"/>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2">
                                            <p:txEl>
                                              <p:pRg st="10" end="10"/>
                                            </p:txEl>
                                          </p:spTgt>
                                        </p:tgtEl>
                                        <p:attrNameLst>
                                          <p:attrName>style.visibility</p:attrName>
                                        </p:attrNameLst>
                                      </p:cBhvr>
                                      <p:to>
                                        <p:strVal val="visible"/>
                                      </p:to>
                                    </p:set>
                                    <p:animEffect transition="in" filter="fade">
                                      <p:cBhvr>
                                        <p:cTn id="50" dur="500"/>
                                        <p:tgtEl>
                                          <p:spTgt spid="2">
                                            <p:txEl>
                                              <p:pRg st="10" end="10"/>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2">
                                            <p:txEl>
                                              <p:pRg st="11" end="11"/>
                                            </p:txEl>
                                          </p:spTgt>
                                        </p:tgtEl>
                                        <p:attrNameLst>
                                          <p:attrName>style.visibility</p:attrName>
                                        </p:attrNameLst>
                                      </p:cBhvr>
                                      <p:to>
                                        <p:strVal val="visible"/>
                                      </p:to>
                                    </p:set>
                                    <p:animEffect transition="in" filter="fade">
                                      <p:cBhvr>
                                        <p:cTn id="53" dur="500"/>
                                        <p:tgtEl>
                                          <p:spTgt spid="2">
                                            <p:txEl>
                                              <p:pRg st="11" end="11"/>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3">
                                            <p:txEl>
                                              <p:pRg st="4" end="4"/>
                                            </p:txEl>
                                          </p:spTgt>
                                        </p:tgtEl>
                                        <p:attrNameLst>
                                          <p:attrName>style.visibility</p:attrName>
                                        </p:attrNameLst>
                                      </p:cBhvr>
                                      <p:to>
                                        <p:strVal val="visible"/>
                                      </p:to>
                                    </p:set>
                                    <p:animEffect transition="in" filter="fade">
                                      <p:cBhvr>
                                        <p:cTn id="58" dur="500"/>
                                        <p:tgtEl>
                                          <p:spTgt spid="3">
                                            <p:txEl>
                                              <p:pRg st="4" end="4"/>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
                                            <p:txEl>
                                              <p:pRg st="12" end="12"/>
                                            </p:txEl>
                                          </p:spTgt>
                                        </p:tgtEl>
                                        <p:attrNameLst>
                                          <p:attrName>style.visibility</p:attrName>
                                        </p:attrNameLst>
                                      </p:cBhvr>
                                      <p:to>
                                        <p:strVal val="visible"/>
                                      </p:to>
                                    </p:set>
                                    <p:animEffect transition="in" filter="fade">
                                      <p:cBhvr>
                                        <p:cTn id="63" dur="500"/>
                                        <p:tgtEl>
                                          <p:spTgt spid="2">
                                            <p:txEl>
                                              <p:pRg st="12" end="12"/>
                                            </p:txEl>
                                          </p:spTgt>
                                        </p:tgtEl>
                                      </p:cBhvr>
                                    </p:animEffect>
                                  </p:childTnLst>
                                </p:cTn>
                              </p:par>
                              <p:par>
                                <p:cTn id="64" presetID="10" presetClass="entr" presetSubtype="0" fill="hold" nodeType="withEffect">
                                  <p:stCondLst>
                                    <p:cond delay="0"/>
                                  </p:stCondLst>
                                  <p:childTnLst>
                                    <p:set>
                                      <p:cBhvr>
                                        <p:cTn id="65" dur="1" fill="hold">
                                          <p:stCondLst>
                                            <p:cond delay="0"/>
                                          </p:stCondLst>
                                        </p:cTn>
                                        <p:tgtEl>
                                          <p:spTgt spid="2">
                                            <p:txEl>
                                              <p:pRg st="13" end="13"/>
                                            </p:txEl>
                                          </p:spTgt>
                                        </p:tgtEl>
                                        <p:attrNameLst>
                                          <p:attrName>style.visibility</p:attrName>
                                        </p:attrNameLst>
                                      </p:cBhvr>
                                      <p:to>
                                        <p:strVal val="visible"/>
                                      </p:to>
                                    </p:set>
                                    <p:animEffect transition="in" filter="fade">
                                      <p:cBhvr>
                                        <p:cTn id="66" dur="500"/>
                                        <p:tgtEl>
                                          <p:spTgt spid="2">
                                            <p:txEl>
                                              <p:pRg st="13" end="13"/>
                                            </p:txEl>
                                          </p:spTgt>
                                        </p:tgtEl>
                                      </p:cBhvr>
                                    </p:animEffect>
                                  </p:childTnLst>
                                </p:cTn>
                              </p:par>
                              <p:par>
                                <p:cTn id="67" presetID="10" presetClass="entr" presetSubtype="0" fill="hold" nodeType="withEffect">
                                  <p:stCondLst>
                                    <p:cond delay="0"/>
                                  </p:stCondLst>
                                  <p:childTnLst>
                                    <p:set>
                                      <p:cBhvr>
                                        <p:cTn id="68" dur="1" fill="hold">
                                          <p:stCondLst>
                                            <p:cond delay="0"/>
                                          </p:stCondLst>
                                        </p:cTn>
                                        <p:tgtEl>
                                          <p:spTgt spid="2">
                                            <p:txEl>
                                              <p:pRg st="14" end="14"/>
                                            </p:txEl>
                                          </p:spTgt>
                                        </p:tgtEl>
                                        <p:attrNameLst>
                                          <p:attrName>style.visibility</p:attrName>
                                        </p:attrNameLst>
                                      </p:cBhvr>
                                      <p:to>
                                        <p:strVal val="visible"/>
                                      </p:to>
                                    </p:set>
                                    <p:animEffect transition="in" filter="fade">
                                      <p:cBhvr>
                                        <p:cTn id="69" dur="500"/>
                                        <p:tgtEl>
                                          <p:spTgt spid="2">
                                            <p:txEl>
                                              <p:pRg st="14" end="14"/>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
                                            <p:txEl>
                                              <p:pRg st="0" end="0"/>
                                            </p:txEl>
                                          </p:spTgt>
                                        </p:tgtEl>
                                        <p:attrNameLst>
                                          <p:attrName>style.visibility</p:attrName>
                                        </p:attrNameLst>
                                      </p:cBhvr>
                                      <p:to>
                                        <p:strVal val="visible"/>
                                      </p:to>
                                    </p:set>
                                    <p:animEffect transition="in" filter="fade">
                                      <p:cBhvr>
                                        <p:cTn id="74" dur="500"/>
                                        <p:tgtEl>
                                          <p:spTgt spid="2">
                                            <p:txEl>
                                              <p:pRg st="0" end="0"/>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3">
                                            <p:txEl>
                                              <p:pRg st="5" end="5"/>
                                            </p:txEl>
                                          </p:spTgt>
                                        </p:tgtEl>
                                        <p:attrNameLst>
                                          <p:attrName>style.visibility</p:attrName>
                                        </p:attrNameLst>
                                      </p:cBhvr>
                                      <p:to>
                                        <p:strVal val="visible"/>
                                      </p:to>
                                    </p:set>
                                    <p:animEffect transition="in" filter="fade">
                                      <p:cBhvr>
                                        <p:cTn id="7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18C125-F016-4C63-8EB3-509EDF045CDC}"/>
              </a:ext>
            </a:extLst>
          </p:cNvPr>
          <p:cNvSpPr>
            <a:spLocks noGrp="1"/>
          </p:cNvSpPr>
          <p:nvPr>
            <p:ph sz="quarter" idx="1"/>
          </p:nvPr>
        </p:nvSpPr>
        <p:spPr>
          <a:xfrm>
            <a:off x="533400" y="1143000"/>
            <a:ext cx="11049000" cy="5181600"/>
          </a:xfrm>
        </p:spPr>
        <p:style>
          <a:lnRef idx="2">
            <a:schemeClr val="accent1"/>
          </a:lnRef>
          <a:fillRef idx="1">
            <a:schemeClr val="lt1"/>
          </a:fillRef>
          <a:effectRef idx="0">
            <a:schemeClr val="accent1"/>
          </a:effectRef>
          <a:fontRef idx="minor">
            <a:schemeClr val="dk1"/>
          </a:fontRef>
        </p:style>
        <p:txBody>
          <a:bodyPr>
            <a:normAutofit/>
          </a:bodyPr>
          <a:lstStyle/>
          <a:p>
            <a:r>
              <a:rPr lang="en-IN" dirty="0"/>
              <a:t>We know the </a:t>
            </a:r>
            <a:r>
              <a:rPr lang="en-IN" dirty="0">
                <a:highlight>
                  <a:srgbClr val="00FFFF"/>
                </a:highlight>
              </a:rPr>
              <a:t>applet are programs that reside on web pages. In order to run a Java applet, it is first necessary to have a web page</a:t>
            </a:r>
            <a:r>
              <a:rPr lang="en-IN" dirty="0"/>
              <a:t> that references that applet.</a:t>
            </a:r>
          </a:p>
          <a:p>
            <a:r>
              <a:rPr lang="en-IN" dirty="0">
                <a:highlight>
                  <a:srgbClr val="00FF00"/>
                </a:highlight>
              </a:rPr>
              <a:t>Basically web page made up of text and HTML tags that can be interpreted by web browser or an applet viewer.</a:t>
            </a:r>
          </a:p>
          <a:p>
            <a:r>
              <a:rPr lang="en-IN" dirty="0"/>
              <a:t>A </a:t>
            </a:r>
            <a:r>
              <a:rPr lang="en-IN" dirty="0">
                <a:highlight>
                  <a:srgbClr val="FFFF00"/>
                </a:highlight>
              </a:rPr>
              <a:t>web page also called as HTML page </a:t>
            </a:r>
          </a:p>
          <a:p>
            <a:r>
              <a:rPr lang="en-IN" dirty="0"/>
              <a:t>A </a:t>
            </a:r>
            <a:r>
              <a:rPr lang="en-IN" dirty="0">
                <a:highlight>
                  <a:srgbClr val="FFFF00"/>
                </a:highlight>
              </a:rPr>
              <a:t>web page is marked by an opening HTML tag &lt;HTML&gt; and a closing HTML tag &lt;/HTML&gt; and its divided into three major sections:</a:t>
            </a:r>
          </a:p>
          <a:p>
            <a:pPr marL="514350" indent="-514350">
              <a:buFont typeface="+mj-lt"/>
              <a:buAutoNum type="arabicPeriod"/>
            </a:pPr>
            <a:r>
              <a:rPr lang="en-IN" dirty="0">
                <a:highlight>
                  <a:srgbClr val="00FFFF"/>
                </a:highlight>
              </a:rPr>
              <a:t>Comment Section (Optional)</a:t>
            </a:r>
          </a:p>
          <a:p>
            <a:pPr marL="514350" indent="-514350">
              <a:buFont typeface="+mj-lt"/>
              <a:buAutoNum type="arabicPeriod"/>
            </a:pPr>
            <a:r>
              <a:rPr lang="en-IN" dirty="0">
                <a:highlight>
                  <a:srgbClr val="00FFFF"/>
                </a:highlight>
              </a:rPr>
              <a:t>Head Section ( Optional)</a:t>
            </a:r>
          </a:p>
          <a:p>
            <a:pPr marL="514350" indent="-514350">
              <a:buFont typeface="+mj-lt"/>
              <a:buAutoNum type="arabicPeriod"/>
            </a:pPr>
            <a:r>
              <a:rPr lang="en-IN" dirty="0">
                <a:highlight>
                  <a:srgbClr val="00FFFF"/>
                </a:highlight>
              </a:rPr>
              <a:t>Body Section </a:t>
            </a:r>
          </a:p>
        </p:txBody>
      </p:sp>
      <p:pic>
        <p:nvPicPr>
          <p:cNvPr id="4" name="Picture 3">
            <a:extLst>
              <a:ext uri="{FF2B5EF4-FFF2-40B4-BE49-F238E27FC236}">
                <a16:creationId xmlns:a16="http://schemas.microsoft.com/office/drawing/2014/main" id="{4685BFB6-9806-463B-BD2E-1314ED224CC7}"/>
              </a:ext>
            </a:extLst>
          </p:cNvPr>
          <p:cNvPicPr>
            <a:picLocks noChangeAspect="1"/>
          </p:cNvPicPr>
          <p:nvPr/>
        </p:nvPicPr>
        <p:blipFill>
          <a:blip r:embed="rId2"/>
          <a:stretch>
            <a:fillRect/>
          </a:stretch>
        </p:blipFill>
        <p:spPr>
          <a:xfrm>
            <a:off x="369529" y="153755"/>
            <a:ext cx="937341" cy="924686"/>
          </a:xfrm>
          <a:prstGeom prst="rect">
            <a:avLst/>
          </a:prstGeom>
        </p:spPr>
      </p:pic>
      <p:sp>
        <p:nvSpPr>
          <p:cNvPr id="5" name="Title 1">
            <a:extLst>
              <a:ext uri="{FF2B5EF4-FFF2-40B4-BE49-F238E27FC236}">
                <a16:creationId xmlns:a16="http://schemas.microsoft.com/office/drawing/2014/main" id="{4C7AD34D-26E1-45EE-B657-F7B0BBFFE09A}"/>
              </a:ext>
            </a:extLst>
          </p:cNvPr>
          <p:cNvSpPr txBox="1">
            <a:spLocks/>
          </p:cNvSpPr>
          <p:nvPr/>
        </p:nvSpPr>
        <p:spPr>
          <a:xfrm>
            <a:off x="1447800" y="153755"/>
            <a:ext cx="10287000" cy="7606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3600" b="1" dirty="0">
                <a:solidFill>
                  <a:prstClr val="black"/>
                </a:solidFill>
                <a:highlight>
                  <a:srgbClr val="FFFF00"/>
                </a:highlight>
                <a:latin typeface="Perpetua"/>
              </a:rPr>
              <a:t>Testing a</a:t>
            </a:r>
            <a:r>
              <a:rPr kumimoji="0" lang="en-US" sz="3600" b="1" i="0" u="none" strike="noStrike" kern="1200" cap="none" spc="0" normalizeH="0" baseline="0" noProof="0" dirty="0">
                <a:ln>
                  <a:noFill/>
                </a:ln>
                <a:solidFill>
                  <a:prstClr val="black"/>
                </a:solidFill>
                <a:effectLst/>
                <a:highlight>
                  <a:srgbClr val="FFFF00"/>
                </a:highlight>
                <a:uLnTx/>
                <a:uFillTx/>
                <a:latin typeface="Perpetua"/>
                <a:ea typeface="+mn-ea"/>
                <a:cs typeface="+mn-cs"/>
              </a:rPr>
              <a:t> Applet Code </a:t>
            </a:r>
            <a:endParaRPr kumimoji="0" lang="en-US" sz="3600" b="0" i="0" u="none" strike="noStrike" kern="1200" cap="none" spc="0" normalizeH="0" baseline="0" noProof="0" dirty="0">
              <a:ln>
                <a:noFill/>
              </a:ln>
              <a:solidFill>
                <a:prstClr val="black"/>
              </a:solidFill>
              <a:effectLst/>
              <a:highlight>
                <a:srgbClr val="FFFF00"/>
              </a:highlight>
              <a:uLnTx/>
              <a:uFillTx/>
              <a:latin typeface="Perpetua"/>
              <a:ea typeface="+mn-ea"/>
              <a:cs typeface="+mn-cs"/>
            </a:endParaRPr>
          </a:p>
        </p:txBody>
      </p:sp>
    </p:spTree>
    <p:extLst>
      <p:ext uri="{BB962C8B-B14F-4D97-AF65-F5344CB8AC3E}">
        <p14:creationId xmlns:p14="http://schemas.microsoft.com/office/powerpoint/2010/main" val="606075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8EEBAC9-2591-47A4-8641-C4A945E66B54}"/>
              </a:ext>
            </a:extLst>
          </p:cNvPr>
          <p:cNvSpPr/>
          <p:nvPr/>
        </p:nvSpPr>
        <p:spPr>
          <a:xfrm>
            <a:off x="375749" y="1260817"/>
            <a:ext cx="6248400" cy="5257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1"/>
                </a:solidFill>
                <a:effectLst/>
                <a:uLnTx/>
                <a:uFillTx/>
                <a:latin typeface="Perpetua"/>
                <a:ea typeface="+mn-ea"/>
                <a:cs typeface="+mn-cs"/>
              </a:rPr>
              <a:t>&lt;HTML&gt;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latin typeface="Perpetua"/>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Perpetua"/>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latin typeface="Perpetua"/>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Perpetua"/>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latin typeface="Perpetua"/>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Perpetua"/>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latin typeface="Perpetua"/>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Perpetua"/>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latin typeface="Perpetua"/>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Perpetua"/>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latin typeface="Perpetua"/>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Perpetua"/>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latin typeface="Perpetua"/>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Perpetua"/>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latin typeface="Perpetua"/>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Perpetua"/>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latin typeface="Perpetua"/>
              </a:rPr>
              <a:t>&lt;/HTML&gt;</a:t>
            </a:r>
            <a:endParaRPr kumimoji="0" lang="en-US" sz="1800" b="0" i="0" u="none" strike="noStrike" kern="1200" cap="none" spc="0" normalizeH="0" baseline="0" noProof="0" dirty="0">
              <a:ln>
                <a:noFill/>
              </a:ln>
              <a:solidFill>
                <a:schemeClr val="tx1"/>
              </a:solidFill>
              <a:effectLst/>
              <a:uLnTx/>
              <a:uFillTx/>
              <a:latin typeface="Perpetua"/>
            </a:endParaRPr>
          </a:p>
        </p:txBody>
      </p:sp>
      <p:sp>
        <p:nvSpPr>
          <p:cNvPr id="5" name="Rectangle 4">
            <a:extLst>
              <a:ext uri="{FF2B5EF4-FFF2-40B4-BE49-F238E27FC236}">
                <a16:creationId xmlns:a16="http://schemas.microsoft.com/office/drawing/2014/main" id="{CA4DBB9D-3F47-43B9-8397-F53E364BDF17}"/>
              </a:ext>
            </a:extLst>
          </p:cNvPr>
          <p:cNvSpPr/>
          <p:nvPr/>
        </p:nvSpPr>
        <p:spPr>
          <a:xfrm>
            <a:off x="2133600" y="1676400"/>
            <a:ext cx="2514600" cy="12192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t>&lt;!</a:t>
            </a:r>
          </a:p>
          <a:p>
            <a:r>
              <a:rPr lang="en-IN" dirty="0"/>
              <a:t>       ---- -------</a:t>
            </a:r>
          </a:p>
          <a:p>
            <a:r>
              <a:rPr lang="en-IN" dirty="0"/>
              <a:t>       -------------</a:t>
            </a:r>
          </a:p>
          <a:p>
            <a:r>
              <a:rPr lang="en-IN" dirty="0"/>
              <a:t>&gt;</a:t>
            </a:r>
          </a:p>
        </p:txBody>
      </p:sp>
      <p:pic>
        <p:nvPicPr>
          <p:cNvPr id="6" name="Picture 5">
            <a:extLst>
              <a:ext uri="{FF2B5EF4-FFF2-40B4-BE49-F238E27FC236}">
                <a16:creationId xmlns:a16="http://schemas.microsoft.com/office/drawing/2014/main" id="{84C59836-FA3B-4D7B-AB95-6BB4FC5AA4E3}"/>
              </a:ext>
            </a:extLst>
          </p:cNvPr>
          <p:cNvPicPr>
            <a:picLocks noChangeAspect="1"/>
          </p:cNvPicPr>
          <p:nvPr/>
        </p:nvPicPr>
        <p:blipFill>
          <a:blip r:embed="rId2"/>
          <a:stretch>
            <a:fillRect/>
          </a:stretch>
        </p:blipFill>
        <p:spPr>
          <a:xfrm>
            <a:off x="369529" y="153755"/>
            <a:ext cx="937341" cy="924686"/>
          </a:xfrm>
          <a:prstGeom prst="rect">
            <a:avLst/>
          </a:prstGeom>
        </p:spPr>
      </p:pic>
      <p:sp>
        <p:nvSpPr>
          <p:cNvPr id="7" name="Title 1">
            <a:extLst>
              <a:ext uri="{FF2B5EF4-FFF2-40B4-BE49-F238E27FC236}">
                <a16:creationId xmlns:a16="http://schemas.microsoft.com/office/drawing/2014/main" id="{BAB59E96-7D28-4399-AA76-FA1E09AD217B}"/>
              </a:ext>
            </a:extLst>
          </p:cNvPr>
          <p:cNvSpPr txBox="1">
            <a:spLocks/>
          </p:cNvSpPr>
          <p:nvPr/>
        </p:nvSpPr>
        <p:spPr>
          <a:xfrm>
            <a:off x="1447800" y="153755"/>
            <a:ext cx="10287000" cy="7606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3600" b="1" dirty="0">
                <a:solidFill>
                  <a:prstClr val="black"/>
                </a:solidFill>
                <a:highlight>
                  <a:srgbClr val="FFFF00"/>
                </a:highlight>
                <a:latin typeface="Perpetua"/>
              </a:rPr>
              <a:t>Testing a</a:t>
            </a:r>
            <a:r>
              <a:rPr kumimoji="0" lang="en-US" sz="3600" b="1" i="0" u="none" strike="noStrike" kern="1200" cap="none" spc="0" normalizeH="0" baseline="0" noProof="0" dirty="0">
                <a:ln>
                  <a:noFill/>
                </a:ln>
                <a:solidFill>
                  <a:prstClr val="black"/>
                </a:solidFill>
                <a:effectLst/>
                <a:highlight>
                  <a:srgbClr val="FFFF00"/>
                </a:highlight>
                <a:uLnTx/>
                <a:uFillTx/>
                <a:latin typeface="Perpetua"/>
                <a:ea typeface="+mn-ea"/>
                <a:cs typeface="+mn-cs"/>
              </a:rPr>
              <a:t> Applet Code </a:t>
            </a:r>
            <a:endParaRPr kumimoji="0" lang="en-US" sz="3600" b="0" i="0" u="none" strike="noStrike" kern="1200" cap="none" spc="0" normalizeH="0" baseline="0" noProof="0" dirty="0">
              <a:ln>
                <a:noFill/>
              </a:ln>
              <a:solidFill>
                <a:prstClr val="black"/>
              </a:solidFill>
              <a:effectLst/>
              <a:highlight>
                <a:srgbClr val="FFFF00"/>
              </a:highlight>
              <a:uLnTx/>
              <a:uFillTx/>
              <a:latin typeface="Perpetua"/>
              <a:ea typeface="+mn-ea"/>
              <a:cs typeface="+mn-cs"/>
            </a:endParaRPr>
          </a:p>
        </p:txBody>
      </p:sp>
      <p:sp>
        <p:nvSpPr>
          <p:cNvPr id="8" name="Rectangle 7">
            <a:extLst>
              <a:ext uri="{FF2B5EF4-FFF2-40B4-BE49-F238E27FC236}">
                <a16:creationId xmlns:a16="http://schemas.microsoft.com/office/drawing/2014/main" id="{C76ADB1C-93AB-4D27-899A-327C3488CB0A}"/>
              </a:ext>
            </a:extLst>
          </p:cNvPr>
          <p:cNvSpPr/>
          <p:nvPr/>
        </p:nvSpPr>
        <p:spPr>
          <a:xfrm>
            <a:off x="2102498" y="3159935"/>
            <a:ext cx="2514600" cy="12192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t>&lt;HEAD&gt;</a:t>
            </a:r>
          </a:p>
          <a:p>
            <a:r>
              <a:rPr lang="en-IN" dirty="0"/>
              <a:t>               Title Tag</a:t>
            </a:r>
          </a:p>
          <a:p>
            <a:r>
              <a:rPr lang="en-IN" dirty="0"/>
              <a:t>&lt;/HEAD&gt;</a:t>
            </a:r>
          </a:p>
        </p:txBody>
      </p:sp>
      <p:sp>
        <p:nvSpPr>
          <p:cNvPr id="9" name="Rectangle 8">
            <a:extLst>
              <a:ext uri="{FF2B5EF4-FFF2-40B4-BE49-F238E27FC236}">
                <a16:creationId xmlns:a16="http://schemas.microsoft.com/office/drawing/2014/main" id="{323EE196-C1DF-4218-A410-4C8C3DC6CD89}"/>
              </a:ext>
            </a:extLst>
          </p:cNvPr>
          <p:cNvSpPr/>
          <p:nvPr/>
        </p:nvSpPr>
        <p:spPr>
          <a:xfrm>
            <a:off x="2102498" y="4679237"/>
            <a:ext cx="2514600" cy="12192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t>&lt;BODY&gt;</a:t>
            </a:r>
          </a:p>
          <a:p>
            <a:r>
              <a:rPr lang="en-IN" dirty="0"/>
              <a:t>               Applet Tag</a:t>
            </a:r>
          </a:p>
          <a:p>
            <a:r>
              <a:rPr lang="en-IN" dirty="0"/>
              <a:t>&lt;/BODY&gt;</a:t>
            </a:r>
          </a:p>
        </p:txBody>
      </p:sp>
      <p:cxnSp>
        <p:nvCxnSpPr>
          <p:cNvPr id="11" name="Straight Arrow Connector 10">
            <a:extLst>
              <a:ext uri="{FF2B5EF4-FFF2-40B4-BE49-F238E27FC236}">
                <a16:creationId xmlns:a16="http://schemas.microsoft.com/office/drawing/2014/main" id="{7ED343BD-DEE9-4107-A167-524A858FED08}"/>
              </a:ext>
            </a:extLst>
          </p:cNvPr>
          <p:cNvCxnSpPr>
            <a:cxnSpLocks/>
          </p:cNvCxnSpPr>
          <p:nvPr/>
        </p:nvCxnSpPr>
        <p:spPr>
          <a:xfrm flipH="1">
            <a:off x="4800600" y="2209800"/>
            <a:ext cx="35814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4" name="Straight Arrow Connector 13">
            <a:extLst>
              <a:ext uri="{FF2B5EF4-FFF2-40B4-BE49-F238E27FC236}">
                <a16:creationId xmlns:a16="http://schemas.microsoft.com/office/drawing/2014/main" id="{04E76451-98E6-49AE-B727-4F680EC6A2FB}"/>
              </a:ext>
            </a:extLst>
          </p:cNvPr>
          <p:cNvCxnSpPr>
            <a:cxnSpLocks/>
          </p:cNvCxnSpPr>
          <p:nvPr/>
        </p:nvCxnSpPr>
        <p:spPr>
          <a:xfrm flipH="1">
            <a:off x="4800600" y="3657600"/>
            <a:ext cx="35052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5" name="Straight Arrow Connector 14">
            <a:extLst>
              <a:ext uri="{FF2B5EF4-FFF2-40B4-BE49-F238E27FC236}">
                <a16:creationId xmlns:a16="http://schemas.microsoft.com/office/drawing/2014/main" id="{D0A3E760-07B4-450D-9A6C-D94C4C13AFE1}"/>
              </a:ext>
            </a:extLst>
          </p:cNvPr>
          <p:cNvCxnSpPr>
            <a:cxnSpLocks/>
          </p:cNvCxnSpPr>
          <p:nvPr/>
        </p:nvCxnSpPr>
        <p:spPr>
          <a:xfrm flipH="1">
            <a:off x="4800600" y="5257799"/>
            <a:ext cx="3505200" cy="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6" name="Rectangle 15">
            <a:extLst>
              <a:ext uri="{FF2B5EF4-FFF2-40B4-BE49-F238E27FC236}">
                <a16:creationId xmlns:a16="http://schemas.microsoft.com/office/drawing/2014/main" id="{9AFA18AF-9DE7-47F6-8482-8CCF574A45D6}"/>
              </a:ext>
            </a:extLst>
          </p:cNvPr>
          <p:cNvSpPr/>
          <p:nvPr/>
        </p:nvSpPr>
        <p:spPr>
          <a:xfrm>
            <a:off x="7130628" y="1300552"/>
            <a:ext cx="2209800" cy="76056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Comment Section</a:t>
            </a:r>
          </a:p>
        </p:txBody>
      </p:sp>
      <p:sp>
        <p:nvSpPr>
          <p:cNvPr id="17" name="Rectangle 16">
            <a:extLst>
              <a:ext uri="{FF2B5EF4-FFF2-40B4-BE49-F238E27FC236}">
                <a16:creationId xmlns:a16="http://schemas.microsoft.com/office/drawing/2014/main" id="{F9FDA09B-02BE-4A0C-8D68-516A4A80C937}"/>
              </a:ext>
            </a:extLst>
          </p:cNvPr>
          <p:cNvSpPr/>
          <p:nvPr/>
        </p:nvSpPr>
        <p:spPr>
          <a:xfrm>
            <a:off x="7130628" y="2717585"/>
            <a:ext cx="2209800" cy="76056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Head Section</a:t>
            </a:r>
          </a:p>
        </p:txBody>
      </p:sp>
      <p:sp>
        <p:nvSpPr>
          <p:cNvPr id="18" name="Rectangle 17">
            <a:extLst>
              <a:ext uri="{FF2B5EF4-FFF2-40B4-BE49-F238E27FC236}">
                <a16:creationId xmlns:a16="http://schemas.microsoft.com/office/drawing/2014/main" id="{DED75DBF-F4A9-464E-9A9F-CA5D77310A1D}"/>
              </a:ext>
            </a:extLst>
          </p:cNvPr>
          <p:cNvSpPr/>
          <p:nvPr/>
        </p:nvSpPr>
        <p:spPr>
          <a:xfrm>
            <a:off x="7130628" y="4293455"/>
            <a:ext cx="2209800" cy="76056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Body Section</a:t>
            </a:r>
          </a:p>
        </p:txBody>
      </p:sp>
      <p:sp>
        <p:nvSpPr>
          <p:cNvPr id="22" name="Rectangle 21">
            <a:extLst>
              <a:ext uri="{FF2B5EF4-FFF2-40B4-BE49-F238E27FC236}">
                <a16:creationId xmlns:a16="http://schemas.microsoft.com/office/drawing/2014/main" id="{E8FC2FE8-24A6-4BBC-8155-45918C1D6E62}"/>
              </a:ext>
            </a:extLst>
          </p:cNvPr>
          <p:cNvSpPr/>
          <p:nvPr/>
        </p:nvSpPr>
        <p:spPr>
          <a:xfrm>
            <a:off x="5000239" y="5410203"/>
            <a:ext cx="6875107" cy="14263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2000" dirty="0">
              <a:solidFill>
                <a:schemeClr val="tx1"/>
              </a:solidFill>
              <a:highlight>
                <a:srgbClr val="00FFFF"/>
              </a:highlight>
            </a:endParaRPr>
          </a:p>
          <a:p>
            <a:r>
              <a:rPr lang="en-IN" sz="2000" dirty="0">
                <a:solidFill>
                  <a:schemeClr val="tx1"/>
                </a:solidFill>
                <a:highlight>
                  <a:srgbClr val="00FFFF"/>
                </a:highlight>
              </a:rPr>
              <a:t>&lt;applet code = “</a:t>
            </a:r>
            <a:r>
              <a:rPr lang="en-IN" sz="2000" dirty="0" err="1">
                <a:solidFill>
                  <a:schemeClr val="tx1"/>
                </a:solidFill>
                <a:highlight>
                  <a:srgbClr val="00FFFF"/>
                </a:highlight>
              </a:rPr>
              <a:t>AppletClassName.class</a:t>
            </a:r>
            <a:r>
              <a:rPr lang="en-IN" sz="2000" dirty="0">
                <a:solidFill>
                  <a:schemeClr val="tx1"/>
                </a:solidFill>
                <a:highlight>
                  <a:srgbClr val="00FFFF"/>
                </a:highlight>
              </a:rPr>
              <a:t>”  width =“300” Height=“300”&gt;</a:t>
            </a:r>
          </a:p>
          <a:p>
            <a:r>
              <a:rPr lang="en-IN" sz="2000" dirty="0">
                <a:solidFill>
                  <a:schemeClr val="tx1"/>
                </a:solidFill>
                <a:highlight>
                  <a:srgbClr val="00FFFF"/>
                </a:highlight>
              </a:rPr>
              <a:t>&lt;/applet&gt;</a:t>
            </a:r>
          </a:p>
          <a:p>
            <a:endParaRPr lang="en-IN" sz="2000" dirty="0">
              <a:solidFill>
                <a:schemeClr val="tx1"/>
              </a:solidFill>
              <a:highlight>
                <a:srgbClr val="00FFFF"/>
              </a:highlight>
            </a:endParaRPr>
          </a:p>
          <a:p>
            <a:pPr algn="ctr"/>
            <a:r>
              <a:rPr lang="en-US" sz="2000" dirty="0">
                <a:solidFill>
                  <a:schemeClr val="tx1"/>
                </a:solidFill>
                <a:highlight>
                  <a:srgbClr val="00FFFF"/>
                </a:highlight>
              </a:rPr>
              <a:t>Save as .html and use </a:t>
            </a:r>
            <a:r>
              <a:rPr lang="en-US" sz="2000" dirty="0" err="1">
                <a:solidFill>
                  <a:schemeClr val="tx1"/>
                </a:solidFill>
                <a:highlight>
                  <a:srgbClr val="00FFFF"/>
                </a:highlight>
              </a:rPr>
              <a:t>appletviewer</a:t>
            </a:r>
            <a:r>
              <a:rPr lang="en-US" sz="2000" dirty="0">
                <a:solidFill>
                  <a:schemeClr val="tx1"/>
                </a:solidFill>
                <a:highlight>
                  <a:srgbClr val="00FFFF"/>
                </a:highlight>
              </a:rPr>
              <a:t> filename.html </a:t>
            </a:r>
            <a:r>
              <a:rPr lang="en-US" sz="2000" dirty="0" err="1">
                <a:solidFill>
                  <a:schemeClr val="tx1"/>
                </a:solidFill>
                <a:highlight>
                  <a:srgbClr val="00FFFF"/>
                </a:highlight>
              </a:rPr>
              <a:t>commaned</a:t>
            </a:r>
            <a:r>
              <a:rPr lang="en-US" sz="2000" dirty="0">
                <a:solidFill>
                  <a:schemeClr val="tx1"/>
                </a:solidFill>
                <a:highlight>
                  <a:srgbClr val="00FFFF"/>
                </a:highlight>
              </a:rPr>
              <a:t> to run our applet code</a:t>
            </a:r>
          </a:p>
          <a:p>
            <a:pPr algn="ctr"/>
            <a:endParaRPr lang="en-IN" sz="2000" dirty="0"/>
          </a:p>
        </p:txBody>
      </p:sp>
    </p:spTree>
    <p:extLst>
      <p:ext uri="{BB962C8B-B14F-4D97-AF65-F5344CB8AC3E}">
        <p14:creationId xmlns:p14="http://schemas.microsoft.com/office/powerpoint/2010/main" val="3169620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xEl>
                                              <p:pRg st="17" end="17"/>
                                            </p:txEl>
                                          </p:spTgt>
                                        </p:tgtEl>
                                        <p:attrNameLst>
                                          <p:attrName>style.visibility</p:attrName>
                                        </p:attrNameLst>
                                      </p:cBhvr>
                                      <p:to>
                                        <p:strVal val="visible"/>
                                      </p:to>
                                    </p:set>
                                    <p:animEffect transition="in" filter="fade">
                                      <p:cBhvr>
                                        <p:cTn id="15" dur="500"/>
                                        <p:tgtEl>
                                          <p:spTgt spid="4">
                                            <p:txEl>
                                              <p:pRg st="17" end="17"/>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par>
                                <p:cTn id="21" presetID="10"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par>
                                <p:cTn id="32" presetID="10" presetClass="entr" presetSubtype="0"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500"/>
                                        <p:tgtEl>
                                          <p:spTgt spid="9"/>
                                        </p:tgtEl>
                                      </p:cBhvr>
                                    </p:animEffect>
                                  </p:childTnLst>
                                </p:cTn>
                              </p:par>
                              <p:par>
                                <p:cTn id="43" presetID="10" presetClass="entr" presetSubtype="0"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500"/>
                                        <p:tgtEl>
                                          <p:spTgt spid="22"/>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2">
                                            <p:txEl>
                                              <p:pRg st="1" end="1"/>
                                            </p:txEl>
                                          </p:spTgt>
                                        </p:tgtEl>
                                        <p:attrNameLst>
                                          <p:attrName>style.visibility</p:attrName>
                                        </p:attrNameLst>
                                      </p:cBhvr>
                                      <p:to>
                                        <p:strVal val="visible"/>
                                      </p:to>
                                    </p:set>
                                    <p:animEffect transition="in" filter="fade">
                                      <p:cBhvr>
                                        <p:cTn id="58" dur="500"/>
                                        <p:tgtEl>
                                          <p:spTgt spid="22">
                                            <p:txEl>
                                              <p:pRg st="1" end="1"/>
                                            </p:txEl>
                                          </p:spTgt>
                                        </p:tgtEl>
                                      </p:cBhvr>
                                    </p:animEffect>
                                  </p:childTnLst>
                                </p:cTn>
                              </p:par>
                              <p:par>
                                <p:cTn id="59" presetID="10" presetClass="entr" presetSubtype="0" fill="hold" nodeType="withEffect">
                                  <p:stCondLst>
                                    <p:cond delay="0"/>
                                  </p:stCondLst>
                                  <p:childTnLst>
                                    <p:set>
                                      <p:cBhvr>
                                        <p:cTn id="60" dur="1" fill="hold">
                                          <p:stCondLst>
                                            <p:cond delay="0"/>
                                          </p:stCondLst>
                                        </p:cTn>
                                        <p:tgtEl>
                                          <p:spTgt spid="22">
                                            <p:txEl>
                                              <p:pRg st="2" end="2"/>
                                            </p:txEl>
                                          </p:spTgt>
                                        </p:tgtEl>
                                        <p:attrNameLst>
                                          <p:attrName>style.visibility</p:attrName>
                                        </p:attrNameLst>
                                      </p:cBhvr>
                                      <p:to>
                                        <p:strVal val="visible"/>
                                      </p:to>
                                    </p:set>
                                    <p:animEffect transition="in" filter="fade">
                                      <p:cBhvr>
                                        <p:cTn id="61" dur="500"/>
                                        <p:tgtEl>
                                          <p:spTgt spid="22">
                                            <p:txEl>
                                              <p:pRg st="2" end="2"/>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2">
                                            <p:txEl>
                                              <p:pRg st="4" end="4"/>
                                            </p:txEl>
                                          </p:spTgt>
                                        </p:tgtEl>
                                        <p:attrNameLst>
                                          <p:attrName>style.visibility</p:attrName>
                                        </p:attrNameLst>
                                      </p:cBhvr>
                                      <p:to>
                                        <p:strVal val="visible"/>
                                      </p:to>
                                    </p:set>
                                    <p:animEffect transition="in" filter="fade">
                                      <p:cBhvr>
                                        <p:cTn id="66" dur="500"/>
                                        <p:tgtEl>
                                          <p:spTgt spid="2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P spid="9" grpId="0" animBg="1"/>
      <p:bldP spid="16" grpId="0" animBg="1"/>
      <p:bldP spid="17" grpId="0" animBg="1"/>
      <p:bldP spid="18" grpId="0" animBg="1"/>
      <p:bldP spid="2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0025FF-CE82-0F92-7757-A42D08A37F5A}"/>
              </a:ext>
            </a:extLst>
          </p:cNvPr>
          <p:cNvPicPr>
            <a:picLocks noChangeAspect="1"/>
          </p:cNvPicPr>
          <p:nvPr/>
        </p:nvPicPr>
        <p:blipFill>
          <a:blip r:embed="rId2"/>
          <a:stretch>
            <a:fillRect/>
          </a:stretch>
        </p:blipFill>
        <p:spPr>
          <a:xfrm>
            <a:off x="304800" y="533400"/>
            <a:ext cx="11634501" cy="5715000"/>
          </a:xfrm>
          <a:prstGeom prst="rect">
            <a:avLst/>
          </a:prstGeom>
        </p:spPr>
      </p:pic>
    </p:spTree>
    <p:extLst>
      <p:ext uri="{BB962C8B-B14F-4D97-AF65-F5344CB8AC3E}">
        <p14:creationId xmlns:p14="http://schemas.microsoft.com/office/powerpoint/2010/main" val="15533329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08732A-AFEF-2FF5-817A-F63E1D4BF376}"/>
              </a:ext>
            </a:extLst>
          </p:cNvPr>
          <p:cNvPicPr>
            <a:picLocks noChangeAspect="1"/>
          </p:cNvPicPr>
          <p:nvPr/>
        </p:nvPicPr>
        <p:blipFill>
          <a:blip r:embed="rId2"/>
          <a:stretch>
            <a:fillRect/>
          </a:stretch>
        </p:blipFill>
        <p:spPr>
          <a:xfrm>
            <a:off x="295422" y="372460"/>
            <a:ext cx="10058400" cy="6113079"/>
          </a:xfrm>
          <a:prstGeom prst="rect">
            <a:avLst/>
          </a:prstGeom>
        </p:spPr>
      </p:pic>
      <p:pic>
        <p:nvPicPr>
          <p:cNvPr id="5" name="Picture 4">
            <a:extLst>
              <a:ext uri="{FF2B5EF4-FFF2-40B4-BE49-F238E27FC236}">
                <a16:creationId xmlns:a16="http://schemas.microsoft.com/office/drawing/2014/main" id="{E77941E4-47F4-9363-86F5-B3F7833F2E00}"/>
              </a:ext>
            </a:extLst>
          </p:cNvPr>
          <p:cNvPicPr>
            <a:picLocks noChangeAspect="1"/>
          </p:cNvPicPr>
          <p:nvPr/>
        </p:nvPicPr>
        <p:blipFill>
          <a:blip r:embed="rId3"/>
          <a:stretch>
            <a:fillRect/>
          </a:stretch>
        </p:blipFill>
        <p:spPr>
          <a:xfrm>
            <a:off x="10363200" y="1600200"/>
            <a:ext cx="1194582" cy="304800"/>
          </a:xfrm>
          <a:prstGeom prst="rect">
            <a:avLst/>
          </a:prstGeom>
        </p:spPr>
      </p:pic>
    </p:spTree>
    <p:extLst>
      <p:ext uri="{BB962C8B-B14F-4D97-AF65-F5344CB8AC3E}">
        <p14:creationId xmlns:p14="http://schemas.microsoft.com/office/powerpoint/2010/main" val="29274017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9E48B3-6096-E6E3-2EAA-0FAF998A0961}"/>
              </a:ext>
            </a:extLst>
          </p:cNvPr>
          <p:cNvPicPr>
            <a:picLocks noChangeAspect="1"/>
          </p:cNvPicPr>
          <p:nvPr/>
        </p:nvPicPr>
        <p:blipFill>
          <a:blip r:embed="rId2"/>
          <a:stretch>
            <a:fillRect/>
          </a:stretch>
        </p:blipFill>
        <p:spPr>
          <a:xfrm>
            <a:off x="381000" y="152399"/>
            <a:ext cx="10591800" cy="6501897"/>
          </a:xfrm>
          <a:prstGeom prst="rect">
            <a:avLst/>
          </a:prstGeom>
        </p:spPr>
      </p:pic>
    </p:spTree>
    <p:extLst>
      <p:ext uri="{BB962C8B-B14F-4D97-AF65-F5344CB8AC3E}">
        <p14:creationId xmlns:p14="http://schemas.microsoft.com/office/powerpoint/2010/main" val="24744520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C5C2F0-DC76-4D07-84AE-E8D145E1EB8C}"/>
              </a:ext>
            </a:extLst>
          </p:cNvPr>
          <p:cNvPicPr>
            <a:picLocks noChangeAspect="1"/>
          </p:cNvPicPr>
          <p:nvPr/>
        </p:nvPicPr>
        <p:blipFill>
          <a:blip r:embed="rId2"/>
          <a:stretch>
            <a:fillRect/>
          </a:stretch>
        </p:blipFill>
        <p:spPr>
          <a:xfrm>
            <a:off x="369529" y="153755"/>
            <a:ext cx="937341" cy="924686"/>
          </a:xfrm>
          <a:prstGeom prst="rect">
            <a:avLst/>
          </a:prstGeom>
        </p:spPr>
      </p:pic>
      <p:sp>
        <p:nvSpPr>
          <p:cNvPr id="5" name="Title 1">
            <a:extLst>
              <a:ext uri="{FF2B5EF4-FFF2-40B4-BE49-F238E27FC236}">
                <a16:creationId xmlns:a16="http://schemas.microsoft.com/office/drawing/2014/main" id="{1E32B8A1-FE09-4214-A70A-9D31FBD196C4}"/>
              </a:ext>
            </a:extLst>
          </p:cNvPr>
          <p:cNvSpPr txBox="1">
            <a:spLocks/>
          </p:cNvSpPr>
          <p:nvPr/>
        </p:nvSpPr>
        <p:spPr>
          <a:xfrm>
            <a:off x="1447800" y="153755"/>
            <a:ext cx="10287000" cy="7606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highlight>
                  <a:srgbClr val="FFFF00"/>
                </a:highlight>
                <a:uLnTx/>
                <a:uFillTx/>
                <a:latin typeface="Perpetua"/>
                <a:ea typeface="+mn-ea"/>
                <a:cs typeface="+mn-cs"/>
              </a:rPr>
              <a:t>Applet Life Cycle </a:t>
            </a:r>
            <a:endParaRPr kumimoji="0" lang="en-US" sz="3600" b="0" i="0" u="none" strike="noStrike" kern="1200" cap="none" spc="0" normalizeH="0" baseline="0" noProof="0" dirty="0">
              <a:ln>
                <a:noFill/>
              </a:ln>
              <a:solidFill>
                <a:prstClr val="black"/>
              </a:solidFill>
              <a:effectLst/>
              <a:highlight>
                <a:srgbClr val="FFFF00"/>
              </a:highlight>
              <a:uLnTx/>
              <a:uFillTx/>
              <a:latin typeface="Perpetua"/>
              <a:ea typeface="+mn-ea"/>
              <a:cs typeface="+mn-cs"/>
            </a:endParaRPr>
          </a:p>
        </p:txBody>
      </p:sp>
      <p:pic>
        <p:nvPicPr>
          <p:cNvPr id="7" name="Picture 6" descr="A close up of a device&#10;&#10;Description automatically generated">
            <a:extLst>
              <a:ext uri="{FF2B5EF4-FFF2-40B4-BE49-F238E27FC236}">
                <a16:creationId xmlns:a16="http://schemas.microsoft.com/office/drawing/2014/main" id="{E9AD19DF-611C-4E24-8E8A-FED6908980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9529" y="1524000"/>
            <a:ext cx="7695238" cy="4114286"/>
          </a:xfrm>
          <a:prstGeom prst="rect">
            <a:avLst/>
          </a:prstGeom>
        </p:spPr>
      </p:pic>
      <p:pic>
        <p:nvPicPr>
          <p:cNvPr id="9" name="Picture 8" descr="A close up of a sign&#10;&#10;Description automatically generated">
            <a:extLst>
              <a:ext uri="{FF2B5EF4-FFF2-40B4-BE49-F238E27FC236}">
                <a16:creationId xmlns:a16="http://schemas.microsoft.com/office/drawing/2014/main" id="{98E90A43-545E-4C0F-9664-32B5F38092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34400" y="1078441"/>
            <a:ext cx="2867025" cy="5563955"/>
          </a:xfrm>
          <a:prstGeom prst="rect">
            <a:avLst/>
          </a:prstGeom>
        </p:spPr>
      </p:pic>
    </p:spTree>
    <p:extLst>
      <p:ext uri="{BB962C8B-B14F-4D97-AF65-F5344CB8AC3E}">
        <p14:creationId xmlns:p14="http://schemas.microsoft.com/office/powerpoint/2010/main" val="21097572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97916C-26ED-C8CD-33DD-E13839A5C0D4}"/>
              </a:ext>
            </a:extLst>
          </p:cNvPr>
          <p:cNvSpPr>
            <a:spLocks noGrp="1"/>
          </p:cNvSpPr>
          <p:nvPr>
            <p:ph sz="quarter" idx="1"/>
          </p:nvPr>
        </p:nvSpPr>
        <p:spPr>
          <a:xfrm>
            <a:off x="533400" y="1447800"/>
            <a:ext cx="11049000" cy="4572000"/>
          </a:xfrm>
        </p:spPr>
        <p:txBody>
          <a:bodyPr>
            <a:normAutofit fontScale="92500" lnSpcReduction="20000"/>
          </a:bodyPr>
          <a:lstStyle/>
          <a:p>
            <a:r>
              <a:rPr lang="en-US" sz="3200" dirty="0">
                <a:highlight>
                  <a:srgbClr val="FFFF00"/>
                </a:highlight>
              </a:rPr>
              <a:t>public void </a:t>
            </a:r>
            <a:r>
              <a:rPr lang="en-US" sz="3200" dirty="0" err="1">
                <a:highlight>
                  <a:srgbClr val="FFFF00"/>
                </a:highlight>
              </a:rPr>
              <a:t>init</a:t>
            </a:r>
            <a:r>
              <a:rPr lang="en-US" sz="3200" dirty="0">
                <a:highlight>
                  <a:srgbClr val="FFFF00"/>
                </a:highlight>
              </a:rPr>
              <a:t>() </a:t>
            </a:r>
            <a:r>
              <a:rPr lang="en-US" sz="3200" dirty="0"/>
              <a:t>– To initialize or pass input to an applet</a:t>
            </a:r>
          </a:p>
          <a:p>
            <a:endParaRPr lang="en-US" sz="3200" dirty="0"/>
          </a:p>
          <a:p>
            <a:r>
              <a:rPr lang="en-US" sz="3200" dirty="0">
                <a:highlight>
                  <a:srgbClr val="FFFF00"/>
                </a:highlight>
              </a:rPr>
              <a:t>public void start()- </a:t>
            </a:r>
            <a:r>
              <a:rPr lang="en-US" sz="3200" dirty="0"/>
              <a:t>start() called after the </a:t>
            </a:r>
            <a:r>
              <a:rPr lang="en-US" sz="3200" dirty="0" err="1"/>
              <a:t>init</a:t>
            </a:r>
            <a:r>
              <a:rPr lang="en-US" sz="3200" dirty="0"/>
              <a:t>() method and it starts an applet</a:t>
            </a:r>
          </a:p>
          <a:p>
            <a:endParaRPr lang="en-US" sz="3200" dirty="0"/>
          </a:p>
          <a:p>
            <a:r>
              <a:rPr lang="en-US" sz="3200" dirty="0">
                <a:highlight>
                  <a:srgbClr val="FFFF00"/>
                </a:highlight>
              </a:rPr>
              <a:t>public void stop()- </a:t>
            </a:r>
            <a:r>
              <a:rPr lang="en-US" sz="3200" dirty="0"/>
              <a:t>To stop running applet</a:t>
            </a:r>
          </a:p>
          <a:p>
            <a:endParaRPr lang="en-US" sz="3200" dirty="0"/>
          </a:p>
          <a:p>
            <a:r>
              <a:rPr lang="en-US" sz="3200" dirty="0">
                <a:highlight>
                  <a:srgbClr val="FFFF00"/>
                </a:highlight>
              </a:rPr>
              <a:t>public void paint(Graphics G)- </a:t>
            </a:r>
            <a:r>
              <a:rPr lang="en-US" sz="3200" dirty="0"/>
              <a:t>To draw something within an applet</a:t>
            </a:r>
          </a:p>
          <a:p>
            <a:endParaRPr lang="en-US" sz="3200" dirty="0"/>
          </a:p>
          <a:p>
            <a:r>
              <a:rPr lang="en-US" sz="3200" dirty="0">
                <a:highlight>
                  <a:srgbClr val="FFFF00"/>
                </a:highlight>
              </a:rPr>
              <a:t>Public void destroy() </a:t>
            </a:r>
            <a:r>
              <a:rPr lang="en-US" sz="3200" dirty="0"/>
              <a:t>– To remove an applet from memory completely</a:t>
            </a:r>
          </a:p>
          <a:p>
            <a:endParaRPr lang="en-US" sz="3200" dirty="0"/>
          </a:p>
        </p:txBody>
      </p:sp>
      <p:pic>
        <p:nvPicPr>
          <p:cNvPr id="4" name="Picture 3">
            <a:extLst>
              <a:ext uri="{FF2B5EF4-FFF2-40B4-BE49-F238E27FC236}">
                <a16:creationId xmlns:a16="http://schemas.microsoft.com/office/drawing/2014/main" id="{81FA5EB5-CB3C-FD3A-D7CA-090F8A69551C}"/>
              </a:ext>
            </a:extLst>
          </p:cNvPr>
          <p:cNvPicPr>
            <a:picLocks noChangeAspect="1"/>
          </p:cNvPicPr>
          <p:nvPr/>
        </p:nvPicPr>
        <p:blipFill>
          <a:blip r:embed="rId2"/>
          <a:stretch>
            <a:fillRect/>
          </a:stretch>
        </p:blipFill>
        <p:spPr>
          <a:xfrm>
            <a:off x="369529" y="153755"/>
            <a:ext cx="937341" cy="924686"/>
          </a:xfrm>
          <a:prstGeom prst="rect">
            <a:avLst/>
          </a:prstGeom>
        </p:spPr>
      </p:pic>
      <p:sp>
        <p:nvSpPr>
          <p:cNvPr id="5" name="Title 1">
            <a:extLst>
              <a:ext uri="{FF2B5EF4-FFF2-40B4-BE49-F238E27FC236}">
                <a16:creationId xmlns:a16="http://schemas.microsoft.com/office/drawing/2014/main" id="{6FC1553A-F899-609F-8DB8-E31170ACB90B}"/>
              </a:ext>
            </a:extLst>
          </p:cNvPr>
          <p:cNvSpPr txBox="1">
            <a:spLocks/>
          </p:cNvSpPr>
          <p:nvPr/>
        </p:nvSpPr>
        <p:spPr>
          <a:xfrm>
            <a:off x="1447800" y="153755"/>
            <a:ext cx="10287000" cy="7606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3600" b="1" dirty="0">
                <a:solidFill>
                  <a:prstClr val="black"/>
                </a:solidFill>
                <a:highlight>
                  <a:srgbClr val="FFFF00"/>
                </a:highlight>
                <a:latin typeface="Perpetua"/>
              </a:rPr>
              <a:t>Basic Methods of Applet</a:t>
            </a:r>
            <a:r>
              <a:rPr kumimoji="0" lang="en-US" sz="3600" b="1" i="0" u="none" strike="noStrike" kern="1200" cap="none" spc="0" normalizeH="0" baseline="0" noProof="0" dirty="0">
                <a:ln>
                  <a:noFill/>
                </a:ln>
                <a:solidFill>
                  <a:prstClr val="black"/>
                </a:solidFill>
                <a:effectLst/>
                <a:highlight>
                  <a:srgbClr val="FFFF00"/>
                </a:highlight>
                <a:uLnTx/>
                <a:uFillTx/>
                <a:latin typeface="Perpetua"/>
                <a:ea typeface="+mn-ea"/>
                <a:cs typeface="+mn-cs"/>
              </a:rPr>
              <a:t> </a:t>
            </a:r>
            <a:endParaRPr kumimoji="0" lang="en-US" sz="3600" b="0" i="0" u="none" strike="noStrike" kern="1200" cap="none" spc="0" normalizeH="0" baseline="0" noProof="0" dirty="0">
              <a:ln>
                <a:noFill/>
              </a:ln>
              <a:solidFill>
                <a:prstClr val="black"/>
              </a:solidFill>
              <a:effectLst/>
              <a:highlight>
                <a:srgbClr val="FFFF00"/>
              </a:highlight>
              <a:uLnTx/>
              <a:uFillTx/>
              <a:latin typeface="Perpetua"/>
              <a:ea typeface="+mn-ea"/>
              <a:cs typeface="+mn-cs"/>
            </a:endParaRPr>
          </a:p>
        </p:txBody>
      </p:sp>
    </p:spTree>
    <p:extLst>
      <p:ext uri="{BB962C8B-B14F-4D97-AF65-F5344CB8AC3E}">
        <p14:creationId xmlns:p14="http://schemas.microsoft.com/office/powerpoint/2010/main" val="6195272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203AB0-ED7D-8C6F-61F1-7EF1446F0ED6}"/>
              </a:ext>
            </a:extLst>
          </p:cNvPr>
          <p:cNvPicPr>
            <a:picLocks noChangeAspect="1"/>
          </p:cNvPicPr>
          <p:nvPr/>
        </p:nvPicPr>
        <p:blipFill>
          <a:blip r:embed="rId2"/>
          <a:stretch>
            <a:fillRect/>
          </a:stretch>
        </p:blipFill>
        <p:spPr>
          <a:xfrm>
            <a:off x="304800" y="281500"/>
            <a:ext cx="10544176" cy="4225424"/>
          </a:xfrm>
          <a:prstGeom prst="rect">
            <a:avLst/>
          </a:prstGeom>
        </p:spPr>
      </p:pic>
      <p:pic>
        <p:nvPicPr>
          <p:cNvPr id="5" name="Picture 4">
            <a:extLst>
              <a:ext uri="{FF2B5EF4-FFF2-40B4-BE49-F238E27FC236}">
                <a16:creationId xmlns:a16="http://schemas.microsoft.com/office/drawing/2014/main" id="{9D6F834E-A03A-1966-BE7D-ACD43163B79A}"/>
              </a:ext>
            </a:extLst>
          </p:cNvPr>
          <p:cNvPicPr>
            <a:picLocks noChangeAspect="1"/>
          </p:cNvPicPr>
          <p:nvPr/>
        </p:nvPicPr>
        <p:blipFill>
          <a:blip r:embed="rId3"/>
          <a:stretch>
            <a:fillRect/>
          </a:stretch>
        </p:blipFill>
        <p:spPr>
          <a:xfrm>
            <a:off x="736209" y="4572000"/>
            <a:ext cx="10112767" cy="1371600"/>
          </a:xfrm>
          <a:prstGeom prst="rect">
            <a:avLst/>
          </a:prstGeom>
        </p:spPr>
      </p:pic>
    </p:spTree>
    <p:extLst>
      <p:ext uri="{BB962C8B-B14F-4D97-AF65-F5344CB8AC3E}">
        <p14:creationId xmlns:p14="http://schemas.microsoft.com/office/powerpoint/2010/main" val="26495580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388018-DF32-892F-DED2-3D8EB166ABB3}"/>
              </a:ext>
            </a:extLst>
          </p:cNvPr>
          <p:cNvPicPr>
            <a:picLocks noChangeAspect="1"/>
          </p:cNvPicPr>
          <p:nvPr/>
        </p:nvPicPr>
        <p:blipFill>
          <a:blip r:embed="rId2"/>
          <a:stretch>
            <a:fillRect/>
          </a:stretch>
        </p:blipFill>
        <p:spPr>
          <a:xfrm>
            <a:off x="409941" y="381000"/>
            <a:ext cx="11372118" cy="5715000"/>
          </a:xfrm>
          <a:prstGeom prst="rect">
            <a:avLst/>
          </a:prstGeom>
        </p:spPr>
      </p:pic>
    </p:spTree>
    <p:extLst>
      <p:ext uri="{BB962C8B-B14F-4D97-AF65-F5344CB8AC3E}">
        <p14:creationId xmlns:p14="http://schemas.microsoft.com/office/powerpoint/2010/main" val="27076232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05E49C-57E9-CB54-42B0-F8D5FD7B05EF}"/>
              </a:ext>
            </a:extLst>
          </p:cNvPr>
          <p:cNvPicPr>
            <a:picLocks noChangeAspect="1"/>
          </p:cNvPicPr>
          <p:nvPr/>
        </p:nvPicPr>
        <p:blipFill>
          <a:blip r:embed="rId2"/>
          <a:stretch>
            <a:fillRect/>
          </a:stretch>
        </p:blipFill>
        <p:spPr>
          <a:xfrm>
            <a:off x="457200" y="381000"/>
            <a:ext cx="11453183" cy="5562600"/>
          </a:xfrm>
          <a:prstGeom prst="rect">
            <a:avLst/>
          </a:prstGeom>
        </p:spPr>
      </p:pic>
    </p:spTree>
    <p:extLst>
      <p:ext uri="{BB962C8B-B14F-4D97-AF65-F5344CB8AC3E}">
        <p14:creationId xmlns:p14="http://schemas.microsoft.com/office/powerpoint/2010/main" val="6882464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442693C-FFB9-5DE0-32EE-DA02D78B07D3}"/>
              </a:ext>
            </a:extLst>
          </p:cNvPr>
          <p:cNvPicPr>
            <a:picLocks noChangeAspect="1"/>
          </p:cNvPicPr>
          <p:nvPr/>
        </p:nvPicPr>
        <p:blipFill>
          <a:blip r:embed="rId2"/>
          <a:stretch>
            <a:fillRect/>
          </a:stretch>
        </p:blipFill>
        <p:spPr>
          <a:xfrm>
            <a:off x="535556" y="457200"/>
            <a:ext cx="11120887" cy="5334000"/>
          </a:xfrm>
          <a:prstGeom prst="rect">
            <a:avLst/>
          </a:prstGeom>
        </p:spPr>
      </p:pic>
    </p:spTree>
    <p:extLst>
      <p:ext uri="{BB962C8B-B14F-4D97-AF65-F5344CB8AC3E}">
        <p14:creationId xmlns:p14="http://schemas.microsoft.com/office/powerpoint/2010/main" val="21672498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EDE1DF90-BCD2-4DC6-2253-B5C1C076D0F8}"/>
              </a:ext>
            </a:extLst>
          </p:cNvPr>
          <p:cNvPicPr>
            <a:picLocks noGrp="1" noChangeAspect="1"/>
          </p:cNvPicPr>
          <p:nvPr>
            <p:ph sz="quarter" idx="1"/>
          </p:nvPr>
        </p:nvPicPr>
        <p:blipFill>
          <a:blip r:embed="rId2"/>
          <a:stretch>
            <a:fillRect/>
          </a:stretch>
        </p:blipFill>
        <p:spPr>
          <a:xfrm>
            <a:off x="9601200" y="2324100"/>
            <a:ext cx="2286000" cy="2209800"/>
          </a:xfrm>
        </p:spPr>
      </p:pic>
      <p:pic>
        <p:nvPicPr>
          <p:cNvPr id="8" name="Picture 7">
            <a:extLst>
              <a:ext uri="{FF2B5EF4-FFF2-40B4-BE49-F238E27FC236}">
                <a16:creationId xmlns:a16="http://schemas.microsoft.com/office/drawing/2014/main" id="{EE6F618A-9199-4207-3D04-B6E9E0FDDE0F}"/>
              </a:ext>
            </a:extLst>
          </p:cNvPr>
          <p:cNvPicPr>
            <a:picLocks noChangeAspect="1"/>
          </p:cNvPicPr>
          <p:nvPr/>
        </p:nvPicPr>
        <p:blipFill>
          <a:blip r:embed="rId3"/>
          <a:stretch>
            <a:fillRect/>
          </a:stretch>
        </p:blipFill>
        <p:spPr>
          <a:xfrm>
            <a:off x="457200" y="342900"/>
            <a:ext cx="8810625" cy="6172200"/>
          </a:xfrm>
          <a:prstGeom prst="rect">
            <a:avLst/>
          </a:prstGeom>
        </p:spPr>
      </p:pic>
    </p:spTree>
    <p:extLst>
      <p:ext uri="{BB962C8B-B14F-4D97-AF65-F5344CB8AC3E}">
        <p14:creationId xmlns:p14="http://schemas.microsoft.com/office/powerpoint/2010/main" val="8651470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3662ED3-A9CB-4AE2-8613-95F90279EC11}"/>
              </a:ext>
            </a:extLst>
          </p:cNvPr>
          <p:cNvSpPr/>
          <p:nvPr/>
        </p:nvSpPr>
        <p:spPr>
          <a:xfrm>
            <a:off x="381000" y="762000"/>
            <a:ext cx="7239000" cy="586739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highlight>
                  <a:srgbClr val="00FF00"/>
                </a:highlight>
                <a:uLnTx/>
                <a:uFillTx/>
                <a:latin typeface="Perpetua"/>
                <a:ea typeface="+mn-ea"/>
                <a:cs typeface="+mn-cs"/>
              </a:rPr>
              <a:t>import </a:t>
            </a:r>
            <a:r>
              <a:rPr kumimoji="0" lang="en-IN" sz="2000" b="0" i="0" u="none" strike="noStrike" kern="1200" cap="none" spc="0" normalizeH="0" baseline="0" noProof="0" dirty="0" err="1">
                <a:ln>
                  <a:noFill/>
                </a:ln>
                <a:solidFill>
                  <a:prstClr val="black"/>
                </a:solidFill>
                <a:effectLst/>
                <a:highlight>
                  <a:srgbClr val="00FF00"/>
                </a:highlight>
                <a:uLnTx/>
                <a:uFillTx/>
                <a:latin typeface="Perpetua"/>
                <a:ea typeface="+mn-ea"/>
                <a:cs typeface="+mn-cs"/>
              </a:rPr>
              <a:t>java.awt</a:t>
            </a:r>
            <a:r>
              <a:rPr kumimoji="0" lang="en-IN" sz="2000" b="0" i="0" u="none" strike="noStrike" kern="1200" cap="none" spc="0" normalizeH="0" baseline="0" noProof="0" dirty="0">
                <a:ln>
                  <a:noFill/>
                </a:ln>
                <a:solidFill>
                  <a:prstClr val="black"/>
                </a:solidFill>
                <a:effectLst/>
                <a:highlight>
                  <a:srgbClr val="00FF00"/>
                </a:highlight>
                <a:uLnTx/>
                <a:uFillTx/>
                <a:latin typeface="Perpetua"/>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highlight>
                  <a:srgbClr val="00FF00"/>
                </a:highlight>
                <a:uLnTx/>
                <a:uFillTx/>
                <a:latin typeface="Perpetua"/>
                <a:ea typeface="+mn-ea"/>
                <a:cs typeface="+mn-cs"/>
              </a:rPr>
              <a:t>import </a:t>
            </a:r>
            <a:r>
              <a:rPr kumimoji="0" lang="en-IN" sz="2000" b="0" i="0" u="none" strike="noStrike" kern="1200" cap="none" spc="0" normalizeH="0" baseline="0" noProof="0" dirty="0" err="1">
                <a:ln>
                  <a:noFill/>
                </a:ln>
                <a:solidFill>
                  <a:prstClr val="black"/>
                </a:solidFill>
                <a:effectLst/>
                <a:highlight>
                  <a:srgbClr val="00FF00"/>
                </a:highlight>
                <a:uLnTx/>
                <a:uFillTx/>
                <a:latin typeface="Perpetua"/>
                <a:ea typeface="+mn-ea"/>
                <a:cs typeface="+mn-cs"/>
              </a:rPr>
              <a:t>java.applet</a:t>
            </a:r>
            <a:r>
              <a:rPr kumimoji="0" lang="en-IN" sz="2000" b="0" i="0" u="none" strike="noStrike" kern="1200" cap="none" spc="0" normalizeH="0" baseline="0" noProof="0" dirty="0">
                <a:ln>
                  <a:noFill/>
                </a:ln>
                <a:solidFill>
                  <a:prstClr val="black"/>
                </a:solidFill>
                <a:effectLst/>
                <a:highlight>
                  <a:srgbClr val="00FF00"/>
                </a:highlight>
                <a:uLnTx/>
                <a:uFillTx/>
                <a:latin typeface="Perpetua"/>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highlight>
                  <a:srgbClr val="00FF00"/>
                </a:highlight>
                <a:uLnTx/>
                <a:uFillTx/>
                <a:latin typeface="Perpetua"/>
                <a:ea typeface="+mn-ea"/>
                <a:cs typeface="+mn-cs"/>
              </a:rPr>
              <a:t>public class </a:t>
            </a:r>
            <a:r>
              <a:rPr kumimoji="0" lang="en-IN" sz="2000" b="0" i="0" u="none" strike="noStrike" kern="1200" cap="none" spc="0" normalizeH="0" baseline="0" noProof="0" dirty="0" err="1">
                <a:ln>
                  <a:noFill/>
                </a:ln>
                <a:solidFill>
                  <a:prstClr val="black"/>
                </a:solidFill>
                <a:effectLst/>
                <a:highlight>
                  <a:srgbClr val="00FF00"/>
                </a:highlight>
                <a:uLnTx/>
                <a:uFillTx/>
                <a:latin typeface="Perpetua"/>
                <a:ea typeface="+mn-ea"/>
                <a:cs typeface="+mn-cs"/>
              </a:rPr>
              <a:t>HelloJava</a:t>
            </a:r>
            <a:r>
              <a:rPr kumimoji="0" lang="en-IN" sz="2000" b="0" i="0" u="none" strike="noStrike" kern="1200" cap="none" spc="0" normalizeH="0" baseline="0" noProof="0" dirty="0">
                <a:ln>
                  <a:noFill/>
                </a:ln>
                <a:solidFill>
                  <a:prstClr val="black"/>
                </a:solidFill>
                <a:effectLst/>
                <a:highlight>
                  <a:srgbClr val="00FF00"/>
                </a:highlight>
                <a:uLnTx/>
                <a:uFillTx/>
                <a:latin typeface="Perpetua"/>
                <a:ea typeface="+mn-ea"/>
                <a:cs typeface="+mn-cs"/>
              </a:rPr>
              <a:t> extends Applet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highlight>
                  <a:srgbClr val="00FF00"/>
                </a:highlight>
                <a:uLnTx/>
                <a:uFillTx/>
                <a:latin typeface="Perpetua"/>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highlight>
                  <a:srgbClr val="00FF00"/>
                </a:highlight>
                <a:uLnTx/>
                <a:uFillTx/>
                <a:latin typeface="Perpetua"/>
                <a:ea typeface="+mn-ea"/>
                <a:cs typeface="+mn-cs"/>
              </a:rPr>
              <a:t>      public void paint(Graphics 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highlight>
                  <a:srgbClr val="00FF00"/>
                </a:highlight>
                <a:uLnTx/>
                <a:uFillTx/>
                <a:latin typeface="Perpetua"/>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highlight>
                  <a:srgbClr val="00FF00"/>
                </a:highlight>
                <a:uLnTx/>
                <a:uFillTx/>
                <a:latin typeface="Perpetua"/>
                <a:ea typeface="+mn-ea"/>
                <a:cs typeface="+mn-cs"/>
              </a:rPr>
              <a:t>       </a:t>
            </a:r>
            <a:r>
              <a:rPr kumimoji="0" lang="en-IN" sz="2000" b="0" i="0" u="none" strike="noStrike" kern="1200" cap="none" spc="0" normalizeH="0" baseline="0" noProof="0" dirty="0" err="1">
                <a:ln>
                  <a:noFill/>
                </a:ln>
                <a:solidFill>
                  <a:prstClr val="black"/>
                </a:solidFill>
                <a:effectLst/>
                <a:highlight>
                  <a:srgbClr val="00FF00"/>
                </a:highlight>
                <a:uLnTx/>
                <a:uFillTx/>
                <a:latin typeface="Perpetua"/>
                <a:ea typeface="+mn-ea"/>
                <a:cs typeface="+mn-cs"/>
              </a:rPr>
              <a:t>g.drawString</a:t>
            </a:r>
            <a:r>
              <a:rPr kumimoji="0" lang="en-IN" sz="2000" b="0" i="0" u="none" strike="noStrike" kern="1200" cap="none" spc="0" normalizeH="0" baseline="0" noProof="0" dirty="0">
                <a:ln>
                  <a:noFill/>
                </a:ln>
                <a:solidFill>
                  <a:prstClr val="black"/>
                </a:solidFill>
                <a:effectLst/>
                <a:highlight>
                  <a:srgbClr val="00FF00"/>
                </a:highlight>
                <a:uLnTx/>
                <a:uFillTx/>
                <a:latin typeface="Perpetua"/>
                <a:ea typeface="+mn-ea"/>
                <a:cs typeface="+mn-cs"/>
              </a:rPr>
              <a:t>("Hello Java", 100,100);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highlight>
                  <a:srgbClr val="00FF00"/>
                </a:highlight>
                <a:uLnTx/>
                <a:uFillTx/>
                <a:latin typeface="Perpetua"/>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highlight>
                  <a:srgbClr val="00FF00"/>
                </a:highlight>
                <a:uLnTx/>
                <a:uFillTx/>
                <a:latin typeface="Perpetua"/>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dirty="0">
              <a:ln>
                <a:noFill/>
              </a:ln>
              <a:solidFill>
                <a:prstClr val="black"/>
              </a:solidFill>
              <a:effectLst/>
              <a:uLnTx/>
              <a:uFillTx/>
              <a:latin typeface="Perpetu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highlight>
                  <a:srgbClr val="00FFFF"/>
                </a:highlight>
                <a:uLnTx/>
                <a:uFillTx/>
                <a:latin typeface="Perpetua"/>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highlight>
                  <a:srgbClr val="00FFFF"/>
                </a:highlight>
                <a:uLnTx/>
                <a:uFillTx/>
                <a:latin typeface="Perpetua"/>
              </a:rPr>
              <a:t>   &lt;html&gt;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highlight>
                  <a:srgbClr val="00FFFF"/>
                </a:highlight>
                <a:uLnTx/>
                <a:uFillTx/>
                <a:latin typeface="Perpetua"/>
              </a:rPr>
              <a:t>        &lt;body&gt;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highlight>
                  <a:srgbClr val="00FFFF"/>
                </a:highlight>
                <a:uLnTx/>
                <a:uFillTx/>
                <a:latin typeface="Perpetua"/>
              </a:rPr>
              <a:t>           &lt;applet code= "</a:t>
            </a:r>
            <a:r>
              <a:rPr kumimoji="0" lang="en-IN" sz="2000" b="0" i="0" u="none" strike="noStrike" kern="1200" cap="none" spc="0" normalizeH="0" baseline="0" noProof="0" dirty="0" err="1">
                <a:ln>
                  <a:noFill/>
                </a:ln>
                <a:solidFill>
                  <a:prstClr val="black"/>
                </a:solidFill>
                <a:effectLst/>
                <a:highlight>
                  <a:srgbClr val="00FFFF"/>
                </a:highlight>
                <a:uLnTx/>
                <a:uFillTx/>
                <a:latin typeface="Perpetua"/>
              </a:rPr>
              <a:t>HelloJava.class</a:t>
            </a:r>
            <a:r>
              <a:rPr kumimoji="0" lang="en-IN" sz="2000" b="0" i="0" u="none" strike="noStrike" kern="1200" cap="none" spc="0" normalizeH="0" baseline="0" noProof="0" dirty="0">
                <a:ln>
                  <a:noFill/>
                </a:ln>
                <a:solidFill>
                  <a:prstClr val="black"/>
                </a:solidFill>
                <a:effectLst/>
                <a:highlight>
                  <a:srgbClr val="00FFFF"/>
                </a:highlight>
                <a:uLnTx/>
                <a:uFillTx/>
                <a:latin typeface="Perpetua"/>
              </a:rPr>
              <a:t>" width ="300" height="300" &gt;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highlight>
                  <a:srgbClr val="00FFFF"/>
                </a:highlight>
                <a:uLnTx/>
                <a:uFillTx/>
                <a:latin typeface="Perpetua"/>
              </a:rPr>
              <a:t>           &lt;/applet&gt;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highlight>
                  <a:srgbClr val="00FFFF"/>
                </a:highlight>
                <a:uLnTx/>
                <a:uFillTx/>
                <a:latin typeface="Perpetua"/>
              </a:rPr>
              <a:t>        &lt;/body&gt;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solidFill>
                <a:effectLst/>
                <a:highlight>
                  <a:srgbClr val="00FFFF"/>
                </a:highlight>
                <a:uLnTx/>
                <a:uFillTx/>
                <a:latin typeface="Perpetua"/>
              </a:rPr>
              <a:t>   &lt;/html&gt;</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solidFill>
                  <a:prstClr val="black"/>
                </a:solidFill>
                <a:highlight>
                  <a:srgbClr val="00FFFF"/>
                </a:highlight>
                <a:latin typeface="Perpetua"/>
              </a:rPr>
              <a:t>*/</a:t>
            </a:r>
            <a:endParaRPr kumimoji="0" lang="en-IN" sz="2000" b="0" i="0" u="none" strike="noStrike" kern="1200" cap="none" spc="0" normalizeH="0" baseline="0" noProof="0" dirty="0">
              <a:ln>
                <a:noFill/>
              </a:ln>
              <a:solidFill>
                <a:prstClr val="black"/>
              </a:solidFill>
              <a:effectLst/>
              <a:highlight>
                <a:srgbClr val="00FFFF"/>
              </a:highlight>
              <a:uLnTx/>
              <a:uFillTx/>
              <a:latin typeface="Perpetua"/>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Perpetua"/>
                <a:ea typeface="+mn-ea"/>
                <a:cs typeface="+mn-cs"/>
              </a:rPr>
              <a:t>*/</a:t>
            </a:r>
          </a:p>
        </p:txBody>
      </p:sp>
      <p:pic>
        <p:nvPicPr>
          <p:cNvPr id="5" name="Picture 4">
            <a:extLst>
              <a:ext uri="{FF2B5EF4-FFF2-40B4-BE49-F238E27FC236}">
                <a16:creationId xmlns:a16="http://schemas.microsoft.com/office/drawing/2014/main" id="{359CEF46-1A0B-4BA7-9861-D70CCE846864}"/>
              </a:ext>
            </a:extLst>
          </p:cNvPr>
          <p:cNvPicPr>
            <a:picLocks noChangeAspect="1"/>
          </p:cNvPicPr>
          <p:nvPr/>
        </p:nvPicPr>
        <p:blipFill>
          <a:blip r:embed="rId2"/>
          <a:stretch>
            <a:fillRect/>
          </a:stretch>
        </p:blipFill>
        <p:spPr>
          <a:xfrm>
            <a:off x="381000" y="141314"/>
            <a:ext cx="937341" cy="493946"/>
          </a:xfrm>
          <a:prstGeom prst="rect">
            <a:avLst/>
          </a:prstGeom>
        </p:spPr>
      </p:pic>
      <p:sp>
        <p:nvSpPr>
          <p:cNvPr id="6" name="Title 1">
            <a:extLst>
              <a:ext uri="{FF2B5EF4-FFF2-40B4-BE49-F238E27FC236}">
                <a16:creationId xmlns:a16="http://schemas.microsoft.com/office/drawing/2014/main" id="{2995531E-A55D-4CD9-A52C-C48AE304AF7B}"/>
              </a:ext>
            </a:extLst>
          </p:cNvPr>
          <p:cNvSpPr txBox="1">
            <a:spLocks/>
          </p:cNvSpPr>
          <p:nvPr/>
        </p:nvSpPr>
        <p:spPr>
          <a:xfrm>
            <a:off x="1447800" y="153755"/>
            <a:ext cx="10287000" cy="3796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4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highlight>
                  <a:srgbClr val="FFFF00"/>
                </a:highlight>
                <a:uLnTx/>
                <a:uFillTx/>
                <a:latin typeface="Perpetua"/>
                <a:ea typeface="+mn-ea"/>
                <a:cs typeface="+mn-cs"/>
              </a:rPr>
              <a:t>Example :-</a:t>
            </a:r>
            <a:r>
              <a:rPr kumimoji="0" lang="en-US" sz="3600" b="1" i="0" u="none" strike="noStrike" kern="1200" cap="none" spc="0" normalizeH="0" noProof="0" dirty="0">
                <a:ln>
                  <a:noFill/>
                </a:ln>
                <a:solidFill>
                  <a:prstClr val="black"/>
                </a:solidFill>
                <a:effectLst/>
                <a:highlight>
                  <a:srgbClr val="FFFF00"/>
                </a:highlight>
                <a:uLnTx/>
                <a:uFillTx/>
                <a:latin typeface="Perpetua"/>
                <a:ea typeface="+mn-ea"/>
                <a:cs typeface="+mn-cs"/>
              </a:rPr>
              <a:t> Print the Hello Java on Applet Window</a:t>
            </a:r>
            <a:r>
              <a:rPr kumimoji="0" lang="en-US" sz="3600" b="1" i="0" u="none" strike="noStrike" kern="1200" cap="none" spc="0" normalizeH="0" baseline="0" noProof="0" dirty="0">
                <a:ln>
                  <a:noFill/>
                </a:ln>
                <a:solidFill>
                  <a:prstClr val="black"/>
                </a:solidFill>
                <a:effectLst/>
                <a:highlight>
                  <a:srgbClr val="FFFF00"/>
                </a:highlight>
                <a:uLnTx/>
                <a:uFillTx/>
                <a:latin typeface="Perpetua"/>
                <a:ea typeface="+mn-ea"/>
                <a:cs typeface="+mn-cs"/>
              </a:rPr>
              <a:t> </a:t>
            </a:r>
            <a:endParaRPr kumimoji="0" lang="en-US" sz="3600" b="0" i="0" u="none" strike="noStrike" kern="1200" cap="none" spc="0" normalizeH="0" baseline="0" noProof="0" dirty="0">
              <a:ln>
                <a:noFill/>
              </a:ln>
              <a:solidFill>
                <a:prstClr val="black"/>
              </a:solidFill>
              <a:effectLst/>
              <a:highlight>
                <a:srgbClr val="FFFF00"/>
              </a:highlight>
              <a:uLnTx/>
              <a:uFillTx/>
              <a:latin typeface="Perpetua"/>
              <a:ea typeface="+mn-ea"/>
              <a:cs typeface="+mn-cs"/>
            </a:endParaRPr>
          </a:p>
        </p:txBody>
      </p:sp>
      <p:pic>
        <p:nvPicPr>
          <p:cNvPr id="2" name="Picture 1">
            <a:extLst>
              <a:ext uri="{FF2B5EF4-FFF2-40B4-BE49-F238E27FC236}">
                <a16:creationId xmlns:a16="http://schemas.microsoft.com/office/drawing/2014/main" id="{CBA5528A-86F6-4CED-953B-ABD317941355}"/>
              </a:ext>
            </a:extLst>
          </p:cNvPr>
          <p:cNvPicPr>
            <a:picLocks noChangeAspect="1"/>
          </p:cNvPicPr>
          <p:nvPr/>
        </p:nvPicPr>
        <p:blipFill>
          <a:blip r:embed="rId3"/>
          <a:stretch>
            <a:fillRect/>
          </a:stretch>
        </p:blipFill>
        <p:spPr>
          <a:xfrm>
            <a:off x="7924800" y="1371600"/>
            <a:ext cx="2914650" cy="3657600"/>
          </a:xfrm>
          <a:prstGeom prst="rect">
            <a:avLst/>
          </a:prstGeom>
        </p:spPr>
      </p:pic>
    </p:spTree>
    <p:extLst>
      <p:ext uri="{BB962C8B-B14F-4D97-AF65-F5344CB8AC3E}">
        <p14:creationId xmlns:p14="http://schemas.microsoft.com/office/powerpoint/2010/main" val="1017650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500"/>
                                        <p:tgtEl>
                                          <p:spTgt spid="4">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fade">
                                      <p:cBhvr>
                                        <p:cTn id="24" dur="500"/>
                                        <p:tgtEl>
                                          <p:spTgt spid="4">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fade">
                                      <p:cBhvr>
                                        <p:cTn id="29" dur="500"/>
                                        <p:tgtEl>
                                          <p:spTgt spid="4">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4">
                                            <p:txEl>
                                              <p:pRg st="7" end="7"/>
                                            </p:txEl>
                                          </p:spTgt>
                                        </p:tgtEl>
                                        <p:attrNameLst>
                                          <p:attrName>style.visibility</p:attrName>
                                        </p:attrNameLst>
                                      </p:cBhvr>
                                      <p:to>
                                        <p:strVal val="visible"/>
                                      </p:to>
                                    </p:set>
                                    <p:animEffect transition="in" filter="fade">
                                      <p:cBhvr>
                                        <p:cTn id="34" dur="500"/>
                                        <p:tgtEl>
                                          <p:spTgt spid="4">
                                            <p:txEl>
                                              <p:pRg st="7" end="7"/>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Effect transition="in" filter="fade">
                                      <p:cBhvr>
                                        <p:cTn id="37" dur="500"/>
                                        <p:tgtEl>
                                          <p:spTgt spid="4">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xEl>
                                              <p:pRg st="10" end="10"/>
                                            </p:txEl>
                                          </p:spTgt>
                                        </p:tgtEl>
                                        <p:attrNameLst>
                                          <p:attrName>style.visibility</p:attrName>
                                        </p:attrNameLst>
                                      </p:cBhvr>
                                      <p:to>
                                        <p:strVal val="visible"/>
                                      </p:to>
                                    </p:set>
                                    <p:animEffect transition="in" filter="fade">
                                      <p:cBhvr>
                                        <p:cTn id="42" dur="500"/>
                                        <p:tgtEl>
                                          <p:spTgt spid="4">
                                            <p:txEl>
                                              <p:pRg st="10" end="10"/>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4">
                                            <p:txEl>
                                              <p:pRg st="17" end="17"/>
                                            </p:txEl>
                                          </p:spTgt>
                                        </p:tgtEl>
                                        <p:attrNameLst>
                                          <p:attrName>style.visibility</p:attrName>
                                        </p:attrNameLst>
                                      </p:cBhvr>
                                      <p:to>
                                        <p:strVal val="visible"/>
                                      </p:to>
                                    </p:set>
                                    <p:animEffect transition="in" filter="fade">
                                      <p:cBhvr>
                                        <p:cTn id="45" dur="500"/>
                                        <p:tgtEl>
                                          <p:spTgt spid="4">
                                            <p:txEl>
                                              <p:pRg st="17" end="17"/>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4">
                                            <p:txEl>
                                              <p:pRg st="11" end="11"/>
                                            </p:txEl>
                                          </p:spTgt>
                                        </p:tgtEl>
                                        <p:attrNameLst>
                                          <p:attrName>style.visibility</p:attrName>
                                        </p:attrNameLst>
                                      </p:cBhvr>
                                      <p:to>
                                        <p:strVal val="visible"/>
                                      </p:to>
                                    </p:set>
                                    <p:animEffect transition="in" filter="fade">
                                      <p:cBhvr>
                                        <p:cTn id="50" dur="500"/>
                                        <p:tgtEl>
                                          <p:spTgt spid="4">
                                            <p:txEl>
                                              <p:pRg st="11" end="11"/>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4">
                                            <p:txEl>
                                              <p:pRg st="16" end="16"/>
                                            </p:txEl>
                                          </p:spTgt>
                                        </p:tgtEl>
                                        <p:attrNameLst>
                                          <p:attrName>style.visibility</p:attrName>
                                        </p:attrNameLst>
                                      </p:cBhvr>
                                      <p:to>
                                        <p:strVal val="visible"/>
                                      </p:to>
                                    </p:set>
                                    <p:animEffect transition="in" filter="fade">
                                      <p:cBhvr>
                                        <p:cTn id="53" dur="500"/>
                                        <p:tgtEl>
                                          <p:spTgt spid="4">
                                            <p:txEl>
                                              <p:pRg st="16" end="16"/>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4">
                                            <p:txEl>
                                              <p:pRg st="12" end="12"/>
                                            </p:txEl>
                                          </p:spTgt>
                                        </p:tgtEl>
                                        <p:attrNameLst>
                                          <p:attrName>style.visibility</p:attrName>
                                        </p:attrNameLst>
                                      </p:cBhvr>
                                      <p:to>
                                        <p:strVal val="visible"/>
                                      </p:to>
                                    </p:set>
                                    <p:animEffect transition="in" filter="fade">
                                      <p:cBhvr>
                                        <p:cTn id="58" dur="500"/>
                                        <p:tgtEl>
                                          <p:spTgt spid="4">
                                            <p:txEl>
                                              <p:pRg st="12" end="12"/>
                                            </p:txEl>
                                          </p:spTgt>
                                        </p:tgtEl>
                                      </p:cBhvr>
                                    </p:animEffect>
                                  </p:childTnLst>
                                </p:cTn>
                              </p:par>
                              <p:par>
                                <p:cTn id="59" presetID="10" presetClass="entr" presetSubtype="0" fill="hold" nodeType="withEffect">
                                  <p:stCondLst>
                                    <p:cond delay="0"/>
                                  </p:stCondLst>
                                  <p:childTnLst>
                                    <p:set>
                                      <p:cBhvr>
                                        <p:cTn id="60" dur="1" fill="hold">
                                          <p:stCondLst>
                                            <p:cond delay="0"/>
                                          </p:stCondLst>
                                        </p:cTn>
                                        <p:tgtEl>
                                          <p:spTgt spid="4">
                                            <p:txEl>
                                              <p:pRg st="15" end="15"/>
                                            </p:txEl>
                                          </p:spTgt>
                                        </p:tgtEl>
                                        <p:attrNameLst>
                                          <p:attrName>style.visibility</p:attrName>
                                        </p:attrNameLst>
                                      </p:cBhvr>
                                      <p:to>
                                        <p:strVal val="visible"/>
                                      </p:to>
                                    </p:set>
                                    <p:animEffect transition="in" filter="fade">
                                      <p:cBhvr>
                                        <p:cTn id="61" dur="500"/>
                                        <p:tgtEl>
                                          <p:spTgt spid="4">
                                            <p:txEl>
                                              <p:pRg st="15" end="15"/>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4">
                                            <p:txEl>
                                              <p:pRg st="13" end="13"/>
                                            </p:txEl>
                                          </p:spTgt>
                                        </p:tgtEl>
                                        <p:attrNameLst>
                                          <p:attrName>style.visibility</p:attrName>
                                        </p:attrNameLst>
                                      </p:cBhvr>
                                      <p:to>
                                        <p:strVal val="visible"/>
                                      </p:to>
                                    </p:set>
                                    <p:animEffect transition="in" filter="fade">
                                      <p:cBhvr>
                                        <p:cTn id="66" dur="500"/>
                                        <p:tgtEl>
                                          <p:spTgt spid="4">
                                            <p:txEl>
                                              <p:pRg st="13" end="13"/>
                                            </p:txEl>
                                          </p:spTgt>
                                        </p:tgtEl>
                                      </p:cBhvr>
                                    </p:animEffect>
                                  </p:childTnLst>
                                </p:cTn>
                              </p:par>
                              <p:par>
                                <p:cTn id="67" presetID="10" presetClass="entr" presetSubtype="0" fill="hold" nodeType="withEffect">
                                  <p:stCondLst>
                                    <p:cond delay="0"/>
                                  </p:stCondLst>
                                  <p:childTnLst>
                                    <p:set>
                                      <p:cBhvr>
                                        <p:cTn id="68" dur="1" fill="hold">
                                          <p:stCondLst>
                                            <p:cond delay="0"/>
                                          </p:stCondLst>
                                        </p:cTn>
                                        <p:tgtEl>
                                          <p:spTgt spid="4">
                                            <p:txEl>
                                              <p:pRg st="14" end="14"/>
                                            </p:txEl>
                                          </p:spTgt>
                                        </p:tgtEl>
                                        <p:attrNameLst>
                                          <p:attrName>style.visibility</p:attrName>
                                        </p:attrNameLst>
                                      </p:cBhvr>
                                      <p:to>
                                        <p:strVal val="visible"/>
                                      </p:to>
                                    </p:set>
                                    <p:animEffect transition="in" filter="fade">
                                      <p:cBhvr>
                                        <p:cTn id="69" dur="500"/>
                                        <p:tgtEl>
                                          <p:spTgt spid="4">
                                            <p:txEl>
                                              <p:pRg st="14" end="14"/>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
                                        </p:tgtEl>
                                        <p:attrNameLst>
                                          <p:attrName>style.visibility</p:attrName>
                                        </p:attrNameLst>
                                      </p:cBhvr>
                                      <p:to>
                                        <p:strVal val="visible"/>
                                      </p:to>
                                    </p:set>
                                    <p:animEffect transition="in" filter="fade">
                                      <p:cBhvr>
                                        <p:cTn id="7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AC729C-4BA7-1A06-40E4-AD85B63703ED}"/>
              </a:ext>
            </a:extLst>
          </p:cNvPr>
          <p:cNvPicPr>
            <a:picLocks noChangeAspect="1"/>
          </p:cNvPicPr>
          <p:nvPr/>
        </p:nvPicPr>
        <p:blipFill>
          <a:blip r:embed="rId2"/>
          <a:stretch>
            <a:fillRect/>
          </a:stretch>
        </p:blipFill>
        <p:spPr>
          <a:xfrm>
            <a:off x="457200" y="152401"/>
            <a:ext cx="10363199" cy="5715000"/>
          </a:xfrm>
          <a:prstGeom prst="rect">
            <a:avLst/>
          </a:prstGeom>
        </p:spPr>
      </p:pic>
      <p:pic>
        <p:nvPicPr>
          <p:cNvPr id="5" name="Picture 4">
            <a:extLst>
              <a:ext uri="{FF2B5EF4-FFF2-40B4-BE49-F238E27FC236}">
                <a16:creationId xmlns:a16="http://schemas.microsoft.com/office/drawing/2014/main" id="{18EFB214-5F25-C43B-4767-44E11789B897}"/>
              </a:ext>
            </a:extLst>
          </p:cNvPr>
          <p:cNvPicPr>
            <a:picLocks noChangeAspect="1"/>
          </p:cNvPicPr>
          <p:nvPr/>
        </p:nvPicPr>
        <p:blipFill>
          <a:blip r:embed="rId3"/>
          <a:stretch>
            <a:fillRect/>
          </a:stretch>
        </p:blipFill>
        <p:spPr>
          <a:xfrm>
            <a:off x="457200" y="5867401"/>
            <a:ext cx="10363199" cy="804201"/>
          </a:xfrm>
          <a:prstGeom prst="rect">
            <a:avLst/>
          </a:prstGeom>
        </p:spPr>
      </p:pic>
    </p:spTree>
    <p:extLst>
      <p:ext uri="{BB962C8B-B14F-4D97-AF65-F5344CB8AC3E}">
        <p14:creationId xmlns:p14="http://schemas.microsoft.com/office/powerpoint/2010/main" val="2782527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3662ED3-A9CB-4AE2-8613-95F90279EC11}"/>
              </a:ext>
            </a:extLst>
          </p:cNvPr>
          <p:cNvSpPr/>
          <p:nvPr/>
        </p:nvSpPr>
        <p:spPr>
          <a:xfrm>
            <a:off x="412102" y="722923"/>
            <a:ext cx="7239000" cy="598132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solidFill>
                <a:schemeClr val="tx1"/>
              </a:solidFill>
            </a:endParaRPr>
          </a:p>
          <a:p>
            <a:r>
              <a:rPr lang="en-IN" dirty="0">
                <a:solidFill>
                  <a:schemeClr val="tx1"/>
                </a:solidFill>
              </a:rPr>
              <a:t>import </a:t>
            </a:r>
            <a:r>
              <a:rPr lang="en-IN" dirty="0" err="1">
                <a:solidFill>
                  <a:schemeClr val="tx1"/>
                </a:solidFill>
              </a:rPr>
              <a:t>java.awt</a:t>
            </a:r>
            <a:r>
              <a:rPr lang="en-IN" dirty="0">
                <a:solidFill>
                  <a:schemeClr val="tx1"/>
                </a:solidFill>
              </a:rPr>
              <a:t>.*;</a:t>
            </a:r>
          </a:p>
          <a:p>
            <a:r>
              <a:rPr lang="en-IN" dirty="0">
                <a:solidFill>
                  <a:schemeClr val="tx1"/>
                </a:solidFill>
              </a:rPr>
              <a:t>import </a:t>
            </a:r>
            <a:r>
              <a:rPr lang="en-IN" dirty="0" err="1">
                <a:solidFill>
                  <a:schemeClr val="tx1"/>
                </a:solidFill>
              </a:rPr>
              <a:t>java.applet</a:t>
            </a:r>
            <a:r>
              <a:rPr lang="en-IN" dirty="0">
                <a:solidFill>
                  <a:schemeClr val="tx1"/>
                </a:solidFill>
              </a:rPr>
              <a:t>.*;</a:t>
            </a:r>
          </a:p>
          <a:p>
            <a:r>
              <a:rPr lang="en-IN" dirty="0">
                <a:solidFill>
                  <a:schemeClr val="tx1"/>
                </a:solidFill>
              </a:rPr>
              <a:t>public class </a:t>
            </a:r>
            <a:r>
              <a:rPr lang="en-IN" dirty="0" err="1">
                <a:solidFill>
                  <a:schemeClr val="tx1"/>
                </a:solidFill>
              </a:rPr>
              <a:t>HelloJava</a:t>
            </a:r>
            <a:r>
              <a:rPr lang="en-IN" dirty="0">
                <a:solidFill>
                  <a:schemeClr val="tx1"/>
                </a:solidFill>
              </a:rPr>
              <a:t> extends Applet</a:t>
            </a:r>
          </a:p>
          <a:p>
            <a:r>
              <a:rPr lang="en-IN" dirty="0">
                <a:solidFill>
                  <a:schemeClr val="tx1"/>
                </a:solidFill>
              </a:rPr>
              <a:t>{</a:t>
            </a:r>
          </a:p>
          <a:p>
            <a:r>
              <a:rPr lang="en-IN" dirty="0">
                <a:solidFill>
                  <a:schemeClr val="tx1"/>
                </a:solidFill>
              </a:rPr>
              <a:t>    public void </a:t>
            </a:r>
            <a:r>
              <a:rPr lang="en-IN" dirty="0" err="1">
                <a:solidFill>
                  <a:schemeClr val="tx1"/>
                </a:solidFill>
              </a:rPr>
              <a:t>init</a:t>
            </a:r>
            <a:r>
              <a:rPr lang="en-IN" dirty="0">
                <a:solidFill>
                  <a:schemeClr val="tx1"/>
                </a:solidFill>
              </a:rPr>
              <a:t>()</a:t>
            </a:r>
          </a:p>
          <a:p>
            <a:r>
              <a:rPr lang="en-IN" dirty="0">
                <a:solidFill>
                  <a:schemeClr val="tx1"/>
                </a:solidFill>
              </a:rPr>
              <a:t>    {</a:t>
            </a:r>
          </a:p>
          <a:p>
            <a:r>
              <a:rPr lang="en-IN" dirty="0">
                <a:solidFill>
                  <a:schemeClr val="tx1"/>
                </a:solidFill>
              </a:rPr>
              <a:t>      resize(200,200);</a:t>
            </a:r>
          </a:p>
          <a:p>
            <a:r>
              <a:rPr lang="en-IN" dirty="0">
                <a:solidFill>
                  <a:schemeClr val="tx1"/>
                </a:solidFill>
              </a:rPr>
              <a:t>      </a:t>
            </a:r>
            <a:r>
              <a:rPr lang="en-IN" dirty="0" err="1">
                <a:solidFill>
                  <a:schemeClr val="tx1"/>
                </a:solidFill>
              </a:rPr>
              <a:t>setBackground</a:t>
            </a:r>
            <a:r>
              <a:rPr lang="en-IN" dirty="0">
                <a:solidFill>
                  <a:schemeClr val="tx1"/>
                </a:solidFill>
              </a:rPr>
              <a:t>(</a:t>
            </a:r>
            <a:r>
              <a:rPr lang="en-IN" dirty="0" err="1">
                <a:solidFill>
                  <a:schemeClr val="tx1"/>
                </a:solidFill>
              </a:rPr>
              <a:t>Color.cyan</a:t>
            </a:r>
            <a:r>
              <a:rPr lang="en-IN" dirty="0">
                <a:solidFill>
                  <a:schemeClr val="tx1"/>
                </a:solidFill>
              </a:rPr>
              <a:t>);</a:t>
            </a:r>
          </a:p>
          <a:p>
            <a:r>
              <a:rPr lang="en-IN" dirty="0">
                <a:solidFill>
                  <a:schemeClr val="tx1"/>
                </a:solidFill>
              </a:rPr>
              <a:t>     }</a:t>
            </a:r>
          </a:p>
          <a:p>
            <a:r>
              <a:rPr lang="en-IN" dirty="0">
                <a:solidFill>
                  <a:schemeClr val="tx1"/>
                </a:solidFill>
              </a:rPr>
              <a:t>    public void paint(Graphics g)</a:t>
            </a:r>
          </a:p>
          <a:p>
            <a:r>
              <a:rPr lang="en-IN" dirty="0">
                <a:solidFill>
                  <a:schemeClr val="tx1"/>
                </a:solidFill>
              </a:rPr>
              <a:t>    {  </a:t>
            </a:r>
          </a:p>
          <a:p>
            <a:r>
              <a:rPr lang="en-IN" dirty="0">
                <a:solidFill>
                  <a:schemeClr val="tx1"/>
                </a:solidFill>
              </a:rPr>
              <a:t>       </a:t>
            </a:r>
            <a:r>
              <a:rPr lang="en-IN" dirty="0" err="1">
                <a:solidFill>
                  <a:schemeClr val="tx1"/>
                </a:solidFill>
              </a:rPr>
              <a:t>g.drawString</a:t>
            </a:r>
            <a:r>
              <a:rPr lang="en-IN" dirty="0">
                <a:solidFill>
                  <a:schemeClr val="tx1"/>
                </a:solidFill>
              </a:rPr>
              <a:t>("Hello Java", 100,100);</a:t>
            </a:r>
          </a:p>
          <a:p>
            <a:r>
              <a:rPr lang="en-IN" dirty="0">
                <a:solidFill>
                  <a:schemeClr val="tx1"/>
                </a:solidFill>
              </a:rPr>
              <a:t>    }</a:t>
            </a:r>
          </a:p>
          <a:p>
            <a:r>
              <a:rPr lang="en-IN" dirty="0">
                <a:solidFill>
                  <a:schemeClr val="tx1"/>
                </a:solidFill>
              </a:rPr>
              <a:t>}</a:t>
            </a:r>
          </a:p>
          <a:p>
            <a:r>
              <a:rPr lang="en-IN" dirty="0">
                <a:solidFill>
                  <a:schemeClr val="tx1"/>
                </a:solidFill>
              </a:rPr>
              <a:t>/* </a:t>
            </a:r>
          </a:p>
          <a:p>
            <a:r>
              <a:rPr lang="en-IN" dirty="0">
                <a:solidFill>
                  <a:schemeClr val="tx1"/>
                </a:solidFill>
              </a:rPr>
              <a:t>   &lt;html&gt;</a:t>
            </a:r>
          </a:p>
          <a:p>
            <a:r>
              <a:rPr lang="en-IN" dirty="0">
                <a:solidFill>
                  <a:schemeClr val="tx1"/>
                </a:solidFill>
              </a:rPr>
              <a:t>    &lt;body&gt;</a:t>
            </a:r>
          </a:p>
          <a:p>
            <a:r>
              <a:rPr lang="en-IN" dirty="0">
                <a:solidFill>
                  <a:schemeClr val="tx1"/>
                </a:solidFill>
              </a:rPr>
              <a:t>     &lt;applet code= "</a:t>
            </a:r>
            <a:r>
              <a:rPr lang="en-IN" dirty="0" err="1">
                <a:solidFill>
                  <a:schemeClr val="tx1"/>
                </a:solidFill>
              </a:rPr>
              <a:t>HelloJava.class</a:t>
            </a:r>
            <a:r>
              <a:rPr lang="en-IN" dirty="0">
                <a:solidFill>
                  <a:schemeClr val="tx1"/>
                </a:solidFill>
              </a:rPr>
              <a:t>" width ="300" height="300" &gt;</a:t>
            </a:r>
          </a:p>
          <a:p>
            <a:r>
              <a:rPr lang="en-IN" dirty="0">
                <a:solidFill>
                  <a:schemeClr val="tx1"/>
                </a:solidFill>
              </a:rPr>
              <a:t>&lt;/applet&gt;</a:t>
            </a:r>
          </a:p>
          <a:p>
            <a:r>
              <a:rPr lang="en-IN" dirty="0">
                <a:solidFill>
                  <a:schemeClr val="tx1"/>
                </a:solidFill>
              </a:rPr>
              <a:t>&lt;/body&gt;</a:t>
            </a:r>
          </a:p>
          <a:p>
            <a:r>
              <a:rPr lang="en-IN" dirty="0">
                <a:solidFill>
                  <a:schemeClr val="tx1"/>
                </a:solidFill>
              </a:rPr>
              <a:t>&lt;/html&gt;</a:t>
            </a:r>
          </a:p>
          <a:p>
            <a:pPr algn="ctr"/>
            <a:r>
              <a:rPr lang="en-IN" dirty="0"/>
              <a:t>*/</a:t>
            </a:r>
          </a:p>
        </p:txBody>
      </p:sp>
      <p:pic>
        <p:nvPicPr>
          <p:cNvPr id="5" name="Picture 4">
            <a:extLst>
              <a:ext uri="{FF2B5EF4-FFF2-40B4-BE49-F238E27FC236}">
                <a16:creationId xmlns:a16="http://schemas.microsoft.com/office/drawing/2014/main" id="{359CEF46-1A0B-4BA7-9861-D70CCE846864}"/>
              </a:ext>
            </a:extLst>
          </p:cNvPr>
          <p:cNvPicPr>
            <a:picLocks noChangeAspect="1"/>
          </p:cNvPicPr>
          <p:nvPr/>
        </p:nvPicPr>
        <p:blipFill>
          <a:blip r:embed="rId2"/>
          <a:stretch>
            <a:fillRect/>
          </a:stretch>
        </p:blipFill>
        <p:spPr>
          <a:xfrm>
            <a:off x="381000" y="141314"/>
            <a:ext cx="937341" cy="493946"/>
          </a:xfrm>
          <a:prstGeom prst="rect">
            <a:avLst/>
          </a:prstGeom>
        </p:spPr>
      </p:pic>
      <p:sp>
        <p:nvSpPr>
          <p:cNvPr id="6" name="Title 1">
            <a:extLst>
              <a:ext uri="{FF2B5EF4-FFF2-40B4-BE49-F238E27FC236}">
                <a16:creationId xmlns:a16="http://schemas.microsoft.com/office/drawing/2014/main" id="{2995531E-A55D-4CD9-A52C-C48AE304AF7B}"/>
              </a:ext>
            </a:extLst>
          </p:cNvPr>
          <p:cNvSpPr txBox="1">
            <a:spLocks/>
          </p:cNvSpPr>
          <p:nvPr/>
        </p:nvSpPr>
        <p:spPr>
          <a:xfrm>
            <a:off x="1447800" y="153755"/>
            <a:ext cx="10287000" cy="3796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4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highlight>
                  <a:srgbClr val="FFFF00"/>
                </a:highlight>
                <a:uLnTx/>
                <a:uFillTx/>
                <a:latin typeface="Perpetua"/>
                <a:ea typeface="+mn-ea"/>
                <a:cs typeface="+mn-cs"/>
              </a:rPr>
              <a:t>Example </a:t>
            </a:r>
            <a:endParaRPr kumimoji="0" lang="en-US" sz="3600" b="0" i="0" u="none" strike="noStrike" kern="1200" cap="none" spc="0" normalizeH="0" baseline="0" noProof="0" dirty="0">
              <a:ln>
                <a:noFill/>
              </a:ln>
              <a:solidFill>
                <a:prstClr val="black"/>
              </a:solidFill>
              <a:effectLst/>
              <a:highlight>
                <a:srgbClr val="FFFF00"/>
              </a:highlight>
              <a:uLnTx/>
              <a:uFillTx/>
              <a:latin typeface="Perpetua"/>
              <a:ea typeface="+mn-ea"/>
              <a:cs typeface="+mn-cs"/>
            </a:endParaRPr>
          </a:p>
        </p:txBody>
      </p:sp>
      <p:pic>
        <p:nvPicPr>
          <p:cNvPr id="7" name="Picture 6">
            <a:extLst>
              <a:ext uri="{FF2B5EF4-FFF2-40B4-BE49-F238E27FC236}">
                <a16:creationId xmlns:a16="http://schemas.microsoft.com/office/drawing/2014/main" id="{353804BB-ABCC-4A8A-8E67-67CA434E3930}"/>
              </a:ext>
            </a:extLst>
          </p:cNvPr>
          <p:cNvPicPr>
            <a:picLocks noChangeAspect="1"/>
          </p:cNvPicPr>
          <p:nvPr/>
        </p:nvPicPr>
        <p:blipFill>
          <a:blip r:embed="rId3"/>
          <a:stretch>
            <a:fillRect/>
          </a:stretch>
        </p:blipFill>
        <p:spPr>
          <a:xfrm>
            <a:off x="8610600" y="1752600"/>
            <a:ext cx="2114550" cy="2809875"/>
          </a:xfrm>
          <a:prstGeom prst="rect">
            <a:avLst/>
          </a:prstGeom>
        </p:spPr>
      </p:pic>
    </p:spTree>
    <p:extLst>
      <p:ext uri="{BB962C8B-B14F-4D97-AF65-F5344CB8AC3E}">
        <p14:creationId xmlns:p14="http://schemas.microsoft.com/office/powerpoint/2010/main" val="3296295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3662ED3-A9CB-4AE2-8613-95F90279EC11}"/>
              </a:ext>
            </a:extLst>
          </p:cNvPr>
          <p:cNvSpPr/>
          <p:nvPr/>
        </p:nvSpPr>
        <p:spPr>
          <a:xfrm>
            <a:off x="152400" y="76201"/>
            <a:ext cx="12039600" cy="662804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numCol="2" rtlCol="0" anchor="ctr"/>
          <a:lstStyle/>
          <a:p>
            <a:pPr lvl="0"/>
            <a:r>
              <a:rPr lang="en-IN" dirty="0">
                <a:solidFill>
                  <a:prstClr val="black"/>
                </a:solidFill>
              </a:rPr>
              <a:t>import java. applet.*;</a:t>
            </a:r>
          </a:p>
          <a:p>
            <a:pPr lvl="0"/>
            <a:r>
              <a:rPr lang="en-IN" dirty="0">
                <a:solidFill>
                  <a:prstClr val="black"/>
                </a:solidFill>
              </a:rPr>
              <a:t>import java. </a:t>
            </a:r>
            <a:r>
              <a:rPr lang="en-IN" dirty="0" err="1">
                <a:solidFill>
                  <a:prstClr val="black"/>
                </a:solidFill>
              </a:rPr>
              <a:t>awt</a:t>
            </a:r>
            <a:r>
              <a:rPr lang="en-IN" dirty="0">
                <a:solidFill>
                  <a:prstClr val="black"/>
                </a:solidFill>
              </a:rPr>
              <a:t>.*;</a:t>
            </a:r>
          </a:p>
          <a:p>
            <a:pPr lvl="0"/>
            <a:endParaRPr lang="en-IN" dirty="0">
              <a:solidFill>
                <a:prstClr val="black"/>
              </a:solidFill>
            </a:endParaRPr>
          </a:p>
          <a:p>
            <a:pPr lvl="0"/>
            <a:r>
              <a:rPr lang="en-IN" dirty="0">
                <a:solidFill>
                  <a:prstClr val="black"/>
                </a:solidFill>
              </a:rPr>
              <a:t>public class Sample extends Applet</a:t>
            </a:r>
          </a:p>
          <a:p>
            <a:pPr lvl="0"/>
            <a:r>
              <a:rPr lang="en-IN" dirty="0">
                <a:solidFill>
                  <a:prstClr val="black"/>
                </a:solidFill>
              </a:rPr>
              <a:t>{</a:t>
            </a:r>
          </a:p>
          <a:p>
            <a:pPr lvl="0"/>
            <a:r>
              <a:rPr lang="en-IN" dirty="0">
                <a:solidFill>
                  <a:prstClr val="black"/>
                </a:solidFill>
              </a:rPr>
              <a:t>   String </a:t>
            </a:r>
            <a:r>
              <a:rPr lang="en-IN" dirty="0" err="1">
                <a:solidFill>
                  <a:prstClr val="black"/>
                </a:solidFill>
              </a:rPr>
              <a:t>msg</a:t>
            </a:r>
            <a:r>
              <a:rPr lang="en-IN" dirty="0">
                <a:solidFill>
                  <a:prstClr val="black"/>
                </a:solidFill>
              </a:rPr>
              <a:t>;</a:t>
            </a:r>
          </a:p>
          <a:p>
            <a:pPr lvl="0"/>
            <a:r>
              <a:rPr lang="en-IN" dirty="0">
                <a:solidFill>
                  <a:prstClr val="black"/>
                </a:solidFill>
              </a:rPr>
              <a:t>   public void </a:t>
            </a:r>
            <a:r>
              <a:rPr lang="en-IN" dirty="0" err="1">
                <a:solidFill>
                  <a:prstClr val="black"/>
                </a:solidFill>
              </a:rPr>
              <a:t>init</a:t>
            </a:r>
            <a:r>
              <a:rPr lang="en-IN" dirty="0">
                <a:solidFill>
                  <a:prstClr val="black"/>
                </a:solidFill>
              </a:rPr>
              <a:t>()</a:t>
            </a:r>
          </a:p>
          <a:p>
            <a:pPr lvl="0"/>
            <a:r>
              <a:rPr lang="en-IN" dirty="0">
                <a:solidFill>
                  <a:prstClr val="black"/>
                </a:solidFill>
              </a:rPr>
              <a:t>   { </a:t>
            </a:r>
          </a:p>
          <a:p>
            <a:pPr lvl="0"/>
            <a:r>
              <a:rPr lang="en-IN" dirty="0">
                <a:solidFill>
                  <a:prstClr val="black"/>
                </a:solidFill>
                <a:highlight>
                  <a:srgbClr val="00FFFF"/>
                </a:highlight>
              </a:rPr>
              <a:t>     </a:t>
            </a:r>
            <a:r>
              <a:rPr lang="en-IN" dirty="0" err="1">
                <a:solidFill>
                  <a:prstClr val="black"/>
                </a:solidFill>
                <a:highlight>
                  <a:srgbClr val="00FFFF"/>
                </a:highlight>
              </a:rPr>
              <a:t>setBackground</a:t>
            </a:r>
            <a:r>
              <a:rPr lang="en-IN" dirty="0">
                <a:solidFill>
                  <a:prstClr val="black"/>
                </a:solidFill>
                <a:highlight>
                  <a:srgbClr val="00FFFF"/>
                </a:highlight>
              </a:rPr>
              <a:t>(</a:t>
            </a:r>
            <a:r>
              <a:rPr lang="en-IN" dirty="0" err="1">
                <a:solidFill>
                  <a:prstClr val="black"/>
                </a:solidFill>
                <a:highlight>
                  <a:srgbClr val="00FFFF"/>
                </a:highlight>
              </a:rPr>
              <a:t>Color.red</a:t>
            </a:r>
            <a:r>
              <a:rPr lang="en-IN" dirty="0">
                <a:solidFill>
                  <a:prstClr val="black"/>
                </a:solidFill>
                <a:highlight>
                  <a:srgbClr val="00FFFF"/>
                </a:highlight>
              </a:rPr>
              <a:t>);   // set background and </a:t>
            </a:r>
            <a:r>
              <a:rPr lang="en-IN" dirty="0" err="1">
                <a:solidFill>
                  <a:prstClr val="black"/>
                </a:solidFill>
                <a:highlight>
                  <a:srgbClr val="00FFFF"/>
                </a:highlight>
              </a:rPr>
              <a:t>forground</a:t>
            </a:r>
            <a:r>
              <a:rPr lang="en-IN" dirty="0">
                <a:solidFill>
                  <a:prstClr val="black"/>
                </a:solidFill>
                <a:highlight>
                  <a:srgbClr val="00FFFF"/>
                </a:highlight>
              </a:rPr>
              <a:t> </a:t>
            </a:r>
            <a:r>
              <a:rPr lang="en-IN" dirty="0" err="1">
                <a:solidFill>
                  <a:prstClr val="black"/>
                </a:solidFill>
                <a:highlight>
                  <a:srgbClr val="00FFFF"/>
                </a:highlight>
              </a:rPr>
              <a:t>color</a:t>
            </a:r>
            <a:r>
              <a:rPr lang="en-IN" dirty="0">
                <a:solidFill>
                  <a:prstClr val="black"/>
                </a:solidFill>
                <a:highlight>
                  <a:srgbClr val="00FFFF"/>
                </a:highlight>
              </a:rPr>
              <a:t>    </a:t>
            </a:r>
          </a:p>
          <a:p>
            <a:pPr lvl="0"/>
            <a:r>
              <a:rPr lang="en-IN" dirty="0">
                <a:solidFill>
                  <a:prstClr val="black"/>
                </a:solidFill>
                <a:highlight>
                  <a:srgbClr val="00FFFF"/>
                </a:highlight>
              </a:rPr>
              <a:t>                                                           of applet window</a:t>
            </a:r>
          </a:p>
          <a:p>
            <a:pPr lvl="0"/>
            <a:r>
              <a:rPr lang="en-IN" dirty="0">
                <a:solidFill>
                  <a:prstClr val="black"/>
                </a:solidFill>
                <a:highlight>
                  <a:srgbClr val="00FFFF"/>
                </a:highlight>
              </a:rPr>
              <a:t>     </a:t>
            </a:r>
            <a:r>
              <a:rPr lang="en-IN" dirty="0" err="1">
                <a:solidFill>
                  <a:prstClr val="black"/>
                </a:solidFill>
                <a:highlight>
                  <a:srgbClr val="00FFFF"/>
                </a:highlight>
              </a:rPr>
              <a:t>setForeground</a:t>
            </a:r>
            <a:r>
              <a:rPr lang="en-IN" dirty="0">
                <a:solidFill>
                  <a:prstClr val="black"/>
                </a:solidFill>
                <a:highlight>
                  <a:srgbClr val="00FFFF"/>
                </a:highlight>
              </a:rPr>
              <a:t>(</a:t>
            </a:r>
            <a:r>
              <a:rPr lang="en-IN" dirty="0" err="1">
                <a:solidFill>
                  <a:prstClr val="black"/>
                </a:solidFill>
                <a:highlight>
                  <a:srgbClr val="00FFFF"/>
                </a:highlight>
              </a:rPr>
              <a:t>Color.black</a:t>
            </a:r>
            <a:r>
              <a:rPr lang="en-IN" dirty="0">
                <a:solidFill>
                  <a:prstClr val="black"/>
                </a:solidFill>
                <a:highlight>
                  <a:srgbClr val="00FFFF"/>
                </a:highlight>
              </a:rPr>
              <a:t>);</a:t>
            </a:r>
          </a:p>
          <a:p>
            <a:pPr lvl="0"/>
            <a:r>
              <a:rPr lang="en-IN" dirty="0">
                <a:solidFill>
                  <a:prstClr val="black"/>
                </a:solidFill>
                <a:highlight>
                  <a:srgbClr val="00FFFF"/>
                </a:highlight>
              </a:rPr>
              <a:t>     </a:t>
            </a:r>
            <a:r>
              <a:rPr lang="en-IN" dirty="0" err="1">
                <a:solidFill>
                  <a:prstClr val="black"/>
                </a:solidFill>
                <a:highlight>
                  <a:srgbClr val="00FFFF"/>
                </a:highlight>
              </a:rPr>
              <a:t>msg</a:t>
            </a:r>
            <a:r>
              <a:rPr lang="en-IN" dirty="0">
                <a:solidFill>
                  <a:prstClr val="black"/>
                </a:solidFill>
                <a:highlight>
                  <a:srgbClr val="00FFFF"/>
                </a:highlight>
              </a:rPr>
              <a:t>="Hello Friends .... ";           // initialize the string to </a:t>
            </a:r>
            <a:r>
              <a:rPr lang="en-IN" dirty="0" err="1">
                <a:solidFill>
                  <a:prstClr val="black"/>
                </a:solidFill>
                <a:highlight>
                  <a:srgbClr val="00FFFF"/>
                </a:highlight>
              </a:rPr>
              <a:t>dispaly</a:t>
            </a:r>
            <a:endParaRPr lang="en-IN" dirty="0">
              <a:solidFill>
                <a:prstClr val="black"/>
              </a:solidFill>
              <a:highlight>
                <a:srgbClr val="00FFFF"/>
              </a:highlight>
            </a:endParaRPr>
          </a:p>
          <a:p>
            <a:pPr lvl="0"/>
            <a:r>
              <a:rPr lang="en-IN" dirty="0">
                <a:solidFill>
                  <a:prstClr val="black"/>
                </a:solidFill>
              </a:rPr>
              <a:t>   }</a:t>
            </a:r>
          </a:p>
          <a:p>
            <a:pPr lvl="0"/>
            <a:r>
              <a:rPr lang="en-IN" dirty="0">
                <a:solidFill>
                  <a:prstClr val="black"/>
                </a:solidFill>
              </a:rPr>
              <a:t>   public void start()      </a:t>
            </a:r>
          </a:p>
          <a:p>
            <a:pPr lvl="0"/>
            <a:r>
              <a:rPr lang="en-IN" dirty="0">
                <a:solidFill>
                  <a:prstClr val="black"/>
                </a:solidFill>
              </a:rPr>
              <a:t>   { </a:t>
            </a:r>
          </a:p>
          <a:p>
            <a:pPr lvl="0"/>
            <a:r>
              <a:rPr lang="en-IN" dirty="0">
                <a:solidFill>
                  <a:prstClr val="black"/>
                </a:solidFill>
                <a:highlight>
                  <a:srgbClr val="00FFFF"/>
                </a:highlight>
              </a:rPr>
              <a:t>      </a:t>
            </a:r>
            <a:r>
              <a:rPr lang="en-IN" dirty="0" err="1">
                <a:solidFill>
                  <a:prstClr val="black"/>
                </a:solidFill>
                <a:highlight>
                  <a:srgbClr val="00FFFF"/>
                </a:highlight>
              </a:rPr>
              <a:t>msg</a:t>
            </a:r>
            <a:r>
              <a:rPr lang="en-IN" dirty="0">
                <a:solidFill>
                  <a:prstClr val="black"/>
                </a:solidFill>
                <a:highlight>
                  <a:srgbClr val="00FFFF"/>
                </a:highlight>
              </a:rPr>
              <a:t> += "How are you?....";</a:t>
            </a:r>
          </a:p>
          <a:p>
            <a:pPr lvl="0"/>
            <a:r>
              <a:rPr lang="en-IN" dirty="0">
                <a:solidFill>
                  <a:prstClr val="black"/>
                </a:solidFill>
              </a:rPr>
              <a:t>    }</a:t>
            </a:r>
          </a:p>
          <a:p>
            <a:pPr lvl="0"/>
            <a:r>
              <a:rPr lang="en-IN" dirty="0">
                <a:solidFill>
                  <a:prstClr val="black"/>
                </a:solidFill>
              </a:rPr>
              <a:t>    public void paint(Graphics g)</a:t>
            </a:r>
          </a:p>
          <a:p>
            <a:pPr lvl="0"/>
            <a:r>
              <a:rPr lang="en-IN" dirty="0">
                <a:solidFill>
                  <a:prstClr val="black"/>
                </a:solidFill>
              </a:rPr>
              <a:t>    {</a:t>
            </a:r>
          </a:p>
          <a:p>
            <a:pPr lvl="0"/>
            <a:r>
              <a:rPr lang="en-IN" dirty="0">
                <a:solidFill>
                  <a:prstClr val="black"/>
                </a:solidFill>
              </a:rPr>
              <a:t>      </a:t>
            </a:r>
            <a:r>
              <a:rPr lang="en-IN" dirty="0" err="1">
                <a:solidFill>
                  <a:prstClr val="black"/>
                </a:solidFill>
                <a:highlight>
                  <a:srgbClr val="00FFFF"/>
                </a:highlight>
              </a:rPr>
              <a:t>msg</a:t>
            </a:r>
            <a:r>
              <a:rPr lang="en-IN" dirty="0">
                <a:solidFill>
                  <a:prstClr val="black"/>
                </a:solidFill>
                <a:highlight>
                  <a:srgbClr val="00FFFF"/>
                </a:highlight>
              </a:rPr>
              <a:t>+= "Bye…….";</a:t>
            </a:r>
          </a:p>
          <a:p>
            <a:pPr lvl="0"/>
            <a:r>
              <a:rPr lang="en-IN" dirty="0">
                <a:solidFill>
                  <a:prstClr val="black"/>
                </a:solidFill>
                <a:highlight>
                  <a:srgbClr val="00FFFF"/>
                </a:highlight>
              </a:rPr>
              <a:t>      </a:t>
            </a:r>
            <a:r>
              <a:rPr lang="en-IN" dirty="0" err="1">
                <a:solidFill>
                  <a:prstClr val="black"/>
                </a:solidFill>
                <a:highlight>
                  <a:srgbClr val="00FFFF"/>
                </a:highlight>
              </a:rPr>
              <a:t>g.drawString</a:t>
            </a:r>
            <a:r>
              <a:rPr lang="en-IN" dirty="0">
                <a:solidFill>
                  <a:prstClr val="black"/>
                </a:solidFill>
                <a:highlight>
                  <a:srgbClr val="00FFFF"/>
                </a:highlight>
              </a:rPr>
              <a:t>(msg,10,30);</a:t>
            </a:r>
          </a:p>
          <a:p>
            <a:pPr lvl="0"/>
            <a:r>
              <a:rPr lang="en-IN" dirty="0">
                <a:solidFill>
                  <a:prstClr val="black"/>
                </a:solidFill>
              </a:rPr>
              <a:t>   }</a:t>
            </a:r>
          </a:p>
          <a:p>
            <a:pPr lvl="0"/>
            <a:r>
              <a:rPr lang="en-IN" dirty="0">
                <a:solidFill>
                  <a:prstClr val="black"/>
                </a:solidFill>
              </a:rPr>
              <a:t>}</a:t>
            </a:r>
          </a:p>
          <a:p>
            <a:pPr lvl="0"/>
            <a:r>
              <a:rPr lang="en-IN" dirty="0">
                <a:solidFill>
                  <a:prstClr val="black"/>
                </a:solidFill>
              </a:rPr>
              <a:t>     </a:t>
            </a:r>
          </a:p>
          <a:p>
            <a:pPr lvl="0"/>
            <a:endParaRPr lang="en-IN" dirty="0">
              <a:solidFill>
                <a:prstClr val="black"/>
              </a:solidFill>
            </a:endParaRPr>
          </a:p>
          <a:p>
            <a:pPr lvl="0"/>
            <a:r>
              <a:rPr lang="en-IN" dirty="0">
                <a:solidFill>
                  <a:prstClr val="black"/>
                </a:solidFill>
              </a:rPr>
              <a:t>  /* </a:t>
            </a:r>
          </a:p>
          <a:p>
            <a:pPr lvl="0"/>
            <a:r>
              <a:rPr lang="en-IN" dirty="0">
                <a:solidFill>
                  <a:prstClr val="black"/>
                </a:solidFill>
              </a:rPr>
              <a:t>&lt;html&gt;</a:t>
            </a:r>
          </a:p>
          <a:p>
            <a:pPr lvl="0"/>
            <a:r>
              <a:rPr lang="en-IN" dirty="0">
                <a:solidFill>
                  <a:prstClr val="black"/>
                </a:solidFill>
              </a:rPr>
              <a:t>   &lt;body&gt;</a:t>
            </a:r>
          </a:p>
          <a:p>
            <a:pPr lvl="0"/>
            <a:r>
              <a:rPr lang="en-IN" dirty="0">
                <a:solidFill>
                  <a:prstClr val="black"/>
                </a:solidFill>
              </a:rPr>
              <a:t>     &lt;applet code="</a:t>
            </a:r>
            <a:r>
              <a:rPr lang="en-IN" dirty="0" err="1">
                <a:solidFill>
                  <a:prstClr val="black"/>
                </a:solidFill>
              </a:rPr>
              <a:t>Sample.class</a:t>
            </a:r>
            <a:r>
              <a:rPr lang="en-IN" dirty="0">
                <a:solidFill>
                  <a:prstClr val="black"/>
                </a:solidFill>
              </a:rPr>
              <a:t>" width="300" height="300"&gt;</a:t>
            </a:r>
          </a:p>
          <a:p>
            <a:pPr lvl="0"/>
            <a:r>
              <a:rPr lang="en-IN" dirty="0">
                <a:solidFill>
                  <a:prstClr val="black"/>
                </a:solidFill>
              </a:rPr>
              <a:t>      &lt;/applet&gt;</a:t>
            </a:r>
          </a:p>
          <a:p>
            <a:pPr lvl="0"/>
            <a:r>
              <a:rPr lang="en-IN" dirty="0">
                <a:solidFill>
                  <a:prstClr val="black"/>
                </a:solidFill>
              </a:rPr>
              <a:t>    &lt;/body&gt;</a:t>
            </a:r>
          </a:p>
          <a:p>
            <a:pPr lvl="0"/>
            <a:r>
              <a:rPr lang="en-IN" dirty="0">
                <a:solidFill>
                  <a:prstClr val="black"/>
                </a:solidFill>
              </a:rPr>
              <a:t>  &lt;/html&gt;</a:t>
            </a:r>
          </a:p>
          <a:p>
            <a:pPr lvl="0"/>
            <a:r>
              <a:rPr lang="en-IN" dirty="0">
                <a:solidFill>
                  <a:prstClr val="black"/>
                </a:solidFill>
              </a:rPr>
              <a:t>   */</a:t>
            </a:r>
            <a:endParaRPr kumimoji="0" lang="en-IN" sz="1800" b="0" i="0" u="none" strike="noStrike" kern="1200" cap="none" spc="0" normalizeH="0" baseline="0" noProof="0" dirty="0">
              <a:ln>
                <a:noFill/>
              </a:ln>
              <a:solidFill>
                <a:prstClr val="white"/>
              </a:solidFill>
              <a:effectLst/>
              <a:uLnTx/>
              <a:uFillTx/>
              <a:latin typeface="Perpetua"/>
              <a:ea typeface="+mn-ea"/>
              <a:cs typeface="+mn-cs"/>
            </a:endParaRPr>
          </a:p>
        </p:txBody>
      </p:sp>
      <p:cxnSp>
        <p:nvCxnSpPr>
          <p:cNvPr id="3" name="Straight Connector 2">
            <a:extLst>
              <a:ext uri="{FF2B5EF4-FFF2-40B4-BE49-F238E27FC236}">
                <a16:creationId xmlns:a16="http://schemas.microsoft.com/office/drawing/2014/main" id="{ACA2C31D-ED9A-4EFD-84BB-88F1B0D0D62B}"/>
              </a:ext>
            </a:extLst>
          </p:cNvPr>
          <p:cNvCxnSpPr/>
          <p:nvPr/>
        </p:nvCxnSpPr>
        <p:spPr>
          <a:xfrm>
            <a:off x="6172200" y="191077"/>
            <a:ext cx="0" cy="6475846"/>
          </a:xfrm>
          <a:prstGeom prst="line">
            <a:avLst/>
          </a:prstGeom>
        </p:spPr>
        <p:style>
          <a:lnRef idx="3">
            <a:schemeClr val="accent1"/>
          </a:lnRef>
          <a:fillRef idx="0">
            <a:schemeClr val="accent1"/>
          </a:fillRef>
          <a:effectRef idx="2">
            <a:schemeClr val="accent1"/>
          </a:effectRef>
          <a:fontRef idx="minor">
            <a:schemeClr val="tx1"/>
          </a:fontRef>
        </p:style>
      </p:cxnSp>
      <p:pic>
        <p:nvPicPr>
          <p:cNvPr id="8" name="Picture 7">
            <a:extLst>
              <a:ext uri="{FF2B5EF4-FFF2-40B4-BE49-F238E27FC236}">
                <a16:creationId xmlns:a16="http://schemas.microsoft.com/office/drawing/2014/main" id="{167D8247-0068-42C7-A89D-C02E0B459FA8}"/>
              </a:ext>
            </a:extLst>
          </p:cNvPr>
          <p:cNvPicPr>
            <a:picLocks noChangeAspect="1"/>
          </p:cNvPicPr>
          <p:nvPr/>
        </p:nvPicPr>
        <p:blipFill>
          <a:blip r:embed="rId2"/>
          <a:stretch>
            <a:fillRect/>
          </a:stretch>
        </p:blipFill>
        <p:spPr>
          <a:xfrm>
            <a:off x="7848600" y="2667000"/>
            <a:ext cx="3028950" cy="3905250"/>
          </a:xfrm>
          <a:prstGeom prst="rect">
            <a:avLst/>
          </a:prstGeom>
        </p:spPr>
      </p:pic>
    </p:spTree>
    <p:extLst>
      <p:ext uri="{BB962C8B-B14F-4D97-AF65-F5344CB8AC3E}">
        <p14:creationId xmlns:p14="http://schemas.microsoft.com/office/powerpoint/2010/main" val="1688965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3662ED3-A9CB-4AE2-8613-95F90279EC11}"/>
              </a:ext>
            </a:extLst>
          </p:cNvPr>
          <p:cNvSpPr/>
          <p:nvPr/>
        </p:nvSpPr>
        <p:spPr>
          <a:xfrm>
            <a:off x="152400" y="76201"/>
            <a:ext cx="12039600" cy="662804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numCol="2"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import java. applet.*;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import java. </a:t>
            </a:r>
            <a:r>
              <a:rPr kumimoji="0" lang="en-IN" sz="1800" b="0" i="0" u="none" strike="noStrike" kern="1200" cap="none" spc="0" normalizeH="0" baseline="0" noProof="0" dirty="0" err="1">
                <a:ln>
                  <a:noFill/>
                </a:ln>
                <a:solidFill>
                  <a:prstClr val="black"/>
                </a:solidFill>
                <a:effectLst/>
                <a:uLnTx/>
                <a:uFillTx/>
                <a:latin typeface="Perpetua"/>
                <a:ea typeface="+mn-ea"/>
                <a:cs typeface="+mn-cs"/>
              </a:rPr>
              <a:t>awt</a:t>
            </a:r>
            <a:r>
              <a:rPr kumimoji="0" lang="en-IN" sz="1800" b="0" i="0" u="none" strike="noStrike" kern="1200" cap="none" spc="0" normalizeH="0" baseline="0" noProof="0" dirty="0">
                <a:ln>
                  <a:noFill/>
                </a:ln>
                <a:solidFill>
                  <a:prstClr val="black"/>
                </a:solidFill>
                <a:effectLst/>
                <a:uLnTx/>
                <a:uFillTx/>
                <a:latin typeface="Perpetua"/>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Perpetu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public class Sample extends Applet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   String </a:t>
            </a:r>
            <a:r>
              <a:rPr kumimoji="0" lang="en-IN" sz="1800" b="0" i="0" u="none" strike="noStrike" kern="1200" cap="none" spc="0" normalizeH="0" baseline="0" noProof="0" dirty="0" err="1">
                <a:ln>
                  <a:noFill/>
                </a:ln>
                <a:solidFill>
                  <a:prstClr val="black"/>
                </a:solidFill>
                <a:effectLst/>
                <a:uLnTx/>
                <a:uFillTx/>
                <a:latin typeface="Perpetua"/>
                <a:ea typeface="+mn-ea"/>
                <a:cs typeface="+mn-cs"/>
              </a:rPr>
              <a:t>msg</a:t>
            </a:r>
            <a:r>
              <a:rPr kumimoji="0" lang="en-IN" sz="1800" b="0" i="0" u="none" strike="noStrike" kern="1200" cap="none" spc="0" normalizeH="0" baseline="0" noProof="0" dirty="0">
                <a:ln>
                  <a:noFill/>
                </a:ln>
                <a:solidFill>
                  <a:prstClr val="black"/>
                </a:solidFill>
                <a:effectLst/>
                <a:uLnTx/>
                <a:uFillTx/>
                <a:latin typeface="Perpetua"/>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solidFill>
                  <a:prstClr val="black"/>
                </a:solidFill>
                <a:latin typeface="Perpetua"/>
              </a:rPr>
              <a:t>    </a:t>
            </a:r>
            <a:r>
              <a:rPr lang="en-IN" dirty="0">
                <a:solidFill>
                  <a:prstClr val="black"/>
                </a:solidFill>
                <a:highlight>
                  <a:srgbClr val="00FFFF"/>
                </a:highlight>
                <a:latin typeface="Perpetua"/>
              </a:rPr>
              <a:t>Font f1;</a:t>
            </a:r>
            <a:endParaRPr kumimoji="0" lang="en-IN" sz="1800" b="0" i="0" u="none" strike="noStrike" kern="1200" cap="none" spc="0" normalizeH="0" baseline="0" noProof="0" dirty="0">
              <a:ln>
                <a:noFill/>
              </a:ln>
              <a:solidFill>
                <a:prstClr val="black"/>
              </a:solidFill>
              <a:effectLst/>
              <a:highlight>
                <a:srgbClr val="00FFFF"/>
              </a:highlight>
              <a:uLnTx/>
              <a:uFillTx/>
              <a:latin typeface="Perpetu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   public void </a:t>
            </a:r>
            <a:r>
              <a:rPr kumimoji="0" lang="en-IN" sz="1800" b="0" i="0" u="none" strike="noStrike" kern="1200" cap="none" spc="0" normalizeH="0" baseline="0" noProof="0" dirty="0" err="1">
                <a:ln>
                  <a:noFill/>
                </a:ln>
                <a:solidFill>
                  <a:prstClr val="black"/>
                </a:solidFill>
                <a:effectLst/>
                <a:uLnTx/>
                <a:uFillTx/>
                <a:latin typeface="Perpetua"/>
                <a:ea typeface="+mn-ea"/>
                <a:cs typeface="+mn-cs"/>
              </a:rPr>
              <a:t>init</a:t>
            </a:r>
            <a:r>
              <a:rPr kumimoji="0" lang="en-IN" sz="1800" b="0" i="0" u="none" strike="noStrike" kern="1200" cap="none" spc="0" normalizeH="0" baseline="0" noProof="0" dirty="0">
                <a:ln>
                  <a:noFill/>
                </a:ln>
                <a:solidFill>
                  <a:prstClr val="black"/>
                </a:solidFill>
                <a:effectLst/>
                <a:uLnTx/>
                <a:uFillTx/>
                <a:latin typeface="Perpetua"/>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     </a:t>
            </a:r>
            <a:r>
              <a:rPr kumimoji="0" lang="en-IN" sz="1800" b="0" i="0" u="none" strike="noStrike" kern="1200" cap="none" spc="0" normalizeH="0" baseline="0" noProof="0" dirty="0" err="1">
                <a:ln>
                  <a:noFill/>
                </a:ln>
                <a:solidFill>
                  <a:prstClr val="black"/>
                </a:solidFill>
                <a:effectLst/>
                <a:uLnTx/>
                <a:uFillTx/>
                <a:latin typeface="Perpetua"/>
                <a:ea typeface="+mn-ea"/>
                <a:cs typeface="+mn-cs"/>
              </a:rPr>
              <a:t>setBackground</a:t>
            </a:r>
            <a:r>
              <a:rPr kumimoji="0" lang="en-IN" sz="1800" b="0" i="0" u="none" strike="noStrike" kern="1200" cap="none" spc="0" normalizeH="0" baseline="0" noProof="0" dirty="0">
                <a:ln>
                  <a:noFill/>
                </a:ln>
                <a:solidFill>
                  <a:prstClr val="black"/>
                </a:solidFill>
                <a:effectLst/>
                <a:uLnTx/>
                <a:uFillTx/>
                <a:latin typeface="Perpetua"/>
                <a:ea typeface="+mn-ea"/>
                <a:cs typeface="+mn-cs"/>
              </a:rPr>
              <a:t>(</a:t>
            </a:r>
            <a:r>
              <a:rPr kumimoji="0" lang="en-IN" sz="1800" b="0" i="0" u="none" strike="noStrike" kern="1200" cap="none" spc="0" normalizeH="0" baseline="0" noProof="0" dirty="0" err="1">
                <a:ln>
                  <a:noFill/>
                </a:ln>
                <a:solidFill>
                  <a:prstClr val="black"/>
                </a:solidFill>
                <a:effectLst/>
                <a:uLnTx/>
                <a:uFillTx/>
                <a:latin typeface="Perpetua"/>
                <a:ea typeface="+mn-ea"/>
                <a:cs typeface="+mn-cs"/>
              </a:rPr>
              <a:t>Color.red</a:t>
            </a:r>
            <a:r>
              <a:rPr kumimoji="0" lang="en-IN" sz="1800" b="0" i="0" u="none" strike="noStrike" kern="1200" cap="none" spc="0" normalizeH="0" baseline="0" noProof="0" dirty="0">
                <a:ln>
                  <a:noFill/>
                </a:ln>
                <a:solidFill>
                  <a:prstClr val="black"/>
                </a:solidFill>
                <a:effectLst/>
                <a:uLnTx/>
                <a:uFillTx/>
                <a:latin typeface="Perpetua"/>
                <a:ea typeface="+mn-ea"/>
                <a:cs typeface="+mn-cs"/>
              </a:rPr>
              <a:t>);   // set background and </a:t>
            </a:r>
            <a:r>
              <a:rPr kumimoji="0" lang="en-IN" sz="1800" b="0" i="0" u="none" strike="noStrike" kern="1200" cap="none" spc="0" normalizeH="0" baseline="0" noProof="0" dirty="0" err="1">
                <a:ln>
                  <a:noFill/>
                </a:ln>
                <a:solidFill>
                  <a:prstClr val="black"/>
                </a:solidFill>
                <a:effectLst/>
                <a:uLnTx/>
                <a:uFillTx/>
                <a:latin typeface="Perpetua"/>
                <a:ea typeface="+mn-ea"/>
                <a:cs typeface="+mn-cs"/>
              </a:rPr>
              <a:t>forground</a:t>
            </a:r>
            <a:r>
              <a:rPr kumimoji="0" lang="en-IN" sz="1800" b="0" i="0" u="none" strike="noStrike" kern="1200" cap="none" spc="0" normalizeH="0" baseline="0" noProof="0" dirty="0">
                <a:ln>
                  <a:noFill/>
                </a:ln>
                <a:solidFill>
                  <a:prstClr val="black"/>
                </a:solidFill>
                <a:effectLst/>
                <a:uLnTx/>
                <a:uFillTx/>
                <a:latin typeface="Perpetua"/>
                <a:ea typeface="+mn-ea"/>
                <a:cs typeface="+mn-cs"/>
              </a:rPr>
              <a:t> </a:t>
            </a:r>
            <a:r>
              <a:rPr kumimoji="0" lang="en-IN" sz="1800" b="0" i="0" u="none" strike="noStrike" kern="1200" cap="none" spc="0" normalizeH="0" baseline="0" noProof="0" dirty="0" err="1">
                <a:ln>
                  <a:noFill/>
                </a:ln>
                <a:solidFill>
                  <a:prstClr val="black"/>
                </a:solidFill>
                <a:effectLst/>
                <a:uLnTx/>
                <a:uFillTx/>
                <a:latin typeface="Perpetua"/>
                <a:ea typeface="+mn-ea"/>
                <a:cs typeface="+mn-cs"/>
              </a:rPr>
              <a:t>color</a:t>
            </a:r>
            <a:r>
              <a:rPr kumimoji="0" lang="en-IN" sz="1800" b="0" i="0" u="none" strike="noStrike" kern="1200" cap="none" spc="0" normalizeH="0" baseline="0" noProof="0" dirty="0">
                <a:ln>
                  <a:noFill/>
                </a:ln>
                <a:solidFill>
                  <a:prstClr val="black"/>
                </a:solidFill>
                <a:effectLst/>
                <a:uLnTx/>
                <a:uFillTx/>
                <a:latin typeface="Perpetua"/>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                                                           of applet window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     </a:t>
            </a:r>
            <a:r>
              <a:rPr kumimoji="0" lang="en-IN" sz="1800" b="0" i="0" u="none" strike="noStrike" kern="1200" cap="none" spc="0" normalizeH="0" baseline="0" noProof="0" dirty="0" err="1">
                <a:ln>
                  <a:noFill/>
                </a:ln>
                <a:solidFill>
                  <a:prstClr val="black"/>
                </a:solidFill>
                <a:effectLst/>
                <a:uLnTx/>
                <a:uFillTx/>
                <a:latin typeface="Perpetua"/>
                <a:ea typeface="+mn-ea"/>
                <a:cs typeface="+mn-cs"/>
              </a:rPr>
              <a:t>setForeground</a:t>
            </a:r>
            <a:r>
              <a:rPr kumimoji="0" lang="en-IN" sz="1800" b="0" i="0" u="none" strike="noStrike" kern="1200" cap="none" spc="0" normalizeH="0" baseline="0" noProof="0" dirty="0">
                <a:ln>
                  <a:noFill/>
                </a:ln>
                <a:solidFill>
                  <a:prstClr val="black"/>
                </a:solidFill>
                <a:effectLst/>
                <a:uLnTx/>
                <a:uFillTx/>
                <a:latin typeface="Perpetua"/>
                <a:ea typeface="+mn-ea"/>
                <a:cs typeface="+mn-cs"/>
              </a:rPr>
              <a:t>(</a:t>
            </a:r>
            <a:r>
              <a:rPr kumimoji="0" lang="en-IN" sz="1800" b="0" i="0" u="none" strike="noStrike" kern="1200" cap="none" spc="0" normalizeH="0" baseline="0" noProof="0" dirty="0" err="1">
                <a:ln>
                  <a:noFill/>
                </a:ln>
                <a:solidFill>
                  <a:prstClr val="black"/>
                </a:solidFill>
                <a:effectLst/>
                <a:uLnTx/>
                <a:uFillTx/>
                <a:latin typeface="Perpetua"/>
                <a:ea typeface="+mn-ea"/>
                <a:cs typeface="+mn-cs"/>
              </a:rPr>
              <a:t>Color.black</a:t>
            </a:r>
            <a:r>
              <a:rPr kumimoji="0" lang="en-IN" sz="1800" b="0" i="0" u="none" strike="noStrike" kern="1200" cap="none" spc="0" normalizeH="0" baseline="0" noProof="0" dirty="0">
                <a:ln>
                  <a:noFill/>
                </a:ln>
                <a:solidFill>
                  <a:prstClr val="black"/>
                </a:solidFill>
                <a:effectLst/>
                <a:uLnTx/>
                <a:uFillTx/>
                <a:latin typeface="Perpetua"/>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     </a:t>
            </a:r>
            <a:r>
              <a:rPr kumimoji="0" lang="en-IN" sz="1800" b="0" i="0" u="none" strike="noStrike" kern="1200" cap="none" spc="0" normalizeH="0" baseline="0" noProof="0" dirty="0" err="1">
                <a:ln>
                  <a:noFill/>
                </a:ln>
                <a:solidFill>
                  <a:prstClr val="black"/>
                </a:solidFill>
                <a:effectLst/>
                <a:uLnTx/>
                <a:uFillTx/>
                <a:latin typeface="Perpetua"/>
                <a:ea typeface="+mn-ea"/>
                <a:cs typeface="+mn-cs"/>
              </a:rPr>
              <a:t>msg</a:t>
            </a:r>
            <a:r>
              <a:rPr kumimoji="0" lang="en-IN" sz="1800" b="0" i="0" u="none" strike="noStrike" kern="1200" cap="none" spc="0" normalizeH="0" baseline="0" noProof="0" dirty="0">
                <a:ln>
                  <a:noFill/>
                </a:ln>
                <a:solidFill>
                  <a:prstClr val="black"/>
                </a:solidFill>
                <a:effectLst/>
                <a:uLnTx/>
                <a:uFillTx/>
                <a:latin typeface="Perpetua"/>
                <a:ea typeface="+mn-ea"/>
                <a:cs typeface="+mn-cs"/>
              </a:rPr>
              <a:t>="Hello Friends .... ";           // initialize the string to display</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solidFill>
                  <a:prstClr val="black"/>
                </a:solidFill>
                <a:latin typeface="Perpetua"/>
              </a:rPr>
              <a:t>     </a:t>
            </a:r>
            <a:r>
              <a:rPr lang="en-IN" dirty="0">
                <a:solidFill>
                  <a:prstClr val="black"/>
                </a:solidFill>
                <a:highlight>
                  <a:srgbClr val="00FFFF"/>
                </a:highlight>
                <a:latin typeface="Perpetua"/>
              </a:rPr>
              <a:t>f1 =new Font (“Aerial”,</a:t>
            </a:r>
            <a:r>
              <a:rPr lang="en-IN" dirty="0" err="1">
                <a:solidFill>
                  <a:prstClr val="black"/>
                </a:solidFill>
                <a:highlight>
                  <a:srgbClr val="00FFFF"/>
                </a:highlight>
                <a:latin typeface="Perpetua"/>
              </a:rPr>
              <a:t>Font.BOLD</a:t>
            </a:r>
            <a:r>
              <a:rPr lang="en-IN" dirty="0">
                <a:solidFill>
                  <a:prstClr val="black"/>
                </a:solidFill>
                <a:highlight>
                  <a:srgbClr val="00FFFF"/>
                </a:highlight>
                <a:latin typeface="Perpetua"/>
              </a:rPr>
              <a:t>, 18);</a:t>
            </a:r>
            <a:endParaRPr kumimoji="0" lang="en-IN" sz="1800" b="0" i="0" u="none" strike="noStrike" kern="1200" cap="none" spc="0" normalizeH="0" baseline="0" noProof="0" dirty="0">
              <a:ln>
                <a:noFill/>
              </a:ln>
              <a:solidFill>
                <a:prstClr val="black"/>
              </a:solidFill>
              <a:effectLst/>
              <a:highlight>
                <a:srgbClr val="00FFFF"/>
              </a:highlight>
              <a:uLnTx/>
              <a:uFillTx/>
              <a:latin typeface="Perpetu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   public void start()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      </a:t>
            </a:r>
            <a:r>
              <a:rPr kumimoji="0" lang="en-IN" sz="1800" b="0" i="0" u="none" strike="noStrike" kern="1200" cap="none" spc="0" normalizeH="0" baseline="0" noProof="0" dirty="0" err="1">
                <a:ln>
                  <a:noFill/>
                </a:ln>
                <a:solidFill>
                  <a:prstClr val="black"/>
                </a:solidFill>
                <a:effectLst/>
                <a:uLnTx/>
                <a:uFillTx/>
                <a:latin typeface="Perpetua"/>
                <a:ea typeface="+mn-ea"/>
                <a:cs typeface="+mn-cs"/>
              </a:rPr>
              <a:t>msg</a:t>
            </a:r>
            <a:r>
              <a:rPr kumimoji="0" lang="en-IN" sz="1800" b="0" i="0" u="none" strike="noStrike" kern="1200" cap="none" spc="0" normalizeH="0" baseline="0" noProof="0" dirty="0">
                <a:ln>
                  <a:noFill/>
                </a:ln>
                <a:solidFill>
                  <a:prstClr val="black"/>
                </a:solidFill>
                <a:effectLst/>
                <a:uLnTx/>
                <a:uFillTx/>
                <a:latin typeface="Perpetua"/>
                <a:ea typeface="+mn-ea"/>
                <a:cs typeface="+mn-cs"/>
              </a:rPr>
              <a:t> += "How are you?....";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    public void paint(Graphics 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      </a:t>
            </a:r>
            <a:r>
              <a:rPr kumimoji="0" lang="en-IN" sz="1800" b="0" i="0" u="none" strike="noStrike" kern="1200" cap="none" spc="0" normalizeH="0" baseline="0" noProof="0" dirty="0" err="1">
                <a:ln>
                  <a:noFill/>
                </a:ln>
                <a:solidFill>
                  <a:prstClr val="black"/>
                </a:solidFill>
                <a:effectLst/>
                <a:uLnTx/>
                <a:uFillTx/>
                <a:latin typeface="Perpetua"/>
                <a:ea typeface="+mn-ea"/>
                <a:cs typeface="+mn-cs"/>
              </a:rPr>
              <a:t>msg</a:t>
            </a:r>
            <a:r>
              <a:rPr kumimoji="0" lang="en-IN" sz="1800" b="0" i="0" u="none" strike="noStrike" kern="1200" cap="none" spc="0" normalizeH="0" baseline="0" noProof="0" dirty="0">
                <a:ln>
                  <a:noFill/>
                </a:ln>
                <a:solidFill>
                  <a:prstClr val="black"/>
                </a:solidFill>
                <a:effectLst/>
                <a:uLnTx/>
                <a:uFillTx/>
                <a:latin typeface="Perpetua"/>
                <a:ea typeface="+mn-ea"/>
                <a:cs typeface="+mn-cs"/>
              </a:rPr>
              <a:t>+= "Bye…….";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solidFill>
                  <a:prstClr val="black"/>
                </a:solidFill>
                <a:highlight>
                  <a:srgbClr val="00FFFF"/>
                </a:highlight>
                <a:latin typeface="Perpetua"/>
              </a:rPr>
              <a:t>      </a:t>
            </a:r>
            <a:r>
              <a:rPr lang="en-IN" dirty="0" err="1">
                <a:solidFill>
                  <a:prstClr val="black"/>
                </a:solidFill>
                <a:highlight>
                  <a:srgbClr val="00FFFF"/>
                </a:highlight>
                <a:latin typeface="Perpetua"/>
              </a:rPr>
              <a:t>g.setFont</a:t>
            </a:r>
            <a:r>
              <a:rPr lang="en-IN" dirty="0">
                <a:solidFill>
                  <a:prstClr val="black"/>
                </a:solidFill>
                <a:highlight>
                  <a:srgbClr val="00FFFF"/>
                </a:highlight>
                <a:latin typeface="Perpetua"/>
              </a:rPr>
              <a:t>(f1);</a:t>
            </a:r>
            <a:endParaRPr kumimoji="0" lang="en-IN" sz="1800" b="0" i="0" u="none" strike="noStrike" kern="1200" cap="none" spc="0" normalizeH="0" baseline="0" noProof="0" dirty="0">
              <a:ln>
                <a:noFill/>
              </a:ln>
              <a:solidFill>
                <a:prstClr val="black"/>
              </a:solidFill>
              <a:effectLst/>
              <a:highlight>
                <a:srgbClr val="00FFFF"/>
              </a:highlight>
              <a:uLnTx/>
              <a:uFillTx/>
              <a:latin typeface="Perpetu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      </a:t>
            </a:r>
            <a:r>
              <a:rPr kumimoji="0" lang="en-IN" sz="1800" b="0" i="0" u="none" strike="noStrike" kern="1200" cap="none" spc="0" normalizeH="0" baseline="0" noProof="0" dirty="0" err="1">
                <a:ln>
                  <a:noFill/>
                </a:ln>
                <a:solidFill>
                  <a:prstClr val="black"/>
                </a:solidFill>
                <a:effectLst/>
                <a:uLnTx/>
                <a:uFillTx/>
                <a:latin typeface="Perpetua"/>
                <a:ea typeface="+mn-ea"/>
                <a:cs typeface="+mn-cs"/>
              </a:rPr>
              <a:t>g.drawString</a:t>
            </a:r>
            <a:r>
              <a:rPr kumimoji="0" lang="en-IN" sz="1800" b="0" i="0" u="none" strike="noStrike" kern="1200" cap="none" spc="0" normalizeH="0" baseline="0" noProof="0" dirty="0">
                <a:ln>
                  <a:noFill/>
                </a:ln>
                <a:solidFill>
                  <a:prstClr val="black"/>
                </a:solidFill>
                <a:effectLst/>
                <a:uLnTx/>
                <a:uFillTx/>
                <a:latin typeface="Perpetua"/>
                <a:ea typeface="+mn-ea"/>
                <a:cs typeface="+mn-cs"/>
              </a:rPr>
              <a:t>(msg,10,30);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Perpetu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&lt;html&gt;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   &lt;body&gt;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     &lt;applet code="</a:t>
            </a:r>
            <a:r>
              <a:rPr kumimoji="0" lang="en-IN" sz="1800" b="0" i="0" u="none" strike="noStrike" kern="1200" cap="none" spc="0" normalizeH="0" baseline="0" noProof="0" dirty="0" err="1">
                <a:ln>
                  <a:noFill/>
                </a:ln>
                <a:solidFill>
                  <a:prstClr val="black"/>
                </a:solidFill>
                <a:effectLst/>
                <a:uLnTx/>
                <a:uFillTx/>
                <a:latin typeface="Perpetua"/>
                <a:ea typeface="+mn-ea"/>
                <a:cs typeface="+mn-cs"/>
              </a:rPr>
              <a:t>Sample.class</a:t>
            </a:r>
            <a:r>
              <a:rPr kumimoji="0" lang="en-IN" sz="1800" b="0" i="0" u="none" strike="noStrike" kern="1200" cap="none" spc="0" normalizeH="0" baseline="0" noProof="0" dirty="0">
                <a:ln>
                  <a:noFill/>
                </a:ln>
                <a:solidFill>
                  <a:prstClr val="black"/>
                </a:solidFill>
                <a:effectLst/>
                <a:uLnTx/>
                <a:uFillTx/>
                <a:latin typeface="Perpetua"/>
                <a:ea typeface="+mn-ea"/>
                <a:cs typeface="+mn-cs"/>
              </a:rPr>
              <a:t>" width="300" height="300"&gt;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      &lt;/applet&gt;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    &lt;/body&gt;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  &lt;/html&gt;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Perpetua"/>
                <a:ea typeface="+mn-ea"/>
                <a:cs typeface="+mn-cs"/>
              </a:rPr>
              <a:t>   */</a:t>
            </a:r>
            <a:endParaRPr kumimoji="0" lang="en-IN" sz="1800" b="0" i="0" u="none" strike="noStrike" kern="1200" cap="none" spc="0" normalizeH="0" baseline="0" noProof="0" dirty="0">
              <a:ln>
                <a:noFill/>
              </a:ln>
              <a:solidFill>
                <a:prstClr val="white"/>
              </a:solidFill>
              <a:effectLst/>
              <a:uLnTx/>
              <a:uFillTx/>
              <a:latin typeface="Perpetua"/>
              <a:ea typeface="+mn-ea"/>
              <a:cs typeface="+mn-cs"/>
            </a:endParaRPr>
          </a:p>
        </p:txBody>
      </p:sp>
      <p:cxnSp>
        <p:nvCxnSpPr>
          <p:cNvPr id="3" name="Straight Connector 2">
            <a:extLst>
              <a:ext uri="{FF2B5EF4-FFF2-40B4-BE49-F238E27FC236}">
                <a16:creationId xmlns:a16="http://schemas.microsoft.com/office/drawing/2014/main" id="{ACA2C31D-ED9A-4EFD-84BB-88F1B0D0D62B}"/>
              </a:ext>
            </a:extLst>
          </p:cNvPr>
          <p:cNvCxnSpPr/>
          <p:nvPr/>
        </p:nvCxnSpPr>
        <p:spPr>
          <a:xfrm>
            <a:off x="6172200" y="191077"/>
            <a:ext cx="0" cy="6475846"/>
          </a:xfrm>
          <a:prstGeom prst="line">
            <a:avLst/>
          </a:prstGeom>
        </p:spPr>
        <p:style>
          <a:lnRef idx="3">
            <a:schemeClr val="accent1"/>
          </a:lnRef>
          <a:fillRef idx="0">
            <a:schemeClr val="accent1"/>
          </a:fillRef>
          <a:effectRef idx="2">
            <a:schemeClr val="accent1"/>
          </a:effectRef>
          <a:fontRef idx="minor">
            <a:schemeClr val="tx1"/>
          </a:fontRef>
        </p:style>
      </p:cxnSp>
      <p:pic>
        <p:nvPicPr>
          <p:cNvPr id="2" name="Picture 1">
            <a:extLst>
              <a:ext uri="{FF2B5EF4-FFF2-40B4-BE49-F238E27FC236}">
                <a16:creationId xmlns:a16="http://schemas.microsoft.com/office/drawing/2014/main" id="{1DBE9A93-41A1-49AA-ABF8-26D10AB29484}"/>
              </a:ext>
            </a:extLst>
          </p:cNvPr>
          <p:cNvPicPr>
            <a:picLocks noChangeAspect="1"/>
          </p:cNvPicPr>
          <p:nvPr/>
        </p:nvPicPr>
        <p:blipFill>
          <a:blip r:embed="rId2"/>
          <a:stretch>
            <a:fillRect/>
          </a:stretch>
        </p:blipFill>
        <p:spPr>
          <a:xfrm>
            <a:off x="8229600" y="3028373"/>
            <a:ext cx="2857500" cy="3638550"/>
          </a:xfrm>
          <a:prstGeom prst="rect">
            <a:avLst/>
          </a:prstGeom>
        </p:spPr>
      </p:pic>
    </p:spTree>
    <p:extLst>
      <p:ext uri="{BB962C8B-B14F-4D97-AF65-F5344CB8AC3E}">
        <p14:creationId xmlns:p14="http://schemas.microsoft.com/office/powerpoint/2010/main" val="2256233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3662ED3-A9CB-4AE2-8613-95F90279EC11}"/>
              </a:ext>
            </a:extLst>
          </p:cNvPr>
          <p:cNvSpPr/>
          <p:nvPr/>
        </p:nvSpPr>
        <p:spPr>
          <a:xfrm>
            <a:off x="457200" y="749360"/>
            <a:ext cx="11100318" cy="598132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numCol="2" rtlCol="0" anchor="ctr"/>
          <a:lstStyle/>
          <a:p>
            <a:pPr lvl="0"/>
            <a:r>
              <a:rPr lang="en-IN" sz="2000" dirty="0">
                <a:solidFill>
                  <a:schemeClr val="tx1"/>
                </a:solidFill>
              </a:rPr>
              <a:t>import </a:t>
            </a:r>
            <a:r>
              <a:rPr lang="en-IN" sz="2000" dirty="0" err="1">
                <a:solidFill>
                  <a:schemeClr val="tx1"/>
                </a:solidFill>
              </a:rPr>
              <a:t>java.applet.Applet</a:t>
            </a:r>
            <a:r>
              <a:rPr lang="en-IN" sz="2000" dirty="0">
                <a:solidFill>
                  <a:schemeClr val="tx1"/>
                </a:solidFill>
              </a:rPr>
              <a:t>;</a:t>
            </a:r>
          </a:p>
          <a:p>
            <a:pPr lvl="0"/>
            <a:r>
              <a:rPr lang="en-IN" sz="2000" dirty="0">
                <a:solidFill>
                  <a:schemeClr val="tx1"/>
                </a:solidFill>
              </a:rPr>
              <a:t>import </a:t>
            </a:r>
            <a:r>
              <a:rPr lang="en-IN" sz="2000" dirty="0" err="1">
                <a:solidFill>
                  <a:schemeClr val="tx1"/>
                </a:solidFill>
              </a:rPr>
              <a:t>java.awt.Graphics</a:t>
            </a:r>
            <a:r>
              <a:rPr lang="en-IN" sz="2000" dirty="0">
                <a:solidFill>
                  <a:schemeClr val="tx1"/>
                </a:solidFill>
              </a:rPr>
              <a:t>;</a:t>
            </a:r>
          </a:p>
          <a:p>
            <a:pPr lvl="0"/>
            <a:endParaRPr lang="en-IN" sz="2000" dirty="0">
              <a:solidFill>
                <a:schemeClr val="tx1"/>
              </a:solidFill>
            </a:endParaRPr>
          </a:p>
          <a:p>
            <a:pPr lvl="0"/>
            <a:r>
              <a:rPr lang="en-IN" sz="2000" dirty="0">
                <a:solidFill>
                  <a:schemeClr val="tx1"/>
                </a:solidFill>
              </a:rPr>
              <a:t>public class Test extends Applet</a:t>
            </a:r>
          </a:p>
          <a:p>
            <a:pPr lvl="0"/>
            <a:r>
              <a:rPr lang="en-IN" sz="2000" dirty="0">
                <a:solidFill>
                  <a:schemeClr val="tx1"/>
                </a:solidFill>
              </a:rPr>
              <a:t>{</a:t>
            </a:r>
          </a:p>
          <a:p>
            <a:pPr lvl="0"/>
            <a:r>
              <a:rPr lang="en-IN" sz="2000" dirty="0">
                <a:solidFill>
                  <a:schemeClr val="tx1"/>
                </a:solidFill>
              </a:rPr>
              <a:t>    String str;</a:t>
            </a:r>
          </a:p>
          <a:p>
            <a:pPr lvl="0"/>
            <a:r>
              <a:rPr lang="en-IN" sz="2000" dirty="0">
                <a:solidFill>
                  <a:schemeClr val="tx1"/>
                </a:solidFill>
              </a:rPr>
              <a:t>   public void </a:t>
            </a:r>
            <a:r>
              <a:rPr lang="en-IN" sz="2000" dirty="0" err="1">
                <a:solidFill>
                  <a:schemeClr val="tx1"/>
                </a:solidFill>
              </a:rPr>
              <a:t>init</a:t>
            </a:r>
            <a:r>
              <a:rPr lang="en-IN" sz="2000" dirty="0">
                <a:solidFill>
                  <a:schemeClr val="tx1"/>
                </a:solidFill>
              </a:rPr>
              <a:t>()</a:t>
            </a:r>
          </a:p>
          <a:p>
            <a:pPr lvl="0"/>
            <a:r>
              <a:rPr lang="en-IN" sz="2000" dirty="0">
                <a:solidFill>
                  <a:schemeClr val="tx1"/>
                </a:solidFill>
              </a:rPr>
              <a:t>    { </a:t>
            </a:r>
          </a:p>
          <a:p>
            <a:pPr lvl="0"/>
            <a:r>
              <a:rPr lang="en-IN" sz="2000" dirty="0">
                <a:solidFill>
                  <a:schemeClr val="tx1"/>
                </a:solidFill>
              </a:rPr>
              <a:t>        </a:t>
            </a:r>
          </a:p>
          <a:p>
            <a:pPr lvl="0"/>
            <a:r>
              <a:rPr lang="en-IN" sz="2000" dirty="0">
                <a:solidFill>
                  <a:schemeClr val="tx1"/>
                </a:solidFill>
              </a:rPr>
              <a:t>         str=</a:t>
            </a:r>
            <a:r>
              <a:rPr lang="en-IN" sz="2000" dirty="0" err="1">
                <a:solidFill>
                  <a:schemeClr val="tx1"/>
                </a:solidFill>
              </a:rPr>
              <a:t>getParameter</a:t>
            </a:r>
            <a:r>
              <a:rPr lang="en-IN" sz="2000" dirty="0">
                <a:solidFill>
                  <a:schemeClr val="tx1"/>
                </a:solidFill>
              </a:rPr>
              <a:t>("string");</a:t>
            </a:r>
          </a:p>
          <a:p>
            <a:pPr lvl="0"/>
            <a:r>
              <a:rPr lang="en-IN" sz="2000" dirty="0">
                <a:solidFill>
                  <a:schemeClr val="tx1"/>
                </a:solidFill>
              </a:rPr>
              <a:t>         if (str ==null)</a:t>
            </a:r>
          </a:p>
          <a:p>
            <a:pPr lvl="0"/>
            <a:r>
              <a:rPr lang="en-IN" sz="2000" dirty="0">
                <a:solidFill>
                  <a:schemeClr val="tx1"/>
                </a:solidFill>
              </a:rPr>
              <a:t>           str= "Java";</a:t>
            </a:r>
          </a:p>
          <a:p>
            <a:pPr lvl="0"/>
            <a:r>
              <a:rPr lang="en-IN" sz="2000" dirty="0">
                <a:solidFill>
                  <a:schemeClr val="tx1"/>
                </a:solidFill>
              </a:rPr>
              <a:t>        str="</a:t>
            </a:r>
            <a:r>
              <a:rPr lang="en-IN" sz="2000" dirty="0" err="1">
                <a:solidFill>
                  <a:schemeClr val="tx1"/>
                </a:solidFill>
              </a:rPr>
              <a:t>Hello"+str</a:t>
            </a:r>
            <a:r>
              <a:rPr lang="en-IN" sz="2000" dirty="0">
                <a:solidFill>
                  <a:schemeClr val="tx1"/>
                </a:solidFill>
              </a:rPr>
              <a:t>;</a:t>
            </a:r>
          </a:p>
          <a:p>
            <a:pPr lvl="0"/>
            <a:r>
              <a:rPr lang="en-IN" sz="2000" dirty="0">
                <a:solidFill>
                  <a:schemeClr val="tx1"/>
                </a:solidFill>
              </a:rPr>
              <a:t>    }</a:t>
            </a:r>
          </a:p>
          <a:p>
            <a:pPr lvl="0"/>
            <a:r>
              <a:rPr lang="en-IN" sz="2000" dirty="0">
                <a:solidFill>
                  <a:schemeClr val="tx1"/>
                </a:solidFill>
              </a:rPr>
              <a:t>    public void paint(Graphics g)</a:t>
            </a:r>
          </a:p>
          <a:p>
            <a:pPr lvl="0"/>
            <a:r>
              <a:rPr lang="en-IN" sz="2000" dirty="0">
                <a:solidFill>
                  <a:schemeClr val="tx1"/>
                </a:solidFill>
              </a:rPr>
              <a:t>    {  </a:t>
            </a:r>
          </a:p>
          <a:p>
            <a:pPr lvl="0"/>
            <a:r>
              <a:rPr lang="en-IN" sz="2000" dirty="0">
                <a:solidFill>
                  <a:schemeClr val="tx1"/>
                </a:solidFill>
              </a:rPr>
              <a:t>      </a:t>
            </a:r>
            <a:r>
              <a:rPr lang="en-IN" sz="2000" dirty="0" err="1">
                <a:solidFill>
                  <a:schemeClr val="tx1"/>
                </a:solidFill>
              </a:rPr>
              <a:t>g.drawString</a:t>
            </a:r>
            <a:r>
              <a:rPr lang="en-IN" sz="2000" dirty="0">
                <a:solidFill>
                  <a:schemeClr val="tx1"/>
                </a:solidFill>
              </a:rPr>
              <a:t>(str,10,100);</a:t>
            </a:r>
          </a:p>
          <a:p>
            <a:pPr lvl="0"/>
            <a:r>
              <a:rPr lang="en-IN" sz="2000" dirty="0">
                <a:solidFill>
                  <a:schemeClr val="tx1"/>
                </a:solidFill>
              </a:rPr>
              <a:t>  }</a:t>
            </a:r>
          </a:p>
          <a:p>
            <a:pPr lvl="0"/>
            <a:r>
              <a:rPr lang="en-IN" sz="2000" dirty="0">
                <a:solidFill>
                  <a:schemeClr val="tx1"/>
                </a:solidFill>
              </a:rPr>
              <a:t>}</a:t>
            </a:r>
          </a:p>
          <a:p>
            <a:pPr lvl="0"/>
            <a:r>
              <a:rPr lang="en-IN" sz="2000" dirty="0">
                <a:solidFill>
                  <a:schemeClr val="tx1"/>
                </a:solidFill>
              </a:rPr>
              <a:t>/* </a:t>
            </a:r>
          </a:p>
          <a:p>
            <a:pPr lvl="0"/>
            <a:r>
              <a:rPr lang="en-IN" sz="2000" dirty="0">
                <a:solidFill>
                  <a:schemeClr val="tx1"/>
                </a:solidFill>
              </a:rPr>
              <a:t>&lt;html&gt;</a:t>
            </a:r>
          </a:p>
          <a:p>
            <a:pPr lvl="0"/>
            <a:r>
              <a:rPr lang="en-IN" sz="2000" dirty="0">
                <a:solidFill>
                  <a:schemeClr val="tx1"/>
                </a:solidFill>
              </a:rPr>
              <a:t>   &lt;body&gt;</a:t>
            </a:r>
          </a:p>
          <a:p>
            <a:pPr lvl="0"/>
            <a:r>
              <a:rPr lang="en-IN" sz="2000" dirty="0">
                <a:solidFill>
                  <a:schemeClr val="tx1"/>
                </a:solidFill>
              </a:rPr>
              <a:t>     &lt;applet code="</a:t>
            </a:r>
            <a:r>
              <a:rPr lang="en-IN" sz="2000" dirty="0" err="1">
                <a:solidFill>
                  <a:schemeClr val="tx1"/>
                </a:solidFill>
              </a:rPr>
              <a:t>Test.class</a:t>
            </a:r>
            <a:r>
              <a:rPr lang="en-IN" sz="2000" dirty="0">
                <a:solidFill>
                  <a:schemeClr val="tx1"/>
                </a:solidFill>
              </a:rPr>
              <a:t>" width="300" height="300"&gt;</a:t>
            </a:r>
          </a:p>
          <a:p>
            <a:pPr lvl="0"/>
            <a:r>
              <a:rPr lang="en-IN" sz="2000" dirty="0">
                <a:solidFill>
                  <a:schemeClr val="tx1"/>
                </a:solidFill>
              </a:rPr>
              <a:t>   &lt;param name="string" value="Applet"&gt;</a:t>
            </a:r>
          </a:p>
          <a:p>
            <a:pPr lvl="0"/>
            <a:r>
              <a:rPr lang="en-IN" sz="2000" dirty="0">
                <a:solidFill>
                  <a:schemeClr val="tx1"/>
                </a:solidFill>
              </a:rPr>
              <a:t>&lt;/applet&gt;</a:t>
            </a:r>
          </a:p>
          <a:p>
            <a:pPr lvl="0"/>
            <a:r>
              <a:rPr lang="en-IN" sz="2000" dirty="0">
                <a:solidFill>
                  <a:schemeClr val="tx1"/>
                </a:solidFill>
              </a:rPr>
              <a:t>&lt;/body&gt;</a:t>
            </a:r>
          </a:p>
          <a:p>
            <a:pPr lvl="0"/>
            <a:r>
              <a:rPr lang="en-IN" sz="2000" dirty="0">
                <a:solidFill>
                  <a:schemeClr val="tx1"/>
                </a:solidFill>
              </a:rPr>
              <a:t>&lt;/html&gt;</a:t>
            </a:r>
          </a:p>
          <a:p>
            <a:pPr lvl="0"/>
            <a:r>
              <a:rPr lang="en-IN" sz="2000" dirty="0">
                <a:solidFill>
                  <a:schemeClr val="tx1"/>
                </a:solidFill>
              </a:rPr>
              <a:t>*/</a:t>
            </a:r>
            <a:endParaRPr kumimoji="0" lang="en-IN" sz="2000" b="0" i="0" u="none" strike="noStrike" kern="1200" cap="none" spc="0" normalizeH="0" baseline="0" noProof="0" dirty="0">
              <a:ln>
                <a:noFill/>
              </a:ln>
              <a:solidFill>
                <a:schemeClr val="tx1"/>
              </a:solidFill>
              <a:effectLst/>
              <a:uLnTx/>
              <a:uFillTx/>
              <a:latin typeface="Perpetua"/>
            </a:endParaRPr>
          </a:p>
        </p:txBody>
      </p:sp>
      <p:pic>
        <p:nvPicPr>
          <p:cNvPr id="5" name="Picture 4">
            <a:extLst>
              <a:ext uri="{FF2B5EF4-FFF2-40B4-BE49-F238E27FC236}">
                <a16:creationId xmlns:a16="http://schemas.microsoft.com/office/drawing/2014/main" id="{359CEF46-1A0B-4BA7-9861-D70CCE846864}"/>
              </a:ext>
            </a:extLst>
          </p:cNvPr>
          <p:cNvPicPr>
            <a:picLocks noChangeAspect="1"/>
          </p:cNvPicPr>
          <p:nvPr/>
        </p:nvPicPr>
        <p:blipFill>
          <a:blip r:embed="rId2"/>
          <a:stretch>
            <a:fillRect/>
          </a:stretch>
        </p:blipFill>
        <p:spPr>
          <a:xfrm>
            <a:off x="381000" y="141314"/>
            <a:ext cx="937341" cy="493946"/>
          </a:xfrm>
          <a:prstGeom prst="rect">
            <a:avLst/>
          </a:prstGeom>
        </p:spPr>
      </p:pic>
      <p:sp>
        <p:nvSpPr>
          <p:cNvPr id="6" name="Title 1">
            <a:extLst>
              <a:ext uri="{FF2B5EF4-FFF2-40B4-BE49-F238E27FC236}">
                <a16:creationId xmlns:a16="http://schemas.microsoft.com/office/drawing/2014/main" id="{2995531E-A55D-4CD9-A52C-C48AE304AF7B}"/>
              </a:ext>
            </a:extLst>
          </p:cNvPr>
          <p:cNvSpPr txBox="1">
            <a:spLocks/>
          </p:cNvSpPr>
          <p:nvPr/>
        </p:nvSpPr>
        <p:spPr>
          <a:xfrm>
            <a:off x="1447800" y="153755"/>
            <a:ext cx="10287000" cy="569168"/>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92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3600" b="1" dirty="0">
                <a:solidFill>
                  <a:prstClr val="black"/>
                </a:solidFill>
                <a:highlight>
                  <a:srgbClr val="FFFF00"/>
                </a:highlight>
                <a:latin typeface="Perpetua"/>
              </a:rPr>
              <a:t>Passing a Parameter to Applet</a:t>
            </a:r>
            <a:r>
              <a:rPr kumimoji="0" lang="en-US" sz="3600" b="1" i="0" u="none" strike="noStrike" kern="1200" cap="none" spc="0" normalizeH="0" baseline="0" noProof="0" dirty="0">
                <a:ln>
                  <a:noFill/>
                </a:ln>
                <a:solidFill>
                  <a:prstClr val="black"/>
                </a:solidFill>
                <a:effectLst/>
                <a:highlight>
                  <a:srgbClr val="FFFF00"/>
                </a:highlight>
                <a:uLnTx/>
                <a:uFillTx/>
                <a:latin typeface="Perpetua"/>
                <a:ea typeface="+mn-ea"/>
                <a:cs typeface="+mn-cs"/>
              </a:rPr>
              <a:t> </a:t>
            </a:r>
            <a:endParaRPr kumimoji="0" lang="en-US" sz="3600" b="0" i="0" u="none" strike="noStrike" kern="1200" cap="none" spc="0" normalizeH="0" baseline="0" noProof="0" dirty="0">
              <a:ln>
                <a:noFill/>
              </a:ln>
              <a:solidFill>
                <a:prstClr val="black"/>
              </a:solidFill>
              <a:effectLst/>
              <a:highlight>
                <a:srgbClr val="FFFF00"/>
              </a:highlight>
              <a:uLnTx/>
              <a:uFillTx/>
              <a:latin typeface="Perpetua"/>
              <a:ea typeface="+mn-ea"/>
              <a:cs typeface="+mn-cs"/>
            </a:endParaRPr>
          </a:p>
        </p:txBody>
      </p:sp>
      <p:pic>
        <p:nvPicPr>
          <p:cNvPr id="2" name="Picture 1">
            <a:extLst>
              <a:ext uri="{FF2B5EF4-FFF2-40B4-BE49-F238E27FC236}">
                <a16:creationId xmlns:a16="http://schemas.microsoft.com/office/drawing/2014/main" id="{F41B9937-6B3C-46FA-9EE9-15A2634F92D2}"/>
              </a:ext>
            </a:extLst>
          </p:cNvPr>
          <p:cNvPicPr>
            <a:picLocks noChangeAspect="1"/>
          </p:cNvPicPr>
          <p:nvPr/>
        </p:nvPicPr>
        <p:blipFill>
          <a:blip r:embed="rId3"/>
          <a:stretch>
            <a:fillRect/>
          </a:stretch>
        </p:blipFill>
        <p:spPr>
          <a:xfrm>
            <a:off x="7848600" y="2895600"/>
            <a:ext cx="2933700" cy="3676650"/>
          </a:xfrm>
          <a:prstGeom prst="rect">
            <a:avLst/>
          </a:prstGeom>
        </p:spPr>
      </p:pic>
    </p:spTree>
    <p:extLst>
      <p:ext uri="{BB962C8B-B14F-4D97-AF65-F5344CB8AC3E}">
        <p14:creationId xmlns:p14="http://schemas.microsoft.com/office/powerpoint/2010/main" val="1080384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3662ED3-A9CB-4AE2-8613-95F90279EC11}"/>
              </a:ext>
            </a:extLst>
          </p:cNvPr>
          <p:cNvSpPr/>
          <p:nvPr/>
        </p:nvSpPr>
        <p:spPr>
          <a:xfrm>
            <a:off x="457200" y="749360"/>
            <a:ext cx="11100318" cy="598132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numCol="2" rtlCol="0" anchor="ctr"/>
          <a:lstStyle/>
          <a:p>
            <a:pPr lvl="0"/>
            <a:r>
              <a:rPr lang="en-IN" sz="2000" dirty="0">
                <a:solidFill>
                  <a:prstClr val="black"/>
                </a:solidFill>
              </a:rPr>
              <a:t>import </a:t>
            </a:r>
            <a:r>
              <a:rPr lang="en-IN" sz="2000" dirty="0" err="1">
                <a:solidFill>
                  <a:prstClr val="black"/>
                </a:solidFill>
              </a:rPr>
              <a:t>java.awt.Graphics</a:t>
            </a:r>
            <a:r>
              <a:rPr lang="en-IN" sz="2000" dirty="0">
                <a:solidFill>
                  <a:prstClr val="black"/>
                </a:solidFill>
              </a:rPr>
              <a:t>;</a:t>
            </a:r>
          </a:p>
          <a:p>
            <a:pPr lvl="0"/>
            <a:r>
              <a:rPr lang="en-IN" sz="2000" dirty="0">
                <a:solidFill>
                  <a:prstClr val="black"/>
                </a:solidFill>
              </a:rPr>
              <a:t>import </a:t>
            </a:r>
            <a:r>
              <a:rPr lang="en-IN" sz="2000" dirty="0" err="1">
                <a:solidFill>
                  <a:prstClr val="black"/>
                </a:solidFill>
              </a:rPr>
              <a:t>java.applet.Applet</a:t>
            </a:r>
            <a:r>
              <a:rPr lang="en-IN" sz="2000" dirty="0">
                <a:solidFill>
                  <a:prstClr val="black"/>
                </a:solidFill>
              </a:rPr>
              <a:t>;</a:t>
            </a:r>
          </a:p>
          <a:p>
            <a:pPr lvl="0"/>
            <a:endParaRPr lang="en-IN" sz="2000" dirty="0">
              <a:solidFill>
                <a:prstClr val="black"/>
              </a:solidFill>
            </a:endParaRPr>
          </a:p>
          <a:p>
            <a:pPr lvl="0"/>
            <a:r>
              <a:rPr lang="en-IN" sz="2000" dirty="0">
                <a:solidFill>
                  <a:prstClr val="black"/>
                </a:solidFill>
              </a:rPr>
              <a:t>public class Rectangle extends Applet</a:t>
            </a:r>
          </a:p>
          <a:p>
            <a:pPr lvl="0"/>
            <a:r>
              <a:rPr lang="en-IN" sz="2000" dirty="0">
                <a:solidFill>
                  <a:prstClr val="black"/>
                </a:solidFill>
              </a:rPr>
              <a:t>{</a:t>
            </a:r>
          </a:p>
          <a:p>
            <a:pPr lvl="0"/>
            <a:r>
              <a:rPr lang="en-IN" sz="2000" dirty="0">
                <a:solidFill>
                  <a:prstClr val="black"/>
                </a:solidFill>
              </a:rPr>
              <a:t>   int </a:t>
            </a:r>
            <a:r>
              <a:rPr lang="en-IN" sz="2000" dirty="0" err="1">
                <a:solidFill>
                  <a:prstClr val="black"/>
                </a:solidFill>
              </a:rPr>
              <a:t>x,y,w,h</a:t>
            </a:r>
            <a:r>
              <a:rPr lang="en-IN" sz="2000" dirty="0">
                <a:solidFill>
                  <a:prstClr val="black"/>
                </a:solidFill>
              </a:rPr>
              <a:t>;</a:t>
            </a:r>
          </a:p>
          <a:p>
            <a:pPr lvl="0"/>
            <a:r>
              <a:rPr lang="en-IN" sz="2000" dirty="0">
                <a:solidFill>
                  <a:prstClr val="black"/>
                </a:solidFill>
              </a:rPr>
              <a:t>   public void </a:t>
            </a:r>
            <a:r>
              <a:rPr lang="en-IN" sz="2000" dirty="0" err="1">
                <a:solidFill>
                  <a:prstClr val="black"/>
                </a:solidFill>
              </a:rPr>
              <a:t>init</a:t>
            </a:r>
            <a:r>
              <a:rPr lang="en-IN" sz="2000" dirty="0">
                <a:solidFill>
                  <a:prstClr val="black"/>
                </a:solidFill>
              </a:rPr>
              <a:t>()  </a:t>
            </a:r>
          </a:p>
          <a:p>
            <a:pPr lvl="0"/>
            <a:r>
              <a:rPr lang="en-IN" sz="2000" dirty="0">
                <a:solidFill>
                  <a:prstClr val="black"/>
                </a:solidFill>
              </a:rPr>
              <a:t>   {</a:t>
            </a:r>
          </a:p>
          <a:p>
            <a:pPr lvl="0"/>
            <a:r>
              <a:rPr lang="en-IN" sz="2000" dirty="0">
                <a:solidFill>
                  <a:prstClr val="black"/>
                </a:solidFill>
              </a:rPr>
              <a:t>      x=</a:t>
            </a:r>
            <a:r>
              <a:rPr lang="en-IN" sz="2000" dirty="0" err="1">
                <a:solidFill>
                  <a:prstClr val="black"/>
                </a:solidFill>
              </a:rPr>
              <a:t>Integer.parseInt</a:t>
            </a:r>
            <a:r>
              <a:rPr lang="en-IN" sz="2000" dirty="0">
                <a:solidFill>
                  <a:prstClr val="black"/>
                </a:solidFill>
              </a:rPr>
              <a:t>(</a:t>
            </a:r>
            <a:r>
              <a:rPr lang="en-IN" sz="2000" dirty="0" err="1">
                <a:solidFill>
                  <a:prstClr val="black"/>
                </a:solidFill>
              </a:rPr>
              <a:t>getParameter</a:t>
            </a:r>
            <a:r>
              <a:rPr lang="en-IN" sz="2000" dirty="0">
                <a:solidFill>
                  <a:prstClr val="black"/>
                </a:solidFill>
              </a:rPr>
              <a:t>("</a:t>
            </a:r>
            <a:r>
              <a:rPr lang="en-IN" sz="2000" dirty="0" err="1">
                <a:solidFill>
                  <a:prstClr val="black"/>
                </a:solidFill>
              </a:rPr>
              <a:t>xValue</a:t>
            </a:r>
            <a:r>
              <a:rPr lang="en-IN" sz="2000" dirty="0">
                <a:solidFill>
                  <a:prstClr val="black"/>
                </a:solidFill>
              </a:rPr>
              <a:t>"));</a:t>
            </a:r>
          </a:p>
          <a:p>
            <a:pPr lvl="0"/>
            <a:r>
              <a:rPr lang="en-IN" sz="2000" dirty="0">
                <a:solidFill>
                  <a:prstClr val="black"/>
                </a:solidFill>
              </a:rPr>
              <a:t>      y=</a:t>
            </a:r>
            <a:r>
              <a:rPr lang="en-IN" sz="2000" dirty="0" err="1">
                <a:solidFill>
                  <a:prstClr val="black"/>
                </a:solidFill>
              </a:rPr>
              <a:t>Integer.parseInt</a:t>
            </a:r>
            <a:r>
              <a:rPr lang="en-IN" sz="2000" dirty="0">
                <a:solidFill>
                  <a:prstClr val="black"/>
                </a:solidFill>
              </a:rPr>
              <a:t>(</a:t>
            </a:r>
            <a:r>
              <a:rPr lang="en-IN" sz="2000" dirty="0" err="1">
                <a:solidFill>
                  <a:prstClr val="black"/>
                </a:solidFill>
              </a:rPr>
              <a:t>getParameter</a:t>
            </a:r>
            <a:r>
              <a:rPr lang="en-IN" sz="2000" dirty="0">
                <a:solidFill>
                  <a:prstClr val="black"/>
                </a:solidFill>
              </a:rPr>
              <a:t>("</a:t>
            </a:r>
            <a:r>
              <a:rPr lang="en-IN" sz="2000" dirty="0" err="1">
                <a:solidFill>
                  <a:prstClr val="black"/>
                </a:solidFill>
              </a:rPr>
              <a:t>yValue</a:t>
            </a:r>
            <a:r>
              <a:rPr lang="en-IN" sz="2000" dirty="0">
                <a:solidFill>
                  <a:prstClr val="black"/>
                </a:solidFill>
              </a:rPr>
              <a:t>"));</a:t>
            </a:r>
          </a:p>
          <a:p>
            <a:pPr lvl="0"/>
            <a:r>
              <a:rPr lang="en-IN" sz="2000" dirty="0">
                <a:solidFill>
                  <a:prstClr val="black"/>
                </a:solidFill>
              </a:rPr>
              <a:t>      w=</a:t>
            </a:r>
            <a:r>
              <a:rPr lang="en-IN" sz="2000" dirty="0" err="1">
                <a:solidFill>
                  <a:prstClr val="black"/>
                </a:solidFill>
              </a:rPr>
              <a:t>Integer.parseInt</a:t>
            </a:r>
            <a:r>
              <a:rPr lang="en-IN" sz="2000" dirty="0">
                <a:solidFill>
                  <a:prstClr val="black"/>
                </a:solidFill>
              </a:rPr>
              <a:t>(</a:t>
            </a:r>
            <a:r>
              <a:rPr lang="en-IN" sz="2000" dirty="0" err="1">
                <a:solidFill>
                  <a:prstClr val="black"/>
                </a:solidFill>
              </a:rPr>
              <a:t>getParameter</a:t>
            </a:r>
            <a:r>
              <a:rPr lang="en-IN" sz="2000" dirty="0">
                <a:solidFill>
                  <a:prstClr val="black"/>
                </a:solidFill>
              </a:rPr>
              <a:t>("</a:t>
            </a:r>
            <a:r>
              <a:rPr lang="en-IN" sz="2000" dirty="0" err="1">
                <a:solidFill>
                  <a:prstClr val="black"/>
                </a:solidFill>
              </a:rPr>
              <a:t>wValue</a:t>
            </a:r>
            <a:r>
              <a:rPr lang="en-IN" sz="2000" dirty="0">
                <a:solidFill>
                  <a:prstClr val="black"/>
                </a:solidFill>
              </a:rPr>
              <a:t>"));</a:t>
            </a:r>
          </a:p>
          <a:p>
            <a:pPr lvl="0"/>
            <a:r>
              <a:rPr lang="en-IN" sz="2000" dirty="0">
                <a:solidFill>
                  <a:prstClr val="black"/>
                </a:solidFill>
              </a:rPr>
              <a:t>      h=</a:t>
            </a:r>
            <a:r>
              <a:rPr lang="en-IN" sz="2000" dirty="0" err="1">
                <a:solidFill>
                  <a:prstClr val="black"/>
                </a:solidFill>
              </a:rPr>
              <a:t>Integer.parseInt</a:t>
            </a:r>
            <a:r>
              <a:rPr lang="en-IN" sz="2000" dirty="0">
                <a:solidFill>
                  <a:prstClr val="black"/>
                </a:solidFill>
              </a:rPr>
              <a:t>(</a:t>
            </a:r>
            <a:r>
              <a:rPr lang="en-IN" sz="2000" dirty="0" err="1">
                <a:solidFill>
                  <a:prstClr val="black"/>
                </a:solidFill>
              </a:rPr>
              <a:t>getParameter</a:t>
            </a:r>
            <a:r>
              <a:rPr lang="en-IN" sz="2000" dirty="0">
                <a:solidFill>
                  <a:prstClr val="black"/>
                </a:solidFill>
              </a:rPr>
              <a:t>("</a:t>
            </a:r>
            <a:r>
              <a:rPr lang="en-IN" sz="2000" dirty="0" err="1">
                <a:solidFill>
                  <a:prstClr val="black"/>
                </a:solidFill>
              </a:rPr>
              <a:t>hValue</a:t>
            </a:r>
            <a:r>
              <a:rPr lang="en-IN" sz="2000" dirty="0">
                <a:solidFill>
                  <a:prstClr val="black"/>
                </a:solidFill>
              </a:rPr>
              <a:t>"));   </a:t>
            </a:r>
          </a:p>
          <a:p>
            <a:pPr lvl="0"/>
            <a:r>
              <a:rPr lang="en-IN" sz="2000" dirty="0">
                <a:solidFill>
                  <a:prstClr val="black"/>
                </a:solidFill>
              </a:rPr>
              <a:t>    }</a:t>
            </a:r>
          </a:p>
          <a:p>
            <a:pPr lvl="0"/>
            <a:endParaRPr lang="en-IN" sz="2000" dirty="0">
              <a:solidFill>
                <a:prstClr val="black"/>
              </a:solidFill>
            </a:endParaRPr>
          </a:p>
          <a:p>
            <a:pPr lvl="0"/>
            <a:r>
              <a:rPr lang="en-IN" sz="2000" dirty="0">
                <a:solidFill>
                  <a:prstClr val="black"/>
                </a:solidFill>
              </a:rPr>
              <a:t>    public void paint(Graphics g)</a:t>
            </a:r>
          </a:p>
          <a:p>
            <a:pPr lvl="0"/>
            <a:r>
              <a:rPr lang="en-IN" sz="2000" dirty="0">
                <a:solidFill>
                  <a:prstClr val="black"/>
                </a:solidFill>
              </a:rPr>
              <a:t>    {</a:t>
            </a:r>
          </a:p>
          <a:p>
            <a:pPr lvl="0"/>
            <a:r>
              <a:rPr lang="en-IN" sz="2000" dirty="0">
                <a:solidFill>
                  <a:prstClr val="black"/>
                </a:solidFill>
              </a:rPr>
              <a:t>       </a:t>
            </a:r>
            <a:r>
              <a:rPr lang="en-IN" sz="2000" dirty="0" err="1">
                <a:solidFill>
                  <a:prstClr val="black"/>
                </a:solidFill>
              </a:rPr>
              <a:t>g.drawRect</a:t>
            </a:r>
            <a:r>
              <a:rPr lang="en-IN" sz="2000" dirty="0">
                <a:solidFill>
                  <a:prstClr val="black"/>
                </a:solidFill>
              </a:rPr>
              <a:t>(</a:t>
            </a:r>
            <a:r>
              <a:rPr lang="en-IN" sz="2000" dirty="0" err="1">
                <a:solidFill>
                  <a:prstClr val="black"/>
                </a:solidFill>
              </a:rPr>
              <a:t>x,y,w,h</a:t>
            </a:r>
            <a:r>
              <a:rPr lang="en-IN" sz="2000" dirty="0">
                <a:solidFill>
                  <a:prstClr val="black"/>
                </a:solidFill>
              </a:rPr>
              <a:t>);</a:t>
            </a:r>
          </a:p>
          <a:p>
            <a:pPr lvl="0"/>
            <a:r>
              <a:rPr lang="en-IN" sz="2000" dirty="0">
                <a:solidFill>
                  <a:prstClr val="black"/>
                </a:solidFill>
              </a:rPr>
              <a:t>    }</a:t>
            </a:r>
          </a:p>
          <a:p>
            <a:pPr lvl="0"/>
            <a:r>
              <a:rPr lang="en-IN" sz="2000" dirty="0">
                <a:solidFill>
                  <a:prstClr val="black"/>
                </a:solidFill>
              </a:rPr>
              <a:t>}</a:t>
            </a:r>
          </a:p>
          <a:p>
            <a:pPr lvl="0"/>
            <a:r>
              <a:rPr lang="en-IN" sz="2000" dirty="0">
                <a:solidFill>
                  <a:prstClr val="black"/>
                </a:solidFill>
              </a:rPr>
              <a:t>/*</a:t>
            </a:r>
          </a:p>
          <a:p>
            <a:pPr lvl="0"/>
            <a:r>
              <a:rPr lang="en-IN" sz="2000" dirty="0">
                <a:solidFill>
                  <a:prstClr val="black"/>
                </a:solidFill>
              </a:rPr>
              <a:t>&lt;html&gt;</a:t>
            </a:r>
          </a:p>
          <a:p>
            <a:pPr lvl="0"/>
            <a:r>
              <a:rPr lang="en-IN" sz="2000" dirty="0">
                <a:solidFill>
                  <a:prstClr val="black"/>
                </a:solidFill>
              </a:rPr>
              <a:t>   &lt;body&gt;</a:t>
            </a:r>
          </a:p>
          <a:p>
            <a:pPr lvl="0"/>
            <a:r>
              <a:rPr lang="en-IN" sz="2000" dirty="0">
                <a:solidFill>
                  <a:prstClr val="black"/>
                </a:solidFill>
              </a:rPr>
              <a:t>     &lt;applet code="</a:t>
            </a:r>
            <a:r>
              <a:rPr lang="en-IN" sz="2000" dirty="0" err="1">
                <a:solidFill>
                  <a:prstClr val="black"/>
                </a:solidFill>
              </a:rPr>
              <a:t>Rectangle.class</a:t>
            </a:r>
            <a:r>
              <a:rPr lang="en-IN" sz="2000" dirty="0">
                <a:solidFill>
                  <a:prstClr val="black"/>
                </a:solidFill>
              </a:rPr>
              <a:t>" width="300" height="300"&gt;</a:t>
            </a:r>
          </a:p>
          <a:p>
            <a:pPr lvl="0"/>
            <a:r>
              <a:rPr lang="en-IN" sz="2000" dirty="0">
                <a:solidFill>
                  <a:prstClr val="black"/>
                </a:solidFill>
              </a:rPr>
              <a:t>     &lt;param name="</a:t>
            </a:r>
            <a:r>
              <a:rPr lang="en-IN" sz="2000" dirty="0" err="1">
                <a:solidFill>
                  <a:prstClr val="black"/>
                </a:solidFill>
              </a:rPr>
              <a:t>xValue</a:t>
            </a:r>
            <a:r>
              <a:rPr lang="en-IN" sz="2000" dirty="0">
                <a:solidFill>
                  <a:prstClr val="black"/>
                </a:solidFill>
              </a:rPr>
              <a:t>" value="20"&gt;</a:t>
            </a:r>
          </a:p>
          <a:p>
            <a:pPr lvl="0"/>
            <a:r>
              <a:rPr lang="en-IN" sz="2000" dirty="0">
                <a:solidFill>
                  <a:prstClr val="black"/>
                </a:solidFill>
              </a:rPr>
              <a:t>      &lt;param name="</a:t>
            </a:r>
            <a:r>
              <a:rPr lang="en-IN" sz="2000" dirty="0" err="1">
                <a:solidFill>
                  <a:prstClr val="black"/>
                </a:solidFill>
              </a:rPr>
              <a:t>yValue</a:t>
            </a:r>
            <a:r>
              <a:rPr lang="en-IN" sz="2000" dirty="0">
                <a:solidFill>
                  <a:prstClr val="black"/>
                </a:solidFill>
              </a:rPr>
              <a:t>" value="40"&gt;</a:t>
            </a:r>
          </a:p>
          <a:p>
            <a:pPr lvl="0"/>
            <a:r>
              <a:rPr lang="en-IN" sz="2000" dirty="0">
                <a:solidFill>
                  <a:prstClr val="black"/>
                </a:solidFill>
              </a:rPr>
              <a:t>      &lt;param name="</a:t>
            </a:r>
            <a:r>
              <a:rPr lang="en-IN" sz="2000" dirty="0" err="1">
                <a:solidFill>
                  <a:prstClr val="black"/>
                </a:solidFill>
              </a:rPr>
              <a:t>wValue</a:t>
            </a:r>
            <a:r>
              <a:rPr lang="en-IN" sz="2000" dirty="0">
                <a:solidFill>
                  <a:prstClr val="black"/>
                </a:solidFill>
              </a:rPr>
              <a:t>" value="100"&gt;</a:t>
            </a:r>
          </a:p>
          <a:p>
            <a:pPr lvl="0"/>
            <a:r>
              <a:rPr lang="en-IN" sz="2000" dirty="0">
                <a:solidFill>
                  <a:prstClr val="black"/>
                </a:solidFill>
              </a:rPr>
              <a:t>       &lt;param name="</a:t>
            </a:r>
            <a:r>
              <a:rPr lang="en-IN" sz="2000" dirty="0" err="1">
                <a:solidFill>
                  <a:prstClr val="black"/>
                </a:solidFill>
              </a:rPr>
              <a:t>hValue</a:t>
            </a:r>
            <a:r>
              <a:rPr lang="en-IN" sz="2000" dirty="0">
                <a:solidFill>
                  <a:prstClr val="black"/>
                </a:solidFill>
              </a:rPr>
              <a:t>" value="120"&gt;</a:t>
            </a:r>
          </a:p>
          <a:p>
            <a:pPr lvl="0"/>
            <a:r>
              <a:rPr lang="en-IN" sz="2000" dirty="0">
                <a:solidFill>
                  <a:prstClr val="black"/>
                </a:solidFill>
              </a:rPr>
              <a:t>    &lt;/applet&gt;</a:t>
            </a:r>
          </a:p>
          <a:p>
            <a:pPr lvl="0"/>
            <a:r>
              <a:rPr lang="en-IN" sz="2000" dirty="0">
                <a:solidFill>
                  <a:prstClr val="black"/>
                </a:solidFill>
              </a:rPr>
              <a:t>    &lt;/body&gt;</a:t>
            </a:r>
          </a:p>
          <a:p>
            <a:pPr lvl="0"/>
            <a:r>
              <a:rPr lang="en-IN" sz="2000" dirty="0">
                <a:solidFill>
                  <a:prstClr val="black"/>
                </a:solidFill>
              </a:rPr>
              <a:t>   &lt;/html&gt;</a:t>
            </a:r>
          </a:p>
          <a:p>
            <a:pPr lvl="0"/>
            <a:r>
              <a:rPr lang="en-IN" sz="2000" dirty="0">
                <a:solidFill>
                  <a:prstClr val="black"/>
                </a:solidFill>
              </a:rPr>
              <a:t>    */ </a:t>
            </a:r>
            <a:endParaRPr kumimoji="0" lang="en-IN" sz="2000" b="0" i="0" u="none" strike="noStrike" kern="1200" cap="none" spc="0" normalizeH="0" baseline="0" noProof="0" dirty="0">
              <a:ln>
                <a:noFill/>
              </a:ln>
              <a:solidFill>
                <a:prstClr val="black"/>
              </a:solidFill>
              <a:effectLst/>
              <a:uLnTx/>
              <a:uFillTx/>
              <a:latin typeface="Perpetua"/>
              <a:ea typeface="+mn-ea"/>
              <a:cs typeface="+mn-cs"/>
            </a:endParaRPr>
          </a:p>
        </p:txBody>
      </p:sp>
      <p:pic>
        <p:nvPicPr>
          <p:cNvPr id="5" name="Picture 4">
            <a:extLst>
              <a:ext uri="{FF2B5EF4-FFF2-40B4-BE49-F238E27FC236}">
                <a16:creationId xmlns:a16="http://schemas.microsoft.com/office/drawing/2014/main" id="{359CEF46-1A0B-4BA7-9861-D70CCE846864}"/>
              </a:ext>
            </a:extLst>
          </p:cNvPr>
          <p:cNvPicPr>
            <a:picLocks noChangeAspect="1"/>
          </p:cNvPicPr>
          <p:nvPr/>
        </p:nvPicPr>
        <p:blipFill>
          <a:blip r:embed="rId2"/>
          <a:stretch>
            <a:fillRect/>
          </a:stretch>
        </p:blipFill>
        <p:spPr>
          <a:xfrm>
            <a:off x="381000" y="141314"/>
            <a:ext cx="937341" cy="493946"/>
          </a:xfrm>
          <a:prstGeom prst="rect">
            <a:avLst/>
          </a:prstGeom>
        </p:spPr>
      </p:pic>
      <p:sp>
        <p:nvSpPr>
          <p:cNvPr id="6" name="Title 1">
            <a:extLst>
              <a:ext uri="{FF2B5EF4-FFF2-40B4-BE49-F238E27FC236}">
                <a16:creationId xmlns:a16="http://schemas.microsoft.com/office/drawing/2014/main" id="{2995531E-A55D-4CD9-A52C-C48AE304AF7B}"/>
              </a:ext>
            </a:extLst>
          </p:cNvPr>
          <p:cNvSpPr txBox="1">
            <a:spLocks/>
          </p:cNvSpPr>
          <p:nvPr/>
        </p:nvSpPr>
        <p:spPr>
          <a:xfrm>
            <a:off x="1447800" y="153755"/>
            <a:ext cx="10287000" cy="569168"/>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92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highlight>
                  <a:srgbClr val="FFFF00"/>
                </a:highlight>
                <a:uLnTx/>
                <a:uFillTx/>
                <a:latin typeface="Perpetua"/>
                <a:ea typeface="+mn-ea"/>
                <a:cs typeface="+mn-cs"/>
              </a:rPr>
              <a:t>Passing a Parameter to Applet </a:t>
            </a:r>
            <a:endParaRPr kumimoji="0" lang="en-US" sz="3600" b="0" i="0" u="none" strike="noStrike" kern="1200" cap="none" spc="0" normalizeH="0" baseline="0" noProof="0" dirty="0">
              <a:ln>
                <a:noFill/>
              </a:ln>
              <a:solidFill>
                <a:prstClr val="black"/>
              </a:solidFill>
              <a:effectLst/>
              <a:highlight>
                <a:srgbClr val="FFFF00"/>
              </a:highlight>
              <a:uLnTx/>
              <a:uFillTx/>
              <a:latin typeface="Perpetua"/>
              <a:ea typeface="+mn-ea"/>
              <a:cs typeface="+mn-cs"/>
            </a:endParaRPr>
          </a:p>
        </p:txBody>
      </p:sp>
      <p:pic>
        <p:nvPicPr>
          <p:cNvPr id="3" name="Picture 2">
            <a:extLst>
              <a:ext uri="{FF2B5EF4-FFF2-40B4-BE49-F238E27FC236}">
                <a16:creationId xmlns:a16="http://schemas.microsoft.com/office/drawing/2014/main" id="{7739BF2C-772E-4715-97B1-AD807E5DDBF0}"/>
              </a:ext>
            </a:extLst>
          </p:cNvPr>
          <p:cNvPicPr>
            <a:picLocks noChangeAspect="1"/>
          </p:cNvPicPr>
          <p:nvPr/>
        </p:nvPicPr>
        <p:blipFill>
          <a:blip r:embed="rId3"/>
          <a:stretch>
            <a:fillRect/>
          </a:stretch>
        </p:blipFill>
        <p:spPr>
          <a:xfrm>
            <a:off x="8077200" y="3657599"/>
            <a:ext cx="3067050" cy="2895601"/>
          </a:xfrm>
          <a:prstGeom prst="rect">
            <a:avLst/>
          </a:prstGeom>
        </p:spPr>
      </p:pic>
    </p:spTree>
    <p:extLst>
      <p:ext uri="{BB962C8B-B14F-4D97-AF65-F5344CB8AC3E}">
        <p14:creationId xmlns:p14="http://schemas.microsoft.com/office/powerpoint/2010/main" val="1402322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fade">
                                      <p:cBhvr>
                                        <p:cTn id="15" dur="500"/>
                                        <p:tgtEl>
                                          <p:spTgt spid="4">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500"/>
                                        <p:tgtEl>
                                          <p:spTgt spid="4">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fade">
                                      <p:cBhvr>
                                        <p:cTn id="24" dur="500"/>
                                        <p:tgtEl>
                                          <p:spTgt spid="4">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fade">
                                      <p:cBhvr>
                                        <p:cTn id="29" dur="500"/>
                                        <p:tgtEl>
                                          <p:spTgt spid="4">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500"/>
                                        <p:tgtEl>
                                          <p:spTgt spid="4">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animEffect transition="in" filter="fade">
                                      <p:cBhvr>
                                        <p:cTn id="35" dur="500"/>
                                        <p:tgtEl>
                                          <p:spTgt spid="4">
                                            <p:txEl>
                                              <p:pRg st="8" end="8"/>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4">
                                            <p:txEl>
                                              <p:pRg st="9" end="9"/>
                                            </p:txEl>
                                          </p:spTgt>
                                        </p:tgtEl>
                                        <p:attrNameLst>
                                          <p:attrName>style.visibility</p:attrName>
                                        </p:attrNameLst>
                                      </p:cBhvr>
                                      <p:to>
                                        <p:strVal val="visible"/>
                                      </p:to>
                                    </p:set>
                                    <p:animEffect transition="in" filter="fade">
                                      <p:cBhvr>
                                        <p:cTn id="38" dur="500"/>
                                        <p:tgtEl>
                                          <p:spTgt spid="4">
                                            <p:txEl>
                                              <p:pRg st="9" end="9"/>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4">
                                            <p:txEl>
                                              <p:pRg st="10" end="10"/>
                                            </p:txEl>
                                          </p:spTgt>
                                        </p:tgtEl>
                                        <p:attrNameLst>
                                          <p:attrName>style.visibility</p:attrName>
                                        </p:attrNameLst>
                                      </p:cBhvr>
                                      <p:to>
                                        <p:strVal val="visible"/>
                                      </p:to>
                                    </p:set>
                                    <p:animEffect transition="in" filter="fade">
                                      <p:cBhvr>
                                        <p:cTn id="41" dur="500"/>
                                        <p:tgtEl>
                                          <p:spTgt spid="4">
                                            <p:txEl>
                                              <p:pRg st="10" end="10"/>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4">
                                            <p:txEl>
                                              <p:pRg st="11" end="11"/>
                                            </p:txEl>
                                          </p:spTgt>
                                        </p:tgtEl>
                                        <p:attrNameLst>
                                          <p:attrName>style.visibility</p:attrName>
                                        </p:attrNameLst>
                                      </p:cBhvr>
                                      <p:to>
                                        <p:strVal val="visible"/>
                                      </p:to>
                                    </p:set>
                                    <p:animEffect transition="in" filter="fade">
                                      <p:cBhvr>
                                        <p:cTn id="44" dur="500"/>
                                        <p:tgtEl>
                                          <p:spTgt spid="4">
                                            <p:txEl>
                                              <p:pRg st="11" end="11"/>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4">
                                            <p:txEl>
                                              <p:pRg st="12" end="12"/>
                                            </p:txEl>
                                          </p:spTgt>
                                        </p:tgtEl>
                                        <p:attrNameLst>
                                          <p:attrName>style.visibility</p:attrName>
                                        </p:attrNameLst>
                                      </p:cBhvr>
                                      <p:to>
                                        <p:strVal val="visible"/>
                                      </p:to>
                                    </p:set>
                                    <p:animEffect transition="in" filter="fade">
                                      <p:cBhvr>
                                        <p:cTn id="47" dur="500"/>
                                        <p:tgtEl>
                                          <p:spTgt spid="4">
                                            <p:txEl>
                                              <p:pRg st="12" end="1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
                                            <p:txEl>
                                              <p:pRg st="14" end="14"/>
                                            </p:txEl>
                                          </p:spTgt>
                                        </p:tgtEl>
                                        <p:attrNameLst>
                                          <p:attrName>style.visibility</p:attrName>
                                        </p:attrNameLst>
                                      </p:cBhvr>
                                      <p:to>
                                        <p:strVal val="visible"/>
                                      </p:to>
                                    </p:set>
                                    <p:animEffect transition="in" filter="fade">
                                      <p:cBhvr>
                                        <p:cTn id="52" dur="500"/>
                                        <p:tgtEl>
                                          <p:spTgt spid="4">
                                            <p:txEl>
                                              <p:pRg st="14" end="14"/>
                                            </p:txEl>
                                          </p:spTgt>
                                        </p:tgtEl>
                                      </p:cBhvr>
                                    </p:animEffect>
                                  </p:childTnLst>
                                </p:cTn>
                              </p:par>
                              <p:par>
                                <p:cTn id="53" presetID="10" presetClass="entr" presetSubtype="0" fill="hold" nodeType="withEffect">
                                  <p:stCondLst>
                                    <p:cond delay="0"/>
                                  </p:stCondLst>
                                  <p:childTnLst>
                                    <p:set>
                                      <p:cBhvr>
                                        <p:cTn id="54" dur="1" fill="hold">
                                          <p:stCondLst>
                                            <p:cond delay="0"/>
                                          </p:stCondLst>
                                        </p:cTn>
                                        <p:tgtEl>
                                          <p:spTgt spid="4">
                                            <p:txEl>
                                              <p:pRg st="15" end="15"/>
                                            </p:txEl>
                                          </p:spTgt>
                                        </p:tgtEl>
                                        <p:attrNameLst>
                                          <p:attrName>style.visibility</p:attrName>
                                        </p:attrNameLst>
                                      </p:cBhvr>
                                      <p:to>
                                        <p:strVal val="visible"/>
                                      </p:to>
                                    </p:set>
                                    <p:animEffect transition="in" filter="fade">
                                      <p:cBhvr>
                                        <p:cTn id="55" dur="500"/>
                                        <p:tgtEl>
                                          <p:spTgt spid="4">
                                            <p:txEl>
                                              <p:pRg st="15" end="15"/>
                                            </p:txEl>
                                          </p:spTgt>
                                        </p:tgtEl>
                                      </p:cBhvr>
                                    </p:animEffect>
                                  </p:childTnLst>
                                </p:cTn>
                              </p:par>
                              <p:par>
                                <p:cTn id="56" presetID="10" presetClass="entr" presetSubtype="0" fill="hold" nodeType="withEffect">
                                  <p:stCondLst>
                                    <p:cond delay="0"/>
                                  </p:stCondLst>
                                  <p:childTnLst>
                                    <p:set>
                                      <p:cBhvr>
                                        <p:cTn id="57" dur="1" fill="hold">
                                          <p:stCondLst>
                                            <p:cond delay="0"/>
                                          </p:stCondLst>
                                        </p:cTn>
                                        <p:tgtEl>
                                          <p:spTgt spid="4">
                                            <p:txEl>
                                              <p:pRg st="16" end="16"/>
                                            </p:txEl>
                                          </p:spTgt>
                                        </p:tgtEl>
                                        <p:attrNameLst>
                                          <p:attrName>style.visibility</p:attrName>
                                        </p:attrNameLst>
                                      </p:cBhvr>
                                      <p:to>
                                        <p:strVal val="visible"/>
                                      </p:to>
                                    </p:set>
                                    <p:animEffect transition="in" filter="fade">
                                      <p:cBhvr>
                                        <p:cTn id="58" dur="500"/>
                                        <p:tgtEl>
                                          <p:spTgt spid="4">
                                            <p:txEl>
                                              <p:pRg st="16" end="16"/>
                                            </p:txEl>
                                          </p:spTgt>
                                        </p:tgtEl>
                                      </p:cBhvr>
                                    </p:animEffect>
                                  </p:childTnLst>
                                </p:cTn>
                              </p:par>
                              <p:par>
                                <p:cTn id="59" presetID="10" presetClass="entr" presetSubtype="0" fill="hold" nodeType="withEffect">
                                  <p:stCondLst>
                                    <p:cond delay="0"/>
                                  </p:stCondLst>
                                  <p:childTnLst>
                                    <p:set>
                                      <p:cBhvr>
                                        <p:cTn id="60" dur="1" fill="hold">
                                          <p:stCondLst>
                                            <p:cond delay="0"/>
                                          </p:stCondLst>
                                        </p:cTn>
                                        <p:tgtEl>
                                          <p:spTgt spid="4">
                                            <p:txEl>
                                              <p:pRg st="17" end="17"/>
                                            </p:txEl>
                                          </p:spTgt>
                                        </p:tgtEl>
                                        <p:attrNameLst>
                                          <p:attrName>style.visibility</p:attrName>
                                        </p:attrNameLst>
                                      </p:cBhvr>
                                      <p:to>
                                        <p:strVal val="visible"/>
                                      </p:to>
                                    </p:set>
                                    <p:animEffect transition="in" filter="fade">
                                      <p:cBhvr>
                                        <p:cTn id="61" dur="500"/>
                                        <p:tgtEl>
                                          <p:spTgt spid="4">
                                            <p:txEl>
                                              <p:pRg st="17" end="17"/>
                                            </p:txEl>
                                          </p:spTgt>
                                        </p:tgtEl>
                                      </p:cBhvr>
                                    </p:animEffect>
                                  </p:childTnLst>
                                </p:cTn>
                              </p:par>
                              <p:par>
                                <p:cTn id="62" presetID="10" presetClass="entr" presetSubtype="0" fill="hold" nodeType="withEffect">
                                  <p:stCondLst>
                                    <p:cond delay="0"/>
                                  </p:stCondLst>
                                  <p:childTnLst>
                                    <p:set>
                                      <p:cBhvr>
                                        <p:cTn id="63" dur="1" fill="hold">
                                          <p:stCondLst>
                                            <p:cond delay="0"/>
                                          </p:stCondLst>
                                        </p:cTn>
                                        <p:tgtEl>
                                          <p:spTgt spid="4">
                                            <p:txEl>
                                              <p:pRg st="18" end="18"/>
                                            </p:txEl>
                                          </p:spTgt>
                                        </p:tgtEl>
                                        <p:attrNameLst>
                                          <p:attrName>style.visibility</p:attrName>
                                        </p:attrNameLst>
                                      </p:cBhvr>
                                      <p:to>
                                        <p:strVal val="visible"/>
                                      </p:to>
                                    </p:set>
                                    <p:animEffect transition="in" filter="fade">
                                      <p:cBhvr>
                                        <p:cTn id="64" dur="500"/>
                                        <p:tgtEl>
                                          <p:spTgt spid="4">
                                            <p:txEl>
                                              <p:pRg st="18" end="18"/>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4">
                                            <p:txEl>
                                              <p:pRg st="19" end="19"/>
                                            </p:txEl>
                                          </p:spTgt>
                                        </p:tgtEl>
                                        <p:attrNameLst>
                                          <p:attrName>style.visibility</p:attrName>
                                        </p:attrNameLst>
                                      </p:cBhvr>
                                      <p:to>
                                        <p:strVal val="visible"/>
                                      </p:to>
                                    </p:set>
                                    <p:animEffect transition="in" filter="fade">
                                      <p:cBhvr>
                                        <p:cTn id="69" dur="500"/>
                                        <p:tgtEl>
                                          <p:spTgt spid="4">
                                            <p:txEl>
                                              <p:pRg st="19" end="19"/>
                                            </p:txEl>
                                          </p:spTgt>
                                        </p:tgtEl>
                                      </p:cBhvr>
                                    </p:animEffect>
                                  </p:childTnLst>
                                </p:cTn>
                              </p:par>
                              <p:par>
                                <p:cTn id="70" presetID="10" presetClass="entr" presetSubtype="0" fill="hold" nodeType="withEffect">
                                  <p:stCondLst>
                                    <p:cond delay="0"/>
                                  </p:stCondLst>
                                  <p:childTnLst>
                                    <p:set>
                                      <p:cBhvr>
                                        <p:cTn id="71" dur="1" fill="hold">
                                          <p:stCondLst>
                                            <p:cond delay="0"/>
                                          </p:stCondLst>
                                        </p:cTn>
                                        <p:tgtEl>
                                          <p:spTgt spid="4">
                                            <p:txEl>
                                              <p:pRg st="20" end="20"/>
                                            </p:txEl>
                                          </p:spTgt>
                                        </p:tgtEl>
                                        <p:attrNameLst>
                                          <p:attrName>style.visibility</p:attrName>
                                        </p:attrNameLst>
                                      </p:cBhvr>
                                      <p:to>
                                        <p:strVal val="visible"/>
                                      </p:to>
                                    </p:set>
                                    <p:animEffect transition="in" filter="fade">
                                      <p:cBhvr>
                                        <p:cTn id="72" dur="500"/>
                                        <p:tgtEl>
                                          <p:spTgt spid="4">
                                            <p:txEl>
                                              <p:pRg st="20" end="20"/>
                                            </p:txEl>
                                          </p:spTgt>
                                        </p:tgtEl>
                                      </p:cBhvr>
                                    </p:animEffect>
                                  </p:childTnLst>
                                </p:cTn>
                              </p:par>
                              <p:par>
                                <p:cTn id="73" presetID="10" presetClass="entr" presetSubtype="0" fill="hold" nodeType="withEffect">
                                  <p:stCondLst>
                                    <p:cond delay="0"/>
                                  </p:stCondLst>
                                  <p:childTnLst>
                                    <p:set>
                                      <p:cBhvr>
                                        <p:cTn id="74" dur="1" fill="hold">
                                          <p:stCondLst>
                                            <p:cond delay="0"/>
                                          </p:stCondLst>
                                        </p:cTn>
                                        <p:tgtEl>
                                          <p:spTgt spid="4">
                                            <p:txEl>
                                              <p:pRg st="21" end="21"/>
                                            </p:txEl>
                                          </p:spTgt>
                                        </p:tgtEl>
                                        <p:attrNameLst>
                                          <p:attrName>style.visibility</p:attrName>
                                        </p:attrNameLst>
                                      </p:cBhvr>
                                      <p:to>
                                        <p:strVal val="visible"/>
                                      </p:to>
                                    </p:set>
                                    <p:animEffect transition="in" filter="fade">
                                      <p:cBhvr>
                                        <p:cTn id="75" dur="500"/>
                                        <p:tgtEl>
                                          <p:spTgt spid="4">
                                            <p:txEl>
                                              <p:pRg st="21" end="21"/>
                                            </p:txEl>
                                          </p:spTgt>
                                        </p:tgtEl>
                                      </p:cBhvr>
                                    </p:animEffect>
                                  </p:childTnLst>
                                </p:cTn>
                              </p:par>
                              <p:par>
                                <p:cTn id="76" presetID="10" presetClass="entr" presetSubtype="0" fill="hold" nodeType="withEffect">
                                  <p:stCondLst>
                                    <p:cond delay="0"/>
                                  </p:stCondLst>
                                  <p:childTnLst>
                                    <p:set>
                                      <p:cBhvr>
                                        <p:cTn id="77" dur="1" fill="hold">
                                          <p:stCondLst>
                                            <p:cond delay="0"/>
                                          </p:stCondLst>
                                        </p:cTn>
                                        <p:tgtEl>
                                          <p:spTgt spid="4">
                                            <p:txEl>
                                              <p:pRg st="22" end="22"/>
                                            </p:txEl>
                                          </p:spTgt>
                                        </p:tgtEl>
                                        <p:attrNameLst>
                                          <p:attrName>style.visibility</p:attrName>
                                        </p:attrNameLst>
                                      </p:cBhvr>
                                      <p:to>
                                        <p:strVal val="visible"/>
                                      </p:to>
                                    </p:set>
                                    <p:animEffect transition="in" filter="fade">
                                      <p:cBhvr>
                                        <p:cTn id="78" dur="500"/>
                                        <p:tgtEl>
                                          <p:spTgt spid="4">
                                            <p:txEl>
                                              <p:pRg st="22" end="22"/>
                                            </p:txEl>
                                          </p:spTgt>
                                        </p:tgtEl>
                                      </p:cBhvr>
                                    </p:animEffect>
                                  </p:childTnLst>
                                </p:cTn>
                              </p:par>
                              <p:par>
                                <p:cTn id="79" presetID="10" presetClass="entr" presetSubtype="0" fill="hold" nodeType="withEffect">
                                  <p:stCondLst>
                                    <p:cond delay="0"/>
                                  </p:stCondLst>
                                  <p:childTnLst>
                                    <p:set>
                                      <p:cBhvr>
                                        <p:cTn id="80" dur="1" fill="hold">
                                          <p:stCondLst>
                                            <p:cond delay="0"/>
                                          </p:stCondLst>
                                        </p:cTn>
                                        <p:tgtEl>
                                          <p:spTgt spid="4">
                                            <p:txEl>
                                              <p:pRg st="23" end="23"/>
                                            </p:txEl>
                                          </p:spTgt>
                                        </p:tgtEl>
                                        <p:attrNameLst>
                                          <p:attrName>style.visibility</p:attrName>
                                        </p:attrNameLst>
                                      </p:cBhvr>
                                      <p:to>
                                        <p:strVal val="visible"/>
                                      </p:to>
                                    </p:set>
                                    <p:animEffect transition="in" filter="fade">
                                      <p:cBhvr>
                                        <p:cTn id="81" dur="500"/>
                                        <p:tgtEl>
                                          <p:spTgt spid="4">
                                            <p:txEl>
                                              <p:pRg st="23" end="23"/>
                                            </p:txEl>
                                          </p:spTgt>
                                        </p:tgtEl>
                                      </p:cBhvr>
                                    </p:animEffect>
                                  </p:childTnLst>
                                </p:cTn>
                              </p:par>
                              <p:par>
                                <p:cTn id="82" presetID="10" presetClass="entr" presetSubtype="0" fill="hold" nodeType="withEffect">
                                  <p:stCondLst>
                                    <p:cond delay="0"/>
                                  </p:stCondLst>
                                  <p:childTnLst>
                                    <p:set>
                                      <p:cBhvr>
                                        <p:cTn id="83" dur="1" fill="hold">
                                          <p:stCondLst>
                                            <p:cond delay="0"/>
                                          </p:stCondLst>
                                        </p:cTn>
                                        <p:tgtEl>
                                          <p:spTgt spid="4">
                                            <p:txEl>
                                              <p:pRg st="24" end="24"/>
                                            </p:txEl>
                                          </p:spTgt>
                                        </p:tgtEl>
                                        <p:attrNameLst>
                                          <p:attrName>style.visibility</p:attrName>
                                        </p:attrNameLst>
                                      </p:cBhvr>
                                      <p:to>
                                        <p:strVal val="visible"/>
                                      </p:to>
                                    </p:set>
                                    <p:animEffect transition="in" filter="fade">
                                      <p:cBhvr>
                                        <p:cTn id="84" dur="500"/>
                                        <p:tgtEl>
                                          <p:spTgt spid="4">
                                            <p:txEl>
                                              <p:pRg st="24" end="24"/>
                                            </p:txEl>
                                          </p:spTgt>
                                        </p:tgtEl>
                                      </p:cBhvr>
                                    </p:animEffect>
                                  </p:childTnLst>
                                </p:cTn>
                              </p:par>
                              <p:par>
                                <p:cTn id="85" presetID="10" presetClass="entr" presetSubtype="0" fill="hold" nodeType="withEffect">
                                  <p:stCondLst>
                                    <p:cond delay="0"/>
                                  </p:stCondLst>
                                  <p:childTnLst>
                                    <p:set>
                                      <p:cBhvr>
                                        <p:cTn id="86" dur="1" fill="hold">
                                          <p:stCondLst>
                                            <p:cond delay="0"/>
                                          </p:stCondLst>
                                        </p:cTn>
                                        <p:tgtEl>
                                          <p:spTgt spid="4">
                                            <p:txEl>
                                              <p:pRg st="25" end="25"/>
                                            </p:txEl>
                                          </p:spTgt>
                                        </p:tgtEl>
                                        <p:attrNameLst>
                                          <p:attrName>style.visibility</p:attrName>
                                        </p:attrNameLst>
                                      </p:cBhvr>
                                      <p:to>
                                        <p:strVal val="visible"/>
                                      </p:to>
                                    </p:set>
                                    <p:animEffect transition="in" filter="fade">
                                      <p:cBhvr>
                                        <p:cTn id="87" dur="500"/>
                                        <p:tgtEl>
                                          <p:spTgt spid="4">
                                            <p:txEl>
                                              <p:pRg st="25" end="25"/>
                                            </p:txEl>
                                          </p:spTgt>
                                        </p:tgtEl>
                                      </p:cBhvr>
                                    </p:animEffect>
                                  </p:childTnLst>
                                </p:cTn>
                              </p:par>
                              <p:par>
                                <p:cTn id="88" presetID="10" presetClass="entr" presetSubtype="0" fill="hold" nodeType="withEffect">
                                  <p:stCondLst>
                                    <p:cond delay="0"/>
                                  </p:stCondLst>
                                  <p:childTnLst>
                                    <p:set>
                                      <p:cBhvr>
                                        <p:cTn id="89" dur="1" fill="hold">
                                          <p:stCondLst>
                                            <p:cond delay="0"/>
                                          </p:stCondLst>
                                        </p:cTn>
                                        <p:tgtEl>
                                          <p:spTgt spid="4">
                                            <p:txEl>
                                              <p:pRg st="26" end="26"/>
                                            </p:txEl>
                                          </p:spTgt>
                                        </p:tgtEl>
                                        <p:attrNameLst>
                                          <p:attrName>style.visibility</p:attrName>
                                        </p:attrNameLst>
                                      </p:cBhvr>
                                      <p:to>
                                        <p:strVal val="visible"/>
                                      </p:to>
                                    </p:set>
                                    <p:animEffect transition="in" filter="fade">
                                      <p:cBhvr>
                                        <p:cTn id="90" dur="500"/>
                                        <p:tgtEl>
                                          <p:spTgt spid="4">
                                            <p:txEl>
                                              <p:pRg st="26" end="26"/>
                                            </p:txEl>
                                          </p:spTgt>
                                        </p:tgtEl>
                                      </p:cBhvr>
                                    </p:animEffect>
                                  </p:childTnLst>
                                </p:cTn>
                              </p:par>
                              <p:par>
                                <p:cTn id="91" presetID="10" presetClass="entr" presetSubtype="0" fill="hold" nodeType="withEffect">
                                  <p:stCondLst>
                                    <p:cond delay="0"/>
                                  </p:stCondLst>
                                  <p:childTnLst>
                                    <p:set>
                                      <p:cBhvr>
                                        <p:cTn id="92" dur="1" fill="hold">
                                          <p:stCondLst>
                                            <p:cond delay="0"/>
                                          </p:stCondLst>
                                        </p:cTn>
                                        <p:tgtEl>
                                          <p:spTgt spid="4">
                                            <p:txEl>
                                              <p:pRg st="27" end="27"/>
                                            </p:txEl>
                                          </p:spTgt>
                                        </p:tgtEl>
                                        <p:attrNameLst>
                                          <p:attrName>style.visibility</p:attrName>
                                        </p:attrNameLst>
                                      </p:cBhvr>
                                      <p:to>
                                        <p:strVal val="visible"/>
                                      </p:to>
                                    </p:set>
                                    <p:animEffect transition="in" filter="fade">
                                      <p:cBhvr>
                                        <p:cTn id="93" dur="500"/>
                                        <p:tgtEl>
                                          <p:spTgt spid="4">
                                            <p:txEl>
                                              <p:pRg st="27" end="27"/>
                                            </p:txEl>
                                          </p:spTgt>
                                        </p:tgtEl>
                                      </p:cBhvr>
                                    </p:animEffect>
                                  </p:childTnLst>
                                </p:cTn>
                              </p:par>
                              <p:par>
                                <p:cTn id="94" presetID="10" presetClass="entr" presetSubtype="0" fill="hold" nodeType="withEffect">
                                  <p:stCondLst>
                                    <p:cond delay="0"/>
                                  </p:stCondLst>
                                  <p:childTnLst>
                                    <p:set>
                                      <p:cBhvr>
                                        <p:cTn id="95" dur="1" fill="hold">
                                          <p:stCondLst>
                                            <p:cond delay="0"/>
                                          </p:stCondLst>
                                        </p:cTn>
                                        <p:tgtEl>
                                          <p:spTgt spid="4">
                                            <p:txEl>
                                              <p:pRg st="28" end="28"/>
                                            </p:txEl>
                                          </p:spTgt>
                                        </p:tgtEl>
                                        <p:attrNameLst>
                                          <p:attrName>style.visibility</p:attrName>
                                        </p:attrNameLst>
                                      </p:cBhvr>
                                      <p:to>
                                        <p:strVal val="visible"/>
                                      </p:to>
                                    </p:set>
                                    <p:animEffect transition="in" filter="fade">
                                      <p:cBhvr>
                                        <p:cTn id="96" dur="500"/>
                                        <p:tgtEl>
                                          <p:spTgt spid="4">
                                            <p:txEl>
                                              <p:pRg st="28" end="28"/>
                                            </p:txEl>
                                          </p:spTgt>
                                        </p:tgtEl>
                                      </p:cBhvr>
                                    </p:animEffect>
                                  </p:childTnLst>
                                </p:cTn>
                              </p:par>
                              <p:par>
                                <p:cTn id="97" presetID="10" presetClass="entr" presetSubtype="0" fill="hold" nodeType="withEffect">
                                  <p:stCondLst>
                                    <p:cond delay="0"/>
                                  </p:stCondLst>
                                  <p:childTnLst>
                                    <p:set>
                                      <p:cBhvr>
                                        <p:cTn id="98" dur="1" fill="hold">
                                          <p:stCondLst>
                                            <p:cond delay="0"/>
                                          </p:stCondLst>
                                        </p:cTn>
                                        <p:tgtEl>
                                          <p:spTgt spid="4">
                                            <p:txEl>
                                              <p:pRg st="29" end="29"/>
                                            </p:txEl>
                                          </p:spTgt>
                                        </p:tgtEl>
                                        <p:attrNameLst>
                                          <p:attrName>style.visibility</p:attrName>
                                        </p:attrNameLst>
                                      </p:cBhvr>
                                      <p:to>
                                        <p:strVal val="visible"/>
                                      </p:to>
                                    </p:set>
                                    <p:animEffect transition="in" filter="fade">
                                      <p:cBhvr>
                                        <p:cTn id="99" dur="500"/>
                                        <p:tgtEl>
                                          <p:spTgt spid="4">
                                            <p:txEl>
                                              <p:pRg st="29" end="29"/>
                                            </p:txEl>
                                          </p:spTgt>
                                        </p:tgtEl>
                                      </p:cBhvr>
                                    </p:animEffect>
                                  </p:childTnLst>
                                </p:cTn>
                              </p:par>
                              <p:par>
                                <p:cTn id="100" presetID="10" presetClass="entr" presetSubtype="0" fill="hold" nodeType="withEffect">
                                  <p:stCondLst>
                                    <p:cond delay="0"/>
                                  </p:stCondLst>
                                  <p:childTnLst>
                                    <p:set>
                                      <p:cBhvr>
                                        <p:cTn id="101" dur="1" fill="hold">
                                          <p:stCondLst>
                                            <p:cond delay="0"/>
                                          </p:stCondLst>
                                        </p:cTn>
                                        <p:tgtEl>
                                          <p:spTgt spid="4">
                                            <p:txEl>
                                              <p:pRg st="30" end="30"/>
                                            </p:txEl>
                                          </p:spTgt>
                                        </p:tgtEl>
                                        <p:attrNameLst>
                                          <p:attrName>style.visibility</p:attrName>
                                        </p:attrNameLst>
                                      </p:cBhvr>
                                      <p:to>
                                        <p:strVal val="visible"/>
                                      </p:to>
                                    </p:set>
                                    <p:animEffect transition="in" filter="fade">
                                      <p:cBhvr>
                                        <p:cTn id="102" dur="500"/>
                                        <p:tgtEl>
                                          <p:spTgt spid="4">
                                            <p:txEl>
                                              <p:pRg st="30" end="3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3662ED3-A9CB-4AE2-8613-95F90279EC11}"/>
              </a:ext>
            </a:extLst>
          </p:cNvPr>
          <p:cNvSpPr/>
          <p:nvPr/>
        </p:nvSpPr>
        <p:spPr>
          <a:xfrm>
            <a:off x="152400" y="749360"/>
            <a:ext cx="11963400" cy="598132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numCol="3" rtlCol="0" anchor="ctr"/>
          <a:lstStyle/>
          <a:p>
            <a:pPr lvl="0"/>
            <a:r>
              <a:rPr lang="en-IN" sz="2000" dirty="0">
                <a:solidFill>
                  <a:prstClr val="black"/>
                </a:solidFill>
              </a:rPr>
              <a:t>import </a:t>
            </a:r>
            <a:r>
              <a:rPr lang="en-IN" sz="2000" dirty="0" err="1">
                <a:solidFill>
                  <a:prstClr val="black"/>
                </a:solidFill>
              </a:rPr>
              <a:t>java.awt</a:t>
            </a:r>
            <a:r>
              <a:rPr lang="en-IN" sz="2000" dirty="0">
                <a:solidFill>
                  <a:prstClr val="black"/>
                </a:solidFill>
              </a:rPr>
              <a:t>.*;</a:t>
            </a:r>
          </a:p>
          <a:p>
            <a:pPr lvl="0"/>
            <a:r>
              <a:rPr lang="en-IN" sz="2000" dirty="0">
                <a:solidFill>
                  <a:prstClr val="black"/>
                </a:solidFill>
              </a:rPr>
              <a:t>import </a:t>
            </a:r>
            <a:r>
              <a:rPr lang="en-IN" sz="2000" dirty="0" err="1">
                <a:solidFill>
                  <a:prstClr val="black"/>
                </a:solidFill>
              </a:rPr>
              <a:t>java.applet</a:t>
            </a:r>
            <a:r>
              <a:rPr lang="en-IN" sz="2000" dirty="0">
                <a:solidFill>
                  <a:prstClr val="black"/>
                </a:solidFill>
              </a:rPr>
              <a:t>.*;</a:t>
            </a:r>
          </a:p>
          <a:p>
            <a:pPr lvl="0"/>
            <a:endParaRPr lang="en-IN" sz="2000" dirty="0">
              <a:solidFill>
                <a:prstClr val="black"/>
              </a:solidFill>
            </a:endParaRPr>
          </a:p>
          <a:p>
            <a:pPr lvl="0"/>
            <a:r>
              <a:rPr lang="en-IN" sz="2000" dirty="0">
                <a:solidFill>
                  <a:prstClr val="black"/>
                </a:solidFill>
              </a:rPr>
              <a:t>public class </a:t>
            </a:r>
            <a:r>
              <a:rPr lang="en-IN" sz="2000" dirty="0" err="1">
                <a:solidFill>
                  <a:prstClr val="black"/>
                </a:solidFill>
              </a:rPr>
              <a:t>UserIn</a:t>
            </a:r>
            <a:r>
              <a:rPr lang="en-IN" sz="2000" dirty="0">
                <a:solidFill>
                  <a:prstClr val="black"/>
                </a:solidFill>
              </a:rPr>
              <a:t> extends Applet</a:t>
            </a:r>
          </a:p>
          <a:p>
            <a:pPr lvl="0"/>
            <a:r>
              <a:rPr lang="en-IN" sz="2000" dirty="0">
                <a:solidFill>
                  <a:prstClr val="black"/>
                </a:solidFill>
              </a:rPr>
              <a:t>{</a:t>
            </a:r>
          </a:p>
          <a:p>
            <a:pPr lvl="0"/>
            <a:r>
              <a:rPr lang="en-IN" sz="2000" dirty="0">
                <a:solidFill>
                  <a:prstClr val="black"/>
                </a:solidFill>
              </a:rPr>
              <a:t>    </a:t>
            </a:r>
            <a:r>
              <a:rPr lang="en-IN" sz="2000" dirty="0" err="1">
                <a:solidFill>
                  <a:prstClr val="black"/>
                </a:solidFill>
              </a:rPr>
              <a:t>TextField</a:t>
            </a:r>
            <a:r>
              <a:rPr lang="en-IN" sz="2000" dirty="0">
                <a:solidFill>
                  <a:prstClr val="black"/>
                </a:solidFill>
              </a:rPr>
              <a:t> text1, text2;</a:t>
            </a:r>
          </a:p>
          <a:p>
            <a:pPr lvl="0"/>
            <a:r>
              <a:rPr lang="en-IN" sz="2000" dirty="0">
                <a:solidFill>
                  <a:prstClr val="black"/>
                </a:solidFill>
              </a:rPr>
              <a:t>    public void </a:t>
            </a:r>
            <a:r>
              <a:rPr lang="en-IN" sz="2000" dirty="0" err="1">
                <a:solidFill>
                  <a:prstClr val="black"/>
                </a:solidFill>
              </a:rPr>
              <a:t>init</a:t>
            </a:r>
            <a:r>
              <a:rPr lang="en-IN" sz="2000" dirty="0">
                <a:solidFill>
                  <a:prstClr val="black"/>
                </a:solidFill>
              </a:rPr>
              <a:t>()</a:t>
            </a:r>
          </a:p>
          <a:p>
            <a:pPr lvl="0"/>
            <a:r>
              <a:rPr lang="en-IN" sz="2000" dirty="0">
                <a:solidFill>
                  <a:prstClr val="black"/>
                </a:solidFill>
              </a:rPr>
              <a:t>    {  </a:t>
            </a:r>
          </a:p>
          <a:p>
            <a:pPr lvl="0"/>
            <a:r>
              <a:rPr lang="en-IN" sz="2000" dirty="0">
                <a:solidFill>
                  <a:prstClr val="black"/>
                </a:solidFill>
              </a:rPr>
              <a:t>      text1=new </a:t>
            </a:r>
            <a:r>
              <a:rPr lang="en-IN" sz="2000" dirty="0" err="1">
                <a:solidFill>
                  <a:prstClr val="black"/>
                </a:solidFill>
              </a:rPr>
              <a:t>TextField</a:t>
            </a:r>
            <a:r>
              <a:rPr lang="en-IN" sz="2000" dirty="0">
                <a:solidFill>
                  <a:prstClr val="black"/>
                </a:solidFill>
              </a:rPr>
              <a:t>(8);</a:t>
            </a:r>
          </a:p>
          <a:p>
            <a:pPr lvl="0"/>
            <a:r>
              <a:rPr lang="en-IN" sz="2000" dirty="0">
                <a:solidFill>
                  <a:prstClr val="black"/>
                </a:solidFill>
              </a:rPr>
              <a:t>      text2=new </a:t>
            </a:r>
            <a:r>
              <a:rPr lang="en-IN" sz="2000" dirty="0" err="1">
                <a:solidFill>
                  <a:prstClr val="black"/>
                </a:solidFill>
              </a:rPr>
              <a:t>TextField</a:t>
            </a:r>
            <a:r>
              <a:rPr lang="en-IN" sz="2000" dirty="0">
                <a:solidFill>
                  <a:prstClr val="black"/>
                </a:solidFill>
              </a:rPr>
              <a:t>(8);</a:t>
            </a:r>
          </a:p>
          <a:p>
            <a:pPr lvl="0"/>
            <a:r>
              <a:rPr lang="en-IN" sz="2000" dirty="0">
                <a:solidFill>
                  <a:prstClr val="black"/>
                </a:solidFill>
              </a:rPr>
              <a:t>     add(text1);</a:t>
            </a:r>
          </a:p>
          <a:p>
            <a:pPr lvl="0"/>
            <a:r>
              <a:rPr lang="en-IN" sz="2000" dirty="0">
                <a:solidFill>
                  <a:prstClr val="black"/>
                </a:solidFill>
              </a:rPr>
              <a:t>     add(text2);</a:t>
            </a:r>
          </a:p>
          <a:p>
            <a:pPr lvl="0"/>
            <a:r>
              <a:rPr lang="en-IN" sz="2000" dirty="0">
                <a:solidFill>
                  <a:prstClr val="black"/>
                </a:solidFill>
              </a:rPr>
              <a:t>     text1.setText("0");</a:t>
            </a:r>
          </a:p>
          <a:p>
            <a:pPr lvl="0"/>
            <a:r>
              <a:rPr lang="en-IN" sz="2000" dirty="0">
                <a:solidFill>
                  <a:prstClr val="black"/>
                </a:solidFill>
              </a:rPr>
              <a:t>      text2.setText("0");</a:t>
            </a:r>
          </a:p>
          <a:p>
            <a:pPr lvl="0"/>
            <a:r>
              <a:rPr lang="en-IN" sz="2000" dirty="0">
                <a:solidFill>
                  <a:prstClr val="black"/>
                </a:solidFill>
              </a:rPr>
              <a:t>   }</a:t>
            </a:r>
          </a:p>
          <a:p>
            <a:pPr lvl="0"/>
            <a:r>
              <a:rPr lang="en-IN" sz="2000" dirty="0">
                <a:solidFill>
                  <a:prstClr val="black"/>
                </a:solidFill>
              </a:rPr>
              <a:t>public void paint(Graphics g)</a:t>
            </a:r>
          </a:p>
          <a:p>
            <a:pPr lvl="0"/>
            <a:r>
              <a:rPr lang="en-IN" sz="2000" dirty="0">
                <a:solidFill>
                  <a:prstClr val="black"/>
                </a:solidFill>
              </a:rPr>
              <a:t>{</a:t>
            </a:r>
          </a:p>
          <a:p>
            <a:pPr lvl="0"/>
            <a:r>
              <a:rPr lang="en-IN" sz="2000" dirty="0">
                <a:solidFill>
                  <a:prstClr val="black"/>
                </a:solidFill>
              </a:rPr>
              <a:t>   int x=0,y=0,z=0;</a:t>
            </a:r>
          </a:p>
          <a:p>
            <a:pPr lvl="0"/>
            <a:r>
              <a:rPr lang="en-IN" sz="2000" dirty="0">
                <a:solidFill>
                  <a:prstClr val="black"/>
                </a:solidFill>
              </a:rPr>
              <a:t>   String s1,s2,s;</a:t>
            </a:r>
          </a:p>
          <a:p>
            <a:pPr lvl="0"/>
            <a:r>
              <a:rPr lang="en-IN" sz="2000" dirty="0">
                <a:solidFill>
                  <a:prstClr val="black"/>
                </a:solidFill>
              </a:rPr>
              <a:t>    </a:t>
            </a:r>
            <a:r>
              <a:rPr lang="en-IN" sz="2000" dirty="0" err="1">
                <a:solidFill>
                  <a:prstClr val="black"/>
                </a:solidFill>
              </a:rPr>
              <a:t>g.drawString</a:t>
            </a:r>
            <a:r>
              <a:rPr lang="en-IN" sz="2000" dirty="0">
                <a:solidFill>
                  <a:prstClr val="black"/>
                </a:solidFill>
              </a:rPr>
              <a:t>("Input a number in each box",10,50);</a:t>
            </a:r>
          </a:p>
          <a:p>
            <a:pPr lvl="0"/>
            <a:endParaRPr lang="en-IN" sz="2000" dirty="0">
              <a:solidFill>
                <a:prstClr val="black"/>
              </a:solidFill>
            </a:endParaRPr>
          </a:p>
          <a:p>
            <a:pPr lvl="0"/>
            <a:r>
              <a:rPr lang="en-IN" sz="2000" dirty="0">
                <a:solidFill>
                  <a:prstClr val="black"/>
                </a:solidFill>
              </a:rPr>
              <a:t>    try</a:t>
            </a:r>
          </a:p>
          <a:p>
            <a:pPr lvl="0"/>
            <a:r>
              <a:rPr lang="en-IN" sz="2000" dirty="0">
                <a:solidFill>
                  <a:prstClr val="black"/>
                </a:solidFill>
              </a:rPr>
              <a:t>     {</a:t>
            </a:r>
          </a:p>
          <a:p>
            <a:pPr lvl="0"/>
            <a:r>
              <a:rPr lang="en-IN" sz="2000" dirty="0">
                <a:solidFill>
                  <a:prstClr val="black"/>
                </a:solidFill>
              </a:rPr>
              <a:t>        s1=text1.getText();</a:t>
            </a:r>
          </a:p>
          <a:p>
            <a:pPr lvl="0"/>
            <a:r>
              <a:rPr lang="en-IN" sz="2000" dirty="0">
                <a:solidFill>
                  <a:prstClr val="black"/>
                </a:solidFill>
              </a:rPr>
              <a:t>        x= </a:t>
            </a:r>
            <a:r>
              <a:rPr lang="en-IN" sz="2000" dirty="0" err="1">
                <a:solidFill>
                  <a:prstClr val="black"/>
                </a:solidFill>
              </a:rPr>
              <a:t>Integer.parseInt</a:t>
            </a:r>
            <a:r>
              <a:rPr lang="en-IN" sz="2000" dirty="0">
                <a:solidFill>
                  <a:prstClr val="black"/>
                </a:solidFill>
              </a:rPr>
              <a:t>(s1);</a:t>
            </a:r>
          </a:p>
          <a:p>
            <a:pPr lvl="0"/>
            <a:r>
              <a:rPr lang="en-IN" sz="2000" dirty="0">
                <a:solidFill>
                  <a:prstClr val="black"/>
                </a:solidFill>
              </a:rPr>
              <a:t>        s2=text2.getText();</a:t>
            </a:r>
          </a:p>
          <a:p>
            <a:pPr lvl="0"/>
            <a:r>
              <a:rPr lang="en-IN" sz="2000" dirty="0">
                <a:solidFill>
                  <a:prstClr val="black"/>
                </a:solidFill>
              </a:rPr>
              <a:t>         y=</a:t>
            </a:r>
            <a:r>
              <a:rPr lang="en-IN" sz="2000" dirty="0" err="1">
                <a:solidFill>
                  <a:prstClr val="black"/>
                </a:solidFill>
              </a:rPr>
              <a:t>Integer.parseInt</a:t>
            </a:r>
            <a:r>
              <a:rPr lang="en-IN" sz="2000" dirty="0">
                <a:solidFill>
                  <a:prstClr val="black"/>
                </a:solidFill>
              </a:rPr>
              <a:t>(s2);</a:t>
            </a:r>
          </a:p>
          <a:p>
            <a:pPr lvl="0"/>
            <a:r>
              <a:rPr lang="en-IN" sz="2000" dirty="0">
                <a:solidFill>
                  <a:prstClr val="black"/>
                </a:solidFill>
              </a:rPr>
              <a:t>       }</a:t>
            </a:r>
          </a:p>
          <a:p>
            <a:pPr lvl="0"/>
            <a:r>
              <a:rPr lang="en-IN" sz="2000" dirty="0">
                <a:solidFill>
                  <a:prstClr val="black"/>
                </a:solidFill>
              </a:rPr>
              <a:t>   catch(Exception e)</a:t>
            </a:r>
          </a:p>
          <a:p>
            <a:pPr lvl="0"/>
            <a:r>
              <a:rPr lang="en-IN" sz="2000" dirty="0">
                <a:solidFill>
                  <a:prstClr val="black"/>
                </a:solidFill>
              </a:rPr>
              <a:t>    {}</a:t>
            </a:r>
          </a:p>
          <a:p>
            <a:pPr lvl="0"/>
            <a:r>
              <a:rPr lang="en-IN" sz="2000" dirty="0">
                <a:solidFill>
                  <a:prstClr val="black"/>
                </a:solidFill>
              </a:rPr>
              <a:t>      z=</a:t>
            </a:r>
            <a:r>
              <a:rPr lang="en-IN" sz="2000" dirty="0" err="1">
                <a:solidFill>
                  <a:prstClr val="black"/>
                </a:solidFill>
              </a:rPr>
              <a:t>x+y</a:t>
            </a:r>
            <a:r>
              <a:rPr lang="en-IN" sz="2000" dirty="0">
                <a:solidFill>
                  <a:prstClr val="black"/>
                </a:solidFill>
              </a:rPr>
              <a:t>;</a:t>
            </a:r>
          </a:p>
          <a:p>
            <a:pPr lvl="0"/>
            <a:r>
              <a:rPr lang="en-IN" sz="2000" dirty="0">
                <a:solidFill>
                  <a:prstClr val="black"/>
                </a:solidFill>
              </a:rPr>
              <a:t>      s= </a:t>
            </a:r>
            <a:r>
              <a:rPr lang="en-IN" sz="2000" dirty="0" err="1">
                <a:solidFill>
                  <a:prstClr val="black"/>
                </a:solidFill>
              </a:rPr>
              <a:t>String.valueOf</a:t>
            </a:r>
            <a:r>
              <a:rPr lang="en-IN" sz="2000" dirty="0">
                <a:solidFill>
                  <a:prstClr val="black"/>
                </a:solidFill>
              </a:rPr>
              <a:t>(z);</a:t>
            </a:r>
          </a:p>
          <a:p>
            <a:pPr lvl="0"/>
            <a:r>
              <a:rPr lang="en-IN" sz="2000" dirty="0">
                <a:solidFill>
                  <a:prstClr val="black"/>
                </a:solidFill>
              </a:rPr>
              <a:t>      </a:t>
            </a:r>
            <a:r>
              <a:rPr lang="en-IN" sz="2000" dirty="0" err="1">
                <a:solidFill>
                  <a:prstClr val="black"/>
                </a:solidFill>
              </a:rPr>
              <a:t>g.drawString</a:t>
            </a:r>
            <a:r>
              <a:rPr lang="en-IN" sz="2000" dirty="0">
                <a:solidFill>
                  <a:prstClr val="black"/>
                </a:solidFill>
              </a:rPr>
              <a:t>("The sum is:",10,75);</a:t>
            </a:r>
          </a:p>
          <a:p>
            <a:pPr lvl="0"/>
            <a:r>
              <a:rPr lang="en-IN" sz="2000" dirty="0">
                <a:solidFill>
                  <a:prstClr val="black"/>
                </a:solidFill>
              </a:rPr>
              <a:t>      </a:t>
            </a:r>
            <a:r>
              <a:rPr lang="en-IN" sz="2000" dirty="0" err="1">
                <a:solidFill>
                  <a:prstClr val="black"/>
                </a:solidFill>
              </a:rPr>
              <a:t>g.drawString</a:t>
            </a:r>
            <a:r>
              <a:rPr lang="en-IN" sz="2000" dirty="0">
                <a:solidFill>
                  <a:prstClr val="black"/>
                </a:solidFill>
              </a:rPr>
              <a:t>(s,100,75);</a:t>
            </a:r>
          </a:p>
          <a:p>
            <a:pPr lvl="0"/>
            <a:r>
              <a:rPr lang="en-IN" sz="2000" dirty="0">
                <a:solidFill>
                  <a:prstClr val="black"/>
                </a:solidFill>
              </a:rPr>
              <a:t>   }</a:t>
            </a:r>
          </a:p>
          <a:p>
            <a:pPr lvl="0"/>
            <a:endParaRPr lang="en-IN" sz="2000" dirty="0">
              <a:solidFill>
                <a:prstClr val="black"/>
              </a:solidFill>
            </a:endParaRPr>
          </a:p>
          <a:p>
            <a:pPr lvl="0"/>
            <a:r>
              <a:rPr lang="en-IN" sz="2000" dirty="0">
                <a:solidFill>
                  <a:prstClr val="black"/>
                </a:solidFill>
              </a:rPr>
              <a:t>public </a:t>
            </a:r>
            <a:r>
              <a:rPr lang="en-IN" sz="2000" dirty="0" err="1">
                <a:solidFill>
                  <a:prstClr val="black"/>
                </a:solidFill>
              </a:rPr>
              <a:t>boolean</a:t>
            </a:r>
            <a:r>
              <a:rPr lang="en-IN" sz="2000" dirty="0">
                <a:solidFill>
                  <a:prstClr val="black"/>
                </a:solidFill>
              </a:rPr>
              <a:t> action (Event </a:t>
            </a:r>
            <a:r>
              <a:rPr lang="en-IN" sz="2000" dirty="0" err="1">
                <a:solidFill>
                  <a:prstClr val="black"/>
                </a:solidFill>
              </a:rPr>
              <a:t>event</a:t>
            </a:r>
            <a:r>
              <a:rPr lang="en-IN" sz="2000" dirty="0">
                <a:solidFill>
                  <a:prstClr val="black"/>
                </a:solidFill>
              </a:rPr>
              <a:t>, Object object)</a:t>
            </a:r>
          </a:p>
          <a:p>
            <a:pPr lvl="0"/>
            <a:r>
              <a:rPr lang="en-IN" sz="2000" dirty="0">
                <a:solidFill>
                  <a:prstClr val="black"/>
                </a:solidFill>
              </a:rPr>
              <a:t>{</a:t>
            </a:r>
          </a:p>
          <a:p>
            <a:pPr lvl="0"/>
            <a:r>
              <a:rPr lang="en-IN" sz="2000" dirty="0">
                <a:solidFill>
                  <a:prstClr val="black"/>
                </a:solidFill>
              </a:rPr>
              <a:t>   repaint();</a:t>
            </a:r>
          </a:p>
          <a:p>
            <a:pPr lvl="0"/>
            <a:r>
              <a:rPr lang="en-IN" sz="2000" dirty="0">
                <a:solidFill>
                  <a:prstClr val="black"/>
                </a:solidFill>
              </a:rPr>
              <a:t>   return true;</a:t>
            </a:r>
          </a:p>
          <a:p>
            <a:pPr lvl="0"/>
            <a:r>
              <a:rPr lang="en-IN" sz="2000" dirty="0">
                <a:solidFill>
                  <a:prstClr val="black"/>
                </a:solidFill>
              </a:rPr>
              <a:t>}</a:t>
            </a:r>
          </a:p>
          <a:p>
            <a:pPr lvl="0"/>
            <a:r>
              <a:rPr lang="en-IN" sz="2000" dirty="0">
                <a:solidFill>
                  <a:prstClr val="black"/>
                </a:solidFill>
              </a:rPr>
              <a:t>}</a:t>
            </a:r>
          </a:p>
          <a:p>
            <a:pPr lvl="0"/>
            <a:r>
              <a:rPr lang="en-IN" sz="2000" dirty="0">
                <a:solidFill>
                  <a:prstClr val="black"/>
                </a:solidFill>
              </a:rPr>
              <a:t>/* </a:t>
            </a:r>
          </a:p>
          <a:p>
            <a:pPr lvl="0"/>
            <a:r>
              <a:rPr lang="en-IN" sz="2000" dirty="0">
                <a:solidFill>
                  <a:prstClr val="black"/>
                </a:solidFill>
              </a:rPr>
              <a:t>&lt;html&gt;</a:t>
            </a:r>
          </a:p>
          <a:p>
            <a:pPr lvl="0"/>
            <a:r>
              <a:rPr lang="en-IN" sz="2000" dirty="0">
                <a:solidFill>
                  <a:prstClr val="black"/>
                </a:solidFill>
              </a:rPr>
              <a:t>  &lt;body&gt;</a:t>
            </a:r>
          </a:p>
          <a:p>
            <a:pPr lvl="0"/>
            <a:r>
              <a:rPr lang="en-IN" sz="2000" dirty="0">
                <a:solidFill>
                  <a:prstClr val="black"/>
                </a:solidFill>
              </a:rPr>
              <a:t>   &lt;applet code ="</a:t>
            </a:r>
            <a:r>
              <a:rPr lang="en-IN" sz="2000" dirty="0" err="1">
                <a:solidFill>
                  <a:prstClr val="black"/>
                </a:solidFill>
              </a:rPr>
              <a:t>UserIn.class</a:t>
            </a:r>
            <a:r>
              <a:rPr lang="en-IN" sz="2000" dirty="0">
                <a:solidFill>
                  <a:prstClr val="black"/>
                </a:solidFill>
              </a:rPr>
              <a:t>" width="300" height="300"&gt;</a:t>
            </a:r>
          </a:p>
          <a:p>
            <a:pPr lvl="0"/>
            <a:r>
              <a:rPr lang="en-IN" sz="2000" dirty="0">
                <a:solidFill>
                  <a:prstClr val="black"/>
                </a:solidFill>
              </a:rPr>
              <a:t>  &lt;/applet.</a:t>
            </a:r>
          </a:p>
          <a:p>
            <a:pPr lvl="0"/>
            <a:r>
              <a:rPr lang="en-IN" sz="2000" dirty="0">
                <a:solidFill>
                  <a:prstClr val="black"/>
                </a:solidFill>
              </a:rPr>
              <a:t>  &lt;/body&gt;</a:t>
            </a:r>
          </a:p>
          <a:p>
            <a:pPr lvl="0"/>
            <a:r>
              <a:rPr lang="en-IN" sz="2000" dirty="0">
                <a:solidFill>
                  <a:prstClr val="black"/>
                </a:solidFill>
              </a:rPr>
              <a:t>&lt;html&gt;</a:t>
            </a:r>
          </a:p>
          <a:p>
            <a:pPr lvl="0"/>
            <a:r>
              <a:rPr lang="en-IN" sz="2000" dirty="0">
                <a:solidFill>
                  <a:prstClr val="black"/>
                </a:solidFill>
              </a:rPr>
              <a:t>*/</a:t>
            </a:r>
            <a:endParaRPr kumimoji="0" lang="en-IN" sz="2000" b="0" i="0" u="none" strike="noStrike" kern="1200" cap="none" spc="0" normalizeH="0" baseline="0" noProof="0" dirty="0">
              <a:ln>
                <a:noFill/>
              </a:ln>
              <a:solidFill>
                <a:prstClr val="black"/>
              </a:solidFill>
              <a:effectLst/>
              <a:uLnTx/>
              <a:uFillTx/>
              <a:latin typeface="Perpetua"/>
              <a:ea typeface="+mn-ea"/>
              <a:cs typeface="+mn-cs"/>
            </a:endParaRPr>
          </a:p>
        </p:txBody>
      </p:sp>
      <p:pic>
        <p:nvPicPr>
          <p:cNvPr id="5" name="Picture 4">
            <a:extLst>
              <a:ext uri="{FF2B5EF4-FFF2-40B4-BE49-F238E27FC236}">
                <a16:creationId xmlns:a16="http://schemas.microsoft.com/office/drawing/2014/main" id="{359CEF46-1A0B-4BA7-9861-D70CCE846864}"/>
              </a:ext>
            </a:extLst>
          </p:cNvPr>
          <p:cNvPicPr>
            <a:picLocks noChangeAspect="1"/>
          </p:cNvPicPr>
          <p:nvPr/>
        </p:nvPicPr>
        <p:blipFill>
          <a:blip r:embed="rId2"/>
          <a:stretch>
            <a:fillRect/>
          </a:stretch>
        </p:blipFill>
        <p:spPr>
          <a:xfrm>
            <a:off x="381000" y="141314"/>
            <a:ext cx="937341" cy="493946"/>
          </a:xfrm>
          <a:prstGeom prst="rect">
            <a:avLst/>
          </a:prstGeom>
        </p:spPr>
      </p:pic>
      <p:sp>
        <p:nvSpPr>
          <p:cNvPr id="6" name="Title 1">
            <a:extLst>
              <a:ext uri="{FF2B5EF4-FFF2-40B4-BE49-F238E27FC236}">
                <a16:creationId xmlns:a16="http://schemas.microsoft.com/office/drawing/2014/main" id="{2995531E-A55D-4CD9-A52C-C48AE304AF7B}"/>
              </a:ext>
            </a:extLst>
          </p:cNvPr>
          <p:cNvSpPr txBox="1">
            <a:spLocks/>
          </p:cNvSpPr>
          <p:nvPr/>
        </p:nvSpPr>
        <p:spPr>
          <a:xfrm>
            <a:off x="1447800" y="153755"/>
            <a:ext cx="10287000" cy="569168"/>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92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highlight>
                  <a:srgbClr val="FFFF00"/>
                </a:highlight>
                <a:uLnTx/>
                <a:uFillTx/>
                <a:latin typeface="Perpetua"/>
                <a:ea typeface="+mn-ea"/>
                <a:cs typeface="+mn-cs"/>
              </a:rPr>
              <a:t>Passing a Parameter to Applet </a:t>
            </a:r>
            <a:endParaRPr kumimoji="0" lang="en-US" sz="3600" b="0" i="0" u="none" strike="noStrike" kern="1200" cap="none" spc="0" normalizeH="0" baseline="0" noProof="0" dirty="0">
              <a:ln>
                <a:noFill/>
              </a:ln>
              <a:solidFill>
                <a:prstClr val="black"/>
              </a:solidFill>
              <a:effectLst/>
              <a:highlight>
                <a:srgbClr val="FFFF00"/>
              </a:highlight>
              <a:uLnTx/>
              <a:uFillTx/>
              <a:latin typeface="Perpetua"/>
              <a:ea typeface="+mn-ea"/>
              <a:cs typeface="+mn-cs"/>
            </a:endParaRPr>
          </a:p>
        </p:txBody>
      </p:sp>
    </p:spTree>
    <p:extLst>
      <p:ext uri="{BB962C8B-B14F-4D97-AF65-F5344CB8AC3E}">
        <p14:creationId xmlns:p14="http://schemas.microsoft.com/office/powerpoint/2010/main" val="1986950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14" end="14"/>
                                            </p:txEl>
                                          </p:spTgt>
                                        </p:tgtEl>
                                        <p:attrNameLst>
                                          <p:attrName>style.visibility</p:attrName>
                                        </p:attrNameLst>
                                      </p:cBhvr>
                                      <p:to>
                                        <p:strVal val="visible"/>
                                      </p:to>
                                    </p:set>
                                    <p:animEffect transition="in" filter="fade">
                                      <p:cBhvr>
                                        <p:cTn id="13" dur="500"/>
                                        <p:tgtEl>
                                          <p:spTgt spid="4">
                                            <p:txEl>
                                              <p:pRg st="14" end="1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42" end="42"/>
                                            </p:txEl>
                                          </p:spTgt>
                                        </p:tgtEl>
                                        <p:attrNameLst>
                                          <p:attrName>style.visibility</p:attrName>
                                        </p:attrNameLst>
                                      </p:cBhvr>
                                      <p:to>
                                        <p:strVal val="visible"/>
                                      </p:to>
                                    </p:set>
                                    <p:animEffect transition="in" filter="fade">
                                      <p:cBhvr>
                                        <p:cTn id="16" dur="500"/>
                                        <p:tgtEl>
                                          <p:spTgt spid="4">
                                            <p:txEl>
                                              <p:pRg st="42" end="4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fade">
                                      <p:cBhvr>
                                        <p:cTn id="21" dur="500"/>
                                        <p:tgtEl>
                                          <p:spTgt spid="4">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4">
                                            <p:txEl>
                                              <p:pRg st="4" end="4"/>
                                            </p:txEl>
                                          </p:spTgt>
                                        </p:tgtEl>
                                        <p:attrNameLst>
                                          <p:attrName>style.visibility</p:attrName>
                                        </p:attrNameLst>
                                      </p:cBhvr>
                                      <p:to>
                                        <p:strVal val="visible"/>
                                      </p:to>
                                    </p:set>
                                    <p:animEffect transition="in" filter="fade">
                                      <p:cBhvr>
                                        <p:cTn id="24" dur="500"/>
                                        <p:tgtEl>
                                          <p:spTgt spid="4">
                                            <p:txEl>
                                              <p:pRg st="4" end="4"/>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5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500"/>
                                        <p:tgtEl>
                                          <p:spTgt spid="4">
                                            <p:txEl>
                                              <p:pRg st="6" end="6"/>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animEffect transition="in" filter="fade">
                                      <p:cBhvr>
                                        <p:cTn id="35" dur="500"/>
                                        <p:tgtEl>
                                          <p:spTgt spid="4">
                                            <p:txEl>
                                              <p:pRg st="7" end="7"/>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4">
                                            <p:txEl>
                                              <p:pRg st="8" end="8"/>
                                            </p:txEl>
                                          </p:spTgt>
                                        </p:tgtEl>
                                        <p:attrNameLst>
                                          <p:attrName>style.visibility</p:attrName>
                                        </p:attrNameLst>
                                      </p:cBhvr>
                                      <p:to>
                                        <p:strVal val="visible"/>
                                      </p:to>
                                    </p:set>
                                    <p:animEffect transition="in" filter="fade">
                                      <p:cBhvr>
                                        <p:cTn id="38" dur="500"/>
                                        <p:tgtEl>
                                          <p:spTgt spid="4">
                                            <p:txEl>
                                              <p:pRg st="8" end="8"/>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4">
                                            <p:txEl>
                                              <p:pRg st="9" end="9"/>
                                            </p:txEl>
                                          </p:spTgt>
                                        </p:tgtEl>
                                        <p:attrNameLst>
                                          <p:attrName>style.visibility</p:attrName>
                                        </p:attrNameLst>
                                      </p:cBhvr>
                                      <p:to>
                                        <p:strVal val="visible"/>
                                      </p:to>
                                    </p:set>
                                    <p:animEffect transition="in" filter="fade">
                                      <p:cBhvr>
                                        <p:cTn id="41" dur="500"/>
                                        <p:tgtEl>
                                          <p:spTgt spid="4">
                                            <p:txEl>
                                              <p:pRg st="9" end="9"/>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4">
                                            <p:txEl>
                                              <p:pRg st="10" end="10"/>
                                            </p:txEl>
                                          </p:spTgt>
                                        </p:tgtEl>
                                        <p:attrNameLst>
                                          <p:attrName>style.visibility</p:attrName>
                                        </p:attrNameLst>
                                      </p:cBhvr>
                                      <p:to>
                                        <p:strVal val="visible"/>
                                      </p:to>
                                    </p:set>
                                    <p:animEffect transition="in" filter="fade">
                                      <p:cBhvr>
                                        <p:cTn id="46" dur="500"/>
                                        <p:tgtEl>
                                          <p:spTgt spid="4">
                                            <p:txEl>
                                              <p:pRg st="10" end="10"/>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4">
                                            <p:txEl>
                                              <p:pRg st="11" end="11"/>
                                            </p:txEl>
                                          </p:spTgt>
                                        </p:tgtEl>
                                        <p:attrNameLst>
                                          <p:attrName>style.visibility</p:attrName>
                                        </p:attrNameLst>
                                      </p:cBhvr>
                                      <p:to>
                                        <p:strVal val="visible"/>
                                      </p:to>
                                    </p:set>
                                    <p:animEffect transition="in" filter="fade">
                                      <p:cBhvr>
                                        <p:cTn id="49" dur="500"/>
                                        <p:tgtEl>
                                          <p:spTgt spid="4">
                                            <p:txEl>
                                              <p:pRg st="11" end="11"/>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4">
                                            <p:txEl>
                                              <p:pRg st="12" end="12"/>
                                            </p:txEl>
                                          </p:spTgt>
                                        </p:tgtEl>
                                        <p:attrNameLst>
                                          <p:attrName>style.visibility</p:attrName>
                                        </p:attrNameLst>
                                      </p:cBhvr>
                                      <p:to>
                                        <p:strVal val="visible"/>
                                      </p:to>
                                    </p:set>
                                    <p:animEffect transition="in" filter="fade">
                                      <p:cBhvr>
                                        <p:cTn id="54" dur="500"/>
                                        <p:tgtEl>
                                          <p:spTgt spid="4">
                                            <p:txEl>
                                              <p:pRg st="12" end="12"/>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4">
                                            <p:txEl>
                                              <p:pRg st="13" end="13"/>
                                            </p:txEl>
                                          </p:spTgt>
                                        </p:tgtEl>
                                        <p:attrNameLst>
                                          <p:attrName>style.visibility</p:attrName>
                                        </p:attrNameLst>
                                      </p:cBhvr>
                                      <p:to>
                                        <p:strVal val="visible"/>
                                      </p:to>
                                    </p:set>
                                    <p:animEffect transition="in" filter="fade">
                                      <p:cBhvr>
                                        <p:cTn id="57" dur="500"/>
                                        <p:tgtEl>
                                          <p:spTgt spid="4">
                                            <p:txEl>
                                              <p:pRg st="13" end="1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
                                            <p:txEl>
                                              <p:pRg st="15" end="15"/>
                                            </p:txEl>
                                          </p:spTgt>
                                        </p:tgtEl>
                                        <p:attrNameLst>
                                          <p:attrName>style.visibility</p:attrName>
                                        </p:attrNameLst>
                                      </p:cBhvr>
                                      <p:to>
                                        <p:strVal val="visible"/>
                                      </p:to>
                                    </p:set>
                                    <p:animEffect transition="in" filter="fade">
                                      <p:cBhvr>
                                        <p:cTn id="62" dur="500"/>
                                        <p:tgtEl>
                                          <p:spTgt spid="4">
                                            <p:txEl>
                                              <p:pRg st="15" end="15"/>
                                            </p:txEl>
                                          </p:spTgt>
                                        </p:tgtEl>
                                      </p:cBhvr>
                                    </p:animEffect>
                                  </p:childTnLst>
                                </p:cTn>
                              </p:par>
                              <p:par>
                                <p:cTn id="63" presetID="10" presetClass="entr" presetSubtype="0" fill="hold" nodeType="withEffect">
                                  <p:stCondLst>
                                    <p:cond delay="0"/>
                                  </p:stCondLst>
                                  <p:childTnLst>
                                    <p:set>
                                      <p:cBhvr>
                                        <p:cTn id="64" dur="1" fill="hold">
                                          <p:stCondLst>
                                            <p:cond delay="0"/>
                                          </p:stCondLst>
                                        </p:cTn>
                                        <p:tgtEl>
                                          <p:spTgt spid="4">
                                            <p:txEl>
                                              <p:pRg st="16" end="16"/>
                                            </p:txEl>
                                          </p:spTgt>
                                        </p:tgtEl>
                                        <p:attrNameLst>
                                          <p:attrName>style.visibility</p:attrName>
                                        </p:attrNameLst>
                                      </p:cBhvr>
                                      <p:to>
                                        <p:strVal val="visible"/>
                                      </p:to>
                                    </p:set>
                                    <p:animEffect transition="in" filter="fade">
                                      <p:cBhvr>
                                        <p:cTn id="65" dur="500"/>
                                        <p:tgtEl>
                                          <p:spTgt spid="4">
                                            <p:txEl>
                                              <p:pRg st="16" end="16"/>
                                            </p:txEl>
                                          </p:spTgt>
                                        </p:tgtEl>
                                      </p:cBhvr>
                                    </p:animEffect>
                                  </p:childTnLst>
                                </p:cTn>
                              </p:par>
                              <p:par>
                                <p:cTn id="66" presetID="10" presetClass="entr" presetSubtype="0" fill="hold" nodeType="withEffect">
                                  <p:stCondLst>
                                    <p:cond delay="0"/>
                                  </p:stCondLst>
                                  <p:childTnLst>
                                    <p:set>
                                      <p:cBhvr>
                                        <p:cTn id="67" dur="1" fill="hold">
                                          <p:stCondLst>
                                            <p:cond delay="0"/>
                                          </p:stCondLst>
                                        </p:cTn>
                                        <p:tgtEl>
                                          <p:spTgt spid="4">
                                            <p:txEl>
                                              <p:pRg st="17" end="17"/>
                                            </p:txEl>
                                          </p:spTgt>
                                        </p:tgtEl>
                                        <p:attrNameLst>
                                          <p:attrName>style.visibility</p:attrName>
                                        </p:attrNameLst>
                                      </p:cBhvr>
                                      <p:to>
                                        <p:strVal val="visible"/>
                                      </p:to>
                                    </p:set>
                                    <p:animEffect transition="in" filter="fade">
                                      <p:cBhvr>
                                        <p:cTn id="68" dur="500"/>
                                        <p:tgtEl>
                                          <p:spTgt spid="4">
                                            <p:txEl>
                                              <p:pRg st="17" end="17"/>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4">
                                            <p:txEl>
                                              <p:pRg st="18" end="18"/>
                                            </p:txEl>
                                          </p:spTgt>
                                        </p:tgtEl>
                                        <p:attrNameLst>
                                          <p:attrName>style.visibility</p:attrName>
                                        </p:attrNameLst>
                                      </p:cBhvr>
                                      <p:to>
                                        <p:strVal val="visible"/>
                                      </p:to>
                                    </p:set>
                                    <p:animEffect transition="in" filter="fade">
                                      <p:cBhvr>
                                        <p:cTn id="73" dur="500"/>
                                        <p:tgtEl>
                                          <p:spTgt spid="4">
                                            <p:txEl>
                                              <p:pRg st="18" end="18"/>
                                            </p:txEl>
                                          </p:spTgt>
                                        </p:tgtEl>
                                      </p:cBhvr>
                                    </p:animEffect>
                                  </p:childTnLst>
                                </p:cTn>
                              </p:par>
                              <p:par>
                                <p:cTn id="74" presetID="10" presetClass="entr" presetSubtype="0" fill="hold" nodeType="withEffect">
                                  <p:stCondLst>
                                    <p:cond delay="0"/>
                                  </p:stCondLst>
                                  <p:childTnLst>
                                    <p:set>
                                      <p:cBhvr>
                                        <p:cTn id="75" dur="1" fill="hold">
                                          <p:stCondLst>
                                            <p:cond delay="0"/>
                                          </p:stCondLst>
                                        </p:cTn>
                                        <p:tgtEl>
                                          <p:spTgt spid="4">
                                            <p:txEl>
                                              <p:pRg st="19" end="19"/>
                                            </p:txEl>
                                          </p:spTgt>
                                        </p:tgtEl>
                                        <p:attrNameLst>
                                          <p:attrName>style.visibility</p:attrName>
                                        </p:attrNameLst>
                                      </p:cBhvr>
                                      <p:to>
                                        <p:strVal val="visible"/>
                                      </p:to>
                                    </p:set>
                                    <p:animEffect transition="in" filter="fade">
                                      <p:cBhvr>
                                        <p:cTn id="76" dur="500"/>
                                        <p:tgtEl>
                                          <p:spTgt spid="4">
                                            <p:txEl>
                                              <p:pRg st="19" end="19"/>
                                            </p:txEl>
                                          </p:spTgt>
                                        </p:tgtEl>
                                      </p:cBhvr>
                                    </p:animEffect>
                                  </p:childTnLst>
                                </p:cTn>
                              </p:par>
                              <p:par>
                                <p:cTn id="77" presetID="10" presetClass="entr" presetSubtype="0" fill="hold" nodeType="withEffect">
                                  <p:stCondLst>
                                    <p:cond delay="0"/>
                                  </p:stCondLst>
                                  <p:childTnLst>
                                    <p:set>
                                      <p:cBhvr>
                                        <p:cTn id="78" dur="1" fill="hold">
                                          <p:stCondLst>
                                            <p:cond delay="0"/>
                                          </p:stCondLst>
                                        </p:cTn>
                                        <p:tgtEl>
                                          <p:spTgt spid="4">
                                            <p:txEl>
                                              <p:pRg st="21" end="21"/>
                                            </p:txEl>
                                          </p:spTgt>
                                        </p:tgtEl>
                                        <p:attrNameLst>
                                          <p:attrName>style.visibility</p:attrName>
                                        </p:attrNameLst>
                                      </p:cBhvr>
                                      <p:to>
                                        <p:strVal val="visible"/>
                                      </p:to>
                                    </p:set>
                                    <p:animEffect transition="in" filter="fade">
                                      <p:cBhvr>
                                        <p:cTn id="79" dur="500"/>
                                        <p:tgtEl>
                                          <p:spTgt spid="4">
                                            <p:txEl>
                                              <p:pRg st="21" end="21"/>
                                            </p:txEl>
                                          </p:spTgt>
                                        </p:tgtEl>
                                      </p:cBhvr>
                                    </p:animEffect>
                                  </p:childTnLst>
                                </p:cTn>
                              </p:par>
                              <p:par>
                                <p:cTn id="80" presetID="10" presetClass="entr" presetSubtype="0" fill="hold" nodeType="withEffect">
                                  <p:stCondLst>
                                    <p:cond delay="0"/>
                                  </p:stCondLst>
                                  <p:childTnLst>
                                    <p:set>
                                      <p:cBhvr>
                                        <p:cTn id="81" dur="1" fill="hold">
                                          <p:stCondLst>
                                            <p:cond delay="0"/>
                                          </p:stCondLst>
                                        </p:cTn>
                                        <p:tgtEl>
                                          <p:spTgt spid="4">
                                            <p:txEl>
                                              <p:pRg st="22" end="22"/>
                                            </p:txEl>
                                          </p:spTgt>
                                        </p:tgtEl>
                                        <p:attrNameLst>
                                          <p:attrName>style.visibility</p:attrName>
                                        </p:attrNameLst>
                                      </p:cBhvr>
                                      <p:to>
                                        <p:strVal val="visible"/>
                                      </p:to>
                                    </p:set>
                                    <p:animEffect transition="in" filter="fade">
                                      <p:cBhvr>
                                        <p:cTn id="82" dur="500"/>
                                        <p:tgtEl>
                                          <p:spTgt spid="4">
                                            <p:txEl>
                                              <p:pRg st="22" end="22"/>
                                            </p:txEl>
                                          </p:spTgt>
                                        </p:tgtEl>
                                      </p:cBhvr>
                                    </p:animEffect>
                                  </p:childTnLst>
                                </p:cTn>
                              </p:par>
                              <p:par>
                                <p:cTn id="83" presetID="10" presetClass="entr" presetSubtype="0" fill="hold" nodeType="withEffect">
                                  <p:stCondLst>
                                    <p:cond delay="0"/>
                                  </p:stCondLst>
                                  <p:childTnLst>
                                    <p:set>
                                      <p:cBhvr>
                                        <p:cTn id="84" dur="1" fill="hold">
                                          <p:stCondLst>
                                            <p:cond delay="0"/>
                                          </p:stCondLst>
                                        </p:cTn>
                                        <p:tgtEl>
                                          <p:spTgt spid="4">
                                            <p:txEl>
                                              <p:pRg st="23" end="23"/>
                                            </p:txEl>
                                          </p:spTgt>
                                        </p:tgtEl>
                                        <p:attrNameLst>
                                          <p:attrName>style.visibility</p:attrName>
                                        </p:attrNameLst>
                                      </p:cBhvr>
                                      <p:to>
                                        <p:strVal val="visible"/>
                                      </p:to>
                                    </p:set>
                                    <p:animEffect transition="in" filter="fade">
                                      <p:cBhvr>
                                        <p:cTn id="85" dur="500"/>
                                        <p:tgtEl>
                                          <p:spTgt spid="4">
                                            <p:txEl>
                                              <p:pRg st="23" end="23"/>
                                            </p:txEl>
                                          </p:spTgt>
                                        </p:tgtEl>
                                      </p:cBhvr>
                                    </p:animEffect>
                                  </p:childTnLst>
                                </p:cTn>
                              </p:par>
                              <p:par>
                                <p:cTn id="86" presetID="10" presetClass="entr" presetSubtype="0" fill="hold" nodeType="withEffect">
                                  <p:stCondLst>
                                    <p:cond delay="0"/>
                                  </p:stCondLst>
                                  <p:childTnLst>
                                    <p:set>
                                      <p:cBhvr>
                                        <p:cTn id="87" dur="1" fill="hold">
                                          <p:stCondLst>
                                            <p:cond delay="0"/>
                                          </p:stCondLst>
                                        </p:cTn>
                                        <p:tgtEl>
                                          <p:spTgt spid="4">
                                            <p:txEl>
                                              <p:pRg st="24" end="24"/>
                                            </p:txEl>
                                          </p:spTgt>
                                        </p:tgtEl>
                                        <p:attrNameLst>
                                          <p:attrName>style.visibility</p:attrName>
                                        </p:attrNameLst>
                                      </p:cBhvr>
                                      <p:to>
                                        <p:strVal val="visible"/>
                                      </p:to>
                                    </p:set>
                                    <p:animEffect transition="in" filter="fade">
                                      <p:cBhvr>
                                        <p:cTn id="88" dur="500"/>
                                        <p:tgtEl>
                                          <p:spTgt spid="4">
                                            <p:txEl>
                                              <p:pRg st="24" end="24"/>
                                            </p:txEl>
                                          </p:spTgt>
                                        </p:tgtEl>
                                      </p:cBhvr>
                                    </p:animEffect>
                                  </p:childTnLst>
                                </p:cTn>
                              </p:par>
                              <p:par>
                                <p:cTn id="89" presetID="10" presetClass="entr" presetSubtype="0" fill="hold" nodeType="withEffect">
                                  <p:stCondLst>
                                    <p:cond delay="0"/>
                                  </p:stCondLst>
                                  <p:childTnLst>
                                    <p:set>
                                      <p:cBhvr>
                                        <p:cTn id="90" dur="1" fill="hold">
                                          <p:stCondLst>
                                            <p:cond delay="0"/>
                                          </p:stCondLst>
                                        </p:cTn>
                                        <p:tgtEl>
                                          <p:spTgt spid="4">
                                            <p:txEl>
                                              <p:pRg st="25" end="25"/>
                                            </p:txEl>
                                          </p:spTgt>
                                        </p:tgtEl>
                                        <p:attrNameLst>
                                          <p:attrName>style.visibility</p:attrName>
                                        </p:attrNameLst>
                                      </p:cBhvr>
                                      <p:to>
                                        <p:strVal val="visible"/>
                                      </p:to>
                                    </p:set>
                                    <p:animEffect transition="in" filter="fade">
                                      <p:cBhvr>
                                        <p:cTn id="91" dur="500"/>
                                        <p:tgtEl>
                                          <p:spTgt spid="4">
                                            <p:txEl>
                                              <p:pRg st="25" end="25"/>
                                            </p:txEl>
                                          </p:spTgt>
                                        </p:tgtEl>
                                      </p:cBhvr>
                                    </p:animEffect>
                                  </p:childTnLst>
                                </p:cTn>
                              </p:par>
                              <p:par>
                                <p:cTn id="92" presetID="10" presetClass="entr" presetSubtype="0" fill="hold" nodeType="withEffect">
                                  <p:stCondLst>
                                    <p:cond delay="0"/>
                                  </p:stCondLst>
                                  <p:childTnLst>
                                    <p:set>
                                      <p:cBhvr>
                                        <p:cTn id="93" dur="1" fill="hold">
                                          <p:stCondLst>
                                            <p:cond delay="0"/>
                                          </p:stCondLst>
                                        </p:cTn>
                                        <p:tgtEl>
                                          <p:spTgt spid="4">
                                            <p:txEl>
                                              <p:pRg st="26" end="26"/>
                                            </p:txEl>
                                          </p:spTgt>
                                        </p:tgtEl>
                                        <p:attrNameLst>
                                          <p:attrName>style.visibility</p:attrName>
                                        </p:attrNameLst>
                                      </p:cBhvr>
                                      <p:to>
                                        <p:strVal val="visible"/>
                                      </p:to>
                                    </p:set>
                                    <p:animEffect transition="in" filter="fade">
                                      <p:cBhvr>
                                        <p:cTn id="94" dur="500"/>
                                        <p:tgtEl>
                                          <p:spTgt spid="4">
                                            <p:txEl>
                                              <p:pRg st="26" end="26"/>
                                            </p:txEl>
                                          </p:spTgt>
                                        </p:tgtEl>
                                      </p:cBhvr>
                                    </p:animEffect>
                                  </p:childTnLst>
                                </p:cTn>
                              </p:par>
                              <p:par>
                                <p:cTn id="95" presetID="10" presetClass="entr" presetSubtype="0" fill="hold" nodeType="withEffect">
                                  <p:stCondLst>
                                    <p:cond delay="0"/>
                                  </p:stCondLst>
                                  <p:childTnLst>
                                    <p:set>
                                      <p:cBhvr>
                                        <p:cTn id="96" dur="1" fill="hold">
                                          <p:stCondLst>
                                            <p:cond delay="0"/>
                                          </p:stCondLst>
                                        </p:cTn>
                                        <p:tgtEl>
                                          <p:spTgt spid="4">
                                            <p:txEl>
                                              <p:pRg st="27" end="27"/>
                                            </p:txEl>
                                          </p:spTgt>
                                        </p:tgtEl>
                                        <p:attrNameLst>
                                          <p:attrName>style.visibility</p:attrName>
                                        </p:attrNameLst>
                                      </p:cBhvr>
                                      <p:to>
                                        <p:strVal val="visible"/>
                                      </p:to>
                                    </p:set>
                                    <p:animEffect transition="in" filter="fade">
                                      <p:cBhvr>
                                        <p:cTn id="97" dur="500"/>
                                        <p:tgtEl>
                                          <p:spTgt spid="4">
                                            <p:txEl>
                                              <p:pRg st="27" end="27"/>
                                            </p:txEl>
                                          </p:spTgt>
                                        </p:tgtEl>
                                      </p:cBhvr>
                                    </p:animEffect>
                                  </p:childTnLst>
                                </p:cTn>
                              </p:par>
                              <p:par>
                                <p:cTn id="98" presetID="10" presetClass="entr" presetSubtype="0" fill="hold" nodeType="withEffect">
                                  <p:stCondLst>
                                    <p:cond delay="0"/>
                                  </p:stCondLst>
                                  <p:childTnLst>
                                    <p:set>
                                      <p:cBhvr>
                                        <p:cTn id="99" dur="1" fill="hold">
                                          <p:stCondLst>
                                            <p:cond delay="0"/>
                                          </p:stCondLst>
                                        </p:cTn>
                                        <p:tgtEl>
                                          <p:spTgt spid="4">
                                            <p:txEl>
                                              <p:pRg st="28" end="28"/>
                                            </p:txEl>
                                          </p:spTgt>
                                        </p:tgtEl>
                                        <p:attrNameLst>
                                          <p:attrName>style.visibility</p:attrName>
                                        </p:attrNameLst>
                                      </p:cBhvr>
                                      <p:to>
                                        <p:strVal val="visible"/>
                                      </p:to>
                                    </p:set>
                                    <p:animEffect transition="in" filter="fade">
                                      <p:cBhvr>
                                        <p:cTn id="100" dur="500"/>
                                        <p:tgtEl>
                                          <p:spTgt spid="4">
                                            <p:txEl>
                                              <p:pRg st="28" end="28"/>
                                            </p:txEl>
                                          </p:spTgt>
                                        </p:tgtEl>
                                      </p:cBhvr>
                                    </p:animEffect>
                                  </p:childTnLst>
                                </p:cTn>
                              </p:par>
                              <p:par>
                                <p:cTn id="101" presetID="10" presetClass="entr" presetSubtype="0" fill="hold" nodeType="withEffect">
                                  <p:stCondLst>
                                    <p:cond delay="0"/>
                                  </p:stCondLst>
                                  <p:childTnLst>
                                    <p:set>
                                      <p:cBhvr>
                                        <p:cTn id="102" dur="1" fill="hold">
                                          <p:stCondLst>
                                            <p:cond delay="0"/>
                                          </p:stCondLst>
                                        </p:cTn>
                                        <p:tgtEl>
                                          <p:spTgt spid="4">
                                            <p:txEl>
                                              <p:pRg st="29" end="29"/>
                                            </p:txEl>
                                          </p:spTgt>
                                        </p:tgtEl>
                                        <p:attrNameLst>
                                          <p:attrName>style.visibility</p:attrName>
                                        </p:attrNameLst>
                                      </p:cBhvr>
                                      <p:to>
                                        <p:strVal val="visible"/>
                                      </p:to>
                                    </p:set>
                                    <p:animEffect transition="in" filter="fade">
                                      <p:cBhvr>
                                        <p:cTn id="103" dur="500"/>
                                        <p:tgtEl>
                                          <p:spTgt spid="4">
                                            <p:txEl>
                                              <p:pRg st="29" end="29"/>
                                            </p:txEl>
                                          </p:spTgt>
                                        </p:tgtEl>
                                      </p:cBhvr>
                                    </p:animEffect>
                                  </p:childTnLst>
                                </p:cTn>
                              </p:par>
                              <p:par>
                                <p:cTn id="104" presetID="10" presetClass="entr" presetSubtype="0" fill="hold" nodeType="withEffect">
                                  <p:stCondLst>
                                    <p:cond delay="0"/>
                                  </p:stCondLst>
                                  <p:childTnLst>
                                    <p:set>
                                      <p:cBhvr>
                                        <p:cTn id="105" dur="1" fill="hold">
                                          <p:stCondLst>
                                            <p:cond delay="0"/>
                                          </p:stCondLst>
                                        </p:cTn>
                                        <p:tgtEl>
                                          <p:spTgt spid="4">
                                            <p:txEl>
                                              <p:pRg st="30" end="30"/>
                                            </p:txEl>
                                          </p:spTgt>
                                        </p:tgtEl>
                                        <p:attrNameLst>
                                          <p:attrName>style.visibility</p:attrName>
                                        </p:attrNameLst>
                                      </p:cBhvr>
                                      <p:to>
                                        <p:strVal val="visible"/>
                                      </p:to>
                                    </p:set>
                                    <p:animEffect transition="in" filter="fade">
                                      <p:cBhvr>
                                        <p:cTn id="106" dur="500"/>
                                        <p:tgtEl>
                                          <p:spTgt spid="4">
                                            <p:txEl>
                                              <p:pRg st="30" end="30"/>
                                            </p:txEl>
                                          </p:spTgt>
                                        </p:tgtEl>
                                      </p:cBhvr>
                                    </p:animEffect>
                                  </p:childTnLst>
                                </p:cTn>
                              </p:par>
                              <p:par>
                                <p:cTn id="107" presetID="10" presetClass="entr" presetSubtype="0" fill="hold" nodeType="withEffect">
                                  <p:stCondLst>
                                    <p:cond delay="0"/>
                                  </p:stCondLst>
                                  <p:childTnLst>
                                    <p:set>
                                      <p:cBhvr>
                                        <p:cTn id="108" dur="1" fill="hold">
                                          <p:stCondLst>
                                            <p:cond delay="0"/>
                                          </p:stCondLst>
                                        </p:cTn>
                                        <p:tgtEl>
                                          <p:spTgt spid="4">
                                            <p:txEl>
                                              <p:pRg st="31" end="31"/>
                                            </p:txEl>
                                          </p:spTgt>
                                        </p:tgtEl>
                                        <p:attrNameLst>
                                          <p:attrName>style.visibility</p:attrName>
                                        </p:attrNameLst>
                                      </p:cBhvr>
                                      <p:to>
                                        <p:strVal val="visible"/>
                                      </p:to>
                                    </p:set>
                                    <p:animEffect transition="in" filter="fade">
                                      <p:cBhvr>
                                        <p:cTn id="109" dur="500"/>
                                        <p:tgtEl>
                                          <p:spTgt spid="4">
                                            <p:txEl>
                                              <p:pRg st="31" end="31"/>
                                            </p:txEl>
                                          </p:spTgt>
                                        </p:tgtEl>
                                      </p:cBhvr>
                                    </p:animEffect>
                                  </p:childTnLst>
                                </p:cTn>
                              </p:par>
                              <p:par>
                                <p:cTn id="110" presetID="10" presetClass="entr" presetSubtype="0" fill="hold" nodeType="withEffect">
                                  <p:stCondLst>
                                    <p:cond delay="0"/>
                                  </p:stCondLst>
                                  <p:childTnLst>
                                    <p:set>
                                      <p:cBhvr>
                                        <p:cTn id="111" dur="1" fill="hold">
                                          <p:stCondLst>
                                            <p:cond delay="0"/>
                                          </p:stCondLst>
                                        </p:cTn>
                                        <p:tgtEl>
                                          <p:spTgt spid="4">
                                            <p:txEl>
                                              <p:pRg st="32" end="32"/>
                                            </p:txEl>
                                          </p:spTgt>
                                        </p:tgtEl>
                                        <p:attrNameLst>
                                          <p:attrName>style.visibility</p:attrName>
                                        </p:attrNameLst>
                                      </p:cBhvr>
                                      <p:to>
                                        <p:strVal val="visible"/>
                                      </p:to>
                                    </p:set>
                                    <p:animEffect transition="in" filter="fade">
                                      <p:cBhvr>
                                        <p:cTn id="112" dur="500"/>
                                        <p:tgtEl>
                                          <p:spTgt spid="4">
                                            <p:txEl>
                                              <p:pRg st="32" end="32"/>
                                            </p:txEl>
                                          </p:spTgt>
                                        </p:tgtEl>
                                      </p:cBhvr>
                                    </p:animEffect>
                                  </p:childTnLst>
                                </p:cTn>
                              </p:par>
                              <p:par>
                                <p:cTn id="113" presetID="10" presetClass="entr" presetSubtype="0" fill="hold" nodeType="withEffect">
                                  <p:stCondLst>
                                    <p:cond delay="0"/>
                                  </p:stCondLst>
                                  <p:childTnLst>
                                    <p:set>
                                      <p:cBhvr>
                                        <p:cTn id="114" dur="1" fill="hold">
                                          <p:stCondLst>
                                            <p:cond delay="0"/>
                                          </p:stCondLst>
                                        </p:cTn>
                                        <p:tgtEl>
                                          <p:spTgt spid="4">
                                            <p:txEl>
                                              <p:pRg st="33" end="33"/>
                                            </p:txEl>
                                          </p:spTgt>
                                        </p:tgtEl>
                                        <p:attrNameLst>
                                          <p:attrName>style.visibility</p:attrName>
                                        </p:attrNameLst>
                                      </p:cBhvr>
                                      <p:to>
                                        <p:strVal val="visible"/>
                                      </p:to>
                                    </p:set>
                                    <p:animEffect transition="in" filter="fade">
                                      <p:cBhvr>
                                        <p:cTn id="115" dur="500"/>
                                        <p:tgtEl>
                                          <p:spTgt spid="4">
                                            <p:txEl>
                                              <p:pRg st="33" end="33"/>
                                            </p:txEl>
                                          </p:spTgt>
                                        </p:tgtEl>
                                      </p:cBhvr>
                                    </p:animEffect>
                                  </p:childTnLst>
                                </p:cTn>
                              </p:par>
                              <p:par>
                                <p:cTn id="116" presetID="10" presetClass="entr" presetSubtype="0" fill="hold" nodeType="withEffect">
                                  <p:stCondLst>
                                    <p:cond delay="0"/>
                                  </p:stCondLst>
                                  <p:childTnLst>
                                    <p:set>
                                      <p:cBhvr>
                                        <p:cTn id="117" dur="1" fill="hold">
                                          <p:stCondLst>
                                            <p:cond delay="0"/>
                                          </p:stCondLst>
                                        </p:cTn>
                                        <p:tgtEl>
                                          <p:spTgt spid="4">
                                            <p:txEl>
                                              <p:pRg st="34" end="34"/>
                                            </p:txEl>
                                          </p:spTgt>
                                        </p:tgtEl>
                                        <p:attrNameLst>
                                          <p:attrName>style.visibility</p:attrName>
                                        </p:attrNameLst>
                                      </p:cBhvr>
                                      <p:to>
                                        <p:strVal val="visible"/>
                                      </p:to>
                                    </p:set>
                                    <p:animEffect transition="in" filter="fade">
                                      <p:cBhvr>
                                        <p:cTn id="118" dur="500"/>
                                        <p:tgtEl>
                                          <p:spTgt spid="4">
                                            <p:txEl>
                                              <p:pRg st="34" end="34"/>
                                            </p:txEl>
                                          </p:spTgt>
                                        </p:tgtEl>
                                      </p:cBhvr>
                                    </p:animEffect>
                                  </p:childTnLst>
                                </p:cTn>
                              </p:par>
                              <p:par>
                                <p:cTn id="119" presetID="10" presetClass="entr" presetSubtype="0" fill="hold" nodeType="withEffect">
                                  <p:stCondLst>
                                    <p:cond delay="0"/>
                                  </p:stCondLst>
                                  <p:childTnLst>
                                    <p:set>
                                      <p:cBhvr>
                                        <p:cTn id="120" dur="1" fill="hold">
                                          <p:stCondLst>
                                            <p:cond delay="0"/>
                                          </p:stCondLst>
                                        </p:cTn>
                                        <p:tgtEl>
                                          <p:spTgt spid="4">
                                            <p:txEl>
                                              <p:pRg st="36" end="36"/>
                                            </p:txEl>
                                          </p:spTgt>
                                        </p:tgtEl>
                                        <p:attrNameLst>
                                          <p:attrName>style.visibility</p:attrName>
                                        </p:attrNameLst>
                                      </p:cBhvr>
                                      <p:to>
                                        <p:strVal val="visible"/>
                                      </p:to>
                                    </p:set>
                                    <p:animEffect transition="in" filter="fade">
                                      <p:cBhvr>
                                        <p:cTn id="121" dur="500"/>
                                        <p:tgtEl>
                                          <p:spTgt spid="4">
                                            <p:txEl>
                                              <p:pRg st="36" end="36"/>
                                            </p:txEl>
                                          </p:spTgt>
                                        </p:tgtEl>
                                      </p:cBhvr>
                                    </p:animEffect>
                                  </p:childTnLst>
                                </p:cTn>
                              </p:par>
                              <p:par>
                                <p:cTn id="122" presetID="10" presetClass="entr" presetSubtype="0" fill="hold" nodeType="withEffect">
                                  <p:stCondLst>
                                    <p:cond delay="0"/>
                                  </p:stCondLst>
                                  <p:childTnLst>
                                    <p:set>
                                      <p:cBhvr>
                                        <p:cTn id="123" dur="1" fill="hold">
                                          <p:stCondLst>
                                            <p:cond delay="0"/>
                                          </p:stCondLst>
                                        </p:cTn>
                                        <p:tgtEl>
                                          <p:spTgt spid="4">
                                            <p:txEl>
                                              <p:pRg st="37" end="37"/>
                                            </p:txEl>
                                          </p:spTgt>
                                        </p:tgtEl>
                                        <p:attrNameLst>
                                          <p:attrName>style.visibility</p:attrName>
                                        </p:attrNameLst>
                                      </p:cBhvr>
                                      <p:to>
                                        <p:strVal val="visible"/>
                                      </p:to>
                                    </p:set>
                                    <p:animEffect transition="in" filter="fade">
                                      <p:cBhvr>
                                        <p:cTn id="124" dur="500"/>
                                        <p:tgtEl>
                                          <p:spTgt spid="4">
                                            <p:txEl>
                                              <p:pRg st="37" end="37"/>
                                            </p:txEl>
                                          </p:spTgt>
                                        </p:tgtEl>
                                      </p:cBhvr>
                                    </p:animEffect>
                                  </p:childTnLst>
                                </p:cTn>
                              </p:par>
                              <p:par>
                                <p:cTn id="125" presetID="10" presetClass="entr" presetSubtype="0" fill="hold" nodeType="withEffect">
                                  <p:stCondLst>
                                    <p:cond delay="0"/>
                                  </p:stCondLst>
                                  <p:childTnLst>
                                    <p:set>
                                      <p:cBhvr>
                                        <p:cTn id="126" dur="1" fill="hold">
                                          <p:stCondLst>
                                            <p:cond delay="0"/>
                                          </p:stCondLst>
                                        </p:cTn>
                                        <p:tgtEl>
                                          <p:spTgt spid="4">
                                            <p:txEl>
                                              <p:pRg st="38" end="38"/>
                                            </p:txEl>
                                          </p:spTgt>
                                        </p:tgtEl>
                                        <p:attrNameLst>
                                          <p:attrName>style.visibility</p:attrName>
                                        </p:attrNameLst>
                                      </p:cBhvr>
                                      <p:to>
                                        <p:strVal val="visible"/>
                                      </p:to>
                                    </p:set>
                                    <p:animEffect transition="in" filter="fade">
                                      <p:cBhvr>
                                        <p:cTn id="127" dur="500"/>
                                        <p:tgtEl>
                                          <p:spTgt spid="4">
                                            <p:txEl>
                                              <p:pRg st="38" end="38"/>
                                            </p:txEl>
                                          </p:spTgt>
                                        </p:tgtEl>
                                      </p:cBhvr>
                                    </p:animEffect>
                                  </p:childTnLst>
                                </p:cTn>
                              </p:par>
                              <p:par>
                                <p:cTn id="128" presetID="10" presetClass="entr" presetSubtype="0" fill="hold" nodeType="withEffect">
                                  <p:stCondLst>
                                    <p:cond delay="0"/>
                                  </p:stCondLst>
                                  <p:childTnLst>
                                    <p:set>
                                      <p:cBhvr>
                                        <p:cTn id="129" dur="1" fill="hold">
                                          <p:stCondLst>
                                            <p:cond delay="0"/>
                                          </p:stCondLst>
                                        </p:cTn>
                                        <p:tgtEl>
                                          <p:spTgt spid="4">
                                            <p:txEl>
                                              <p:pRg st="39" end="39"/>
                                            </p:txEl>
                                          </p:spTgt>
                                        </p:tgtEl>
                                        <p:attrNameLst>
                                          <p:attrName>style.visibility</p:attrName>
                                        </p:attrNameLst>
                                      </p:cBhvr>
                                      <p:to>
                                        <p:strVal val="visible"/>
                                      </p:to>
                                    </p:set>
                                    <p:animEffect transition="in" filter="fade">
                                      <p:cBhvr>
                                        <p:cTn id="130" dur="500"/>
                                        <p:tgtEl>
                                          <p:spTgt spid="4">
                                            <p:txEl>
                                              <p:pRg st="39" end="39"/>
                                            </p:txEl>
                                          </p:spTgt>
                                        </p:tgtEl>
                                      </p:cBhvr>
                                    </p:animEffect>
                                  </p:childTnLst>
                                </p:cTn>
                              </p:par>
                              <p:par>
                                <p:cTn id="131" presetID="10" presetClass="entr" presetSubtype="0" fill="hold" nodeType="withEffect">
                                  <p:stCondLst>
                                    <p:cond delay="0"/>
                                  </p:stCondLst>
                                  <p:childTnLst>
                                    <p:set>
                                      <p:cBhvr>
                                        <p:cTn id="132" dur="1" fill="hold">
                                          <p:stCondLst>
                                            <p:cond delay="0"/>
                                          </p:stCondLst>
                                        </p:cTn>
                                        <p:tgtEl>
                                          <p:spTgt spid="4">
                                            <p:txEl>
                                              <p:pRg st="40" end="40"/>
                                            </p:txEl>
                                          </p:spTgt>
                                        </p:tgtEl>
                                        <p:attrNameLst>
                                          <p:attrName>style.visibility</p:attrName>
                                        </p:attrNameLst>
                                      </p:cBhvr>
                                      <p:to>
                                        <p:strVal val="visible"/>
                                      </p:to>
                                    </p:set>
                                    <p:animEffect transition="in" filter="fade">
                                      <p:cBhvr>
                                        <p:cTn id="133" dur="500"/>
                                        <p:tgtEl>
                                          <p:spTgt spid="4">
                                            <p:txEl>
                                              <p:pRg st="40" end="40"/>
                                            </p:txEl>
                                          </p:spTgt>
                                        </p:tgtEl>
                                      </p:cBhvr>
                                    </p:animEffect>
                                  </p:childTnLst>
                                </p:cTn>
                              </p:par>
                              <p:par>
                                <p:cTn id="134" presetID="10" presetClass="entr" presetSubtype="0" fill="hold" nodeType="withEffect">
                                  <p:stCondLst>
                                    <p:cond delay="0"/>
                                  </p:stCondLst>
                                  <p:childTnLst>
                                    <p:set>
                                      <p:cBhvr>
                                        <p:cTn id="135" dur="1" fill="hold">
                                          <p:stCondLst>
                                            <p:cond delay="0"/>
                                          </p:stCondLst>
                                        </p:cTn>
                                        <p:tgtEl>
                                          <p:spTgt spid="4">
                                            <p:txEl>
                                              <p:pRg st="41" end="41"/>
                                            </p:txEl>
                                          </p:spTgt>
                                        </p:tgtEl>
                                        <p:attrNameLst>
                                          <p:attrName>style.visibility</p:attrName>
                                        </p:attrNameLst>
                                      </p:cBhvr>
                                      <p:to>
                                        <p:strVal val="visible"/>
                                      </p:to>
                                    </p:set>
                                    <p:animEffect transition="in" filter="fade">
                                      <p:cBhvr>
                                        <p:cTn id="136" dur="500"/>
                                        <p:tgtEl>
                                          <p:spTgt spid="4">
                                            <p:txEl>
                                              <p:pRg st="41" end="41"/>
                                            </p:txEl>
                                          </p:spTgt>
                                        </p:tgtEl>
                                      </p:cBhvr>
                                    </p:animEffect>
                                  </p:childTnLst>
                                </p:cTn>
                              </p:par>
                            </p:childTnLst>
                          </p:cTn>
                        </p:par>
                      </p:childTnLst>
                    </p:cTn>
                  </p:par>
                  <p:par>
                    <p:cTn id="137" fill="hold">
                      <p:stCondLst>
                        <p:cond delay="indefinite"/>
                      </p:stCondLst>
                      <p:childTnLst>
                        <p:par>
                          <p:cTn id="138" fill="hold">
                            <p:stCondLst>
                              <p:cond delay="0"/>
                            </p:stCondLst>
                            <p:childTnLst>
                              <p:par>
                                <p:cTn id="139" presetID="10" presetClass="entr" presetSubtype="0" fill="hold" nodeType="clickEffect">
                                  <p:stCondLst>
                                    <p:cond delay="0"/>
                                  </p:stCondLst>
                                  <p:childTnLst>
                                    <p:set>
                                      <p:cBhvr>
                                        <p:cTn id="140" dur="1" fill="hold">
                                          <p:stCondLst>
                                            <p:cond delay="0"/>
                                          </p:stCondLst>
                                        </p:cTn>
                                        <p:tgtEl>
                                          <p:spTgt spid="4">
                                            <p:txEl>
                                              <p:pRg st="43" end="43"/>
                                            </p:txEl>
                                          </p:spTgt>
                                        </p:tgtEl>
                                        <p:attrNameLst>
                                          <p:attrName>style.visibility</p:attrName>
                                        </p:attrNameLst>
                                      </p:cBhvr>
                                      <p:to>
                                        <p:strVal val="visible"/>
                                      </p:to>
                                    </p:set>
                                    <p:animEffect transition="in" filter="fade">
                                      <p:cBhvr>
                                        <p:cTn id="141" dur="500"/>
                                        <p:tgtEl>
                                          <p:spTgt spid="4">
                                            <p:txEl>
                                              <p:pRg st="43" end="43"/>
                                            </p:txEl>
                                          </p:spTgt>
                                        </p:tgtEl>
                                      </p:cBhvr>
                                    </p:animEffect>
                                  </p:childTnLst>
                                </p:cTn>
                              </p:par>
                              <p:par>
                                <p:cTn id="142" presetID="10" presetClass="entr" presetSubtype="0" fill="hold" nodeType="withEffect">
                                  <p:stCondLst>
                                    <p:cond delay="0"/>
                                  </p:stCondLst>
                                  <p:childTnLst>
                                    <p:set>
                                      <p:cBhvr>
                                        <p:cTn id="143" dur="1" fill="hold">
                                          <p:stCondLst>
                                            <p:cond delay="0"/>
                                          </p:stCondLst>
                                        </p:cTn>
                                        <p:tgtEl>
                                          <p:spTgt spid="4">
                                            <p:txEl>
                                              <p:pRg st="44" end="44"/>
                                            </p:txEl>
                                          </p:spTgt>
                                        </p:tgtEl>
                                        <p:attrNameLst>
                                          <p:attrName>style.visibility</p:attrName>
                                        </p:attrNameLst>
                                      </p:cBhvr>
                                      <p:to>
                                        <p:strVal val="visible"/>
                                      </p:to>
                                    </p:set>
                                    <p:animEffect transition="in" filter="fade">
                                      <p:cBhvr>
                                        <p:cTn id="144" dur="500"/>
                                        <p:tgtEl>
                                          <p:spTgt spid="4">
                                            <p:txEl>
                                              <p:pRg st="44" end="44"/>
                                            </p:txEl>
                                          </p:spTgt>
                                        </p:tgtEl>
                                      </p:cBhvr>
                                    </p:animEffect>
                                  </p:childTnLst>
                                </p:cTn>
                              </p:par>
                              <p:par>
                                <p:cTn id="145" presetID="10" presetClass="entr" presetSubtype="0" fill="hold" nodeType="withEffect">
                                  <p:stCondLst>
                                    <p:cond delay="0"/>
                                  </p:stCondLst>
                                  <p:childTnLst>
                                    <p:set>
                                      <p:cBhvr>
                                        <p:cTn id="146" dur="1" fill="hold">
                                          <p:stCondLst>
                                            <p:cond delay="0"/>
                                          </p:stCondLst>
                                        </p:cTn>
                                        <p:tgtEl>
                                          <p:spTgt spid="4">
                                            <p:txEl>
                                              <p:pRg st="45" end="45"/>
                                            </p:txEl>
                                          </p:spTgt>
                                        </p:tgtEl>
                                        <p:attrNameLst>
                                          <p:attrName>style.visibility</p:attrName>
                                        </p:attrNameLst>
                                      </p:cBhvr>
                                      <p:to>
                                        <p:strVal val="visible"/>
                                      </p:to>
                                    </p:set>
                                    <p:animEffect transition="in" filter="fade">
                                      <p:cBhvr>
                                        <p:cTn id="147" dur="500"/>
                                        <p:tgtEl>
                                          <p:spTgt spid="4">
                                            <p:txEl>
                                              <p:pRg st="45" end="45"/>
                                            </p:txEl>
                                          </p:spTgt>
                                        </p:tgtEl>
                                      </p:cBhvr>
                                    </p:animEffect>
                                  </p:childTnLst>
                                </p:cTn>
                              </p:par>
                              <p:par>
                                <p:cTn id="148" presetID="10" presetClass="entr" presetSubtype="0" fill="hold" nodeType="withEffect">
                                  <p:stCondLst>
                                    <p:cond delay="0"/>
                                  </p:stCondLst>
                                  <p:childTnLst>
                                    <p:set>
                                      <p:cBhvr>
                                        <p:cTn id="149" dur="1" fill="hold">
                                          <p:stCondLst>
                                            <p:cond delay="0"/>
                                          </p:stCondLst>
                                        </p:cTn>
                                        <p:tgtEl>
                                          <p:spTgt spid="4">
                                            <p:txEl>
                                              <p:pRg st="46" end="46"/>
                                            </p:txEl>
                                          </p:spTgt>
                                        </p:tgtEl>
                                        <p:attrNameLst>
                                          <p:attrName>style.visibility</p:attrName>
                                        </p:attrNameLst>
                                      </p:cBhvr>
                                      <p:to>
                                        <p:strVal val="visible"/>
                                      </p:to>
                                    </p:set>
                                    <p:animEffect transition="in" filter="fade">
                                      <p:cBhvr>
                                        <p:cTn id="150" dur="500"/>
                                        <p:tgtEl>
                                          <p:spTgt spid="4">
                                            <p:txEl>
                                              <p:pRg st="46" end="46"/>
                                            </p:txEl>
                                          </p:spTgt>
                                        </p:tgtEl>
                                      </p:cBhvr>
                                    </p:animEffect>
                                  </p:childTnLst>
                                </p:cTn>
                              </p:par>
                              <p:par>
                                <p:cTn id="151" presetID="10" presetClass="entr" presetSubtype="0" fill="hold" nodeType="withEffect">
                                  <p:stCondLst>
                                    <p:cond delay="0"/>
                                  </p:stCondLst>
                                  <p:childTnLst>
                                    <p:set>
                                      <p:cBhvr>
                                        <p:cTn id="152" dur="1" fill="hold">
                                          <p:stCondLst>
                                            <p:cond delay="0"/>
                                          </p:stCondLst>
                                        </p:cTn>
                                        <p:tgtEl>
                                          <p:spTgt spid="4">
                                            <p:txEl>
                                              <p:pRg st="47" end="47"/>
                                            </p:txEl>
                                          </p:spTgt>
                                        </p:tgtEl>
                                        <p:attrNameLst>
                                          <p:attrName>style.visibility</p:attrName>
                                        </p:attrNameLst>
                                      </p:cBhvr>
                                      <p:to>
                                        <p:strVal val="visible"/>
                                      </p:to>
                                    </p:set>
                                    <p:animEffect transition="in" filter="fade">
                                      <p:cBhvr>
                                        <p:cTn id="153" dur="500"/>
                                        <p:tgtEl>
                                          <p:spTgt spid="4">
                                            <p:txEl>
                                              <p:pRg st="47" end="47"/>
                                            </p:txEl>
                                          </p:spTgt>
                                        </p:tgtEl>
                                      </p:cBhvr>
                                    </p:animEffect>
                                  </p:childTnLst>
                                </p:cTn>
                              </p:par>
                              <p:par>
                                <p:cTn id="154" presetID="10" presetClass="entr" presetSubtype="0" fill="hold" nodeType="withEffect">
                                  <p:stCondLst>
                                    <p:cond delay="0"/>
                                  </p:stCondLst>
                                  <p:childTnLst>
                                    <p:set>
                                      <p:cBhvr>
                                        <p:cTn id="155" dur="1" fill="hold">
                                          <p:stCondLst>
                                            <p:cond delay="0"/>
                                          </p:stCondLst>
                                        </p:cTn>
                                        <p:tgtEl>
                                          <p:spTgt spid="4">
                                            <p:txEl>
                                              <p:pRg st="48" end="48"/>
                                            </p:txEl>
                                          </p:spTgt>
                                        </p:tgtEl>
                                        <p:attrNameLst>
                                          <p:attrName>style.visibility</p:attrName>
                                        </p:attrNameLst>
                                      </p:cBhvr>
                                      <p:to>
                                        <p:strVal val="visible"/>
                                      </p:to>
                                    </p:set>
                                    <p:animEffect transition="in" filter="fade">
                                      <p:cBhvr>
                                        <p:cTn id="156" dur="500"/>
                                        <p:tgtEl>
                                          <p:spTgt spid="4">
                                            <p:txEl>
                                              <p:pRg st="48" end="48"/>
                                            </p:txEl>
                                          </p:spTgt>
                                        </p:tgtEl>
                                      </p:cBhvr>
                                    </p:animEffect>
                                  </p:childTnLst>
                                </p:cTn>
                              </p:par>
                              <p:par>
                                <p:cTn id="157" presetID="10" presetClass="entr" presetSubtype="0" fill="hold" nodeType="withEffect">
                                  <p:stCondLst>
                                    <p:cond delay="0"/>
                                  </p:stCondLst>
                                  <p:childTnLst>
                                    <p:set>
                                      <p:cBhvr>
                                        <p:cTn id="158" dur="1" fill="hold">
                                          <p:stCondLst>
                                            <p:cond delay="0"/>
                                          </p:stCondLst>
                                        </p:cTn>
                                        <p:tgtEl>
                                          <p:spTgt spid="4">
                                            <p:txEl>
                                              <p:pRg st="49" end="49"/>
                                            </p:txEl>
                                          </p:spTgt>
                                        </p:tgtEl>
                                        <p:attrNameLst>
                                          <p:attrName>style.visibility</p:attrName>
                                        </p:attrNameLst>
                                      </p:cBhvr>
                                      <p:to>
                                        <p:strVal val="visible"/>
                                      </p:to>
                                    </p:set>
                                    <p:animEffect transition="in" filter="fade">
                                      <p:cBhvr>
                                        <p:cTn id="159" dur="500"/>
                                        <p:tgtEl>
                                          <p:spTgt spid="4">
                                            <p:txEl>
                                              <p:pRg st="49" end="4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FF90AE5-4CF4-49A5-9FED-15A504CDC277}"/>
              </a:ext>
            </a:extLst>
          </p:cNvPr>
          <p:cNvPicPr>
            <a:picLocks noGrp="1" noChangeAspect="1"/>
          </p:cNvPicPr>
          <p:nvPr>
            <p:ph sz="quarter" idx="1"/>
          </p:nvPr>
        </p:nvPicPr>
        <p:blipFill>
          <a:blip r:embed="rId2"/>
          <a:stretch>
            <a:fillRect/>
          </a:stretch>
        </p:blipFill>
        <p:spPr>
          <a:xfrm>
            <a:off x="1225420" y="1406752"/>
            <a:ext cx="2838450" cy="3657600"/>
          </a:xfrm>
          <a:prstGeom prst="rect">
            <a:avLst/>
          </a:prstGeom>
        </p:spPr>
      </p:pic>
      <p:pic>
        <p:nvPicPr>
          <p:cNvPr id="5" name="Picture 4">
            <a:extLst>
              <a:ext uri="{FF2B5EF4-FFF2-40B4-BE49-F238E27FC236}">
                <a16:creationId xmlns:a16="http://schemas.microsoft.com/office/drawing/2014/main" id="{909AD33B-DEBC-4802-B9E8-54910E1C02DB}"/>
              </a:ext>
            </a:extLst>
          </p:cNvPr>
          <p:cNvPicPr>
            <a:picLocks noChangeAspect="1"/>
          </p:cNvPicPr>
          <p:nvPr/>
        </p:nvPicPr>
        <p:blipFill>
          <a:blip r:embed="rId3"/>
          <a:stretch>
            <a:fillRect/>
          </a:stretch>
        </p:blipFill>
        <p:spPr>
          <a:xfrm>
            <a:off x="4667250" y="1398588"/>
            <a:ext cx="2857500" cy="3724275"/>
          </a:xfrm>
          <a:prstGeom prst="rect">
            <a:avLst/>
          </a:prstGeom>
        </p:spPr>
      </p:pic>
      <p:pic>
        <p:nvPicPr>
          <p:cNvPr id="6" name="Picture 5">
            <a:extLst>
              <a:ext uri="{FF2B5EF4-FFF2-40B4-BE49-F238E27FC236}">
                <a16:creationId xmlns:a16="http://schemas.microsoft.com/office/drawing/2014/main" id="{E52B98EA-659A-4440-BE23-78DA3791230D}"/>
              </a:ext>
            </a:extLst>
          </p:cNvPr>
          <p:cNvPicPr>
            <a:picLocks noChangeAspect="1"/>
          </p:cNvPicPr>
          <p:nvPr/>
        </p:nvPicPr>
        <p:blipFill>
          <a:blip r:embed="rId4"/>
          <a:stretch>
            <a:fillRect/>
          </a:stretch>
        </p:blipFill>
        <p:spPr>
          <a:xfrm>
            <a:off x="8076617" y="1379538"/>
            <a:ext cx="2924175" cy="3743325"/>
          </a:xfrm>
          <a:prstGeom prst="rect">
            <a:avLst/>
          </a:prstGeom>
        </p:spPr>
      </p:pic>
      <p:pic>
        <p:nvPicPr>
          <p:cNvPr id="7" name="Picture 6">
            <a:extLst>
              <a:ext uri="{FF2B5EF4-FFF2-40B4-BE49-F238E27FC236}">
                <a16:creationId xmlns:a16="http://schemas.microsoft.com/office/drawing/2014/main" id="{51929638-8EEE-419F-9997-FA3918D03643}"/>
              </a:ext>
            </a:extLst>
          </p:cNvPr>
          <p:cNvPicPr>
            <a:picLocks noChangeAspect="1"/>
          </p:cNvPicPr>
          <p:nvPr/>
        </p:nvPicPr>
        <p:blipFill>
          <a:blip r:embed="rId5"/>
          <a:stretch>
            <a:fillRect/>
          </a:stretch>
        </p:blipFill>
        <p:spPr>
          <a:xfrm>
            <a:off x="381000" y="141314"/>
            <a:ext cx="937341" cy="593988"/>
          </a:xfrm>
          <a:prstGeom prst="rect">
            <a:avLst/>
          </a:prstGeom>
        </p:spPr>
      </p:pic>
      <p:sp>
        <p:nvSpPr>
          <p:cNvPr id="8" name="Title 1">
            <a:extLst>
              <a:ext uri="{FF2B5EF4-FFF2-40B4-BE49-F238E27FC236}">
                <a16:creationId xmlns:a16="http://schemas.microsoft.com/office/drawing/2014/main" id="{067543D7-E332-4EBA-89AB-2796C6DD9254}"/>
              </a:ext>
            </a:extLst>
          </p:cNvPr>
          <p:cNvSpPr txBox="1">
            <a:spLocks/>
          </p:cNvSpPr>
          <p:nvPr/>
        </p:nvSpPr>
        <p:spPr>
          <a:xfrm>
            <a:off x="1447800" y="153754"/>
            <a:ext cx="10287000" cy="6844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lnSpcReduction="1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highlight>
                  <a:srgbClr val="FFFF00"/>
                </a:highlight>
                <a:uLnTx/>
                <a:uFillTx/>
                <a:latin typeface="Perpetua"/>
                <a:ea typeface="+mn-ea"/>
                <a:cs typeface="+mn-cs"/>
              </a:rPr>
              <a:t>Passing a Parameter to Applet </a:t>
            </a:r>
            <a:endParaRPr kumimoji="0" lang="en-US" sz="3600" b="0" i="0" u="none" strike="noStrike" kern="1200" cap="none" spc="0" normalizeH="0" baseline="0" noProof="0" dirty="0">
              <a:ln>
                <a:noFill/>
              </a:ln>
              <a:solidFill>
                <a:prstClr val="black"/>
              </a:solidFill>
              <a:effectLst/>
              <a:highlight>
                <a:srgbClr val="FFFF00"/>
              </a:highlight>
              <a:uLnTx/>
              <a:uFillTx/>
              <a:latin typeface="Perpetua"/>
              <a:ea typeface="+mn-ea"/>
              <a:cs typeface="+mn-cs"/>
            </a:endParaRPr>
          </a:p>
        </p:txBody>
      </p:sp>
    </p:spTree>
    <p:extLst>
      <p:ext uri="{BB962C8B-B14F-4D97-AF65-F5344CB8AC3E}">
        <p14:creationId xmlns:p14="http://schemas.microsoft.com/office/powerpoint/2010/main" val="3056804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3400" y="1295400"/>
            <a:ext cx="10668000" cy="2133600"/>
          </a:xfrm>
        </p:spPr>
        <p:style>
          <a:lnRef idx="2">
            <a:schemeClr val="dk1"/>
          </a:lnRef>
          <a:fillRef idx="1">
            <a:schemeClr val="lt1"/>
          </a:fillRef>
          <a:effectRef idx="0">
            <a:schemeClr val="dk1"/>
          </a:effectRef>
          <a:fontRef idx="minor">
            <a:schemeClr val="dk1"/>
          </a:fontRef>
        </p:style>
        <p:txBody>
          <a:bodyPr>
            <a:normAutofit fontScale="92500"/>
          </a:bodyPr>
          <a:lstStyle/>
          <a:p>
            <a:pPr lvl="0" algn="just"/>
            <a:endParaRPr lang="en-US" sz="2000" dirty="0">
              <a:highlight>
                <a:srgbClr val="FFFF00"/>
              </a:highlight>
              <a:latin typeface="Comic Sans MS" pitchFamily="66" charset="0"/>
            </a:endParaRPr>
          </a:p>
          <a:p>
            <a:pPr lvl="0" algn="just"/>
            <a:r>
              <a:rPr lang="en-US" sz="2000" dirty="0">
                <a:highlight>
                  <a:srgbClr val="FFFF00"/>
                </a:highlight>
                <a:latin typeface="Comic Sans MS" pitchFamily="66" charset="0"/>
              </a:rPr>
              <a:t>Create an applet with three text fields and four buttons add, </a:t>
            </a:r>
            <a:r>
              <a:rPr lang="en-US" sz="2000" dirty="0" err="1">
                <a:highlight>
                  <a:srgbClr val="FFFF00"/>
                </a:highlight>
                <a:latin typeface="Comic Sans MS" pitchFamily="66" charset="0"/>
              </a:rPr>
              <a:t>substract</a:t>
            </a:r>
            <a:r>
              <a:rPr lang="en-US" sz="2000" dirty="0">
                <a:highlight>
                  <a:srgbClr val="FFFF00"/>
                </a:highlight>
                <a:latin typeface="Comic Sans MS" pitchFamily="66" charset="0"/>
              </a:rPr>
              <a:t>, multiply and divide. User will enter two values in the Text Fields. When any button is pressed, the corresponding operation is performed and the results is displayed in the third text fields.</a:t>
            </a:r>
          </a:p>
          <a:p>
            <a:pPr lvl="0" algn="just"/>
            <a:endParaRPr lang="en-US" sz="2000" dirty="0">
              <a:highlight>
                <a:srgbClr val="FFFF00"/>
              </a:highlight>
              <a:latin typeface="Comic Sans MS" pitchFamily="66" charset="0"/>
            </a:endParaRPr>
          </a:p>
          <a:p>
            <a:pPr lvl="0" algn="just"/>
            <a:r>
              <a:rPr lang="en-US" sz="2000" dirty="0">
                <a:highlight>
                  <a:srgbClr val="FFFF00"/>
                </a:highlight>
                <a:latin typeface="Comic Sans MS" pitchFamily="66" charset="0"/>
              </a:rPr>
              <a:t>Assignment Deadline :-</a:t>
            </a:r>
          </a:p>
          <a:p>
            <a:pPr algn="just">
              <a:buNone/>
            </a:pPr>
            <a:endParaRPr lang="en-US" sz="2000" dirty="0">
              <a:latin typeface="Comic Sans MS" pitchFamily="66" charset="0"/>
            </a:endParaRPr>
          </a:p>
        </p:txBody>
      </p:sp>
      <p:pic>
        <p:nvPicPr>
          <p:cNvPr id="9" name="Picture 8">
            <a:extLst>
              <a:ext uri="{FF2B5EF4-FFF2-40B4-BE49-F238E27FC236}">
                <a16:creationId xmlns:a16="http://schemas.microsoft.com/office/drawing/2014/main" id="{482C9401-F65F-48D7-98B5-AF377FB28D6F}"/>
              </a:ext>
            </a:extLst>
          </p:cNvPr>
          <p:cNvPicPr>
            <a:picLocks noChangeAspect="1"/>
          </p:cNvPicPr>
          <p:nvPr/>
        </p:nvPicPr>
        <p:blipFill>
          <a:blip r:embed="rId2"/>
          <a:stretch>
            <a:fillRect/>
          </a:stretch>
        </p:blipFill>
        <p:spPr>
          <a:xfrm>
            <a:off x="381000" y="161361"/>
            <a:ext cx="937341" cy="646786"/>
          </a:xfrm>
          <a:prstGeom prst="rect">
            <a:avLst/>
          </a:prstGeom>
        </p:spPr>
      </p:pic>
      <p:sp>
        <p:nvSpPr>
          <p:cNvPr id="10" name="Title 1">
            <a:extLst>
              <a:ext uri="{FF2B5EF4-FFF2-40B4-BE49-F238E27FC236}">
                <a16:creationId xmlns:a16="http://schemas.microsoft.com/office/drawing/2014/main" id="{DF8FA20B-2DC3-4081-A7A5-16D80A32F67B}"/>
              </a:ext>
            </a:extLst>
          </p:cNvPr>
          <p:cNvSpPr txBox="1">
            <a:spLocks/>
          </p:cNvSpPr>
          <p:nvPr/>
        </p:nvSpPr>
        <p:spPr>
          <a:xfrm>
            <a:off x="1539551" y="161361"/>
            <a:ext cx="10287000" cy="646786"/>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lnSpcReduction="1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3600" dirty="0">
                <a:solidFill>
                  <a:schemeClr val="tx1"/>
                </a:solidFill>
              </a:rPr>
              <a:t>Unit No.5, Part III Assignment No. </a:t>
            </a:r>
            <a:endParaRPr lang="en-US" sz="3600" dirty="0">
              <a:solidFill>
                <a:schemeClr val="bg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6384F-4873-4FB5-846B-CD0260638789}"/>
              </a:ext>
            </a:extLst>
          </p:cNvPr>
          <p:cNvSpPr>
            <a:spLocks noGrp="1"/>
          </p:cNvSpPr>
          <p:nvPr>
            <p:ph type="title"/>
          </p:nvPr>
        </p:nvSpPr>
        <p:spPr/>
        <p:txBody>
          <a:bodyPr/>
          <a:lstStyle/>
          <a:p>
            <a:endParaRPr lang="en-IN" dirty="0"/>
          </a:p>
        </p:txBody>
      </p:sp>
      <p:sp>
        <p:nvSpPr>
          <p:cNvPr id="4" name="Title 1">
            <a:extLst>
              <a:ext uri="{FF2B5EF4-FFF2-40B4-BE49-F238E27FC236}">
                <a16:creationId xmlns:a16="http://schemas.microsoft.com/office/drawing/2014/main" id="{2CFFB715-AA38-4F37-8FA3-490872AD7183}"/>
              </a:ext>
            </a:extLst>
          </p:cNvPr>
          <p:cNvSpPr txBox="1">
            <a:spLocks/>
          </p:cNvSpPr>
          <p:nvPr/>
        </p:nvSpPr>
        <p:spPr>
          <a:xfrm>
            <a:off x="1219200" y="1828800"/>
            <a:ext cx="10363200" cy="1447800"/>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dk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dk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dk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dk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dk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dk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dk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dk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dk1"/>
                </a:solidFill>
                <a:latin typeface="+mn-lt"/>
                <a:ea typeface="+mn-ea"/>
                <a:cs typeface="+mn-cs"/>
              </a:defRPr>
            </a:lvl9pPr>
          </a:lstStyle>
          <a:p>
            <a:pPr marL="0" indent="0" algn="ctr">
              <a:buFont typeface="Wingdings 2"/>
              <a:buNone/>
            </a:pPr>
            <a:r>
              <a:rPr lang="en-US" sz="4000" b="1" dirty="0"/>
              <a:t>UNIT :- V</a:t>
            </a:r>
          </a:p>
          <a:p>
            <a:pPr marL="0" indent="0" algn="ctr">
              <a:buFont typeface="Wingdings 2"/>
              <a:buNone/>
            </a:pPr>
            <a:r>
              <a:rPr lang="en-US" sz="4000" dirty="0">
                <a:highlight>
                  <a:srgbClr val="FFFF00"/>
                </a:highlight>
              </a:rPr>
              <a:t>Exception Handling , Multithreading, Applet</a:t>
            </a:r>
          </a:p>
        </p:txBody>
      </p:sp>
      <p:sp>
        <p:nvSpPr>
          <p:cNvPr id="5" name="Title 1">
            <a:extLst>
              <a:ext uri="{FF2B5EF4-FFF2-40B4-BE49-F238E27FC236}">
                <a16:creationId xmlns:a16="http://schemas.microsoft.com/office/drawing/2014/main" id="{EF7909CC-FDA4-47A2-9674-600781EE9C5B}"/>
              </a:ext>
            </a:extLst>
          </p:cNvPr>
          <p:cNvSpPr txBox="1">
            <a:spLocks/>
          </p:cNvSpPr>
          <p:nvPr/>
        </p:nvSpPr>
        <p:spPr>
          <a:xfrm>
            <a:off x="3429000" y="448516"/>
            <a:ext cx="7002634" cy="715964"/>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vert="horz">
            <a:normAutofit fontScale="85000" lnSpcReduction="10000"/>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dk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dk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dk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dk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dk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dk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dk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dk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580"/>
              </a:spcBef>
              <a:spcAft>
                <a:spcPts val="0"/>
              </a:spcAft>
              <a:buClr>
                <a:srgbClr val="D34817"/>
              </a:buClr>
              <a:buSzPct val="85000"/>
              <a:buFont typeface="Wingdings 2"/>
              <a:buNone/>
              <a:tabLst/>
              <a:defRPr/>
            </a:pPr>
            <a:r>
              <a:rPr lang="en-US" sz="4000" b="1" dirty="0">
                <a:solidFill>
                  <a:prstClr val="black"/>
                </a:solidFill>
                <a:highlight>
                  <a:srgbClr val="66FFCC"/>
                </a:highlight>
                <a:latin typeface="Perpetua"/>
              </a:rPr>
              <a:t>Fundamental of JAVA</a:t>
            </a:r>
            <a:r>
              <a:rPr kumimoji="0" lang="en-US" sz="4000" b="1" i="0" u="none" strike="noStrike" kern="1200" cap="none" spc="0" normalizeH="0" baseline="0" noProof="0" dirty="0">
                <a:ln>
                  <a:noFill/>
                </a:ln>
                <a:solidFill>
                  <a:prstClr val="black"/>
                </a:solidFill>
                <a:effectLst/>
                <a:highlight>
                  <a:srgbClr val="66FFCC"/>
                </a:highlight>
                <a:uLnTx/>
                <a:uFillTx/>
                <a:latin typeface="Perpetua"/>
                <a:ea typeface="+mn-ea"/>
                <a:cs typeface="+mn-cs"/>
              </a:rPr>
              <a:t> Programming </a:t>
            </a:r>
            <a:endParaRPr kumimoji="0" lang="en-US" sz="4000" b="0" i="0" u="none" strike="noStrike" kern="1200" cap="none" spc="0" normalizeH="0" baseline="0" noProof="0" dirty="0">
              <a:ln>
                <a:noFill/>
              </a:ln>
              <a:solidFill>
                <a:prstClr val="black"/>
              </a:solidFill>
              <a:effectLst/>
              <a:highlight>
                <a:srgbClr val="66FFCC"/>
              </a:highlight>
              <a:uLnTx/>
              <a:uFillTx/>
              <a:latin typeface="Perpetua"/>
              <a:ea typeface="+mn-ea"/>
              <a:cs typeface="+mn-cs"/>
            </a:endParaRPr>
          </a:p>
        </p:txBody>
      </p:sp>
      <p:pic>
        <p:nvPicPr>
          <p:cNvPr id="6" name="Picture 5">
            <a:extLst>
              <a:ext uri="{FF2B5EF4-FFF2-40B4-BE49-F238E27FC236}">
                <a16:creationId xmlns:a16="http://schemas.microsoft.com/office/drawing/2014/main" id="{41DDF156-E00E-408F-8BE2-D0A0A0609E5E}"/>
              </a:ext>
            </a:extLst>
          </p:cNvPr>
          <p:cNvPicPr>
            <a:picLocks noChangeAspect="1"/>
          </p:cNvPicPr>
          <p:nvPr/>
        </p:nvPicPr>
        <p:blipFill>
          <a:blip r:embed="rId2"/>
          <a:stretch>
            <a:fillRect/>
          </a:stretch>
        </p:blipFill>
        <p:spPr>
          <a:xfrm>
            <a:off x="1447800" y="296409"/>
            <a:ext cx="1318341" cy="1280017"/>
          </a:xfrm>
          <a:prstGeom prst="rect">
            <a:avLst/>
          </a:prstGeom>
        </p:spPr>
      </p:pic>
      <p:sp>
        <p:nvSpPr>
          <p:cNvPr id="7" name="Title 1">
            <a:extLst>
              <a:ext uri="{FF2B5EF4-FFF2-40B4-BE49-F238E27FC236}">
                <a16:creationId xmlns:a16="http://schemas.microsoft.com/office/drawing/2014/main" id="{93CAA07E-9F97-4A1E-A431-30EEB5758AA3}"/>
              </a:ext>
            </a:extLst>
          </p:cNvPr>
          <p:cNvSpPr txBox="1">
            <a:spLocks noGrp="1"/>
          </p:cNvSpPr>
          <p:nvPr>
            <p:ph sz="quarter" idx="1"/>
          </p:nvPr>
        </p:nvSpPr>
        <p:spPr>
          <a:xfrm>
            <a:off x="1219200" y="4495800"/>
            <a:ext cx="10363200" cy="1524000"/>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vert="horz">
            <a:norm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dk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dk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dk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dk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dk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dk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dk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dk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dk1"/>
                </a:solidFill>
                <a:latin typeface="+mn-lt"/>
                <a:ea typeface="+mn-ea"/>
                <a:cs typeface="+mn-cs"/>
              </a:defRPr>
            </a:lvl9pPr>
          </a:lstStyle>
          <a:p>
            <a:pPr marL="0" indent="0" algn="ctr">
              <a:buFont typeface="Wingdings 2"/>
              <a:buNone/>
            </a:pPr>
            <a:r>
              <a:rPr lang="en-US" sz="4000" b="1" dirty="0"/>
              <a:t>Topic </a:t>
            </a:r>
          </a:p>
          <a:p>
            <a:pPr marL="0" indent="0" algn="ctr">
              <a:buFont typeface="Wingdings 2"/>
              <a:buNone/>
            </a:pPr>
            <a:r>
              <a:rPr lang="en-US" sz="4000" dirty="0">
                <a:highlight>
                  <a:srgbClr val="FFFF00"/>
                </a:highlight>
              </a:rPr>
              <a:t>Multithreading</a:t>
            </a:r>
          </a:p>
        </p:txBody>
      </p:sp>
    </p:spTree>
    <p:extLst>
      <p:ext uri="{BB962C8B-B14F-4D97-AF65-F5344CB8AC3E}">
        <p14:creationId xmlns:p14="http://schemas.microsoft.com/office/powerpoint/2010/main" val="32566917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71500" y="1219200"/>
            <a:ext cx="11049000" cy="4876800"/>
          </a:xfrm>
        </p:spPr>
        <p:style>
          <a:lnRef idx="2">
            <a:schemeClr val="accent1"/>
          </a:lnRef>
          <a:fillRef idx="1">
            <a:schemeClr val="lt1"/>
          </a:fillRef>
          <a:effectRef idx="0">
            <a:schemeClr val="accent1"/>
          </a:effectRef>
          <a:fontRef idx="minor">
            <a:schemeClr val="dk1"/>
          </a:fontRef>
        </p:style>
        <p:txBody>
          <a:bodyPr/>
          <a:lstStyle/>
          <a:p>
            <a:r>
              <a:rPr lang="en-US" sz="2800" dirty="0">
                <a:highlight>
                  <a:srgbClr val="00FFFF"/>
                </a:highlight>
              </a:rPr>
              <a:t>Multitasking </a:t>
            </a:r>
            <a:r>
              <a:rPr lang="en-US" sz="2800" dirty="0"/>
              <a:t>:- Whenever system can </a:t>
            </a:r>
            <a:r>
              <a:rPr lang="en-US" sz="2800" dirty="0">
                <a:highlight>
                  <a:srgbClr val="FFFF00"/>
                </a:highlight>
              </a:rPr>
              <a:t>execute the several task simultaneously, </a:t>
            </a:r>
            <a:r>
              <a:rPr lang="en-US" sz="2800" dirty="0"/>
              <a:t>then this ability called as Multitasking </a:t>
            </a:r>
          </a:p>
          <a:p>
            <a:r>
              <a:rPr lang="en-US" sz="2800" dirty="0"/>
              <a:t>In programming terminology it is called as multithreading</a:t>
            </a:r>
          </a:p>
          <a:p>
            <a:r>
              <a:rPr lang="en-US" sz="2800" dirty="0">
                <a:highlight>
                  <a:srgbClr val="00FFFF"/>
                </a:highlight>
              </a:rPr>
              <a:t>Multithreading</a:t>
            </a:r>
            <a:r>
              <a:rPr lang="en-US" sz="2800" dirty="0"/>
              <a:t> :- It is a conceptual programming paradigm </a:t>
            </a:r>
            <a:r>
              <a:rPr lang="en-US" sz="2800" dirty="0">
                <a:highlight>
                  <a:srgbClr val="00FF00"/>
                </a:highlight>
              </a:rPr>
              <a:t>where a program is divided into two or more subprograms, which can be implemented at the same time in parallel.</a:t>
            </a:r>
          </a:p>
          <a:p>
            <a:r>
              <a:rPr lang="en-US" sz="2800" dirty="0"/>
              <a:t>Example:- One subprogram can display an animation on the screen while another may build the next animation to be displayed</a:t>
            </a:r>
          </a:p>
          <a:p>
            <a:r>
              <a:rPr lang="en-US" sz="2800" dirty="0"/>
              <a:t>Similar to dividing a task into subtasks and assigning them to different people for execution independently and simultaneously.</a:t>
            </a:r>
          </a:p>
          <a:p>
            <a:endParaRPr lang="en-US" dirty="0"/>
          </a:p>
        </p:txBody>
      </p:sp>
      <p:pic>
        <p:nvPicPr>
          <p:cNvPr id="4" name="Picture 3">
            <a:extLst>
              <a:ext uri="{FF2B5EF4-FFF2-40B4-BE49-F238E27FC236}">
                <a16:creationId xmlns:a16="http://schemas.microsoft.com/office/drawing/2014/main" id="{B308BE5F-FC50-4313-A37C-F1D16C83D41A}"/>
              </a:ext>
            </a:extLst>
          </p:cNvPr>
          <p:cNvPicPr>
            <a:picLocks noChangeAspect="1"/>
          </p:cNvPicPr>
          <p:nvPr/>
        </p:nvPicPr>
        <p:blipFill>
          <a:blip r:embed="rId2"/>
          <a:stretch>
            <a:fillRect/>
          </a:stretch>
        </p:blipFill>
        <p:spPr>
          <a:xfrm>
            <a:off x="369529" y="153755"/>
            <a:ext cx="937341" cy="646786"/>
          </a:xfrm>
          <a:prstGeom prst="rect">
            <a:avLst/>
          </a:prstGeom>
        </p:spPr>
      </p:pic>
      <p:sp>
        <p:nvSpPr>
          <p:cNvPr id="5" name="Title 1">
            <a:extLst>
              <a:ext uri="{FF2B5EF4-FFF2-40B4-BE49-F238E27FC236}">
                <a16:creationId xmlns:a16="http://schemas.microsoft.com/office/drawing/2014/main" id="{E4593C6E-1E06-4697-B1EE-90CE68ABF96B}"/>
              </a:ext>
            </a:extLst>
          </p:cNvPr>
          <p:cNvSpPr txBox="1">
            <a:spLocks/>
          </p:cNvSpPr>
          <p:nvPr/>
        </p:nvSpPr>
        <p:spPr>
          <a:xfrm>
            <a:off x="1447800" y="211125"/>
            <a:ext cx="10287000" cy="5320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7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3600" b="1" dirty="0">
                <a:solidFill>
                  <a:prstClr val="black"/>
                </a:solidFill>
                <a:highlight>
                  <a:srgbClr val="FFFF00"/>
                </a:highlight>
              </a:rPr>
              <a:t>Multiple Threading </a:t>
            </a:r>
            <a:endParaRPr lang="en-US" sz="3600" dirty="0">
              <a:solidFill>
                <a:prstClr val="black"/>
              </a:solidFill>
              <a:highlight>
                <a:srgbClr val="FFFF00"/>
              </a:highlight>
            </a:endParaRPr>
          </a:p>
        </p:txBody>
      </p:sp>
    </p:spTree>
    <p:extLst>
      <p:ext uri="{BB962C8B-B14F-4D97-AF65-F5344CB8AC3E}">
        <p14:creationId xmlns:p14="http://schemas.microsoft.com/office/powerpoint/2010/main" val="31966041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3400" y="1066800"/>
            <a:ext cx="7924800" cy="5410200"/>
          </a:xfrm>
        </p:spPr>
        <p:style>
          <a:lnRef idx="2">
            <a:schemeClr val="accent1"/>
          </a:lnRef>
          <a:fillRef idx="1">
            <a:schemeClr val="lt1"/>
          </a:fillRef>
          <a:effectRef idx="0">
            <a:schemeClr val="accent1"/>
          </a:effectRef>
          <a:fontRef idx="minor">
            <a:schemeClr val="dk1"/>
          </a:fontRef>
        </p:style>
        <p:txBody>
          <a:bodyPr>
            <a:normAutofit/>
          </a:bodyPr>
          <a:lstStyle/>
          <a:p>
            <a:pPr>
              <a:buFont typeface="Arial" panose="020B0604020202020204" pitchFamily="34" charset="0"/>
              <a:buChar char="•"/>
            </a:pPr>
            <a:r>
              <a:rPr lang="en-US" sz="2800" dirty="0"/>
              <a:t>Java programs that we have seen and discussed up to now, it has </a:t>
            </a:r>
            <a:r>
              <a:rPr lang="en-US" sz="2800" dirty="0">
                <a:highlight>
                  <a:srgbClr val="00FF00"/>
                </a:highlight>
              </a:rPr>
              <a:t>single sequential flow of control. </a:t>
            </a:r>
          </a:p>
          <a:p>
            <a:pPr>
              <a:buFont typeface="Arial" panose="020B0604020202020204" pitchFamily="34" charset="0"/>
              <a:buChar char="•"/>
            </a:pPr>
            <a:r>
              <a:rPr lang="en-US" sz="2800" dirty="0"/>
              <a:t>Program begins, runs through a sequence of execution and finally ends. </a:t>
            </a:r>
          </a:p>
          <a:p>
            <a:pPr>
              <a:buFont typeface="Arial" panose="020B0604020202020204" pitchFamily="34" charset="0"/>
              <a:buChar char="•"/>
            </a:pPr>
            <a:r>
              <a:rPr lang="en-US" sz="2800" dirty="0">
                <a:highlight>
                  <a:srgbClr val="00FFFF"/>
                </a:highlight>
              </a:rPr>
              <a:t>At a time, there is only one statement under execution</a:t>
            </a:r>
          </a:p>
          <a:p>
            <a:pPr>
              <a:buFont typeface="Arial" panose="020B0604020202020204" pitchFamily="34" charset="0"/>
              <a:buChar char="•"/>
            </a:pPr>
            <a:r>
              <a:rPr lang="en-US" sz="2800" dirty="0">
                <a:highlight>
                  <a:srgbClr val="00FFFF"/>
                </a:highlight>
              </a:rPr>
              <a:t>Thread is similar to a program that has a single flow of control.</a:t>
            </a:r>
            <a:r>
              <a:rPr lang="en-US" sz="2800" dirty="0"/>
              <a:t> (</a:t>
            </a:r>
            <a:r>
              <a:rPr lang="en-US" sz="2800" dirty="0" err="1"/>
              <a:t>i.e</a:t>
            </a:r>
            <a:r>
              <a:rPr lang="en-US" sz="2800" dirty="0"/>
              <a:t> all earlier examples can be called as single threaded programs. </a:t>
            </a:r>
          </a:p>
          <a:p>
            <a:pPr>
              <a:buFont typeface="Arial" panose="020B0604020202020204" pitchFamily="34" charset="0"/>
              <a:buChar char="•"/>
            </a:pPr>
            <a:r>
              <a:rPr lang="en-US" sz="2800" dirty="0">
                <a:highlight>
                  <a:srgbClr val="FFFF00"/>
                </a:highlight>
              </a:rPr>
              <a:t>Every program will have at least one thread </a:t>
            </a:r>
          </a:p>
          <a:p>
            <a:pPr>
              <a:buFont typeface="Arial" panose="020B0604020202020204" pitchFamily="34" charset="0"/>
              <a:buChar char="•"/>
            </a:pPr>
            <a:endParaRPr lang="en-US" dirty="0"/>
          </a:p>
        </p:txBody>
      </p:sp>
      <p:pic>
        <p:nvPicPr>
          <p:cNvPr id="4" name="Picture 3">
            <a:extLst>
              <a:ext uri="{FF2B5EF4-FFF2-40B4-BE49-F238E27FC236}">
                <a16:creationId xmlns:a16="http://schemas.microsoft.com/office/drawing/2014/main" id="{B308BE5F-FC50-4313-A37C-F1D16C83D41A}"/>
              </a:ext>
            </a:extLst>
          </p:cNvPr>
          <p:cNvPicPr>
            <a:picLocks noChangeAspect="1"/>
          </p:cNvPicPr>
          <p:nvPr/>
        </p:nvPicPr>
        <p:blipFill>
          <a:blip r:embed="rId2"/>
          <a:stretch>
            <a:fillRect/>
          </a:stretch>
        </p:blipFill>
        <p:spPr>
          <a:xfrm>
            <a:off x="369529" y="153755"/>
            <a:ext cx="937341" cy="646786"/>
          </a:xfrm>
          <a:prstGeom prst="rect">
            <a:avLst/>
          </a:prstGeom>
        </p:spPr>
      </p:pic>
      <p:sp>
        <p:nvSpPr>
          <p:cNvPr id="5" name="Title 1">
            <a:extLst>
              <a:ext uri="{FF2B5EF4-FFF2-40B4-BE49-F238E27FC236}">
                <a16:creationId xmlns:a16="http://schemas.microsoft.com/office/drawing/2014/main" id="{E4593C6E-1E06-4697-B1EE-90CE68ABF96B}"/>
              </a:ext>
            </a:extLst>
          </p:cNvPr>
          <p:cNvSpPr txBox="1">
            <a:spLocks/>
          </p:cNvSpPr>
          <p:nvPr/>
        </p:nvSpPr>
        <p:spPr>
          <a:xfrm>
            <a:off x="1447800" y="211125"/>
            <a:ext cx="10287000" cy="5320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7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3600" b="1" dirty="0">
                <a:solidFill>
                  <a:prstClr val="black"/>
                </a:solidFill>
                <a:highlight>
                  <a:srgbClr val="FFFF00"/>
                </a:highlight>
              </a:rPr>
              <a:t>Multiple Threading </a:t>
            </a:r>
            <a:endParaRPr lang="en-US" sz="3600" dirty="0">
              <a:solidFill>
                <a:prstClr val="black"/>
              </a:solidFill>
              <a:highlight>
                <a:srgbClr val="FFFF00"/>
              </a:highlight>
            </a:endParaRPr>
          </a:p>
        </p:txBody>
      </p:sp>
      <p:pic>
        <p:nvPicPr>
          <p:cNvPr id="6" name="Picture 5">
            <a:extLst>
              <a:ext uri="{FF2B5EF4-FFF2-40B4-BE49-F238E27FC236}">
                <a16:creationId xmlns:a16="http://schemas.microsoft.com/office/drawing/2014/main" id="{900B1D1A-A384-47D4-B9C3-F64FA3E70F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86800" y="1371600"/>
            <a:ext cx="3200400" cy="4724400"/>
          </a:xfrm>
          <a:prstGeom prst="rect">
            <a:avLst/>
          </a:prstGeom>
        </p:spPr>
      </p:pic>
    </p:spTree>
    <p:extLst>
      <p:ext uri="{BB962C8B-B14F-4D97-AF65-F5344CB8AC3E}">
        <p14:creationId xmlns:p14="http://schemas.microsoft.com/office/powerpoint/2010/main" val="1314859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1066800"/>
            <a:ext cx="5943600" cy="5257800"/>
          </a:xfrm>
        </p:spPr>
        <p:style>
          <a:lnRef idx="2">
            <a:schemeClr val="accent1"/>
          </a:lnRef>
          <a:fillRef idx="1">
            <a:schemeClr val="lt1"/>
          </a:fillRef>
          <a:effectRef idx="0">
            <a:schemeClr val="accent1"/>
          </a:effectRef>
          <a:fontRef idx="minor">
            <a:schemeClr val="dk1"/>
          </a:fontRef>
        </p:style>
        <p:txBody>
          <a:bodyPr/>
          <a:lstStyle/>
          <a:p>
            <a:pPr>
              <a:buFont typeface="Arial" panose="020B0604020202020204" pitchFamily="34" charset="0"/>
              <a:buChar char="•"/>
            </a:pPr>
            <a:r>
              <a:rPr lang="en-US" dirty="0"/>
              <a:t>Unique property of java is its </a:t>
            </a:r>
            <a:r>
              <a:rPr lang="en-US" dirty="0">
                <a:highlight>
                  <a:srgbClr val="00FFFF"/>
                </a:highlight>
              </a:rPr>
              <a:t>support for multithreading.</a:t>
            </a:r>
          </a:p>
          <a:p>
            <a:pPr>
              <a:buFont typeface="Arial" panose="020B0604020202020204" pitchFamily="34" charset="0"/>
              <a:buChar char="•"/>
            </a:pPr>
            <a:r>
              <a:rPr lang="en-US" dirty="0"/>
              <a:t>Multiple flow of control, each flow of control may be through as a thread that runs in parallel.</a:t>
            </a:r>
          </a:p>
          <a:p>
            <a:pPr>
              <a:buFont typeface="Arial" panose="020B0604020202020204" pitchFamily="34" charset="0"/>
              <a:buChar char="•"/>
            </a:pPr>
            <a:r>
              <a:rPr lang="en-US" dirty="0">
                <a:highlight>
                  <a:srgbClr val="00FFFF"/>
                </a:highlight>
              </a:rPr>
              <a:t>Multithreaded Program :- </a:t>
            </a:r>
            <a:r>
              <a:rPr lang="en-US" dirty="0"/>
              <a:t>A program that contain </a:t>
            </a:r>
            <a:r>
              <a:rPr lang="en-US" dirty="0">
                <a:highlight>
                  <a:srgbClr val="00FF00"/>
                </a:highlight>
              </a:rPr>
              <a:t>multiple flow of control is known as multithreaded program</a:t>
            </a:r>
          </a:p>
          <a:p>
            <a:pPr>
              <a:buFont typeface="Arial" panose="020B0604020202020204" pitchFamily="34" charset="0"/>
              <a:buChar char="•"/>
            </a:pPr>
            <a:r>
              <a:rPr lang="en-US" dirty="0"/>
              <a:t>It is important to remember that threads running in parallel does not mean that they actually run at the same time</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pic>
        <p:nvPicPr>
          <p:cNvPr id="4" name="Picture 3">
            <a:extLst>
              <a:ext uri="{FF2B5EF4-FFF2-40B4-BE49-F238E27FC236}">
                <a16:creationId xmlns:a16="http://schemas.microsoft.com/office/drawing/2014/main" id="{B308BE5F-FC50-4313-A37C-F1D16C83D41A}"/>
              </a:ext>
            </a:extLst>
          </p:cNvPr>
          <p:cNvPicPr>
            <a:picLocks noChangeAspect="1"/>
          </p:cNvPicPr>
          <p:nvPr/>
        </p:nvPicPr>
        <p:blipFill>
          <a:blip r:embed="rId2"/>
          <a:stretch>
            <a:fillRect/>
          </a:stretch>
        </p:blipFill>
        <p:spPr>
          <a:xfrm>
            <a:off x="369529" y="153755"/>
            <a:ext cx="937341" cy="646786"/>
          </a:xfrm>
          <a:prstGeom prst="rect">
            <a:avLst/>
          </a:prstGeom>
        </p:spPr>
      </p:pic>
      <p:sp>
        <p:nvSpPr>
          <p:cNvPr id="5" name="Title 1">
            <a:extLst>
              <a:ext uri="{FF2B5EF4-FFF2-40B4-BE49-F238E27FC236}">
                <a16:creationId xmlns:a16="http://schemas.microsoft.com/office/drawing/2014/main" id="{E4593C6E-1E06-4697-B1EE-90CE68ABF96B}"/>
              </a:ext>
            </a:extLst>
          </p:cNvPr>
          <p:cNvSpPr txBox="1">
            <a:spLocks/>
          </p:cNvSpPr>
          <p:nvPr/>
        </p:nvSpPr>
        <p:spPr>
          <a:xfrm>
            <a:off x="1447800" y="211125"/>
            <a:ext cx="10287000" cy="5320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7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3600" b="1" dirty="0">
                <a:solidFill>
                  <a:prstClr val="black"/>
                </a:solidFill>
                <a:highlight>
                  <a:srgbClr val="FFFF00"/>
                </a:highlight>
              </a:rPr>
              <a:t>Multiple Threading </a:t>
            </a:r>
            <a:endParaRPr lang="en-US" sz="3600" dirty="0">
              <a:solidFill>
                <a:prstClr val="black"/>
              </a:solidFill>
              <a:highlight>
                <a:srgbClr val="FFFF00"/>
              </a:highlight>
            </a:endParaRPr>
          </a:p>
        </p:txBody>
      </p:sp>
      <p:pic>
        <p:nvPicPr>
          <p:cNvPr id="6" name="Picture 5">
            <a:extLst>
              <a:ext uri="{FF2B5EF4-FFF2-40B4-BE49-F238E27FC236}">
                <a16:creationId xmlns:a16="http://schemas.microsoft.com/office/drawing/2014/main" id="{12C54FF6-25EB-4155-839C-D9760BABB3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4641" y="1028700"/>
            <a:ext cx="6076950" cy="5334000"/>
          </a:xfrm>
          <a:prstGeom prst="rect">
            <a:avLst/>
          </a:prstGeom>
        </p:spPr>
      </p:pic>
    </p:spTree>
    <p:extLst>
      <p:ext uri="{BB962C8B-B14F-4D97-AF65-F5344CB8AC3E}">
        <p14:creationId xmlns:p14="http://schemas.microsoft.com/office/powerpoint/2010/main" val="1057035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3400" y="1066800"/>
            <a:ext cx="11049000" cy="5257800"/>
          </a:xfrm>
        </p:spPr>
        <p:txBody>
          <a:bodyPr/>
          <a:lstStyle/>
          <a:p>
            <a:pPr>
              <a:buFont typeface="Arial" panose="020B0604020202020204" pitchFamily="34" charset="0"/>
              <a:buChar char="•"/>
            </a:pPr>
            <a:r>
              <a:rPr lang="en-US" dirty="0"/>
              <a:t>Threads are implemented in the form of objects that contain a method called run().</a:t>
            </a:r>
          </a:p>
          <a:p>
            <a:pPr>
              <a:buFont typeface="Arial" panose="020B0604020202020204" pitchFamily="34" charset="0"/>
              <a:buChar char="•"/>
            </a:pPr>
            <a:r>
              <a:rPr lang="en-US" dirty="0"/>
              <a:t>Run() method is the heart and soul of thread</a:t>
            </a:r>
          </a:p>
          <a:p>
            <a:pPr>
              <a:buFont typeface="Arial" panose="020B0604020202020204" pitchFamily="34" charset="0"/>
              <a:buChar char="•"/>
            </a:pPr>
            <a:r>
              <a:rPr lang="en-US" dirty="0"/>
              <a:t> New thread can be created in two ways</a:t>
            </a:r>
          </a:p>
          <a:p>
            <a:pPr marL="514350" indent="-514350">
              <a:buFont typeface="+mj-lt"/>
              <a:buAutoNum type="arabicPeriod"/>
            </a:pPr>
            <a:r>
              <a:rPr lang="en-US" dirty="0">
                <a:highlight>
                  <a:srgbClr val="FFFF00"/>
                </a:highlight>
              </a:rPr>
              <a:t>By Creating a thread class</a:t>
            </a:r>
          </a:p>
          <a:p>
            <a:pPr marL="514350" indent="-514350">
              <a:buFont typeface="+mj-lt"/>
              <a:buAutoNum type="arabicPeriod"/>
            </a:pPr>
            <a:r>
              <a:rPr lang="en-US" dirty="0">
                <a:highlight>
                  <a:srgbClr val="FFFF00"/>
                </a:highlight>
              </a:rPr>
              <a:t>By converting a class to thread</a:t>
            </a:r>
          </a:p>
        </p:txBody>
      </p:sp>
      <p:pic>
        <p:nvPicPr>
          <p:cNvPr id="4" name="Picture 3">
            <a:extLst>
              <a:ext uri="{FF2B5EF4-FFF2-40B4-BE49-F238E27FC236}">
                <a16:creationId xmlns:a16="http://schemas.microsoft.com/office/drawing/2014/main" id="{B308BE5F-FC50-4313-A37C-F1D16C83D41A}"/>
              </a:ext>
            </a:extLst>
          </p:cNvPr>
          <p:cNvPicPr>
            <a:picLocks noChangeAspect="1"/>
          </p:cNvPicPr>
          <p:nvPr/>
        </p:nvPicPr>
        <p:blipFill>
          <a:blip r:embed="rId2"/>
          <a:stretch>
            <a:fillRect/>
          </a:stretch>
        </p:blipFill>
        <p:spPr>
          <a:xfrm>
            <a:off x="369529" y="153755"/>
            <a:ext cx="937341" cy="646786"/>
          </a:xfrm>
          <a:prstGeom prst="rect">
            <a:avLst/>
          </a:prstGeom>
        </p:spPr>
      </p:pic>
      <p:sp>
        <p:nvSpPr>
          <p:cNvPr id="5" name="Title 1">
            <a:extLst>
              <a:ext uri="{FF2B5EF4-FFF2-40B4-BE49-F238E27FC236}">
                <a16:creationId xmlns:a16="http://schemas.microsoft.com/office/drawing/2014/main" id="{E4593C6E-1E06-4697-B1EE-90CE68ABF96B}"/>
              </a:ext>
            </a:extLst>
          </p:cNvPr>
          <p:cNvSpPr txBox="1">
            <a:spLocks/>
          </p:cNvSpPr>
          <p:nvPr/>
        </p:nvSpPr>
        <p:spPr>
          <a:xfrm>
            <a:off x="1447800" y="211125"/>
            <a:ext cx="10287000" cy="5320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7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3600" b="1" dirty="0">
                <a:solidFill>
                  <a:prstClr val="black"/>
                </a:solidFill>
                <a:highlight>
                  <a:srgbClr val="FFFF00"/>
                </a:highlight>
              </a:rPr>
              <a:t>Creating Threads </a:t>
            </a:r>
            <a:endParaRPr lang="en-US" sz="3600" dirty="0">
              <a:solidFill>
                <a:prstClr val="black"/>
              </a:solidFill>
              <a:highlight>
                <a:srgbClr val="FFFF00"/>
              </a:highlight>
            </a:endParaRPr>
          </a:p>
        </p:txBody>
      </p:sp>
    </p:spTree>
    <p:extLst>
      <p:ext uri="{BB962C8B-B14F-4D97-AF65-F5344CB8AC3E}">
        <p14:creationId xmlns:p14="http://schemas.microsoft.com/office/powerpoint/2010/main" val="2228640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1066799"/>
            <a:ext cx="5562600" cy="5580075"/>
          </a:xfrm>
        </p:spPr>
        <p:style>
          <a:lnRef idx="1">
            <a:schemeClr val="accent1"/>
          </a:lnRef>
          <a:fillRef idx="2">
            <a:schemeClr val="accent1"/>
          </a:fillRef>
          <a:effectRef idx="1">
            <a:schemeClr val="accent1"/>
          </a:effectRef>
          <a:fontRef idx="minor">
            <a:schemeClr val="dk1"/>
          </a:fontRef>
        </p:style>
        <p:txBody>
          <a:bodyPr>
            <a:normAutofit fontScale="92500" lnSpcReduction="10000"/>
          </a:bodyPr>
          <a:lstStyle/>
          <a:p>
            <a:pPr>
              <a:buFont typeface="Arial" panose="020B0604020202020204" pitchFamily="34" charset="0"/>
              <a:buChar char="•"/>
            </a:pPr>
            <a:r>
              <a:rPr lang="en-US" dirty="0">
                <a:highlight>
                  <a:srgbClr val="00FF00"/>
                </a:highlight>
              </a:rPr>
              <a:t>Define a class thread that extends Thread class and override its run() method with the code required by the thread</a:t>
            </a:r>
          </a:p>
          <a:p>
            <a:pPr>
              <a:buFont typeface="Wingdings" panose="05000000000000000000" pitchFamily="2" charset="2"/>
              <a:buChar char="Ø"/>
            </a:pPr>
            <a:r>
              <a:rPr lang="en-US" dirty="0">
                <a:highlight>
                  <a:srgbClr val="FFFF00"/>
                </a:highlight>
              </a:rPr>
              <a:t>Process-1) </a:t>
            </a:r>
            <a:r>
              <a:rPr lang="en-US" dirty="0"/>
              <a:t>Creating new thread class by using extends the Thread class which is mention in the </a:t>
            </a:r>
            <a:r>
              <a:rPr lang="en-US" dirty="0" err="1"/>
              <a:t>lang</a:t>
            </a:r>
            <a:r>
              <a:rPr lang="en-US" dirty="0"/>
              <a:t> package </a:t>
            </a:r>
          </a:p>
          <a:p>
            <a:pPr>
              <a:buFont typeface="Wingdings" panose="05000000000000000000" pitchFamily="2" charset="2"/>
              <a:buChar char="Ø"/>
            </a:pPr>
            <a:r>
              <a:rPr lang="en-US" dirty="0">
                <a:highlight>
                  <a:srgbClr val="FFFF00"/>
                </a:highlight>
              </a:rPr>
              <a:t>Process -2)</a:t>
            </a:r>
            <a:r>
              <a:rPr lang="en-US" dirty="0"/>
              <a:t> Override the run() method which is mention the Thread class and implement the thread code</a:t>
            </a:r>
          </a:p>
          <a:p>
            <a:pPr>
              <a:buFont typeface="Wingdings" panose="05000000000000000000" pitchFamily="2" charset="2"/>
              <a:buChar char="Ø"/>
            </a:pPr>
            <a:r>
              <a:rPr lang="en-US" dirty="0">
                <a:highlight>
                  <a:srgbClr val="FFFF00"/>
                </a:highlight>
              </a:rPr>
              <a:t>Process-3)</a:t>
            </a:r>
            <a:r>
              <a:rPr lang="en-US" dirty="0"/>
              <a:t> Create the object for new thread class</a:t>
            </a:r>
          </a:p>
          <a:p>
            <a:pPr>
              <a:buFont typeface="Wingdings" panose="05000000000000000000" pitchFamily="2" charset="2"/>
              <a:buChar char="Ø"/>
            </a:pPr>
            <a:r>
              <a:rPr lang="en-US" dirty="0">
                <a:highlight>
                  <a:srgbClr val="FFFF00"/>
                </a:highlight>
              </a:rPr>
              <a:t>Process -4) </a:t>
            </a:r>
            <a:r>
              <a:rPr lang="en-US" dirty="0"/>
              <a:t>Invoked the run() method by using object of new thread class and start() method</a:t>
            </a:r>
          </a:p>
          <a:p>
            <a:pPr>
              <a:buFont typeface="Arial" panose="020B0604020202020204" pitchFamily="34" charset="0"/>
              <a:buChar char="•"/>
            </a:pPr>
            <a:r>
              <a:rPr lang="en-US" dirty="0"/>
              <a:t>By using start method, we have to start the execution of run() method.</a:t>
            </a:r>
          </a:p>
          <a:p>
            <a:pPr>
              <a:buFont typeface="Arial" panose="020B0604020202020204" pitchFamily="34" charset="0"/>
              <a:buChar char="•"/>
            </a:pPr>
            <a:endParaRPr lang="en-US" dirty="0"/>
          </a:p>
        </p:txBody>
      </p:sp>
      <p:pic>
        <p:nvPicPr>
          <p:cNvPr id="4" name="Picture 3">
            <a:extLst>
              <a:ext uri="{FF2B5EF4-FFF2-40B4-BE49-F238E27FC236}">
                <a16:creationId xmlns:a16="http://schemas.microsoft.com/office/drawing/2014/main" id="{B308BE5F-FC50-4313-A37C-F1D16C83D41A}"/>
              </a:ext>
            </a:extLst>
          </p:cNvPr>
          <p:cNvPicPr>
            <a:picLocks noChangeAspect="1"/>
          </p:cNvPicPr>
          <p:nvPr/>
        </p:nvPicPr>
        <p:blipFill>
          <a:blip r:embed="rId2"/>
          <a:stretch>
            <a:fillRect/>
          </a:stretch>
        </p:blipFill>
        <p:spPr>
          <a:xfrm>
            <a:off x="369529" y="153755"/>
            <a:ext cx="937341" cy="646786"/>
          </a:xfrm>
          <a:prstGeom prst="rect">
            <a:avLst/>
          </a:prstGeom>
        </p:spPr>
      </p:pic>
      <p:sp>
        <p:nvSpPr>
          <p:cNvPr id="5" name="Title 1">
            <a:extLst>
              <a:ext uri="{FF2B5EF4-FFF2-40B4-BE49-F238E27FC236}">
                <a16:creationId xmlns:a16="http://schemas.microsoft.com/office/drawing/2014/main" id="{E4593C6E-1E06-4697-B1EE-90CE68ABF96B}"/>
              </a:ext>
            </a:extLst>
          </p:cNvPr>
          <p:cNvSpPr txBox="1">
            <a:spLocks/>
          </p:cNvSpPr>
          <p:nvPr/>
        </p:nvSpPr>
        <p:spPr>
          <a:xfrm>
            <a:off x="1447800" y="211125"/>
            <a:ext cx="10287000" cy="5320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7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3600" b="1" dirty="0">
                <a:solidFill>
                  <a:prstClr val="black"/>
                </a:solidFill>
                <a:highlight>
                  <a:srgbClr val="FFFF00"/>
                </a:highlight>
              </a:rPr>
              <a:t>By Creating a Thread Class </a:t>
            </a:r>
            <a:endParaRPr lang="en-US" sz="3600" dirty="0">
              <a:solidFill>
                <a:prstClr val="black"/>
              </a:solidFill>
              <a:highlight>
                <a:srgbClr val="FFFF00"/>
              </a:highlight>
            </a:endParaRPr>
          </a:p>
        </p:txBody>
      </p:sp>
      <p:sp>
        <p:nvSpPr>
          <p:cNvPr id="2" name="Rectangle 1"/>
          <p:cNvSpPr/>
          <p:nvPr/>
        </p:nvSpPr>
        <p:spPr>
          <a:xfrm>
            <a:off x="6019800" y="914401"/>
            <a:ext cx="5715000" cy="5791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import </a:t>
            </a:r>
            <a:r>
              <a:rPr lang="en-US" sz="2000" dirty="0" err="1">
                <a:solidFill>
                  <a:schemeClr val="tx1"/>
                </a:solidFill>
              </a:rPr>
              <a:t>java.lang</a:t>
            </a:r>
            <a:r>
              <a:rPr lang="en-US" sz="2000" dirty="0">
                <a:solidFill>
                  <a:schemeClr val="tx1"/>
                </a:solidFill>
              </a:rPr>
              <a:t>. Thread;</a:t>
            </a:r>
          </a:p>
          <a:p>
            <a:r>
              <a:rPr lang="en-US" sz="2000" dirty="0">
                <a:solidFill>
                  <a:schemeClr val="tx1"/>
                </a:solidFill>
              </a:rPr>
              <a:t>class </a:t>
            </a:r>
            <a:r>
              <a:rPr lang="en-US" sz="2000" dirty="0" err="1">
                <a:solidFill>
                  <a:schemeClr val="tx1"/>
                </a:solidFill>
              </a:rPr>
              <a:t>Mythread</a:t>
            </a:r>
            <a:r>
              <a:rPr lang="en-US" sz="2000" dirty="0">
                <a:solidFill>
                  <a:schemeClr val="tx1"/>
                </a:solidFill>
              </a:rPr>
              <a:t> extends Thread</a:t>
            </a:r>
          </a:p>
          <a:p>
            <a:r>
              <a:rPr lang="en-US" sz="2000" dirty="0">
                <a:solidFill>
                  <a:schemeClr val="tx1"/>
                </a:solidFill>
              </a:rPr>
              <a:t>{</a:t>
            </a:r>
          </a:p>
          <a:p>
            <a:r>
              <a:rPr lang="en-US" sz="2000" dirty="0">
                <a:solidFill>
                  <a:schemeClr val="tx1"/>
                </a:solidFill>
              </a:rPr>
              <a:t>      public void run() </a:t>
            </a:r>
          </a:p>
          <a:p>
            <a:r>
              <a:rPr lang="en-US" sz="2000" dirty="0">
                <a:solidFill>
                  <a:schemeClr val="tx1"/>
                </a:solidFill>
              </a:rPr>
              <a:t>     {</a:t>
            </a:r>
          </a:p>
          <a:p>
            <a:r>
              <a:rPr lang="en-US" sz="2000" dirty="0">
                <a:solidFill>
                  <a:schemeClr val="tx1"/>
                </a:solidFill>
              </a:rPr>
              <a:t>        -----------</a:t>
            </a:r>
          </a:p>
          <a:p>
            <a:r>
              <a:rPr lang="en-US" sz="2000" dirty="0">
                <a:solidFill>
                  <a:schemeClr val="tx1"/>
                </a:solidFill>
              </a:rPr>
              <a:t>        -----------</a:t>
            </a:r>
          </a:p>
          <a:p>
            <a:r>
              <a:rPr lang="en-US" sz="2000" dirty="0">
                <a:solidFill>
                  <a:schemeClr val="tx1"/>
                </a:solidFill>
              </a:rPr>
              <a:t>      }</a:t>
            </a:r>
          </a:p>
          <a:p>
            <a:r>
              <a:rPr lang="en-US" sz="2000" dirty="0">
                <a:solidFill>
                  <a:schemeClr val="tx1"/>
                </a:solidFill>
              </a:rPr>
              <a:t>}</a:t>
            </a:r>
          </a:p>
          <a:p>
            <a:endParaRPr lang="en-US" sz="2000" dirty="0">
              <a:solidFill>
                <a:schemeClr val="tx1"/>
              </a:solidFill>
            </a:endParaRPr>
          </a:p>
          <a:p>
            <a:r>
              <a:rPr lang="en-US" sz="2000" dirty="0">
                <a:solidFill>
                  <a:schemeClr val="tx1"/>
                </a:solidFill>
              </a:rPr>
              <a:t>class Main</a:t>
            </a:r>
          </a:p>
          <a:p>
            <a:r>
              <a:rPr lang="en-US" sz="2000" dirty="0">
                <a:solidFill>
                  <a:schemeClr val="tx1"/>
                </a:solidFill>
              </a:rPr>
              <a:t>{</a:t>
            </a:r>
          </a:p>
          <a:p>
            <a:r>
              <a:rPr lang="en-US" sz="2000" dirty="0">
                <a:solidFill>
                  <a:schemeClr val="tx1"/>
                </a:solidFill>
              </a:rPr>
              <a:t> public static void main(String </a:t>
            </a:r>
            <a:r>
              <a:rPr lang="en-US" sz="2000" dirty="0" err="1">
                <a:solidFill>
                  <a:schemeClr val="tx1"/>
                </a:solidFill>
              </a:rPr>
              <a:t>args</a:t>
            </a:r>
            <a:r>
              <a:rPr lang="en-US" sz="2000" dirty="0">
                <a:solidFill>
                  <a:schemeClr val="tx1"/>
                </a:solidFill>
              </a:rPr>
              <a:t> [])</a:t>
            </a:r>
          </a:p>
          <a:p>
            <a:r>
              <a:rPr lang="en-US" sz="2000" dirty="0">
                <a:solidFill>
                  <a:schemeClr val="tx1"/>
                </a:solidFill>
              </a:rPr>
              <a:t>{</a:t>
            </a:r>
          </a:p>
          <a:p>
            <a:r>
              <a:rPr lang="en-US" sz="2000" dirty="0">
                <a:solidFill>
                  <a:schemeClr val="tx1"/>
                </a:solidFill>
              </a:rPr>
              <a:t>    </a:t>
            </a:r>
            <a:r>
              <a:rPr lang="en-US" sz="2000" dirty="0" err="1">
                <a:solidFill>
                  <a:schemeClr val="tx1"/>
                </a:solidFill>
              </a:rPr>
              <a:t>Mythread</a:t>
            </a:r>
            <a:r>
              <a:rPr lang="en-US" sz="2000" dirty="0">
                <a:solidFill>
                  <a:schemeClr val="tx1"/>
                </a:solidFill>
              </a:rPr>
              <a:t> </a:t>
            </a:r>
            <a:r>
              <a:rPr lang="en-US" sz="2000" dirty="0" err="1">
                <a:solidFill>
                  <a:schemeClr val="tx1"/>
                </a:solidFill>
              </a:rPr>
              <a:t>obj</a:t>
            </a:r>
            <a:r>
              <a:rPr lang="en-US" sz="2000" dirty="0">
                <a:solidFill>
                  <a:schemeClr val="tx1"/>
                </a:solidFill>
              </a:rPr>
              <a:t>=new </a:t>
            </a:r>
            <a:r>
              <a:rPr lang="en-US" sz="2000" dirty="0" err="1">
                <a:solidFill>
                  <a:schemeClr val="tx1"/>
                </a:solidFill>
              </a:rPr>
              <a:t>Mythread</a:t>
            </a:r>
            <a:r>
              <a:rPr lang="en-US" sz="2000" dirty="0">
                <a:solidFill>
                  <a:schemeClr val="tx1"/>
                </a:solidFill>
              </a:rPr>
              <a:t>();</a:t>
            </a:r>
          </a:p>
          <a:p>
            <a:r>
              <a:rPr lang="en-US" sz="2000" dirty="0">
                <a:solidFill>
                  <a:schemeClr val="tx1"/>
                </a:solidFill>
              </a:rPr>
              <a:t>     </a:t>
            </a:r>
            <a:r>
              <a:rPr lang="en-US" sz="2000" dirty="0" err="1">
                <a:solidFill>
                  <a:schemeClr val="tx1"/>
                </a:solidFill>
              </a:rPr>
              <a:t>obj.start</a:t>
            </a:r>
            <a:r>
              <a:rPr lang="en-US" sz="2000" dirty="0">
                <a:solidFill>
                  <a:schemeClr val="tx1"/>
                </a:solidFill>
              </a:rPr>
              <a:t>();</a:t>
            </a:r>
          </a:p>
          <a:p>
            <a:r>
              <a:rPr lang="en-US" sz="2000" dirty="0">
                <a:solidFill>
                  <a:schemeClr val="tx1"/>
                </a:solidFill>
              </a:rPr>
              <a:t> }</a:t>
            </a:r>
          </a:p>
          <a:p>
            <a:r>
              <a:rPr lang="en-US" sz="2000" dirty="0">
                <a:solidFill>
                  <a:schemeClr val="tx1"/>
                </a:solidFill>
              </a:rPr>
              <a:t>}</a:t>
            </a:r>
          </a:p>
        </p:txBody>
      </p:sp>
    </p:spTree>
    <p:extLst>
      <p:ext uri="{BB962C8B-B14F-4D97-AF65-F5344CB8AC3E}">
        <p14:creationId xmlns:p14="http://schemas.microsoft.com/office/powerpoint/2010/main" val="572410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animEffect transition="in" filter="fade">
                                      <p:cBhvr>
                                        <p:cTn id="17" dur="500"/>
                                        <p:tgtEl>
                                          <p:spTgt spid="2">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2">
                                            <p:txEl>
                                              <p:pRg st="1" end="1"/>
                                            </p:txEl>
                                          </p:spTgt>
                                        </p:tgtEl>
                                        <p:attrNameLst>
                                          <p:attrName>style.visibility</p:attrName>
                                        </p:attrNameLst>
                                      </p:cBhvr>
                                      <p:to>
                                        <p:strVal val="visible"/>
                                      </p:to>
                                    </p:set>
                                    <p:animEffect transition="in" filter="fade">
                                      <p:cBhvr>
                                        <p:cTn id="20" dur="500"/>
                                        <p:tgtEl>
                                          <p:spTgt spid="2">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animEffect transition="in" filter="fade">
                                      <p:cBhvr>
                                        <p:cTn id="23" dur="500"/>
                                        <p:tgtEl>
                                          <p:spTgt spid="2">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500"/>
                                        <p:tgtEl>
                                          <p:spTgt spid="3">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
                                            <p:txEl>
                                              <p:pRg st="3" end="3"/>
                                            </p:txEl>
                                          </p:spTgt>
                                        </p:tgtEl>
                                        <p:attrNameLst>
                                          <p:attrName>style.visibility</p:attrName>
                                        </p:attrNameLst>
                                      </p:cBhvr>
                                      <p:to>
                                        <p:strVal val="visible"/>
                                      </p:to>
                                    </p:set>
                                    <p:animEffect transition="in" filter="fade">
                                      <p:cBhvr>
                                        <p:cTn id="33" dur="500"/>
                                        <p:tgtEl>
                                          <p:spTgt spid="2">
                                            <p:txEl>
                                              <p:pRg st="3" end="3"/>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2">
                                            <p:txEl>
                                              <p:pRg st="4" end="4"/>
                                            </p:txEl>
                                          </p:spTgt>
                                        </p:tgtEl>
                                        <p:attrNameLst>
                                          <p:attrName>style.visibility</p:attrName>
                                        </p:attrNameLst>
                                      </p:cBhvr>
                                      <p:to>
                                        <p:strVal val="visible"/>
                                      </p:to>
                                    </p:set>
                                    <p:animEffect transition="in" filter="fade">
                                      <p:cBhvr>
                                        <p:cTn id="36" dur="500"/>
                                        <p:tgtEl>
                                          <p:spTgt spid="2">
                                            <p:txEl>
                                              <p:pRg st="4" end="4"/>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2">
                                            <p:txEl>
                                              <p:pRg st="5" end="5"/>
                                            </p:txEl>
                                          </p:spTgt>
                                        </p:tgtEl>
                                        <p:attrNameLst>
                                          <p:attrName>style.visibility</p:attrName>
                                        </p:attrNameLst>
                                      </p:cBhvr>
                                      <p:to>
                                        <p:strVal val="visible"/>
                                      </p:to>
                                    </p:set>
                                    <p:animEffect transition="in" filter="fade">
                                      <p:cBhvr>
                                        <p:cTn id="39" dur="500"/>
                                        <p:tgtEl>
                                          <p:spTgt spid="2">
                                            <p:txEl>
                                              <p:pRg st="5" end="5"/>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2">
                                            <p:txEl>
                                              <p:pRg st="6" end="6"/>
                                            </p:txEl>
                                          </p:spTgt>
                                        </p:tgtEl>
                                        <p:attrNameLst>
                                          <p:attrName>style.visibility</p:attrName>
                                        </p:attrNameLst>
                                      </p:cBhvr>
                                      <p:to>
                                        <p:strVal val="visible"/>
                                      </p:to>
                                    </p:set>
                                    <p:animEffect transition="in" filter="fade">
                                      <p:cBhvr>
                                        <p:cTn id="42" dur="500"/>
                                        <p:tgtEl>
                                          <p:spTgt spid="2">
                                            <p:txEl>
                                              <p:pRg st="6" end="6"/>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2">
                                            <p:txEl>
                                              <p:pRg st="7" end="7"/>
                                            </p:txEl>
                                          </p:spTgt>
                                        </p:tgtEl>
                                        <p:attrNameLst>
                                          <p:attrName>style.visibility</p:attrName>
                                        </p:attrNameLst>
                                      </p:cBhvr>
                                      <p:to>
                                        <p:strVal val="visible"/>
                                      </p:to>
                                    </p:set>
                                    <p:animEffect transition="in" filter="fade">
                                      <p:cBhvr>
                                        <p:cTn id="45" dur="500"/>
                                        <p:tgtEl>
                                          <p:spTgt spid="2">
                                            <p:txEl>
                                              <p:pRg st="7" end="7"/>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2">
                                            <p:txEl>
                                              <p:pRg st="8" end="8"/>
                                            </p:txEl>
                                          </p:spTgt>
                                        </p:tgtEl>
                                        <p:attrNameLst>
                                          <p:attrName>style.visibility</p:attrName>
                                        </p:attrNameLst>
                                      </p:cBhvr>
                                      <p:to>
                                        <p:strVal val="visible"/>
                                      </p:to>
                                    </p:set>
                                    <p:animEffect transition="in" filter="fade">
                                      <p:cBhvr>
                                        <p:cTn id="48" dur="500"/>
                                        <p:tgtEl>
                                          <p:spTgt spid="2">
                                            <p:txEl>
                                              <p:pRg st="8" end="8"/>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
                                            <p:txEl>
                                              <p:pRg st="3" end="3"/>
                                            </p:txEl>
                                          </p:spTgt>
                                        </p:tgtEl>
                                        <p:attrNameLst>
                                          <p:attrName>style.visibility</p:attrName>
                                        </p:attrNameLst>
                                      </p:cBhvr>
                                      <p:to>
                                        <p:strVal val="visible"/>
                                      </p:to>
                                    </p:set>
                                    <p:animEffect transition="in" filter="fade">
                                      <p:cBhvr>
                                        <p:cTn id="53" dur="500"/>
                                        <p:tgtEl>
                                          <p:spTgt spid="3">
                                            <p:txEl>
                                              <p:pRg st="3" end="3"/>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
                                            <p:txEl>
                                              <p:pRg st="10" end="10"/>
                                            </p:txEl>
                                          </p:spTgt>
                                        </p:tgtEl>
                                        <p:attrNameLst>
                                          <p:attrName>style.visibility</p:attrName>
                                        </p:attrNameLst>
                                      </p:cBhvr>
                                      <p:to>
                                        <p:strVal val="visible"/>
                                      </p:to>
                                    </p:set>
                                    <p:animEffect transition="in" filter="fade">
                                      <p:cBhvr>
                                        <p:cTn id="58" dur="500"/>
                                        <p:tgtEl>
                                          <p:spTgt spid="2">
                                            <p:txEl>
                                              <p:pRg st="10" end="10"/>
                                            </p:txEl>
                                          </p:spTgt>
                                        </p:tgtEl>
                                      </p:cBhvr>
                                    </p:animEffect>
                                  </p:childTnLst>
                                </p:cTn>
                              </p:par>
                              <p:par>
                                <p:cTn id="59" presetID="10" presetClass="entr" presetSubtype="0" fill="hold" nodeType="withEffect">
                                  <p:stCondLst>
                                    <p:cond delay="0"/>
                                  </p:stCondLst>
                                  <p:childTnLst>
                                    <p:set>
                                      <p:cBhvr>
                                        <p:cTn id="60" dur="1" fill="hold">
                                          <p:stCondLst>
                                            <p:cond delay="0"/>
                                          </p:stCondLst>
                                        </p:cTn>
                                        <p:tgtEl>
                                          <p:spTgt spid="2">
                                            <p:txEl>
                                              <p:pRg st="11" end="11"/>
                                            </p:txEl>
                                          </p:spTgt>
                                        </p:tgtEl>
                                        <p:attrNameLst>
                                          <p:attrName>style.visibility</p:attrName>
                                        </p:attrNameLst>
                                      </p:cBhvr>
                                      <p:to>
                                        <p:strVal val="visible"/>
                                      </p:to>
                                    </p:set>
                                    <p:animEffect transition="in" filter="fade">
                                      <p:cBhvr>
                                        <p:cTn id="61" dur="500"/>
                                        <p:tgtEl>
                                          <p:spTgt spid="2">
                                            <p:txEl>
                                              <p:pRg st="11" end="11"/>
                                            </p:txEl>
                                          </p:spTgt>
                                        </p:tgtEl>
                                      </p:cBhvr>
                                    </p:animEffect>
                                  </p:childTnLst>
                                </p:cTn>
                              </p:par>
                              <p:par>
                                <p:cTn id="62" presetID="10" presetClass="entr" presetSubtype="0" fill="hold" nodeType="withEffect">
                                  <p:stCondLst>
                                    <p:cond delay="0"/>
                                  </p:stCondLst>
                                  <p:childTnLst>
                                    <p:set>
                                      <p:cBhvr>
                                        <p:cTn id="63" dur="1" fill="hold">
                                          <p:stCondLst>
                                            <p:cond delay="0"/>
                                          </p:stCondLst>
                                        </p:cTn>
                                        <p:tgtEl>
                                          <p:spTgt spid="2">
                                            <p:txEl>
                                              <p:pRg st="12" end="12"/>
                                            </p:txEl>
                                          </p:spTgt>
                                        </p:tgtEl>
                                        <p:attrNameLst>
                                          <p:attrName>style.visibility</p:attrName>
                                        </p:attrNameLst>
                                      </p:cBhvr>
                                      <p:to>
                                        <p:strVal val="visible"/>
                                      </p:to>
                                    </p:set>
                                    <p:animEffect transition="in" filter="fade">
                                      <p:cBhvr>
                                        <p:cTn id="64" dur="500"/>
                                        <p:tgtEl>
                                          <p:spTgt spid="2">
                                            <p:txEl>
                                              <p:pRg st="12" end="12"/>
                                            </p:txEl>
                                          </p:spTgt>
                                        </p:tgtEl>
                                      </p:cBhvr>
                                    </p:animEffect>
                                  </p:childTnLst>
                                </p:cTn>
                              </p:par>
                              <p:par>
                                <p:cTn id="65" presetID="10" presetClass="entr" presetSubtype="0" fill="hold" nodeType="withEffect">
                                  <p:stCondLst>
                                    <p:cond delay="0"/>
                                  </p:stCondLst>
                                  <p:childTnLst>
                                    <p:set>
                                      <p:cBhvr>
                                        <p:cTn id="66" dur="1" fill="hold">
                                          <p:stCondLst>
                                            <p:cond delay="0"/>
                                          </p:stCondLst>
                                        </p:cTn>
                                        <p:tgtEl>
                                          <p:spTgt spid="2">
                                            <p:txEl>
                                              <p:pRg st="13" end="13"/>
                                            </p:txEl>
                                          </p:spTgt>
                                        </p:tgtEl>
                                        <p:attrNameLst>
                                          <p:attrName>style.visibility</p:attrName>
                                        </p:attrNameLst>
                                      </p:cBhvr>
                                      <p:to>
                                        <p:strVal val="visible"/>
                                      </p:to>
                                    </p:set>
                                    <p:animEffect transition="in" filter="fade">
                                      <p:cBhvr>
                                        <p:cTn id="67" dur="500"/>
                                        <p:tgtEl>
                                          <p:spTgt spid="2">
                                            <p:txEl>
                                              <p:pRg st="13" end="13"/>
                                            </p:txEl>
                                          </p:spTgt>
                                        </p:tgtEl>
                                      </p:cBhvr>
                                    </p:animEffect>
                                  </p:childTnLst>
                                </p:cTn>
                              </p:par>
                              <p:par>
                                <p:cTn id="68" presetID="10" presetClass="entr" presetSubtype="0" fill="hold" nodeType="withEffect">
                                  <p:stCondLst>
                                    <p:cond delay="0"/>
                                  </p:stCondLst>
                                  <p:childTnLst>
                                    <p:set>
                                      <p:cBhvr>
                                        <p:cTn id="69" dur="1" fill="hold">
                                          <p:stCondLst>
                                            <p:cond delay="0"/>
                                          </p:stCondLst>
                                        </p:cTn>
                                        <p:tgtEl>
                                          <p:spTgt spid="2">
                                            <p:txEl>
                                              <p:pRg st="14" end="14"/>
                                            </p:txEl>
                                          </p:spTgt>
                                        </p:tgtEl>
                                        <p:attrNameLst>
                                          <p:attrName>style.visibility</p:attrName>
                                        </p:attrNameLst>
                                      </p:cBhvr>
                                      <p:to>
                                        <p:strVal val="visible"/>
                                      </p:to>
                                    </p:set>
                                    <p:animEffect transition="in" filter="fade">
                                      <p:cBhvr>
                                        <p:cTn id="70" dur="500"/>
                                        <p:tgtEl>
                                          <p:spTgt spid="2">
                                            <p:txEl>
                                              <p:pRg st="14" end="14"/>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3">
                                            <p:txEl>
                                              <p:pRg st="4" end="4"/>
                                            </p:txEl>
                                          </p:spTgt>
                                        </p:tgtEl>
                                        <p:attrNameLst>
                                          <p:attrName>style.visibility</p:attrName>
                                        </p:attrNameLst>
                                      </p:cBhvr>
                                      <p:to>
                                        <p:strVal val="visible"/>
                                      </p:to>
                                    </p:set>
                                    <p:animEffect transition="in" filter="fade">
                                      <p:cBhvr>
                                        <p:cTn id="75" dur="500"/>
                                        <p:tgtEl>
                                          <p:spTgt spid="3">
                                            <p:txEl>
                                              <p:pRg st="4" end="4"/>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2">
                                            <p:txEl>
                                              <p:pRg st="15" end="15"/>
                                            </p:txEl>
                                          </p:spTgt>
                                        </p:tgtEl>
                                        <p:attrNameLst>
                                          <p:attrName>style.visibility</p:attrName>
                                        </p:attrNameLst>
                                      </p:cBhvr>
                                      <p:to>
                                        <p:strVal val="visible"/>
                                      </p:to>
                                    </p:set>
                                    <p:animEffect transition="in" filter="fade">
                                      <p:cBhvr>
                                        <p:cTn id="80" dur="500"/>
                                        <p:tgtEl>
                                          <p:spTgt spid="2">
                                            <p:txEl>
                                              <p:pRg st="15" end="15"/>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3">
                                            <p:txEl>
                                              <p:pRg st="5" end="5"/>
                                            </p:txEl>
                                          </p:spTgt>
                                        </p:tgtEl>
                                        <p:attrNameLst>
                                          <p:attrName>style.visibility</p:attrName>
                                        </p:attrNameLst>
                                      </p:cBhvr>
                                      <p:to>
                                        <p:strVal val="visible"/>
                                      </p:to>
                                    </p:set>
                                    <p:animEffect transition="in" filter="fade">
                                      <p:cBhvr>
                                        <p:cTn id="85" dur="500"/>
                                        <p:tgtEl>
                                          <p:spTgt spid="3">
                                            <p:txEl>
                                              <p:pRg st="5" end="5"/>
                                            </p:txEl>
                                          </p:spTgt>
                                        </p:tgtEl>
                                      </p:cBhvr>
                                    </p:animEffect>
                                  </p:childTnLst>
                                </p:cTn>
                              </p:par>
                              <p:par>
                                <p:cTn id="86" presetID="10" presetClass="entr" presetSubtype="0" fill="hold" nodeType="withEffect">
                                  <p:stCondLst>
                                    <p:cond delay="0"/>
                                  </p:stCondLst>
                                  <p:childTnLst>
                                    <p:set>
                                      <p:cBhvr>
                                        <p:cTn id="87" dur="1" fill="hold">
                                          <p:stCondLst>
                                            <p:cond delay="0"/>
                                          </p:stCondLst>
                                        </p:cTn>
                                        <p:tgtEl>
                                          <p:spTgt spid="2">
                                            <p:txEl>
                                              <p:pRg st="16" end="16"/>
                                            </p:txEl>
                                          </p:spTgt>
                                        </p:tgtEl>
                                        <p:attrNameLst>
                                          <p:attrName>style.visibility</p:attrName>
                                        </p:attrNameLst>
                                      </p:cBhvr>
                                      <p:to>
                                        <p:strVal val="visible"/>
                                      </p:to>
                                    </p:set>
                                    <p:animEffect transition="in" filter="fade">
                                      <p:cBhvr>
                                        <p:cTn id="88" dur="500"/>
                                        <p:tgtEl>
                                          <p:spTgt spid="2">
                                            <p:txEl>
                                              <p:pRg st="16" end="16"/>
                                            </p:txEl>
                                          </p:spTgt>
                                        </p:tgtEl>
                                      </p:cBhvr>
                                    </p:animEffect>
                                  </p:childTnLst>
                                </p:cTn>
                              </p:par>
                              <p:par>
                                <p:cTn id="89" presetID="10" presetClass="entr" presetSubtype="0" fill="hold" nodeType="withEffect">
                                  <p:stCondLst>
                                    <p:cond delay="0"/>
                                  </p:stCondLst>
                                  <p:childTnLst>
                                    <p:set>
                                      <p:cBhvr>
                                        <p:cTn id="90" dur="1" fill="hold">
                                          <p:stCondLst>
                                            <p:cond delay="0"/>
                                          </p:stCondLst>
                                        </p:cTn>
                                        <p:tgtEl>
                                          <p:spTgt spid="2">
                                            <p:txEl>
                                              <p:pRg st="17" end="17"/>
                                            </p:txEl>
                                          </p:spTgt>
                                        </p:tgtEl>
                                        <p:attrNameLst>
                                          <p:attrName>style.visibility</p:attrName>
                                        </p:attrNameLst>
                                      </p:cBhvr>
                                      <p:to>
                                        <p:strVal val="visible"/>
                                      </p:to>
                                    </p:set>
                                    <p:animEffect transition="in" filter="fade">
                                      <p:cBhvr>
                                        <p:cTn id="91" dur="500"/>
                                        <p:tgtEl>
                                          <p:spTgt spid="2">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3400" y="1066800"/>
            <a:ext cx="11049000" cy="5257800"/>
          </a:xfrm>
        </p:spPr>
        <p:style>
          <a:lnRef idx="2">
            <a:schemeClr val="accent1"/>
          </a:lnRef>
          <a:fillRef idx="1">
            <a:schemeClr val="lt1"/>
          </a:fillRef>
          <a:effectRef idx="0">
            <a:schemeClr val="accent1"/>
          </a:effectRef>
          <a:fontRef idx="minor">
            <a:schemeClr val="dk1"/>
          </a:fontRef>
        </p:style>
        <p:txBody>
          <a:bodyPr/>
          <a:lstStyle/>
          <a:p>
            <a:pPr>
              <a:buFont typeface="Arial" panose="020B0604020202020204" pitchFamily="34" charset="0"/>
              <a:buChar char="•"/>
            </a:pPr>
            <a:r>
              <a:rPr lang="en-US" dirty="0">
                <a:highlight>
                  <a:srgbClr val="00FFFF"/>
                </a:highlight>
              </a:rPr>
              <a:t>Stopping Thread:- </a:t>
            </a:r>
            <a:r>
              <a:rPr lang="en-US" dirty="0"/>
              <a:t>Whenever we want to stop a thread from running further, we may calling stop() method </a:t>
            </a:r>
          </a:p>
          <a:p>
            <a:pPr>
              <a:buFont typeface="Arial" panose="020B0604020202020204" pitchFamily="34" charset="0"/>
              <a:buChar char="•"/>
            </a:pPr>
            <a:r>
              <a:rPr lang="en-US" dirty="0"/>
              <a:t>    e.g. </a:t>
            </a:r>
            <a:r>
              <a:rPr lang="en-US" dirty="0" err="1">
                <a:highlight>
                  <a:srgbClr val="00FF00"/>
                </a:highlight>
              </a:rPr>
              <a:t>aThread.stop</a:t>
            </a:r>
            <a:r>
              <a:rPr lang="en-US" dirty="0">
                <a:highlight>
                  <a:srgbClr val="00FF00"/>
                </a:highlight>
              </a:rPr>
              <a:t>();</a:t>
            </a:r>
          </a:p>
          <a:p>
            <a:pPr>
              <a:buFont typeface="Arial" panose="020B0604020202020204" pitchFamily="34" charset="0"/>
              <a:buChar char="•"/>
            </a:pPr>
            <a:r>
              <a:rPr lang="en-US" dirty="0">
                <a:highlight>
                  <a:srgbClr val="00FF00"/>
                </a:highlight>
              </a:rPr>
              <a:t>Blocking Thread :- </a:t>
            </a:r>
            <a:r>
              <a:rPr lang="en-US" dirty="0"/>
              <a:t>A thread can also be </a:t>
            </a:r>
            <a:r>
              <a:rPr lang="en-US" dirty="0">
                <a:highlight>
                  <a:srgbClr val="FFFF00"/>
                </a:highlight>
              </a:rPr>
              <a:t>temporarily suspended or blocked from entering into runnable and subsequently running state by using either of the following methods</a:t>
            </a:r>
          </a:p>
          <a:p>
            <a:pPr marL="0" indent="0">
              <a:buNone/>
            </a:pPr>
            <a:r>
              <a:rPr lang="en-US" dirty="0"/>
              <a:t>                      sleep()                       //Blocked for a specified time</a:t>
            </a:r>
          </a:p>
          <a:p>
            <a:pPr marL="0" indent="0">
              <a:buNone/>
            </a:pPr>
            <a:r>
              <a:rPr lang="en-US" dirty="0"/>
              <a:t>                      suspended()              //Blocked until further orders</a:t>
            </a:r>
          </a:p>
          <a:p>
            <a:pPr marL="0" indent="0">
              <a:buNone/>
            </a:pPr>
            <a:r>
              <a:rPr lang="en-US" dirty="0"/>
              <a:t>                      wait()                       // Blocked until certain condition occurs</a:t>
            </a:r>
          </a:p>
          <a:p>
            <a:pPr>
              <a:buFont typeface="Arial" panose="020B0604020202020204" pitchFamily="34" charset="0"/>
              <a:buChar char="•"/>
            </a:pPr>
            <a:r>
              <a:rPr lang="en-US" dirty="0"/>
              <a:t>The thread will return to the runnable state when </a:t>
            </a:r>
            <a:r>
              <a:rPr lang="en-US" dirty="0">
                <a:highlight>
                  <a:srgbClr val="00FF00"/>
                </a:highlight>
              </a:rPr>
              <a:t>the specified time is elapsed in the case of sleep(), </a:t>
            </a:r>
            <a:r>
              <a:rPr lang="en-US" dirty="0"/>
              <a:t>the </a:t>
            </a:r>
            <a:r>
              <a:rPr lang="en-US" dirty="0">
                <a:highlight>
                  <a:srgbClr val="00FFFF"/>
                </a:highlight>
              </a:rPr>
              <a:t>resume() method is invoked in the case of suspend(), </a:t>
            </a:r>
            <a:r>
              <a:rPr lang="en-US" dirty="0"/>
              <a:t>and the </a:t>
            </a:r>
            <a:r>
              <a:rPr lang="en-US" dirty="0">
                <a:highlight>
                  <a:srgbClr val="FFFF00"/>
                </a:highlight>
              </a:rPr>
              <a:t>notify() method is called in the case of wait().</a:t>
            </a:r>
          </a:p>
        </p:txBody>
      </p:sp>
      <p:pic>
        <p:nvPicPr>
          <p:cNvPr id="4" name="Picture 3">
            <a:extLst>
              <a:ext uri="{FF2B5EF4-FFF2-40B4-BE49-F238E27FC236}">
                <a16:creationId xmlns:a16="http://schemas.microsoft.com/office/drawing/2014/main" id="{B308BE5F-FC50-4313-A37C-F1D16C83D41A}"/>
              </a:ext>
            </a:extLst>
          </p:cNvPr>
          <p:cNvPicPr>
            <a:picLocks noChangeAspect="1"/>
          </p:cNvPicPr>
          <p:nvPr/>
        </p:nvPicPr>
        <p:blipFill>
          <a:blip r:embed="rId2"/>
          <a:stretch>
            <a:fillRect/>
          </a:stretch>
        </p:blipFill>
        <p:spPr>
          <a:xfrm>
            <a:off x="369529" y="153755"/>
            <a:ext cx="937341" cy="646786"/>
          </a:xfrm>
          <a:prstGeom prst="rect">
            <a:avLst/>
          </a:prstGeom>
        </p:spPr>
      </p:pic>
      <p:sp>
        <p:nvSpPr>
          <p:cNvPr id="5" name="Title 1">
            <a:extLst>
              <a:ext uri="{FF2B5EF4-FFF2-40B4-BE49-F238E27FC236}">
                <a16:creationId xmlns:a16="http://schemas.microsoft.com/office/drawing/2014/main" id="{E4593C6E-1E06-4697-B1EE-90CE68ABF96B}"/>
              </a:ext>
            </a:extLst>
          </p:cNvPr>
          <p:cNvSpPr txBox="1">
            <a:spLocks/>
          </p:cNvSpPr>
          <p:nvPr/>
        </p:nvSpPr>
        <p:spPr>
          <a:xfrm>
            <a:off x="1447800" y="211125"/>
            <a:ext cx="10287000" cy="5320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7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3600" b="1" dirty="0">
                <a:solidFill>
                  <a:prstClr val="black"/>
                </a:solidFill>
                <a:highlight>
                  <a:srgbClr val="FFFF00"/>
                </a:highlight>
              </a:rPr>
              <a:t>Stopping &amp; Blocking Thread </a:t>
            </a:r>
            <a:endParaRPr lang="en-US" sz="3600" dirty="0">
              <a:solidFill>
                <a:prstClr val="black"/>
              </a:solidFill>
              <a:highlight>
                <a:srgbClr val="FFFF00"/>
              </a:highlight>
            </a:endParaRPr>
          </a:p>
        </p:txBody>
      </p:sp>
    </p:spTree>
    <p:extLst>
      <p:ext uri="{BB962C8B-B14F-4D97-AF65-F5344CB8AC3E}">
        <p14:creationId xmlns:p14="http://schemas.microsoft.com/office/powerpoint/2010/main" val="15459001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08BE5F-FC50-4313-A37C-F1D16C83D41A}"/>
              </a:ext>
            </a:extLst>
          </p:cNvPr>
          <p:cNvPicPr>
            <a:picLocks noChangeAspect="1"/>
          </p:cNvPicPr>
          <p:nvPr/>
        </p:nvPicPr>
        <p:blipFill>
          <a:blip r:embed="rId2"/>
          <a:stretch>
            <a:fillRect/>
          </a:stretch>
        </p:blipFill>
        <p:spPr>
          <a:xfrm>
            <a:off x="369529" y="153755"/>
            <a:ext cx="937341" cy="646786"/>
          </a:xfrm>
          <a:prstGeom prst="rect">
            <a:avLst/>
          </a:prstGeom>
        </p:spPr>
      </p:pic>
      <p:sp>
        <p:nvSpPr>
          <p:cNvPr id="5" name="Title 1">
            <a:extLst>
              <a:ext uri="{FF2B5EF4-FFF2-40B4-BE49-F238E27FC236}">
                <a16:creationId xmlns:a16="http://schemas.microsoft.com/office/drawing/2014/main" id="{E4593C6E-1E06-4697-B1EE-90CE68ABF96B}"/>
              </a:ext>
            </a:extLst>
          </p:cNvPr>
          <p:cNvSpPr txBox="1">
            <a:spLocks/>
          </p:cNvSpPr>
          <p:nvPr/>
        </p:nvSpPr>
        <p:spPr>
          <a:xfrm>
            <a:off x="1447800" y="211125"/>
            <a:ext cx="10287000" cy="5320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7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3600" b="1" dirty="0">
                <a:solidFill>
                  <a:prstClr val="black"/>
                </a:solidFill>
                <a:highlight>
                  <a:srgbClr val="FFFF00"/>
                </a:highlight>
              </a:rPr>
              <a:t>Life Cycle of Thread </a:t>
            </a:r>
            <a:endParaRPr lang="en-US" sz="3600" dirty="0">
              <a:solidFill>
                <a:prstClr val="black"/>
              </a:solidFill>
              <a:highlight>
                <a:srgbClr val="FFFF00"/>
              </a:highlight>
            </a:endParaRPr>
          </a:p>
        </p:txBody>
      </p:sp>
      <p:pic>
        <p:nvPicPr>
          <p:cNvPr id="7" name="Content Placeholder 4" descr="A close up of a map&#10;&#10;Description automatically generated">
            <a:extLst>
              <a:ext uri="{FF2B5EF4-FFF2-40B4-BE49-F238E27FC236}">
                <a16:creationId xmlns:a16="http://schemas.microsoft.com/office/drawing/2014/main" id="{B9E68039-730E-478A-AC38-272D0BC8A467}"/>
              </a:ext>
            </a:extLst>
          </p:cNvPr>
          <p:cNvPicPr>
            <a:picLocks noGrp="1" noChangeAspect="1"/>
          </p:cNvPicPr>
          <p:nvPr>
            <p:ph sz="quarter" idx="1"/>
          </p:nvPr>
        </p:nvPicPr>
        <p:blipFill>
          <a:blip r:embed="rId3">
            <a:extLst>
              <a:ext uri="{28A0092B-C50C-407E-A947-70E740481C1C}">
                <a14:useLocalDpi xmlns:a14="http://schemas.microsoft.com/office/drawing/2010/main" val="0"/>
              </a:ext>
            </a:extLst>
          </a:blip>
          <a:stretch>
            <a:fillRect/>
          </a:stretch>
        </p:blipFill>
        <p:spPr>
          <a:xfrm>
            <a:off x="1447800" y="1447799"/>
            <a:ext cx="9448799" cy="5199075"/>
          </a:xfrm>
        </p:spPr>
      </p:pic>
    </p:spTree>
    <p:extLst>
      <p:ext uri="{BB962C8B-B14F-4D97-AF65-F5344CB8AC3E}">
        <p14:creationId xmlns:p14="http://schemas.microsoft.com/office/powerpoint/2010/main" val="14711196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3400" y="1066800"/>
            <a:ext cx="11049000" cy="5257800"/>
          </a:xfrm>
        </p:spPr>
        <p:txBody>
          <a:bodyPr/>
          <a:lstStyle/>
          <a:p>
            <a:pPr>
              <a:buFont typeface="Arial" panose="020B0604020202020204" pitchFamily="34" charset="0"/>
              <a:buChar char="•"/>
            </a:pPr>
            <a:r>
              <a:rPr lang="en-US" dirty="0">
                <a:highlight>
                  <a:srgbClr val="00FF00"/>
                </a:highlight>
              </a:rPr>
              <a:t>Newborn State :-  </a:t>
            </a:r>
            <a:r>
              <a:rPr lang="en-US" dirty="0"/>
              <a:t>when we create a thread object the thread is born and is said to be in newborn state.</a:t>
            </a:r>
          </a:p>
          <a:p>
            <a:pPr>
              <a:buFont typeface="Arial" panose="020B0604020202020204" pitchFamily="34" charset="0"/>
              <a:buChar char="•"/>
            </a:pPr>
            <a:r>
              <a:rPr lang="en-US" dirty="0"/>
              <a:t>Thread is not yet scheduled for running </a:t>
            </a:r>
          </a:p>
          <a:p>
            <a:pPr>
              <a:buFont typeface="Arial" panose="020B0604020202020204" pitchFamily="34" charset="0"/>
              <a:buChar char="•"/>
            </a:pPr>
            <a:r>
              <a:rPr lang="en-US" dirty="0"/>
              <a:t>At this state, we can do only one of the following things with it </a:t>
            </a:r>
          </a:p>
          <a:p>
            <a:pPr marL="514350" indent="-514350">
              <a:buFont typeface="+mj-lt"/>
              <a:buAutoNum type="arabicPeriod"/>
            </a:pPr>
            <a:r>
              <a:rPr lang="en-US" dirty="0">
                <a:highlight>
                  <a:srgbClr val="00FFFF"/>
                </a:highlight>
              </a:rPr>
              <a:t>Schedule it for running using start() method </a:t>
            </a:r>
          </a:p>
          <a:p>
            <a:pPr marL="514350" indent="-514350">
              <a:buFont typeface="+mj-lt"/>
              <a:buAutoNum type="arabicPeriod"/>
            </a:pPr>
            <a:r>
              <a:rPr lang="en-US" dirty="0">
                <a:highlight>
                  <a:srgbClr val="00FFFF"/>
                </a:highlight>
              </a:rPr>
              <a:t>Kill it using stop() method </a:t>
            </a:r>
          </a:p>
        </p:txBody>
      </p:sp>
      <p:pic>
        <p:nvPicPr>
          <p:cNvPr id="4" name="Picture 3">
            <a:extLst>
              <a:ext uri="{FF2B5EF4-FFF2-40B4-BE49-F238E27FC236}">
                <a16:creationId xmlns:a16="http://schemas.microsoft.com/office/drawing/2014/main" id="{B308BE5F-FC50-4313-A37C-F1D16C83D41A}"/>
              </a:ext>
            </a:extLst>
          </p:cNvPr>
          <p:cNvPicPr>
            <a:picLocks noChangeAspect="1"/>
          </p:cNvPicPr>
          <p:nvPr/>
        </p:nvPicPr>
        <p:blipFill>
          <a:blip r:embed="rId2"/>
          <a:stretch>
            <a:fillRect/>
          </a:stretch>
        </p:blipFill>
        <p:spPr>
          <a:xfrm>
            <a:off x="369529" y="153755"/>
            <a:ext cx="937341" cy="646786"/>
          </a:xfrm>
          <a:prstGeom prst="rect">
            <a:avLst/>
          </a:prstGeom>
        </p:spPr>
      </p:pic>
      <p:sp>
        <p:nvSpPr>
          <p:cNvPr id="5" name="Title 1">
            <a:extLst>
              <a:ext uri="{FF2B5EF4-FFF2-40B4-BE49-F238E27FC236}">
                <a16:creationId xmlns:a16="http://schemas.microsoft.com/office/drawing/2014/main" id="{E4593C6E-1E06-4697-B1EE-90CE68ABF96B}"/>
              </a:ext>
            </a:extLst>
          </p:cNvPr>
          <p:cNvSpPr txBox="1">
            <a:spLocks/>
          </p:cNvSpPr>
          <p:nvPr/>
        </p:nvSpPr>
        <p:spPr>
          <a:xfrm>
            <a:off x="1447800" y="211125"/>
            <a:ext cx="10287000" cy="5320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7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3600" b="1" dirty="0">
                <a:solidFill>
                  <a:prstClr val="black"/>
                </a:solidFill>
                <a:highlight>
                  <a:srgbClr val="FFFF00"/>
                </a:highlight>
              </a:rPr>
              <a:t>Life Cycle of Thread </a:t>
            </a:r>
            <a:endParaRPr lang="en-US" sz="3600" dirty="0">
              <a:solidFill>
                <a:prstClr val="black"/>
              </a:solidFill>
              <a:highlight>
                <a:srgbClr val="FFFF00"/>
              </a:highlight>
            </a:endParaRPr>
          </a:p>
        </p:txBody>
      </p:sp>
      <p:pic>
        <p:nvPicPr>
          <p:cNvPr id="6" name="Picture 5">
            <a:extLst>
              <a:ext uri="{FF2B5EF4-FFF2-40B4-BE49-F238E27FC236}">
                <a16:creationId xmlns:a16="http://schemas.microsoft.com/office/drawing/2014/main" id="{11C59FBB-C176-4AA8-8AF3-5B64FA9518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5486" y="3352800"/>
            <a:ext cx="5410200" cy="2971800"/>
          </a:xfrm>
          <a:prstGeom prst="rect">
            <a:avLst/>
          </a:prstGeom>
        </p:spPr>
      </p:pic>
    </p:spTree>
    <p:extLst>
      <p:ext uri="{BB962C8B-B14F-4D97-AF65-F5344CB8AC3E}">
        <p14:creationId xmlns:p14="http://schemas.microsoft.com/office/powerpoint/2010/main" val="27360748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3400" y="1066800"/>
            <a:ext cx="11049000" cy="5257800"/>
          </a:xfrm>
        </p:spPr>
        <p:txBody>
          <a:bodyPr/>
          <a:lstStyle/>
          <a:p>
            <a:pPr>
              <a:buFont typeface="Arial" panose="020B0604020202020204" pitchFamily="34" charset="0"/>
              <a:buChar char="•"/>
            </a:pPr>
            <a:r>
              <a:rPr lang="en-US" dirty="0">
                <a:highlight>
                  <a:srgbClr val="00FF00"/>
                </a:highlight>
              </a:rPr>
              <a:t>Runnable State :- </a:t>
            </a:r>
            <a:r>
              <a:rPr lang="en-US" dirty="0"/>
              <a:t>Runnable state means that the thread is ready for execution and is waiting for the availability of the processor </a:t>
            </a:r>
          </a:p>
          <a:p>
            <a:pPr>
              <a:buFont typeface="Arial" panose="020B0604020202020204" pitchFamily="34" charset="0"/>
              <a:buChar char="•"/>
            </a:pPr>
            <a:r>
              <a:rPr lang="en-US" dirty="0"/>
              <a:t>That means thread has joined the queue of threads that are waiting for execution </a:t>
            </a:r>
          </a:p>
          <a:p>
            <a:pPr marL="0" indent="0">
              <a:buNone/>
            </a:pPr>
            <a:endParaRPr lang="en-US" dirty="0"/>
          </a:p>
        </p:txBody>
      </p:sp>
      <p:pic>
        <p:nvPicPr>
          <p:cNvPr id="4" name="Picture 3">
            <a:extLst>
              <a:ext uri="{FF2B5EF4-FFF2-40B4-BE49-F238E27FC236}">
                <a16:creationId xmlns:a16="http://schemas.microsoft.com/office/drawing/2014/main" id="{B308BE5F-FC50-4313-A37C-F1D16C83D41A}"/>
              </a:ext>
            </a:extLst>
          </p:cNvPr>
          <p:cNvPicPr>
            <a:picLocks noChangeAspect="1"/>
          </p:cNvPicPr>
          <p:nvPr/>
        </p:nvPicPr>
        <p:blipFill>
          <a:blip r:embed="rId2"/>
          <a:stretch>
            <a:fillRect/>
          </a:stretch>
        </p:blipFill>
        <p:spPr>
          <a:xfrm>
            <a:off x="369529" y="153755"/>
            <a:ext cx="937341" cy="646786"/>
          </a:xfrm>
          <a:prstGeom prst="rect">
            <a:avLst/>
          </a:prstGeom>
        </p:spPr>
      </p:pic>
      <p:sp>
        <p:nvSpPr>
          <p:cNvPr id="5" name="Title 1">
            <a:extLst>
              <a:ext uri="{FF2B5EF4-FFF2-40B4-BE49-F238E27FC236}">
                <a16:creationId xmlns:a16="http://schemas.microsoft.com/office/drawing/2014/main" id="{E4593C6E-1E06-4697-B1EE-90CE68ABF96B}"/>
              </a:ext>
            </a:extLst>
          </p:cNvPr>
          <p:cNvSpPr txBox="1">
            <a:spLocks/>
          </p:cNvSpPr>
          <p:nvPr/>
        </p:nvSpPr>
        <p:spPr>
          <a:xfrm>
            <a:off x="1447800" y="211125"/>
            <a:ext cx="10287000" cy="5320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7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3600" b="1" dirty="0">
                <a:solidFill>
                  <a:prstClr val="black"/>
                </a:solidFill>
                <a:highlight>
                  <a:srgbClr val="FFFF00"/>
                </a:highlight>
              </a:rPr>
              <a:t>Life Cycle of Thread </a:t>
            </a:r>
            <a:endParaRPr lang="en-US" sz="3600" dirty="0">
              <a:solidFill>
                <a:prstClr val="black"/>
              </a:solidFill>
              <a:highlight>
                <a:srgbClr val="FFFF00"/>
              </a:highlight>
            </a:endParaRPr>
          </a:p>
        </p:txBody>
      </p:sp>
      <p:pic>
        <p:nvPicPr>
          <p:cNvPr id="6" name="Picture 5" descr="A close up of a logo&#10;&#10;Description automatically generated">
            <a:extLst>
              <a:ext uri="{FF2B5EF4-FFF2-40B4-BE49-F238E27FC236}">
                <a16:creationId xmlns:a16="http://schemas.microsoft.com/office/drawing/2014/main" id="{BDC6FAFA-12BA-422E-A871-D383B1CE52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8800" y="3276600"/>
            <a:ext cx="7229475" cy="2200275"/>
          </a:xfrm>
          <a:prstGeom prst="rect">
            <a:avLst/>
          </a:prstGeom>
        </p:spPr>
      </p:pic>
    </p:spTree>
    <p:extLst>
      <p:ext uri="{BB962C8B-B14F-4D97-AF65-F5344CB8AC3E}">
        <p14:creationId xmlns:p14="http://schemas.microsoft.com/office/powerpoint/2010/main" val="24295263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3400" y="1066800"/>
            <a:ext cx="11049000" cy="5257800"/>
          </a:xfrm>
        </p:spPr>
        <p:txBody>
          <a:bodyPr/>
          <a:lstStyle/>
          <a:p>
            <a:pPr>
              <a:buFont typeface="Arial" panose="020B0604020202020204" pitchFamily="34" charset="0"/>
              <a:buChar char="•"/>
            </a:pPr>
            <a:r>
              <a:rPr lang="en-US" dirty="0">
                <a:highlight>
                  <a:srgbClr val="00FF00"/>
                </a:highlight>
              </a:rPr>
              <a:t>Running State :- </a:t>
            </a:r>
            <a:r>
              <a:rPr lang="en-US" dirty="0"/>
              <a:t>Running state means that the processor has given its time to the thread for its execution </a:t>
            </a:r>
          </a:p>
          <a:p>
            <a:pPr>
              <a:buFont typeface="Arial" panose="020B0604020202020204" pitchFamily="34" charset="0"/>
              <a:buChar char="•"/>
            </a:pPr>
            <a:r>
              <a:rPr lang="en-US" dirty="0"/>
              <a:t> </a:t>
            </a:r>
          </a:p>
          <a:p>
            <a:pPr marL="0" indent="0">
              <a:buNone/>
            </a:pPr>
            <a:endParaRPr lang="en-US" dirty="0"/>
          </a:p>
        </p:txBody>
      </p:sp>
      <p:pic>
        <p:nvPicPr>
          <p:cNvPr id="4" name="Picture 3">
            <a:extLst>
              <a:ext uri="{FF2B5EF4-FFF2-40B4-BE49-F238E27FC236}">
                <a16:creationId xmlns:a16="http://schemas.microsoft.com/office/drawing/2014/main" id="{B308BE5F-FC50-4313-A37C-F1D16C83D41A}"/>
              </a:ext>
            </a:extLst>
          </p:cNvPr>
          <p:cNvPicPr>
            <a:picLocks noChangeAspect="1"/>
          </p:cNvPicPr>
          <p:nvPr/>
        </p:nvPicPr>
        <p:blipFill>
          <a:blip r:embed="rId2"/>
          <a:stretch>
            <a:fillRect/>
          </a:stretch>
        </p:blipFill>
        <p:spPr>
          <a:xfrm>
            <a:off x="369529" y="153755"/>
            <a:ext cx="937341" cy="646786"/>
          </a:xfrm>
          <a:prstGeom prst="rect">
            <a:avLst/>
          </a:prstGeom>
        </p:spPr>
      </p:pic>
      <p:sp>
        <p:nvSpPr>
          <p:cNvPr id="5" name="Title 1">
            <a:extLst>
              <a:ext uri="{FF2B5EF4-FFF2-40B4-BE49-F238E27FC236}">
                <a16:creationId xmlns:a16="http://schemas.microsoft.com/office/drawing/2014/main" id="{E4593C6E-1E06-4697-B1EE-90CE68ABF96B}"/>
              </a:ext>
            </a:extLst>
          </p:cNvPr>
          <p:cNvSpPr txBox="1">
            <a:spLocks/>
          </p:cNvSpPr>
          <p:nvPr/>
        </p:nvSpPr>
        <p:spPr>
          <a:xfrm>
            <a:off x="1447800" y="211125"/>
            <a:ext cx="10287000" cy="5320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7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highlight>
                  <a:srgbClr val="FFFF00"/>
                </a:highlight>
                <a:uLnTx/>
                <a:uFillTx/>
                <a:latin typeface="Perpetua"/>
                <a:ea typeface="+mn-ea"/>
                <a:cs typeface="+mn-cs"/>
              </a:rPr>
              <a:t>Life Cycle of Thread </a:t>
            </a:r>
            <a:endParaRPr kumimoji="0" lang="en-US" sz="3600" b="0" i="0" u="none" strike="noStrike" kern="1200" cap="none" spc="0" normalizeH="0" baseline="0" noProof="0" dirty="0">
              <a:ln>
                <a:noFill/>
              </a:ln>
              <a:solidFill>
                <a:prstClr val="black"/>
              </a:solidFill>
              <a:effectLst/>
              <a:highlight>
                <a:srgbClr val="FFFF00"/>
              </a:highlight>
              <a:uLnTx/>
              <a:uFillTx/>
              <a:latin typeface="Perpetua"/>
              <a:ea typeface="+mn-ea"/>
              <a:cs typeface="+mn-cs"/>
            </a:endParaRPr>
          </a:p>
        </p:txBody>
      </p:sp>
      <p:pic>
        <p:nvPicPr>
          <p:cNvPr id="7" name="Picture 6">
            <a:extLst>
              <a:ext uri="{FF2B5EF4-FFF2-40B4-BE49-F238E27FC236}">
                <a16:creationId xmlns:a16="http://schemas.microsoft.com/office/drawing/2014/main" id="{2B0B96F6-C743-43B7-8BCF-9116605BB1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71887" y="4231743"/>
            <a:ext cx="4772025" cy="2171700"/>
          </a:xfrm>
          <a:prstGeom prst="rect">
            <a:avLst/>
          </a:prstGeom>
        </p:spPr>
      </p:pic>
      <p:pic>
        <p:nvPicPr>
          <p:cNvPr id="9" name="Picture 8">
            <a:extLst>
              <a:ext uri="{FF2B5EF4-FFF2-40B4-BE49-F238E27FC236}">
                <a16:creationId xmlns:a16="http://schemas.microsoft.com/office/drawing/2014/main" id="{8D227E13-E687-442A-8CAC-8AEC3408FB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81400" y="1752600"/>
            <a:ext cx="5257800" cy="2200275"/>
          </a:xfrm>
          <a:prstGeom prst="rect">
            <a:avLst/>
          </a:prstGeom>
        </p:spPr>
      </p:pic>
    </p:spTree>
    <p:extLst>
      <p:ext uri="{BB962C8B-B14F-4D97-AF65-F5344CB8AC3E}">
        <p14:creationId xmlns:p14="http://schemas.microsoft.com/office/powerpoint/2010/main" val="18362215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3400" y="1066800"/>
            <a:ext cx="11049000" cy="5257800"/>
          </a:xfrm>
        </p:spPr>
        <p:txBody>
          <a:bodyPr/>
          <a:lstStyle/>
          <a:p>
            <a:pPr>
              <a:buFont typeface="Arial" panose="020B0604020202020204" pitchFamily="34" charset="0"/>
              <a:buChar char="•"/>
            </a:pPr>
            <a:r>
              <a:rPr lang="en-US" dirty="0">
                <a:highlight>
                  <a:srgbClr val="00FF00"/>
                </a:highlight>
              </a:rPr>
              <a:t>Thread Priority :-</a:t>
            </a:r>
          </a:p>
          <a:p>
            <a:pPr>
              <a:buFont typeface="Arial" panose="020B0604020202020204" pitchFamily="34" charset="0"/>
              <a:buChar char="•"/>
            </a:pPr>
            <a:r>
              <a:rPr lang="en-US" dirty="0"/>
              <a:t>In Java, each thread is assigned a priority, which affects the order in which it is scheduled for running. </a:t>
            </a:r>
          </a:p>
          <a:p>
            <a:pPr>
              <a:buFont typeface="Arial" panose="020B0604020202020204" pitchFamily="34" charset="0"/>
              <a:buChar char="•"/>
            </a:pPr>
            <a:r>
              <a:rPr lang="en-US" dirty="0"/>
              <a:t>Java permits us to set the priority of a thread using the </a:t>
            </a:r>
            <a:r>
              <a:rPr lang="en-US" dirty="0" err="1"/>
              <a:t>setPriority</a:t>
            </a:r>
            <a:r>
              <a:rPr lang="en-US" dirty="0"/>
              <a:t>() method as follows</a:t>
            </a:r>
          </a:p>
          <a:p>
            <a:pPr>
              <a:buFont typeface="Arial" panose="020B0604020202020204" pitchFamily="34" charset="0"/>
              <a:buChar char="•"/>
            </a:pPr>
            <a:r>
              <a:rPr lang="en-US" dirty="0"/>
              <a:t>                    </a:t>
            </a:r>
            <a:r>
              <a:rPr lang="en-US" dirty="0" err="1">
                <a:highlight>
                  <a:srgbClr val="FFFF00"/>
                </a:highlight>
              </a:rPr>
              <a:t>ThreadName.setPriority</a:t>
            </a:r>
            <a:r>
              <a:rPr lang="en-US" dirty="0">
                <a:highlight>
                  <a:srgbClr val="FFFF00"/>
                </a:highlight>
              </a:rPr>
              <a:t>(</a:t>
            </a:r>
            <a:r>
              <a:rPr lang="en-US" dirty="0" err="1">
                <a:highlight>
                  <a:srgbClr val="FFFF00"/>
                </a:highlight>
              </a:rPr>
              <a:t>intNumber</a:t>
            </a:r>
            <a:r>
              <a:rPr lang="en-US" dirty="0">
                <a:highlight>
                  <a:srgbClr val="FFFF00"/>
                </a:highlight>
              </a:rPr>
              <a:t>);</a:t>
            </a:r>
          </a:p>
          <a:p>
            <a:pPr>
              <a:buFont typeface="Arial" panose="020B0604020202020204" pitchFamily="34" charset="0"/>
              <a:buChar char="•"/>
            </a:pPr>
            <a:r>
              <a:rPr lang="en-US" dirty="0"/>
              <a:t>The </a:t>
            </a:r>
            <a:r>
              <a:rPr lang="en-US" dirty="0" err="1">
                <a:highlight>
                  <a:srgbClr val="00FFFF"/>
                </a:highlight>
              </a:rPr>
              <a:t>intNumber</a:t>
            </a:r>
            <a:r>
              <a:rPr lang="en-US" dirty="0">
                <a:highlight>
                  <a:srgbClr val="00FFFF"/>
                </a:highlight>
              </a:rPr>
              <a:t> is an integer value </a:t>
            </a:r>
            <a:r>
              <a:rPr lang="en-US" dirty="0"/>
              <a:t>to which the threads priority set.</a:t>
            </a:r>
          </a:p>
          <a:p>
            <a:pPr>
              <a:buFont typeface="Arial" panose="020B0604020202020204" pitchFamily="34" charset="0"/>
              <a:buChar char="•"/>
            </a:pPr>
            <a:r>
              <a:rPr lang="en-US" dirty="0" err="1"/>
              <a:t>intNumber</a:t>
            </a:r>
            <a:r>
              <a:rPr lang="en-US" dirty="0"/>
              <a:t> is any value between </a:t>
            </a:r>
            <a:r>
              <a:rPr lang="en-US" dirty="0">
                <a:highlight>
                  <a:srgbClr val="00FFFF"/>
                </a:highlight>
              </a:rPr>
              <a:t>1 to 10 </a:t>
            </a:r>
          </a:p>
          <a:p>
            <a:pPr>
              <a:buFont typeface="Arial" panose="020B0604020202020204" pitchFamily="34" charset="0"/>
              <a:buChar char="•"/>
            </a:pPr>
            <a:r>
              <a:rPr lang="en-US" dirty="0"/>
              <a:t>Note that </a:t>
            </a:r>
            <a:r>
              <a:rPr lang="en-US" dirty="0">
                <a:highlight>
                  <a:srgbClr val="00FFFF"/>
                </a:highlight>
              </a:rPr>
              <a:t>default setting is NORM_PRIORITY</a:t>
            </a:r>
          </a:p>
          <a:p>
            <a:pPr marL="0" indent="0" algn="ctr">
              <a:buNone/>
            </a:pPr>
            <a:r>
              <a:rPr lang="en-US" dirty="0">
                <a:highlight>
                  <a:srgbClr val="00FF00"/>
                </a:highlight>
              </a:rPr>
              <a:t>MIN_PRIORITY =1</a:t>
            </a:r>
          </a:p>
          <a:p>
            <a:pPr marL="0" indent="0" algn="ctr">
              <a:buNone/>
            </a:pPr>
            <a:r>
              <a:rPr lang="en-US" dirty="0">
                <a:highlight>
                  <a:srgbClr val="00FF00"/>
                </a:highlight>
              </a:rPr>
              <a:t>NORM_PRIORITY =5</a:t>
            </a:r>
          </a:p>
          <a:p>
            <a:pPr marL="0" indent="0" algn="ctr">
              <a:buNone/>
            </a:pPr>
            <a:r>
              <a:rPr lang="en-US" dirty="0">
                <a:highlight>
                  <a:srgbClr val="00FF00"/>
                </a:highlight>
              </a:rPr>
              <a:t>MAX_PRIORITY =10</a:t>
            </a:r>
          </a:p>
          <a:p>
            <a:pPr marL="0" indent="0">
              <a:buNone/>
            </a:pPr>
            <a:endParaRPr lang="en-US" dirty="0"/>
          </a:p>
        </p:txBody>
      </p:sp>
      <p:pic>
        <p:nvPicPr>
          <p:cNvPr id="4" name="Picture 3">
            <a:extLst>
              <a:ext uri="{FF2B5EF4-FFF2-40B4-BE49-F238E27FC236}">
                <a16:creationId xmlns:a16="http://schemas.microsoft.com/office/drawing/2014/main" id="{B308BE5F-FC50-4313-A37C-F1D16C83D41A}"/>
              </a:ext>
            </a:extLst>
          </p:cNvPr>
          <p:cNvPicPr>
            <a:picLocks noChangeAspect="1"/>
          </p:cNvPicPr>
          <p:nvPr/>
        </p:nvPicPr>
        <p:blipFill>
          <a:blip r:embed="rId2"/>
          <a:stretch>
            <a:fillRect/>
          </a:stretch>
        </p:blipFill>
        <p:spPr>
          <a:xfrm>
            <a:off x="369529" y="153755"/>
            <a:ext cx="937341" cy="646786"/>
          </a:xfrm>
          <a:prstGeom prst="rect">
            <a:avLst/>
          </a:prstGeom>
        </p:spPr>
      </p:pic>
      <p:sp>
        <p:nvSpPr>
          <p:cNvPr id="5" name="Title 1">
            <a:extLst>
              <a:ext uri="{FF2B5EF4-FFF2-40B4-BE49-F238E27FC236}">
                <a16:creationId xmlns:a16="http://schemas.microsoft.com/office/drawing/2014/main" id="{E4593C6E-1E06-4697-B1EE-90CE68ABF96B}"/>
              </a:ext>
            </a:extLst>
          </p:cNvPr>
          <p:cNvSpPr txBox="1">
            <a:spLocks/>
          </p:cNvSpPr>
          <p:nvPr/>
        </p:nvSpPr>
        <p:spPr>
          <a:xfrm>
            <a:off x="1447800" y="211125"/>
            <a:ext cx="10287000" cy="532045"/>
          </a:xfrm>
          <a:prstGeom prst="rect">
            <a:avLst/>
          </a:prstGeom>
          <a:solidFill>
            <a:srgbClr val="0EADC2"/>
          </a:solidFill>
          <a:ln w="38100" cap="flat" cmpd="sng" algn="ctr">
            <a:solidFill>
              <a:srgbClr val="FF0000"/>
            </a:solidFill>
            <a:prstDash val="solid"/>
          </a:ln>
        </p:spPr>
        <p:style>
          <a:lnRef idx="1">
            <a:schemeClr val="accent1"/>
          </a:lnRef>
          <a:fillRef idx="2">
            <a:schemeClr val="accent1"/>
          </a:fillRef>
          <a:effectRef idx="1">
            <a:schemeClr val="accent1"/>
          </a:effectRef>
          <a:fontRef idx="minor">
            <a:schemeClr val="dk1"/>
          </a:fontRef>
        </p:style>
        <p:txBody>
          <a:bodyPr bIns="91440" anchor="b" anchorCtr="0">
            <a:normAutofit fontScale="77500" lnSpcReduction="20000"/>
          </a:bodyPr>
          <a:lstStyle>
            <a:lvl1pPr algn="l" rtl="0" eaLnBrk="1" latinLnBrk="0" hangingPunct="1">
              <a:spcBef>
                <a:spcPct val="0"/>
              </a:spcBef>
              <a:buNone/>
              <a:defRPr kumimoji="0" sz="40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3600" b="1" dirty="0">
                <a:solidFill>
                  <a:prstClr val="black"/>
                </a:solidFill>
                <a:highlight>
                  <a:srgbClr val="FFFF00"/>
                </a:highlight>
                <a:latin typeface="Perpetua"/>
              </a:rPr>
              <a:t>Thread Priority</a:t>
            </a:r>
            <a:r>
              <a:rPr kumimoji="0" lang="en-US" sz="3600" b="1" i="0" u="none" strike="noStrike" kern="1200" cap="none" spc="0" normalizeH="0" baseline="0" noProof="0" dirty="0">
                <a:ln>
                  <a:noFill/>
                </a:ln>
                <a:solidFill>
                  <a:prstClr val="black"/>
                </a:solidFill>
                <a:effectLst/>
                <a:highlight>
                  <a:srgbClr val="FFFF00"/>
                </a:highlight>
                <a:uLnTx/>
                <a:uFillTx/>
                <a:latin typeface="Perpetua"/>
                <a:ea typeface="+mn-ea"/>
                <a:cs typeface="+mn-cs"/>
              </a:rPr>
              <a:t> </a:t>
            </a:r>
            <a:endParaRPr kumimoji="0" lang="en-US" sz="3600" b="0" i="0" u="none" strike="noStrike" kern="1200" cap="none" spc="0" normalizeH="0" baseline="0" noProof="0" dirty="0">
              <a:ln>
                <a:noFill/>
              </a:ln>
              <a:solidFill>
                <a:prstClr val="black"/>
              </a:solidFill>
              <a:effectLst/>
              <a:highlight>
                <a:srgbClr val="FFFF00"/>
              </a:highlight>
              <a:uLnTx/>
              <a:uFillTx/>
              <a:latin typeface="Perpetua"/>
              <a:ea typeface="+mn-ea"/>
              <a:cs typeface="+mn-cs"/>
            </a:endParaRPr>
          </a:p>
        </p:txBody>
      </p:sp>
    </p:spTree>
    <p:extLst>
      <p:ext uri="{BB962C8B-B14F-4D97-AF65-F5344CB8AC3E}">
        <p14:creationId xmlns:p14="http://schemas.microsoft.com/office/powerpoint/2010/main" val="375312283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5830</TotalTime>
  <Words>4603</Words>
  <Application>Microsoft Office PowerPoint</Application>
  <PresentationFormat>Widescreen</PresentationFormat>
  <Paragraphs>764</Paragraphs>
  <Slides>58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58</vt:i4>
      </vt:variant>
    </vt:vector>
  </HeadingPairs>
  <TitlesOfParts>
    <vt:vector size="67" baseType="lpstr">
      <vt:lpstr>Arial</vt:lpstr>
      <vt:lpstr>Calibri</vt:lpstr>
      <vt:lpstr>Cambria</vt:lpstr>
      <vt:lpstr>Comic Sans MS</vt:lpstr>
      <vt:lpstr>Franklin Gothic Book</vt:lpstr>
      <vt:lpstr>Perpetua</vt:lpstr>
      <vt:lpstr>Wingdings</vt:lpstr>
      <vt:lpstr>Wingdings 2</vt:lpstr>
      <vt:lpstr>Equity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Zac</dc:creator>
  <cp:lastModifiedBy>ICEI 2022</cp:lastModifiedBy>
  <cp:revision>479</cp:revision>
  <dcterms:created xsi:type="dcterms:W3CDTF">2017-03-01T00:01:16Z</dcterms:created>
  <dcterms:modified xsi:type="dcterms:W3CDTF">2024-09-11T10:15:40Z</dcterms:modified>
</cp:coreProperties>
</file>